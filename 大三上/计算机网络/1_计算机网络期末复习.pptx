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85" r:id="rId2"/>
    <p:sldId id="547" r:id="rId3"/>
    <p:sldId id="479" r:id="rId4"/>
    <p:sldId id="544" r:id="rId5"/>
    <p:sldId id="592" r:id="rId6"/>
    <p:sldId id="388" r:id="rId7"/>
    <p:sldId id="593" r:id="rId8"/>
    <p:sldId id="487" r:id="rId9"/>
    <p:sldId id="591" r:id="rId10"/>
    <p:sldId id="594" r:id="rId11"/>
    <p:sldId id="390" r:id="rId12"/>
    <p:sldId id="595" r:id="rId13"/>
    <p:sldId id="596" r:id="rId14"/>
    <p:sldId id="598" r:id="rId15"/>
    <p:sldId id="597" r:id="rId16"/>
    <p:sldId id="600" r:id="rId17"/>
    <p:sldId id="489" r:id="rId18"/>
    <p:sldId id="602" r:id="rId19"/>
    <p:sldId id="488" r:id="rId20"/>
    <p:sldId id="603" r:id="rId21"/>
    <p:sldId id="604" r:id="rId22"/>
    <p:sldId id="610" r:id="rId23"/>
    <p:sldId id="605" r:id="rId24"/>
    <p:sldId id="611" r:id="rId25"/>
    <p:sldId id="491" r:id="rId26"/>
    <p:sldId id="607" r:id="rId27"/>
    <p:sldId id="608" r:id="rId28"/>
    <p:sldId id="609" r:id="rId29"/>
    <p:sldId id="612" r:id="rId30"/>
    <p:sldId id="613" r:id="rId31"/>
    <p:sldId id="490" r:id="rId32"/>
    <p:sldId id="606" r:id="rId33"/>
    <p:sldId id="575" r:id="rId34"/>
  </p:sldIdLst>
  <p:sldSz cx="9144000" cy="5143500" type="screen16x9"/>
  <p:notesSz cx="6858000" cy="9144000"/>
  <p:custDataLst>
    <p:tags r:id="rId37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49" userDrawn="1">
          <p15:clr>
            <a:srgbClr val="A4A3A4"/>
          </p15:clr>
        </p15:guide>
        <p15:guide id="3" orient="horz" pos="1699" userDrawn="1">
          <p15:clr>
            <a:srgbClr val="A4A3A4"/>
          </p15:clr>
        </p15:guide>
        <p15:guide id="4" orient="horz" pos="695" userDrawn="1">
          <p15:clr>
            <a:srgbClr val="A4A3A4"/>
          </p15:clr>
        </p15:guide>
        <p15:guide id="5" orient="horz" pos="2879" userDrawn="1">
          <p15:clr>
            <a:srgbClr val="A4A3A4"/>
          </p15:clr>
        </p15:guide>
        <p15:guide id="6" pos="2876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F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8" autoAdjust="0"/>
    <p:restoredTop sz="95046" autoAdjust="0"/>
  </p:normalViewPr>
  <p:slideViewPr>
    <p:cSldViewPr snapToGrid="0" snapToObjects="1" showGuides="1">
      <p:cViewPr varScale="1">
        <p:scale>
          <a:sx n="99" d="100"/>
          <a:sy n="99" d="100"/>
        </p:scale>
        <p:origin x="778" y="58"/>
      </p:cViewPr>
      <p:guideLst>
        <p:guide orient="horz" pos="2135"/>
        <p:guide pos="3849"/>
        <p:guide orient="horz" pos="1699"/>
        <p:guide orient="horz" pos="695"/>
        <p:guide orient="horz" pos="2879"/>
        <p:guide pos="2876"/>
        <p:guide pos="340"/>
        <p:guide pos="53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  <a:t>2026/1/6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68CC-0BB2-BB7C-17A9-1A3F758E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06D61D-F502-EC75-3A3C-E0DD5C746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96335F-5266-1900-094E-0CF84EC53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1F64E5-20F8-6BDA-76D5-46B00931D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122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92027-9D85-687F-5E17-BD0F42F6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D31F64-7AEF-2EFC-A202-C5250CBF8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7119E3-87A1-7882-A791-EECE0DAB3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41920-DD5E-2008-AD3D-0BA0987CB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379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81FB-2327-16BC-D46A-65FADCC8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614A49-E833-1224-2A28-0284BCF57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804D0B-18B0-CDD7-D0D5-5999BA27C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84172-19CD-E743-4C80-F6BCBD2015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533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84B9-2C40-FD17-D2E9-D2F6A917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8B8B70-7401-8AEA-17B4-FF0E386F0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359E80-759E-F2E2-14D9-C13348BDE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419A4-D05F-2237-F0E4-04CCEEF07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3498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F55D-FE1F-1333-485A-6B0680D8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AE1BA9-D4AD-0A54-C2A8-B652293D5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BE6100-59FE-F21E-C269-91AA54910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BE0549-DBDB-9247-78B7-BCE89A4F8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4322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9B4B-5EA7-21A2-39F0-53B759B3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1BD62A-7E0C-B694-EA45-D2077A649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794252-710E-649A-B9F5-3BD46437A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67D6B-D5DE-A380-E13E-1291CC356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7042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809F-FE3E-71D4-8BD5-99BDFF93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D5AC4F-F61C-317B-07FF-C0286124A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F200B9-8631-2253-EADB-107B27499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449BC0-94C8-8A7D-23F8-760AE93F2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073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0312-42B0-DB5D-C14E-1DAF117C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FD3AAE-9CBD-F88A-3491-3042BA165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E66C8D-F720-1AEB-954D-DA05113A6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DF60F-345E-55A4-592F-25618212A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62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9584-3B19-55F6-466B-EA2C6668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3528E-E4CC-3378-B375-93B1C88D4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C2C19C-985D-A29A-F295-BDA3A5EB4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E8637-B7DC-551A-CC0A-2032A3CE1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3588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732E1-EC63-7BC9-6C4F-95830EAC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BDD947-5C6E-A755-7DC3-72CED533A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0B94BC-752B-42C1-CC15-3F65B6181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5F9FCD-1FBF-3F73-A9C6-CA52BD46B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001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F3FA-192D-3216-909B-EB509232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C87D2F-CB44-4426-59CA-9AC2B47B0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3A12E3-03A2-E65F-AB2B-4B56BDA69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32CFA1-1A57-F221-9BA8-5A064693A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444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E664F-A1D9-71B7-8E7A-BB04DCE8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8D8DED-650D-67E0-81CB-8BD05DFDD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00125-AA28-D82E-4FE9-51D3EE2CF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A93BB-2E76-A552-8A33-20FB42F44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9369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E391C-5507-2B6F-9237-20BDFA90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9265EC-A94E-8280-8B38-4A3C73CC5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6A5DEF-12BC-BE82-3F9A-12AE5D4E8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666E3-E22A-CD67-19CF-A58C9C923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25198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F714-DB90-FFB2-C561-911C820D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6AE86E-4522-8A8E-AC9B-D4FF4EBAD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1A7DD5-AB7D-5291-AE7B-FFD743A95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C43F5B-D463-315D-B6AA-0ACB4694C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832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3FCC-2E03-94CB-EB6A-BCDBC394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959C7F-BB2E-A704-F399-B7008DC4B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B21466-4756-D1F7-0BE6-FDD9CD1EF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C31E2C-B547-E19F-77D0-1F46838ED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384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E5B0-C5E9-0D61-57BB-C6D8B71C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93F6C3-9116-AA41-3FC6-F70A419C3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98B764-D83A-FFBC-666C-CC3E503A1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53DF5D-7B22-BDB8-D520-E453E631F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30079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58E47-7CA4-0AA1-1C94-7F946D96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D7DFEC-A5AE-275C-0227-5258BE423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F575F3-0A38-A0C9-DBE3-E604F66AF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2837EC-1A6A-0D44-A7E2-A037BA895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186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650E-ABBD-752F-EB4F-0071A311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8A702F-7AAE-3740-C85F-38C8429E3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56A1C4-77FF-9060-0041-6AFC0799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0B3814-86AF-2F0F-654B-3CADCF6DA8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172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EA2C-614A-B128-AE29-CECA39BF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C18E4B-81EB-03C0-BDA4-4BE17F786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1621EA-A00D-EDE2-7433-F4E9D26FD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9B1BE-4EAA-A31D-86F6-6F7045BC9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6627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7731-B6DD-774C-D757-9D94AD27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794BF3-AB62-F502-7C58-F84A94F92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E31488-A9A6-E7D6-ACB6-4F9C1EBA2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C6C3B5-CCB1-5987-130F-6EF2FC8CC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3108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4165598" y="3293645"/>
            <a:ext cx="2038058" cy="82291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分享人：李璠志  </a:t>
            </a:r>
            <a:endParaRPr kumimoji="1" lang="en-US" altLang="zh-CN" b="1" dirty="0">
              <a:solidFill>
                <a:srgbClr val="071F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rgbClr val="071F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   期：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  <p:sp>
        <p:nvSpPr>
          <p:cNvPr id="23" name="矩形 22"/>
          <p:cNvSpPr/>
          <p:nvPr/>
        </p:nvSpPr>
        <p:spPr>
          <a:xfrm>
            <a:off x="2558109" y="1825765"/>
            <a:ext cx="5839485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rgbClr val="071F65"/>
                </a:solidFill>
                <a:latin typeface="+mj-ea"/>
                <a:ea typeface="+mj-ea"/>
              </a:rPr>
              <a:t>计算机网络期末复习分享</a:t>
            </a:r>
            <a:endParaRPr lang="zh-CN" altLang="zh-CN" sz="4000" b="1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668722" y="2665366"/>
            <a:ext cx="5031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569" y="408459"/>
            <a:ext cx="2591025" cy="883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873141" y="466830"/>
            <a:ext cx="1146310" cy="1146310"/>
            <a:chOff x="1602769" y="143838"/>
            <a:chExt cx="1331936" cy="1331936"/>
          </a:xfrm>
        </p:grpSpPr>
        <p:sp>
          <p:nvSpPr>
            <p:cNvPr id="4" name="椭圆 3"/>
            <p:cNvSpPr/>
            <p:nvPr/>
          </p:nvSpPr>
          <p:spPr>
            <a:xfrm>
              <a:off x="1602769" y="143838"/>
              <a:ext cx="1331936" cy="1331936"/>
            </a:xfrm>
            <a:prstGeom prst="ellipse">
              <a:avLst/>
            </a:prstGeom>
            <a:ln w="165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1679041" y="396413"/>
              <a:ext cx="11893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638153" y="937949"/>
              <a:ext cx="1263808" cy="30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Freeform 5"/>
          <p:cNvSpPr/>
          <p:nvPr/>
        </p:nvSpPr>
        <p:spPr bwMode="auto">
          <a:xfrm>
            <a:off x="2382" y="2262776"/>
            <a:ext cx="9141619" cy="1084926"/>
          </a:xfrm>
          <a:custGeom>
            <a:avLst/>
            <a:gdLst>
              <a:gd name="T0" fmla="*/ 0 w 2601"/>
              <a:gd name="T1" fmla="*/ 139 h 306"/>
              <a:gd name="T2" fmla="*/ 647 w 2601"/>
              <a:gd name="T3" fmla="*/ 304 h 306"/>
              <a:gd name="T4" fmla="*/ 1863 w 2601"/>
              <a:gd name="T5" fmla="*/ 11 h 306"/>
              <a:gd name="T6" fmla="*/ 2601 w 2601"/>
              <a:gd name="T7" fmla="*/ 259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1" h="306">
                <a:moveTo>
                  <a:pt x="0" y="139"/>
                </a:moveTo>
                <a:cubicBezTo>
                  <a:pt x="0" y="139"/>
                  <a:pt x="179" y="301"/>
                  <a:pt x="647" y="304"/>
                </a:cubicBezTo>
                <a:cubicBezTo>
                  <a:pt x="1090" y="306"/>
                  <a:pt x="1474" y="0"/>
                  <a:pt x="1863" y="11"/>
                </a:cubicBezTo>
                <a:cubicBezTo>
                  <a:pt x="2253" y="21"/>
                  <a:pt x="2601" y="259"/>
                  <a:pt x="2601" y="259"/>
                </a:cubicBezTo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4" name="矩形 30"/>
          <p:cNvSpPr>
            <a:spLocks noChangeArrowheads="1"/>
          </p:cNvSpPr>
          <p:nvPr/>
        </p:nvSpPr>
        <p:spPr bwMode="auto">
          <a:xfrm>
            <a:off x="449223" y="3682674"/>
            <a:ext cx="1570227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情景引入</a:t>
            </a:r>
          </a:p>
        </p:txBody>
      </p:sp>
      <p:sp>
        <p:nvSpPr>
          <p:cNvPr id="45" name="矩形 68"/>
          <p:cNvSpPr>
            <a:spLocks noChangeArrowheads="1"/>
          </p:cNvSpPr>
          <p:nvPr/>
        </p:nvSpPr>
        <p:spPr bwMode="auto">
          <a:xfrm>
            <a:off x="5196555" y="1573460"/>
            <a:ext cx="156918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填空简答</a:t>
            </a:r>
          </a:p>
        </p:txBody>
      </p:sp>
      <p:sp>
        <p:nvSpPr>
          <p:cNvPr id="46" name="矩形 64"/>
          <p:cNvSpPr>
            <a:spLocks noChangeArrowheads="1"/>
          </p:cNvSpPr>
          <p:nvPr/>
        </p:nvSpPr>
        <p:spPr bwMode="auto">
          <a:xfrm>
            <a:off x="3644954" y="3226742"/>
            <a:ext cx="1551601" cy="32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重点突破</a:t>
            </a:r>
          </a:p>
        </p:txBody>
      </p:sp>
      <p:sp>
        <p:nvSpPr>
          <p:cNvPr id="47" name="矩形 66"/>
          <p:cNvSpPr>
            <a:spLocks noChangeArrowheads="1"/>
          </p:cNvSpPr>
          <p:nvPr/>
        </p:nvSpPr>
        <p:spPr bwMode="auto">
          <a:xfrm>
            <a:off x="6765737" y="2981760"/>
            <a:ext cx="202518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前辈资源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816008" y="2756789"/>
            <a:ext cx="749673" cy="751323"/>
            <a:chOff x="3437020" y="1033173"/>
            <a:chExt cx="863676" cy="865577"/>
          </a:xfrm>
        </p:grpSpPr>
        <p:sp>
          <p:nvSpPr>
            <p:cNvPr id="49" name="椭圆 18"/>
            <p:cNvSpPr>
              <a:spLocks noChangeArrowheads="1"/>
            </p:cNvSpPr>
            <p:nvPr/>
          </p:nvSpPr>
          <p:spPr bwMode="auto">
            <a:xfrm>
              <a:off x="3437020" y="1033173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7275" y="1169757"/>
              <a:ext cx="552644" cy="566109"/>
            </a:xfrm>
            <a:prstGeom prst="rect">
              <a:avLst/>
            </a:prstGeom>
          </p:spPr>
        </p:pic>
      </p:grpSp>
      <p:grpSp>
        <p:nvGrpSpPr>
          <p:cNvPr id="52" name="组合 51"/>
          <p:cNvGrpSpPr/>
          <p:nvPr/>
        </p:nvGrpSpPr>
        <p:grpSpPr>
          <a:xfrm>
            <a:off x="2430518" y="2882260"/>
            <a:ext cx="749673" cy="751323"/>
            <a:chOff x="3437020" y="2074814"/>
            <a:chExt cx="863676" cy="865577"/>
          </a:xfrm>
        </p:grpSpPr>
        <p:sp>
          <p:nvSpPr>
            <p:cNvPr id="53" name="椭圆 19"/>
            <p:cNvSpPr>
              <a:spLocks noChangeArrowheads="1"/>
            </p:cNvSpPr>
            <p:nvPr/>
          </p:nvSpPr>
          <p:spPr bwMode="auto">
            <a:xfrm>
              <a:off x="3437020" y="2074814"/>
              <a:ext cx="863676" cy="86557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6360" y="2243692"/>
              <a:ext cx="553608" cy="567096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3987654" y="2353136"/>
            <a:ext cx="749673" cy="749944"/>
            <a:chOff x="3437020" y="3157655"/>
            <a:chExt cx="863676" cy="863988"/>
          </a:xfrm>
        </p:grpSpPr>
        <p:sp>
          <p:nvSpPr>
            <p:cNvPr id="56" name="椭圆 20"/>
            <p:cNvSpPr>
              <a:spLocks noChangeArrowheads="1"/>
            </p:cNvSpPr>
            <p:nvPr/>
          </p:nvSpPr>
          <p:spPr bwMode="auto">
            <a:xfrm>
              <a:off x="3437020" y="3157655"/>
              <a:ext cx="863676" cy="8639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3603965" y="3301680"/>
              <a:ext cx="519264" cy="531742"/>
              <a:chOff x="9901114" y="2870043"/>
              <a:chExt cx="1094967" cy="1121279"/>
            </a:xfrm>
          </p:grpSpPr>
          <p:sp>
            <p:nvSpPr>
              <p:cNvPr id="58" name="Freeform 5"/>
              <p:cNvSpPr/>
              <p:nvPr/>
            </p:nvSpPr>
            <p:spPr bwMode="auto">
              <a:xfrm>
                <a:off x="10585467" y="2870043"/>
                <a:ext cx="234963" cy="800500"/>
              </a:xfrm>
              <a:custGeom>
                <a:avLst/>
                <a:gdLst>
                  <a:gd name="T0" fmla="*/ 2 w 43"/>
                  <a:gd name="T1" fmla="*/ 115 h 115"/>
                  <a:gd name="T2" fmla="*/ 3 w 43"/>
                  <a:gd name="T3" fmla="*/ 115 h 115"/>
                  <a:gd name="T4" fmla="*/ 3 w 43"/>
                  <a:gd name="T5" fmla="*/ 115 h 115"/>
                  <a:gd name="T6" fmla="*/ 3 w 43"/>
                  <a:gd name="T7" fmla="*/ 115 h 115"/>
                  <a:gd name="T8" fmla="*/ 4 w 43"/>
                  <a:gd name="T9" fmla="*/ 115 h 115"/>
                  <a:gd name="T10" fmla="*/ 4 w 43"/>
                  <a:gd name="T11" fmla="*/ 115 h 115"/>
                  <a:gd name="T12" fmla="*/ 5 w 43"/>
                  <a:gd name="T13" fmla="*/ 114 h 115"/>
                  <a:gd name="T14" fmla="*/ 22 w 43"/>
                  <a:gd name="T15" fmla="*/ 98 h 115"/>
                  <a:gd name="T16" fmla="*/ 38 w 43"/>
                  <a:gd name="T17" fmla="*/ 114 h 115"/>
                  <a:gd name="T18" fmla="*/ 39 w 43"/>
                  <a:gd name="T19" fmla="*/ 115 h 115"/>
                  <a:gd name="T20" fmla="*/ 39 w 43"/>
                  <a:gd name="T21" fmla="*/ 115 h 115"/>
                  <a:gd name="T22" fmla="*/ 40 w 43"/>
                  <a:gd name="T23" fmla="*/ 115 h 115"/>
                  <a:gd name="T24" fmla="*/ 40 w 43"/>
                  <a:gd name="T25" fmla="*/ 115 h 115"/>
                  <a:gd name="T26" fmla="*/ 40 w 43"/>
                  <a:gd name="T27" fmla="*/ 115 h 115"/>
                  <a:gd name="T28" fmla="*/ 41 w 43"/>
                  <a:gd name="T29" fmla="*/ 115 h 115"/>
                  <a:gd name="T30" fmla="*/ 42 w 43"/>
                  <a:gd name="T31" fmla="*/ 114 h 115"/>
                  <a:gd name="T32" fmla="*/ 43 w 43"/>
                  <a:gd name="T33" fmla="*/ 112 h 115"/>
                  <a:gd name="T34" fmla="*/ 43 w 43"/>
                  <a:gd name="T35" fmla="*/ 27 h 115"/>
                  <a:gd name="T36" fmla="*/ 43 w 43"/>
                  <a:gd name="T37" fmla="*/ 13 h 115"/>
                  <a:gd name="T38" fmla="*/ 43 w 43"/>
                  <a:gd name="T39" fmla="*/ 3 h 115"/>
                  <a:gd name="T40" fmla="*/ 42 w 43"/>
                  <a:gd name="T41" fmla="*/ 1 h 115"/>
                  <a:gd name="T42" fmla="*/ 40 w 43"/>
                  <a:gd name="T43" fmla="*/ 0 h 115"/>
                  <a:gd name="T44" fmla="*/ 3 w 43"/>
                  <a:gd name="T45" fmla="*/ 0 h 115"/>
                  <a:gd name="T46" fmla="*/ 3 w 43"/>
                  <a:gd name="T47" fmla="*/ 0 h 115"/>
                  <a:gd name="T48" fmla="*/ 2 w 43"/>
                  <a:gd name="T49" fmla="*/ 1 h 115"/>
                  <a:gd name="T50" fmla="*/ 2 w 43"/>
                  <a:gd name="T51" fmla="*/ 1 h 115"/>
                  <a:gd name="T52" fmla="*/ 0 w 43"/>
                  <a:gd name="T53" fmla="*/ 3 h 115"/>
                  <a:gd name="T54" fmla="*/ 0 w 43"/>
                  <a:gd name="T55" fmla="*/ 13 h 115"/>
                  <a:gd name="T56" fmla="*/ 0 w 43"/>
                  <a:gd name="T57" fmla="*/ 27 h 115"/>
                  <a:gd name="T58" fmla="*/ 0 w 43"/>
                  <a:gd name="T59" fmla="*/ 112 h 115"/>
                  <a:gd name="T60" fmla="*/ 2 w 43"/>
                  <a:gd name="T61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3" h="115">
                    <a:moveTo>
                      <a:pt x="2" y="115"/>
                    </a:moveTo>
                    <a:cubicBezTo>
                      <a:pt x="2" y="115"/>
                      <a:pt x="2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3" y="115"/>
                      <a:pt x="4" y="115"/>
                      <a:pt x="4" y="115"/>
                    </a:cubicBezTo>
                    <a:cubicBezTo>
                      <a:pt x="4" y="115"/>
                      <a:pt x="4" y="115"/>
                      <a:pt x="4" y="115"/>
                    </a:cubicBezTo>
                    <a:cubicBezTo>
                      <a:pt x="4" y="115"/>
                      <a:pt x="5" y="114"/>
                      <a:pt x="5" y="114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38" y="114"/>
                      <a:pt x="38" y="114"/>
                      <a:pt x="38" y="114"/>
                    </a:cubicBezTo>
                    <a:cubicBezTo>
                      <a:pt x="38" y="114"/>
                      <a:pt x="39" y="115"/>
                      <a:pt x="39" y="115"/>
                    </a:cubicBezTo>
                    <a:cubicBezTo>
                      <a:pt x="39" y="115"/>
                      <a:pt x="39" y="115"/>
                      <a:pt x="39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0" y="115"/>
                      <a:pt x="40" y="115"/>
                      <a:pt x="40" y="115"/>
                    </a:cubicBezTo>
                    <a:cubicBezTo>
                      <a:pt x="41" y="115"/>
                      <a:pt x="41" y="115"/>
                      <a:pt x="41" y="115"/>
                    </a:cubicBezTo>
                    <a:cubicBezTo>
                      <a:pt x="42" y="115"/>
                      <a:pt x="42" y="114"/>
                      <a:pt x="42" y="114"/>
                    </a:cubicBezTo>
                    <a:cubicBezTo>
                      <a:pt x="43" y="114"/>
                      <a:pt x="43" y="113"/>
                      <a:pt x="43" y="112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43" y="3"/>
                      <a:pt x="43" y="2"/>
                      <a:pt x="42" y="1"/>
                    </a:cubicBezTo>
                    <a:cubicBezTo>
                      <a:pt x="42" y="1"/>
                      <a:pt x="41" y="0"/>
                      <a:pt x="4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3"/>
                      <a:pt x="1" y="114"/>
                      <a:pt x="2" y="11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 6"/>
              <p:cNvSpPr/>
              <p:nvPr/>
            </p:nvSpPr>
            <p:spPr bwMode="auto">
              <a:xfrm>
                <a:off x="10044830" y="3280407"/>
                <a:ext cx="289711" cy="34679"/>
              </a:xfrm>
              <a:custGeom>
                <a:avLst/>
                <a:gdLst>
                  <a:gd name="T0" fmla="*/ 0 w 53"/>
                  <a:gd name="T1" fmla="*/ 3 h 5"/>
                  <a:gd name="T2" fmla="*/ 3 w 53"/>
                  <a:gd name="T3" fmla="*/ 5 h 5"/>
                  <a:gd name="T4" fmla="*/ 50 w 53"/>
                  <a:gd name="T5" fmla="*/ 5 h 5"/>
                  <a:gd name="T6" fmla="*/ 53 w 53"/>
                  <a:gd name="T7" fmla="*/ 3 h 5"/>
                  <a:gd name="T8" fmla="*/ 50 w 53"/>
                  <a:gd name="T9" fmla="*/ 0 h 5"/>
                  <a:gd name="T10" fmla="*/ 3 w 53"/>
                  <a:gd name="T11" fmla="*/ 0 h 5"/>
                  <a:gd name="T12" fmla="*/ 0 w 53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0" y="3"/>
                    </a:move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3"/>
                    </a:cubicBezTo>
                    <a:cubicBezTo>
                      <a:pt x="53" y="1"/>
                      <a:pt x="52" y="0"/>
                      <a:pt x="5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 7"/>
              <p:cNvSpPr/>
              <p:nvPr/>
            </p:nvSpPr>
            <p:spPr bwMode="auto">
              <a:xfrm>
                <a:off x="10044830" y="3442241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 8"/>
              <p:cNvSpPr/>
              <p:nvPr/>
            </p:nvSpPr>
            <p:spPr bwMode="auto">
              <a:xfrm>
                <a:off x="10044830" y="3601186"/>
                <a:ext cx="289711" cy="34679"/>
              </a:xfrm>
              <a:custGeom>
                <a:avLst/>
                <a:gdLst>
                  <a:gd name="T0" fmla="*/ 50 w 53"/>
                  <a:gd name="T1" fmla="*/ 0 h 5"/>
                  <a:gd name="T2" fmla="*/ 3 w 53"/>
                  <a:gd name="T3" fmla="*/ 0 h 5"/>
                  <a:gd name="T4" fmla="*/ 0 w 53"/>
                  <a:gd name="T5" fmla="*/ 2 h 5"/>
                  <a:gd name="T6" fmla="*/ 3 w 53"/>
                  <a:gd name="T7" fmla="*/ 5 h 5"/>
                  <a:gd name="T8" fmla="*/ 50 w 53"/>
                  <a:gd name="T9" fmla="*/ 5 h 5"/>
                  <a:gd name="T10" fmla="*/ 53 w 53"/>
                  <a:gd name="T11" fmla="*/ 2 h 5"/>
                  <a:gd name="T12" fmla="*/ 50 w 5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5">
                    <a:moveTo>
                      <a:pt x="50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0" y="4"/>
                      <a:pt x="2" y="5"/>
                      <a:pt x="3" y="5"/>
                    </a:cubicBezTo>
                    <a:cubicBezTo>
                      <a:pt x="50" y="5"/>
                      <a:pt x="50" y="5"/>
                      <a:pt x="50" y="5"/>
                    </a:cubicBezTo>
                    <a:cubicBezTo>
                      <a:pt x="52" y="5"/>
                      <a:pt x="53" y="4"/>
                      <a:pt x="53" y="2"/>
                    </a:cubicBezTo>
                    <a:cubicBezTo>
                      <a:pt x="53" y="1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 9"/>
              <p:cNvSpPr>
                <a:spLocks noEditPoints="1"/>
              </p:cNvSpPr>
              <p:nvPr/>
            </p:nvSpPr>
            <p:spPr bwMode="auto">
              <a:xfrm>
                <a:off x="9901114" y="2953851"/>
                <a:ext cx="1094967" cy="1037471"/>
              </a:xfrm>
              <a:custGeom>
                <a:avLst/>
                <a:gdLst>
                  <a:gd name="T0" fmla="*/ 177 w 200"/>
                  <a:gd name="T1" fmla="*/ 3 h 149"/>
                  <a:gd name="T2" fmla="*/ 177 w 200"/>
                  <a:gd name="T3" fmla="*/ 17 h 149"/>
                  <a:gd name="T4" fmla="*/ 186 w 200"/>
                  <a:gd name="T5" fmla="*/ 21 h 149"/>
                  <a:gd name="T6" fmla="*/ 186 w 200"/>
                  <a:gd name="T7" fmla="*/ 134 h 149"/>
                  <a:gd name="T8" fmla="*/ 107 w 200"/>
                  <a:gd name="T9" fmla="*/ 134 h 149"/>
                  <a:gd name="T10" fmla="*/ 107 w 200"/>
                  <a:gd name="T11" fmla="*/ 21 h 149"/>
                  <a:gd name="T12" fmla="*/ 117 w 200"/>
                  <a:gd name="T13" fmla="*/ 17 h 149"/>
                  <a:gd name="T14" fmla="*/ 117 w 200"/>
                  <a:gd name="T15" fmla="*/ 3 h 149"/>
                  <a:gd name="T16" fmla="*/ 100 w 200"/>
                  <a:gd name="T17" fmla="*/ 9 h 149"/>
                  <a:gd name="T18" fmla="*/ 53 w 200"/>
                  <a:gd name="T19" fmla="*/ 0 h 149"/>
                  <a:gd name="T20" fmla="*/ 0 w 200"/>
                  <a:gd name="T21" fmla="*/ 20 h 149"/>
                  <a:gd name="T22" fmla="*/ 0 w 200"/>
                  <a:gd name="T23" fmla="*/ 142 h 149"/>
                  <a:gd name="T24" fmla="*/ 2 w 200"/>
                  <a:gd name="T25" fmla="*/ 147 h 149"/>
                  <a:gd name="T26" fmla="*/ 8 w 200"/>
                  <a:gd name="T27" fmla="*/ 149 h 149"/>
                  <a:gd name="T28" fmla="*/ 53 w 200"/>
                  <a:gd name="T29" fmla="*/ 145 h 149"/>
                  <a:gd name="T30" fmla="*/ 99 w 200"/>
                  <a:gd name="T31" fmla="*/ 149 h 149"/>
                  <a:gd name="T32" fmla="*/ 99 w 200"/>
                  <a:gd name="T33" fmla="*/ 149 h 149"/>
                  <a:gd name="T34" fmla="*/ 100 w 200"/>
                  <a:gd name="T35" fmla="*/ 149 h 149"/>
                  <a:gd name="T36" fmla="*/ 100 w 200"/>
                  <a:gd name="T37" fmla="*/ 149 h 149"/>
                  <a:gd name="T38" fmla="*/ 101 w 200"/>
                  <a:gd name="T39" fmla="*/ 149 h 149"/>
                  <a:gd name="T40" fmla="*/ 101 w 200"/>
                  <a:gd name="T41" fmla="*/ 149 h 149"/>
                  <a:gd name="T42" fmla="*/ 146 w 200"/>
                  <a:gd name="T43" fmla="*/ 145 h 149"/>
                  <a:gd name="T44" fmla="*/ 192 w 200"/>
                  <a:gd name="T45" fmla="*/ 149 h 149"/>
                  <a:gd name="T46" fmla="*/ 193 w 200"/>
                  <a:gd name="T47" fmla="*/ 149 h 149"/>
                  <a:gd name="T48" fmla="*/ 197 w 200"/>
                  <a:gd name="T49" fmla="*/ 147 h 149"/>
                  <a:gd name="T50" fmla="*/ 200 w 200"/>
                  <a:gd name="T51" fmla="*/ 142 h 149"/>
                  <a:gd name="T52" fmla="*/ 200 w 200"/>
                  <a:gd name="T53" fmla="*/ 20 h 149"/>
                  <a:gd name="T54" fmla="*/ 177 w 200"/>
                  <a:gd name="T55" fmla="*/ 3 h 149"/>
                  <a:gd name="T56" fmla="*/ 93 w 200"/>
                  <a:gd name="T57" fmla="*/ 134 h 149"/>
                  <a:gd name="T58" fmla="*/ 53 w 200"/>
                  <a:gd name="T59" fmla="*/ 131 h 149"/>
                  <a:gd name="T60" fmla="*/ 14 w 200"/>
                  <a:gd name="T61" fmla="*/ 134 h 149"/>
                  <a:gd name="T62" fmla="*/ 14 w 200"/>
                  <a:gd name="T63" fmla="*/ 21 h 149"/>
                  <a:gd name="T64" fmla="*/ 53 w 200"/>
                  <a:gd name="T65" fmla="*/ 14 h 149"/>
                  <a:gd name="T66" fmla="*/ 93 w 200"/>
                  <a:gd name="T67" fmla="*/ 21 h 149"/>
                  <a:gd name="T68" fmla="*/ 93 w 200"/>
                  <a:gd name="T69" fmla="*/ 13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00" h="149">
                    <a:moveTo>
                      <a:pt x="177" y="3"/>
                    </a:moveTo>
                    <a:cubicBezTo>
                      <a:pt x="177" y="17"/>
                      <a:pt x="177" y="17"/>
                      <a:pt x="177" y="17"/>
                    </a:cubicBezTo>
                    <a:cubicBezTo>
                      <a:pt x="181" y="18"/>
                      <a:pt x="185" y="20"/>
                      <a:pt x="186" y="21"/>
                    </a:cubicBezTo>
                    <a:cubicBezTo>
                      <a:pt x="186" y="134"/>
                      <a:pt x="186" y="134"/>
                      <a:pt x="186" y="134"/>
                    </a:cubicBezTo>
                    <a:cubicBezTo>
                      <a:pt x="161" y="130"/>
                      <a:pt x="131" y="130"/>
                      <a:pt x="107" y="134"/>
                    </a:cubicBezTo>
                    <a:cubicBezTo>
                      <a:pt x="107" y="21"/>
                      <a:pt x="107" y="21"/>
                      <a:pt x="107" y="21"/>
                    </a:cubicBezTo>
                    <a:cubicBezTo>
                      <a:pt x="108" y="20"/>
                      <a:pt x="111" y="18"/>
                      <a:pt x="117" y="17"/>
                    </a:cubicBezTo>
                    <a:cubicBezTo>
                      <a:pt x="117" y="3"/>
                      <a:pt x="117" y="3"/>
                      <a:pt x="117" y="3"/>
                    </a:cubicBezTo>
                    <a:cubicBezTo>
                      <a:pt x="110" y="4"/>
                      <a:pt x="104" y="6"/>
                      <a:pt x="100" y="9"/>
                    </a:cubicBezTo>
                    <a:cubicBezTo>
                      <a:pt x="90" y="2"/>
                      <a:pt x="70" y="0"/>
                      <a:pt x="53" y="0"/>
                    </a:cubicBezTo>
                    <a:cubicBezTo>
                      <a:pt x="29" y="0"/>
                      <a:pt x="0" y="5"/>
                      <a:pt x="0" y="2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0" y="144"/>
                      <a:pt x="1" y="146"/>
                      <a:pt x="2" y="147"/>
                    </a:cubicBezTo>
                    <a:cubicBezTo>
                      <a:pt x="4" y="148"/>
                      <a:pt x="6" y="149"/>
                      <a:pt x="8" y="149"/>
                    </a:cubicBezTo>
                    <a:cubicBezTo>
                      <a:pt x="22" y="146"/>
                      <a:pt x="37" y="145"/>
                      <a:pt x="53" y="145"/>
                    </a:cubicBezTo>
                    <a:cubicBezTo>
                      <a:pt x="69" y="145"/>
                      <a:pt x="85" y="146"/>
                      <a:pt x="99" y="149"/>
                    </a:cubicBez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9"/>
                      <a:pt x="99" y="149"/>
                      <a:pt x="100" y="149"/>
                    </a:cubicBezTo>
                    <a:cubicBezTo>
                      <a:pt x="100" y="149"/>
                      <a:pt x="100" y="149"/>
                      <a:pt x="100" y="149"/>
                    </a:cubicBezTo>
                    <a:cubicBezTo>
                      <a:pt x="100" y="149"/>
                      <a:pt x="100" y="149"/>
                      <a:pt x="101" y="149"/>
                    </a:cubicBezTo>
                    <a:cubicBezTo>
                      <a:pt x="101" y="149"/>
                      <a:pt x="101" y="149"/>
                      <a:pt x="101" y="149"/>
                    </a:cubicBezTo>
                    <a:cubicBezTo>
                      <a:pt x="115" y="146"/>
                      <a:pt x="130" y="145"/>
                      <a:pt x="146" y="145"/>
                    </a:cubicBezTo>
                    <a:cubicBezTo>
                      <a:pt x="162" y="145"/>
                      <a:pt x="178" y="146"/>
                      <a:pt x="192" y="149"/>
                    </a:cubicBezTo>
                    <a:cubicBezTo>
                      <a:pt x="192" y="149"/>
                      <a:pt x="192" y="149"/>
                      <a:pt x="193" y="149"/>
                    </a:cubicBezTo>
                    <a:cubicBezTo>
                      <a:pt x="194" y="149"/>
                      <a:pt x="196" y="148"/>
                      <a:pt x="197" y="147"/>
                    </a:cubicBezTo>
                    <a:cubicBezTo>
                      <a:pt x="199" y="146"/>
                      <a:pt x="200" y="144"/>
                      <a:pt x="200" y="142"/>
                    </a:cubicBezTo>
                    <a:cubicBezTo>
                      <a:pt x="200" y="20"/>
                      <a:pt x="200" y="20"/>
                      <a:pt x="200" y="20"/>
                    </a:cubicBezTo>
                    <a:cubicBezTo>
                      <a:pt x="200" y="11"/>
                      <a:pt x="190" y="6"/>
                      <a:pt x="177" y="3"/>
                    </a:cubicBezTo>
                    <a:close/>
                    <a:moveTo>
                      <a:pt x="93" y="134"/>
                    </a:moveTo>
                    <a:cubicBezTo>
                      <a:pt x="80" y="132"/>
                      <a:pt x="67" y="131"/>
                      <a:pt x="53" y="131"/>
                    </a:cubicBezTo>
                    <a:cubicBezTo>
                      <a:pt x="40" y="131"/>
                      <a:pt x="26" y="132"/>
                      <a:pt x="14" y="134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18"/>
                      <a:pt x="30" y="14"/>
                      <a:pt x="53" y="14"/>
                    </a:cubicBezTo>
                    <a:cubicBezTo>
                      <a:pt x="76" y="14"/>
                      <a:pt x="90" y="18"/>
                      <a:pt x="93" y="21"/>
                    </a:cubicBezTo>
                    <a:lnTo>
                      <a:pt x="93" y="13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5647172" y="1987712"/>
            <a:ext cx="749673" cy="751322"/>
            <a:chOff x="3437020" y="4201727"/>
            <a:chExt cx="863676" cy="865576"/>
          </a:xfrm>
        </p:grpSpPr>
        <p:sp>
          <p:nvSpPr>
            <p:cNvPr id="64" name="椭圆 21"/>
            <p:cNvSpPr>
              <a:spLocks noChangeArrowheads="1"/>
            </p:cNvSpPr>
            <p:nvPr/>
          </p:nvSpPr>
          <p:spPr bwMode="auto">
            <a:xfrm>
              <a:off x="3437020" y="4201727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65" name="Group 4"/>
            <p:cNvGrpSpPr>
              <a:grpSpLocks noChangeAspect="1"/>
            </p:cNvGrpSpPr>
            <p:nvPr/>
          </p:nvGrpSpPr>
          <p:grpSpPr bwMode="auto">
            <a:xfrm>
              <a:off x="3626902" y="4339091"/>
              <a:ext cx="476560" cy="578496"/>
              <a:chOff x="2694" y="1931"/>
              <a:chExt cx="374" cy="454"/>
            </a:xfrm>
            <a:solidFill>
              <a:schemeClr val="bg1"/>
            </a:solidFill>
          </p:grpSpPr>
          <p:sp>
            <p:nvSpPr>
              <p:cNvPr id="66" name="Freeform 5"/>
              <p:cNvSpPr>
                <a:spLocks noEditPoints="1"/>
              </p:cNvSpPr>
              <p:nvPr/>
            </p:nvSpPr>
            <p:spPr bwMode="auto">
              <a:xfrm>
                <a:off x="2694" y="1931"/>
                <a:ext cx="374" cy="454"/>
              </a:xfrm>
              <a:custGeom>
                <a:avLst/>
                <a:gdLst>
                  <a:gd name="T0" fmla="*/ 127 w 155"/>
                  <a:gd name="T1" fmla="*/ 7 h 189"/>
                  <a:gd name="T2" fmla="*/ 124 w 155"/>
                  <a:gd name="T3" fmla="*/ 0 h 189"/>
                  <a:gd name="T4" fmla="*/ 122 w 155"/>
                  <a:gd name="T5" fmla="*/ 7 h 189"/>
                  <a:gd name="T6" fmla="*/ 96 w 155"/>
                  <a:gd name="T7" fmla="*/ 3 h 189"/>
                  <a:gd name="T8" fmla="*/ 90 w 155"/>
                  <a:gd name="T9" fmla="*/ 3 h 189"/>
                  <a:gd name="T10" fmla="*/ 64 w 155"/>
                  <a:gd name="T11" fmla="*/ 7 h 189"/>
                  <a:gd name="T12" fmla="*/ 62 w 155"/>
                  <a:gd name="T13" fmla="*/ 0 h 189"/>
                  <a:gd name="T14" fmla="*/ 59 w 155"/>
                  <a:gd name="T15" fmla="*/ 7 h 189"/>
                  <a:gd name="T16" fmla="*/ 33 w 155"/>
                  <a:gd name="T17" fmla="*/ 3 h 189"/>
                  <a:gd name="T18" fmla="*/ 27 w 155"/>
                  <a:gd name="T19" fmla="*/ 3 h 189"/>
                  <a:gd name="T20" fmla="*/ 7 w 155"/>
                  <a:gd name="T21" fmla="*/ 7 h 189"/>
                  <a:gd name="T22" fmla="*/ 0 w 155"/>
                  <a:gd name="T23" fmla="*/ 182 h 189"/>
                  <a:gd name="T24" fmla="*/ 148 w 155"/>
                  <a:gd name="T25" fmla="*/ 189 h 189"/>
                  <a:gd name="T26" fmla="*/ 155 w 155"/>
                  <a:gd name="T27" fmla="*/ 13 h 189"/>
                  <a:gd name="T28" fmla="*/ 124 w 155"/>
                  <a:gd name="T29" fmla="*/ 40 h 189"/>
                  <a:gd name="T30" fmla="*/ 127 w 155"/>
                  <a:gd name="T31" fmla="*/ 31 h 189"/>
                  <a:gd name="T32" fmla="*/ 124 w 155"/>
                  <a:gd name="T33" fmla="*/ 44 h 189"/>
                  <a:gd name="T34" fmla="*/ 122 w 155"/>
                  <a:gd name="T35" fmla="*/ 31 h 189"/>
                  <a:gd name="T36" fmla="*/ 124 w 155"/>
                  <a:gd name="T37" fmla="*/ 40 h 189"/>
                  <a:gd name="T38" fmla="*/ 96 w 155"/>
                  <a:gd name="T39" fmla="*/ 37 h 189"/>
                  <a:gd name="T40" fmla="*/ 100 w 155"/>
                  <a:gd name="T41" fmla="*/ 37 h 189"/>
                  <a:gd name="T42" fmla="*/ 86 w 155"/>
                  <a:gd name="T43" fmla="*/ 37 h 189"/>
                  <a:gd name="T44" fmla="*/ 90 w 155"/>
                  <a:gd name="T45" fmla="*/ 37 h 189"/>
                  <a:gd name="T46" fmla="*/ 62 w 155"/>
                  <a:gd name="T47" fmla="*/ 40 h 189"/>
                  <a:gd name="T48" fmla="*/ 64 w 155"/>
                  <a:gd name="T49" fmla="*/ 31 h 189"/>
                  <a:gd name="T50" fmla="*/ 62 w 155"/>
                  <a:gd name="T51" fmla="*/ 44 h 189"/>
                  <a:gd name="T52" fmla="*/ 59 w 155"/>
                  <a:gd name="T53" fmla="*/ 31 h 189"/>
                  <a:gd name="T54" fmla="*/ 62 w 155"/>
                  <a:gd name="T55" fmla="*/ 40 h 189"/>
                  <a:gd name="T56" fmla="*/ 33 w 155"/>
                  <a:gd name="T57" fmla="*/ 37 h 189"/>
                  <a:gd name="T58" fmla="*/ 37 w 155"/>
                  <a:gd name="T59" fmla="*/ 37 h 189"/>
                  <a:gd name="T60" fmla="*/ 23 w 155"/>
                  <a:gd name="T61" fmla="*/ 37 h 189"/>
                  <a:gd name="T62" fmla="*/ 27 w 155"/>
                  <a:gd name="T63" fmla="*/ 37 h 189"/>
                  <a:gd name="T64" fmla="*/ 141 w 155"/>
                  <a:gd name="T65" fmla="*/ 175 h 189"/>
                  <a:gd name="T66" fmla="*/ 14 w 155"/>
                  <a:gd name="T67" fmla="*/ 20 h 189"/>
                  <a:gd name="T68" fmla="*/ 27 w 155"/>
                  <a:gd name="T69" fmla="*/ 25 h 189"/>
                  <a:gd name="T70" fmla="*/ 30 w 155"/>
                  <a:gd name="T71" fmla="*/ 50 h 189"/>
                  <a:gd name="T72" fmla="*/ 33 w 155"/>
                  <a:gd name="T73" fmla="*/ 25 h 189"/>
                  <a:gd name="T74" fmla="*/ 59 w 155"/>
                  <a:gd name="T75" fmla="*/ 20 h 189"/>
                  <a:gd name="T76" fmla="*/ 49 w 155"/>
                  <a:gd name="T77" fmla="*/ 37 h 189"/>
                  <a:gd name="T78" fmla="*/ 74 w 155"/>
                  <a:gd name="T79" fmla="*/ 37 h 189"/>
                  <a:gd name="T80" fmla="*/ 64 w 155"/>
                  <a:gd name="T81" fmla="*/ 20 h 189"/>
                  <a:gd name="T82" fmla="*/ 90 w 155"/>
                  <a:gd name="T83" fmla="*/ 25 h 189"/>
                  <a:gd name="T84" fmla="*/ 93 w 155"/>
                  <a:gd name="T85" fmla="*/ 50 h 189"/>
                  <a:gd name="T86" fmla="*/ 96 w 155"/>
                  <a:gd name="T87" fmla="*/ 25 h 189"/>
                  <a:gd name="T88" fmla="*/ 122 w 155"/>
                  <a:gd name="T89" fmla="*/ 20 h 189"/>
                  <a:gd name="T90" fmla="*/ 112 w 155"/>
                  <a:gd name="T91" fmla="*/ 37 h 189"/>
                  <a:gd name="T92" fmla="*/ 137 w 155"/>
                  <a:gd name="T93" fmla="*/ 37 h 189"/>
                  <a:gd name="T94" fmla="*/ 127 w 155"/>
                  <a:gd name="T95" fmla="*/ 20 h 189"/>
                  <a:gd name="T96" fmla="*/ 141 w 155"/>
                  <a:gd name="T97" fmla="*/ 175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5" h="189">
                    <a:moveTo>
                      <a:pt x="148" y="7"/>
                    </a:moveTo>
                    <a:cubicBezTo>
                      <a:pt x="127" y="7"/>
                      <a:pt x="127" y="7"/>
                      <a:pt x="127" y="7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1"/>
                      <a:pt x="126" y="0"/>
                      <a:pt x="124" y="0"/>
                    </a:cubicBezTo>
                    <a:cubicBezTo>
                      <a:pt x="123" y="0"/>
                      <a:pt x="122" y="1"/>
                      <a:pt x="122" y="3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1"/>
                      <a:pt x="94" y="0"/>
                      <a:pt x="93" y="0"/>
                    </a:cubicBezTo>
                    <a:cubicBezTo>
                      <a:pt x="91" y="0"/>
                      <a:pt x="90" y="1"/>
                      <a:pt x="90" y="3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64" y="7"/>
                      <a:pt x="64" y="7"/>
                      <a:pt x="64" y="7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1"/>
                      <a:pt x="63" y="0"/>
                      <a:pt x="62" y="0"/>
                    </a:cubicBezTo>
                    <a:cubicBezTo>
                      <a:pt x="60" y="0"/>
                      <a:pt x="59" y="1"/>
                      <a:pt x="59" y="3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29" y="0"/>
                      <a:pt x="27" y="1"/>
                      <a:pt x="27" y="3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3" y="7"/>
                      <a:pt x="0" y="10"/>
                      <a:pt x="0" y="1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6"/>
                      <a:pt x="3" y="189"/>
                      <a:pt x="7" y="189"/>
                    </a:cubicBezTo>
                    <a:cubicBezTo>
                      <a:pt x="148" y="189"/>
                      <a:pt x="148" y="189"/>
                      <a:pt x="148" y="189"/>
                    </a:cubicBezTo>
                    <a:cubicBezTo>
                      <a:pt x="152" y="189"/>
                      <a:pt x="155" y="186"/>
                      <a:pt x="155" y="182"/>
                    </a:cubicBezTo>
                    <a:cubicBezTo>
                      <a:pt x="155" y="13"/>
                      <a:pt x="155" y="13"/>
                      <a:pt x="155" y="13"/>
                    </a:cubicBezTo>
                    <a:cubicBezTo>
                      <a:pt x="155" y="10"/>
                      <a:pt x="152" y="7"/>
                      <a:pt x="148" y="7"/>
                    </a:cubicBezTo>
                    <a:close/>
                    <a:moveTo>
                      <a:pt x="124" y="40"/>
                    </a:moveTo>
                    <a:cubicBezTo>
                      <a:pt x="126" y="40"/>
                      <a:pt x="127" y="39"/>
                      <a:pt x="127" y="37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30" y="32"/>
                      <a:pt x="131" y="35"/>
                      <a:pt x="131" y="37"/>
                    </a:cubicBezTo>
                    <a:cubicBezTo>
                      <a:pt x="131" y="41"/>
                      <a:pt x="128" y="44"/>
                      <a:pt x="124" y="44"/>
                    </a:cubicBezTo>
                    <a:cubicBezTo>
                      <a:pt x="120" y="44"/>
                      <a:pt x="117" y="41"/>
                      <a:pt x="117" y="37"/>
                    </a:cubicBezTo>
                    <a:cubicBezTo>
                      <a:pt x="117" y="34"/>
                      <a:pt x="119" y="32"/>
                      <a:pt x="122" y="31"/>
                    </a:cubicBezTo>
                    <a:cubicBezTo>
                      <a:pt x="122" y="37"/>
                      <a:pt x="122" y="37"/>
                      <a:pt x="122" y="37"/>
                    </a:cubicBezTo>
                    <a:cubicBezTo>
                      <a:pt x="122" y="39"/>
                      <a:pt x="123" y="40"/>
                      <a:pt x="124" y="40"/>
                    </a:cubicBezTo>
                    <a:close/>
                    <a:moveTo>
                      <a:pt x="93" y="40"/>
                    </a:moveTo>
                    <a:cubicBezTo>
                      <a:pt x="94" y="40"/>
                      <a:pt x="96" y="39"/>
                      <a:pt x="96" y="3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8" y="32"/>
                      <a:pt x="100" y="35"/>
                      <a:pt x="100" y="37"/>
                    </a:cubicBezTo>
                    <a:cubicBezTo>
                      <a:pt x="100" y="41"/>
                      <a:pt x="97" y="44"/>
                      <a:pt x="93" y="44"/>
                    </a:cubicBezTo>
                    <a:cubicBezTo>
                      <a:pt x="89" y="44"/>
                      <a:pt x="86" y="41"/>
                      <a:pt x="86" y="37"/>
                    </a:cubicBezTo>
                    <a:cubicBezTo>
                      <a:pt x="86" y="34"/>
                      <a:pt x="88" y="32"/>
                      <a:pt x="90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9"/>
                      <a:pt x="91" y="40"/>
                      <a:pt x="93" y="40"/>
                    </a:cubicBezTo>
                    <a:close/>
                    <a:moveTo>
                      <a:pt x="62" y="40"/>
                    </a:moveTo>
                    <a:cubicBezTo>
                      <a:pt x="63" y="40"/>
                      <a:pt x="64" y="39"/>
                      <a:pt x="64" y="37"/>
                    </a:cubicBezTo>
                    <a:cubicBezTo>
                      <a:pt x="64" y="31"/>
                      <a:pt x="64" y="31"/>
                      <a:pt x="64" y="31"/>
                    </a:cubicBezTo>
                    <a:cubicBezTo>
                      <a:pt x="67" y="32"/>
                      <a:pt x="69" y="35"/>
                      <a:pt x="69" y="37"/>
                    </a:cubicBezTo>
                    <a:cubicBezTo>
                      <a:pt x="69" y="41"/>
                      <a:pt x="65" y="44"/>
                      <a:pt x="62" y="44"/>
                    </a:cubicBezTo>
                    <a:cubicBezTo>
                      <a:pt x="58" y="44"/>
                      <a:pt x="54" y="41"/>
                      <a:pt x="54" y="37"/>
                    </a:cubicBezTo>
                    <a:cubicBezTo>
                      <a:pt x="54" y="34"/>
                      <a:pt x="56" y="32"/>
                      <a:pt x="59" y="31"/>
                    </a:cubicBezTo>
                    <a:cubicBezTo>
                      <a:pt x="59" y="37"/>
                      <a:pt x="59" y="37"/>
                      <a:pt x="59" y="37"/>
                    </a:cubicBezTo>
                    <a:cubicBezTo>
                      <a:pt x="59" y="39"/>
                      <a:pt x="60" y="40"/>
                      <a:pt x="62" y="40"/>
                    </a:cubicBezTo>
                    <a:close/>
                    <a:moveTo>
                      <a:pt x="30" y="40"/>
                    </a:moveTo>
                    <a:cubicBezTo>
                      <a:pt x="32" y="40"/>
                      <a:pt x="33" y="39"/>
                      <a:pt x="33" y="37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5" y="32"/>
                      <a:pt x="37" y="35"/>
                      <a:pt x="37" y="37"/>
                    </a:cubicBezTo>
                    <a:cubicBezTo>
                      <a:pt x="37" y="41"/>
                      <a:pt x="34" y="44"/>
                      <a:pt x="30" y="44"/>
                    </a:cubicBezTo>
                    <a:cubicBezTo>
                      <a:pt x="26" y="44"/>
                      <a:pt x="23" y="41"/>
                      <a:pt x="23" y="37"/>
                    </a:cubicBezTo>
                    <a:cubicBezTo>
                      <a:pt x="23" y="34"/>
                      <a:pt x="25" y="32"/>
                      <a:pt x="27" y="31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27" y="39"/>
                      <a:pt x="29" y="40"/>
                      <a:pt x="30" y="40"/>
                    </a:cubicBezTo>
                    <a:close/>
                    <a:moveTo>
                      <a:pt x="141" y="175"/>
                    </a:moveTo>
                    <a:cubicBezTo>
                      <a:pt x="14" y="175"/>
                      <a:pt x="14" y="175"/>
                      <a:pt x="14" y="175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2" y="26"/>
                      <a:pt x="18" y="31"/>
                      <a:pt x="18" y="37"/>
                    </a:cubicBezTo>
                    <a:cubicBezTo>
                      <a:pt x="18" y="44"/>
                      <a:pt x="23" y="50"/>
                      <a:pt x="30" y="50"/>
                    </a:cubicBezTo>
                    <a:cubicBezTo>
                      <a:pt x="37" y="50"/>
                      <a:pt x="43" y="44"/>
                      <a:pt x="43" y="37"/>
                    </a:cubicBezTo>
                    <a:cubicBezTo>
                      <a:pt x="43" y="31"/>
                      <a:pt x="39" y="26"/>
                      <a:pt x="33" y="25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5"/>
                      <a:pt x="59" y="25"/>
                      <a:pt x="59" y="25"/>
                    </a:cubicBezTo>
                    <a:cubicBezTo>
                      <a:pt x="53" y="26"/>
                      <a:pt x="49" y="31"/>
                      <a:pt x="49" y="37"/>
                    </a:cubicBezTo>
                    <a:cubicBezTo>
                      <a:pt x="49" y="44"/>
                      <a:pt x="55" y="50"/>
                      <a:pt x="62" y="50"/>
                    </a:cubicBezTo>
                    <a:cubicBezTo>
                      <a:pt x="68" y="50"/>
                      <a:pt x="74" y="44"/>
                      <a:pt x="74" y="37"/>
                    </a:cubicBezTo>
                    <a:cubicBezTo>
                      <a:pt x="74" y="31"/>
                      <a:pt x="70" y="26"/>
                      <a:pt x="64" y="25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5" y="26"/>
                      <a:pt x="80" y="31"/>
                      <a:pt x="80" y="37"/>
                    </a:cubicBezTo>
                    <a:cubicBezTo>
                      <a:pt x="80" y="44"/>
                      <a:pt x="86" y="50"/>
                      <a:pt x="93" y="50"/>
                    </a:cubicBezTo>
                    <a:cubicBezTo>
                      <a:pt x="100" y="50"/>
                      <a:pt x="105" y="44"/>
                      <a:pt x="105" y="37"/>
                    </a:cubicBezTo>
                    <a:cubicBezTo>
                      <a:pt x="105" y="31"/>
                      <a:pt x="101" y="26"/>
                      <a:pt x="96" y="25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6" y="26"/>
                      <a:pt x="112" y="31"/>
                      <a:pt x="112" y="37"/>
                    </a:cubicBezTo>
                    <a:cubicBezTo>
                      <a:pt x="112" y="44"/>
                      <a:pt x="117" y="50"/>
                      <a:pt x="124" y="50"/>
                    </a:cubicBezTo>
                    <a:cubicBezTo>
                      <a:pt x="131" y="50"/>
                      <a:pt x="137" y="44"/>
                      <a:pt x="137" y="37"/>
                    </a:cubicBezTo>
                    <a:cubicBezTo>
                      <a:pt x="137" y="31"/>
                      <a:pt x="133" y="26"/>
                      <a:pt x="127" y="25"/>
                    </a:cubicBezTo>
                    <a:cubicBezTo>
                      <a:pt x="127" y="20"/>
                      <a:pt x="127" y="20"/>
                      <a:pt x="127" y="20"/>
                    </a:cubicBezTo>
                    <a:cubicBezTo>
                      <a:pt x="141" y="20"/>
                      <a:pt x="141" y="20"/>
                      <a:pt x="141" y="20"/>
                    </a:cubicBezTo>
                    <a:lnTo>
                      <a:pt x="141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Freeform 6"/>
              <p:cNvSpPr/>
              <p:nvPr/>
            </p:nvSpPr>
            <p:spPr bwMode="auto">
              <a:xfrm>
                <a:off x="2820" y="2272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Freeform 7"/>
              <p:cNvSpPr/>
              <p:nvPr/>
            </p:nvSpPr>
            <p:spPr bwMode="auto">
              <a:xfrm>
                <a:off x="2820" y="2190"/>
                <a:ext cx="181" cy="14"/>
              </a:xfrm>
              <a:custGeom>
                <a:avLst/>
                <a:gdLst>
                  <a:gd name="T0" fmla="*/ 73 w 75"/>
                  <a:gd name="T1" fmla="*/ 0 h 6"/>
                  <a:gd name="T2" fmla="*/ 2 w 75"/>
                  <a:gd name="T3" fmla="*/ 0 h 6"/>
                  <a:gd name="T4" fmla="*/ 0 w 75"/>
                  <a:gd name="T5" fmla="*/ 3 h 6"/>
                  <a:gd name="T6" fmla="*/ 2 w 75"/>
                  <a:gd name="T7" fmla="*/ 6 h 6"/>
                  <a:gd name="T8" fmla="*/ 73 w 75"/>
                  <a:gd name="T9" fmla="*/ 6 h 6"/>
                  <a:gd name="T10" fmla="*/ 75 w 75"/>
                  <a:gd name="T11" fmla="*/ 3 h 6"/>
                  <a:gd name="T12" fmla="*/ 73 w 75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6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6"/>
                      <a:pt x="2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4" y="6"/>
                      <a:pt x="75" y="5"/>
                      <a:pt x="75" y="3"/>
                    </a:cubicBezTo>
                    <a:cubicBezTo>
                      <a:pt x="75" y="2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auto">
              <a:xfrm>
                <a:off x="2820" y="2111"/>
                <a:ext cx="181" cy="12"/>
              </a:xfrm>
              <a:custGeom>
                <a:avLst/>
                <a:gdLst>
                  <a:gd name="T0" fmla="*/ 73 w 75"/>
                  <a:gd name="T1" fmla="*/ 0 h 5"/>
                  <a:gd name="T2" fmla="*/ 2 w 75"/>
                  <a:gd name="T3" fmla="*/ 0 h 5"/>
                  <a:gd name="T4" fmla="*/ 0 w 75"/>
                  <a:gd name="T5" fmla="*/ 3 h 5"/>
                  <a:gd name="T6" fmla="*/ 2 w 75"/>
                  <a:gd name="T7" fmla="*/ 5 h 5"/>
                  <a:gd name="T8" fmla="*/ 73 w 75"/>
                  <a:gd name="T9" fmla="*/ 5 h 5"/>
                  <a:gd name="T10" fmla="*/ 75 w 75"/>
                  <a:gd name="T11" fmla="*/ 3 h 5"/>
                  <a:gd name="T12" fmla="*/ 73 w 7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5">
                    <a:moveTo>
                      <a:pt x="7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4" y="5"/>
                      <a:pt x="75" y="4"/>
                      <a:pt x="75" y="3"/>
                    </a:cubicBezTo>
                    <a:cubicBezTo>
                      <a:pt x="75" y="1"/>
                      <a:pt x="74" y="0"/>
                      <a:pt x="7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auto">
              <a:xfrm>
                <a:off x="2755" y="2096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auto">
              <a:xfrm>
                <a:off x="2755" y="2176"/>
                <a:ext cx="41" cy="43"/>
              </a:xfrm>
              <a:custGeom>
                <a:avLst/>
                <a:gdLst>
                  <a:gd name="T0" fmla="*/ 15 w 17"/>
                  <a:gd name="T1" fmla="*/ 0 h 18"/>
                  <a:gd name="T2" fmla="*/ 3 w 17"/>
                  <a:gd name="T3" fmla="*/ 0 h 18"/>
                  <a:gd name="T4" fmla="*/ 0 w 17"/>
                  <a:gd name="T5" fmla="*/ 3 h 18"/>
                  <a:gd name="T6" fmla="*/ 0 w 17"/>
                  <a:gd name="T7" fmla="*/ 15 h 18"/>
                  <a:gd name="T8" fmla="*/ 3 w 17"/>
                  <a:gd name="T9" fmla="*/ 18 h 18"/>
                  <a:gd name="T10" fmla="*/ 15 w 17"/>
                  <a:gd name="T11" fmla="*/ 18 h 18"/>
                  <a:gd name="T12" fmla="*/ 17 w 17"/>
                  <a:gd name="T13" fmla="*/ 15 h 18"/>
                  <a:gd name="T14" fmla="*/ 17 w 17"/>
                  <a:gd name="T15" fmla="*/ 3 h 18"/>
                  <a:gd name="T16" fmla="*/ 15 w 17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8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1" y="18"/>
                      <a:pt x="3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6" y="18"/>
                      <a:pt x="17" y="17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2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auto">
              <a:xfrm>
                <a:off x="2755" y="2257"/>
                <a:ext cx="41" cy="41"/>
              </a:xfrm>
              <a:custGeom>
                <a:avLst/>
                <a:gdLst>
                  <a:gd name="T0" fmla="*/ 15 w 17"/>
                  <a:gd name="T1" fmla="*/ 0 h 17"/>
                  <a:gd name="T2" fmla="*/ 3 w 17"/>
                  <a:gd name="T3" fmla="*/ 0 h 17"/>
                  <a:gd name="T4" fmla="*/ 0 w 17"/>
                  <a:gd name="T5" fmla="*/ 3 h 17"/>
                  <a:gd name="T6" fmla="*/ 0 w 17"/>
                  <a:gd name="T7" fmla="*/ 15 h 17"/>
                  <a:gd name="T8" fmla="*/ 3 w 17"/>
                  <a:gd name="T9" fmla="*/ 17 h 17"/>
                  <a:gd name="T10" fmla="*/ 15 w 17"/>
                  <a:gd name="T11" fmla="*/ 17 h 17"/>
                  <a:gd name="T12" fmla="*/ 17 w 17"/>
                  <a:gd name="T13" fmla="*/ 15 h 17"/>
                  <a:gd name="T14" fmla="*/ 17 w 17"/>
                  <a:gd name="T15" fmla="*/ 3 h 17"/>
                  <a:gd name="T16" fmla="*/ 15 w 17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7">
                    <a:moveTo>
                      <a:pt x="15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7"/>
                      <a:pt x="3" y="17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6" y="17"/>
                      <a:pt x="17" y="16"/>
                      <a:pt x="17" y="15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7393861" y="2161909"/>
            <a:ext cx="749673" cy="751322"/>
            <a:chOff x="3437020" y="5246272"/>
            <a:chExt cx="863676" cy="865576"/>
          </a:xfrm>
        </p:grpSpPr>
        <p:sp>
          <p:nvSpPr>
            <p:cNvPr id="74" name="椭圆 21"/>
            <p:cNvSpPr>
              <a:spLocks noChangeArrowheads="1"/>
            </p:cNvSpPr>
            <p:nvPr/>
          </p:nvSpPr>
          <p:spPr bwMode="auto">
            <a:xfrm>
              <a:off x="3437020" y="5246272"/>
              <a:ext cx="863676" cy="86557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>
                  <a:lumMod val="75000"/>
                </a:schemeClr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75" name="Freeform 9"/>
            <p:cNvSpPr>
              <a:spLocks noEditPoints="1"/>
            </p:cNvSpPr>
            <p:nvPr/>
          </p:nvSpPr>
          <p:spPr bwMode="auto">
            <a:xfrm>
              <a:off x="3564624" y="5446833"/>
              <a:ext cx="605440" cy="464249"/>
            </a:xfrm>
            <a:custGeom>
              <a:avLst/>
              <a:gdLst>
                <a:gd name="T0" fmla="*/ 16 w 104"/>
                <a:gd name="T1" fmla="*/ 2 h 79"/>
                <a:gd name="T2" fmla="*/ 27 w 104"/>
                <a:gd name="T3" fmla="*/ 4 h 79"/>
                <a:gd name="T4" fmla="*/ 19 w 104"/>
                <a:gd name="T5" fmla="*/ 48 h 79"/>
                <a:gd name="T6" fmla="*/ 4 w 104"/>
                <a:gd name="T7" fmla="*/ 45 h 79"/>
                <a:gd name="T8" fmla="*/ 16 w 104"/>
                <a:gd name="T9" fmla="*/ 2 h 79"/>
                <a:gd name="T10" fmla="*/ 18 w 104"/>
                <a:gd name="T11" fmla="*/ 65 h 79"/>
                <a:gd name="T12" fmla="*/ 16 w 104"/>
                <a:gd name="T13" fmla="*/ 72 h 79"/>
                <a:gd name="T14" fmla="*/ 101 w 104"/>
                <a:gd name="T15" fmla="*/ 72 h 79"/>
                <a:gd name="T16" fmla="*/ 104 w 104"/>
                <a:gd name="T17" fmla="*/ 72 h 79"/>
                <a:gd name="T18" fmla="*/ 104 w 104"/>
                <a:gd name="T19" fmla="*/ 68 h 79"/>
                <a:gd name="T20" fmla="*/ 104 w 104"/>
                <a:gd name="T21" fmla="*/ 26 h 79"/>
                <a:gd name="T22" fmla="*/ 104 w 104"/>
                <a:gd name="T23" fmla="*/ 24 h 79"/>
                <a:gd name="T24" fmla="*/ 103 w 104"/>
                <a:gd name="T25" fmla="*/ 23 h 79"/>
                <a:gd name="T26" fmla="*/ 90 w 104"/>
                <a:gd name="T27" fmla="*/ 10 h 79"/>
                <a:gd name="T28" fmla="*/ 89 w 104"/>
                <a:gd name="T29" fmla="*/ 9 h 79"/>
                <a:gd name="T30" fmla="*/ 87 w 104"/>
                <a:gd name="T31" fmla="*/ 9 h 79"/>
                <a:gd name="T32" fmla="*/ 31 w 104"/>
                <a:gd name="T33" fmla="*/ 9 h 79"/>
                <a:gd name="T34" fmla="*/ 31 w 104"/>
                <a:gd name="T35" fmla="*/ 17 h 79"/>
                <a:gd name="T36" fmla="*/ 84 w 104"/>
                <a:gd name="T37" fmla="*/ 17 h 79"/>
                <a:gd name="T38" fmla="*/ 83 w 104"/>
                <a:gd name="T39" fmla="*/ 28 h 79"/>
                <a:gd name="T40" fmla="*/ 83 w 104"/>
                <a:gd name="T41" fmla="*/ 30 h 79"/>
                <a:gd name="T42" fmla="*/ 85 w 104"/>
                <a:gd name="T43" fmla="*/ 30 h 79"/>
                <a:gd name="T44" fmla="*/ 97 w 104"/>
                <a:gd name="T45" fmla="*/ 29 h 79"/>
                <a:gd name="T46" fmla="*/ 97 w 104"/>
                <a:gd name="T47" fmla="*/ 65 h 79"/>
                <a:gd name="T48" fmla="*/ 18 w 104"/>
                <a:gd name="T49" fmla="*/ 65 h 79"/>
                <a:gd name="T50" fmla="*/ 95 w 104"/>
                <a:gd name="T51" fmla="*/ 26 h 79"/>
                <a:gd name="T52" fmla="*/ 86 w 104"/>
                <a:gd name="T53" fmla="*/ 26 h 79"/>
                <a:gd name="T54" fmla="*/ 87 w 104"/>
                <a:gd name="T55" fmla="*/ 18 h 79"/>
                <a:gd name="T56" fmla="*/ 95 w 104"/>
                <a:gd name="T57" fmla="*/ 26 h 79"/>
                <a:gd name="T58" fmla="*/ 32 w 104"/>
                <a:gd name="T59" fmla="*/ 43 h 79"/>
                <a:gd name="T60" fmla="*/ 74 w 104"/>
                <a:gd name="T61" fmla="*/ 43 h 79"/>
                <a:gd name="T62" fmla="*/ 74 w 104"/>
                <a:gd name="T63" fmla="*/ 45 h 79"/>
                <a:gd name="T64" fmla="*/ 32 w 104"/>
                <a:gd name="T65" fmla="*/ 45 h 79"/>
                <a:gd name="T66" fmla="*/ 32 w 104"/>
                <a:gd name="T67" fmla="*/ 43 h 79"/>
                <a:gd name="T68" fmla="*/ 32 w 104"/>
                <a:gd name="T69" fmla="*/ 32 h 79"/>
                <a:gd name="T70" fmla="*/ 71 w 104"/>
                <a:gd name="T71" fmla="*/ 32 h 79"/>
                <a:gd name="T72" fmla="*/ 71 w 104"/>
                <a:gd name="T73" fmla="*/ 35 h 79"/>
                <a:gd name="T74" fmla="*/ 32 w 104"/>
                <a:gd name="T75" fmla="*/ 35 h 79"/>
                <a:gd name="T76" fmla="*/ 32 w 104"/>
                <a:gd name="T77" fmla="*/ 32 h 79"/>
                <a:gd name="T78" fmla="*/ 32 w 104"/>
                <a:gd name="T79" fmla="*/ 22 h 79"/>
                <a:gd name="T80" fmla="*/ 71 w 104"/>
                <a:gd name="T81" fmla="*/ 22 h 79"/>
                <a:gd name="T82" fmla="*/ 71 w 104"/>
                <a:gd name="T83" fmla="*/ 25 h 79"/>
                <a:gd name="T84" fmla="*/ 32 w 104"/>
                <a:gd name="T85" fmla="*/ 25 h 79"/>
                <a:gd name="T86" fmla="*/ 32 w 104"/>
                <a:gd name="T87" fmla="*/ 22 h 79"/>
                <a:gd name="T88" fmla="*/ 3 w 104"/>
                <a:gd name="T89" fmla="*/ 66 h 79"/>
                <a:gd name="T90" fmla="*/ 9 w 104"/>
                <a:gd name="T91" fmla="*/ 68 h 79"/>
                <a:gd name="T92" fmla="*/ 9 w 104"/>
                <a:gd name="T93" fmla="*/ 74 h 79"/>
                <a:gd name="T94" fmla="*/ 5 w 104"/>
                <a:gd name="T95" fmla="*/ 79 h 79"/>
                <a:gd name="T96" fmla="*/ 2 w 104"/>
                <a:gd name="T97" fmla="*/ 78 h 79"/>
                <a:gd name="T98" fmla="*/ 0 w 104"/>
                <a:gd name="T99" fmla="*/ 72 h 79"/>
                <a:gd name="T100" fmla="*/ 3 w 104"/>
                <a:gd name="T101" fmla="*/ 66 h 79"/>
                <a:gd name="T102" fmla="*/ 4 w 104"/>
                <a:gd name="T103" fmla="*/ 48 h 79"/>
                <a:gd name="T104" fmla="*/ 2 w 104"/>
                <a:gd name="T105" fmla="*/ 65 h 79"/>
                <a:gd name="T106" fmla="*/ 12 w 104"/>
                <a:gd name="T107" fmla="*/ 67 h 79"/>
                <a:gd name="T108" fmla="*/ 17 w 104"/>
                <a:gd name="T109" fmla="*/ 51 h 79"/>
                <a:gd name="T110" fmla="*/ 4 w 104"/>
                <a:gd name="T111" fmla="*/ 4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" h="79">
                  <a:moveTo>
                    <a:pt x="16" y="2"/>
                  </a:moveTo>
                  <a:cubicBezTo>
                    <a:pt x="21" y="0"/>
                    <a:pt x="24" y="1"/>
                    <a:pt x="27" y="4"/>
                  </a:cubicBezTo>
                  <a:cubicBezTo>
                    <a:pt x="26" y="20"/>
                    <a:pt x="23" y="35"/>
                    <a:pt x="19" y="48"/>
                  </a:cubicBezTo>
                  <a:cubicBezTo>
                    <a:pt x="14" y="47"/>
                    <a:pt x="9" y="46"/>
                    <a:pt x="4" y="45"/>
                  </a:cubicBezTo>
                  <a:cubicBezTo>
                    <a:pt x="6" y="29"/>
                    <a:pt x="10" y="15"/>
                    <a:pt x="16" y="2"/>
                  </a:cubicBezTo>
                  <a:close/>
                  <a:moveTo>
                    <a:pt x="18" y="65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69" y="72"/>
                    <a:pt x="74" y="72"/>
                    <a:pt x="101" y="72"/>
                  </a:cubicBezTo>
                  <a:cubicBezTo>
                    <a:pt x="104" y="72"/>
                    <a:pt x="104" y="72"/>
                    <a:pt x="104" y="72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12"/>
                    <a:pt x="31" y="14"/>
                    <a:pt x="31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79" y="65"/>
                    <a:pt x="57" y="65"/>
                    <a:pt x="18" y="65"/>
                  </a:cubicBezTo>
                  <a:close/>
                  <a:moveTo>
                    <a:pt x="95" y="26"/>
                  </a:moveTo>
                  <a:cubicBezTo>
                    <a:pt x="86" y="26"/>
                    <a:pt x="86" y="26"/>
                    <a:pt x="86" y="2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32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3"/>
                    <a:pt x="32" y="43"/>
                    <a:pt x="32" y="43"/>
                  </a:cubicBezTo>
                  <a:close/>
                  <a:moveTo>
                    <a:pt x="32" y="32"/>
                  </a:moveTo>
                  <a:cubicBezTo>
                    <a:pt x="71" y="32"/>
                    <a:pt x="71" y="32"/>
                    <a:pt x="71" y="32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32" y="22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2"/>
                    <a:pt x="32" y="22"/>
                    <a:pt x="32" y="22"/>
                  </a:cubicBezTo>
                  <a:close/>
                  <a:moveTo>
                    <a:pt x="3" y="66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79"/>
                    <a:pt x="3" y="79"/>
                    <a:pt x="2" y="7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48"/>
                  </a:moveTo>
                  <a:cubicBezTo>
                    <a:pt x="3" y="53"/>
                    <a:pt x="3" y="59"/>
                    <a:pt x="2" y="65"/>
                  </a:cubicBezTo>
                  <a:cubicBezTo>
                    <a:pt x="5" y="65"/>
                    <a:pt x="9" y="66"/>
                    <a:pt x="12" y="67"/>
                  </a:cubicBezTo>
                  <a:cubicBezTo>
                    <a:pt x="14" y="61"/>
                    <a:pt x="15" y="56"/>
                    <a:pt x="17" y="51"/>
                  </a:cubicBezTo>
                  <a:cubicBezTo>
                    <a:pt x="13" y="50"/>
                    <a:pt x="9" y="49"/>
                    <a:pt x="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矩形 64"/>
          <p:cNvSpPr>
            <a:spLocks noChangeArrowheads="1"/>
          </p:cNvSpPr>
          <p:nvPr/>
        </p:nvSpPr>
        <p:spPr bwMode="auto">
          <a:xfrm>
            <a:off x="2040268" y="2433626"/>
            <a:ext cx="1551601" cy="32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500" b="1" dirty="0">
                <a:solidFill>
                  <a:schemeClr val="accent1"/>
                </a:solidFill>
                <a:sym typeface="微软雅黑" panose="020B0503020204020204" pitchFamily="34" charset="-122"/>
              </a:rPr>
              <a:t>内容概述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1335600"/>
            <a:ext cx="1310400" cy="1324960"/>
          </a:xfrm>
          <a:prstGeom prst="rect">
            <a:avLst/>
          </a:prstGeom>
        </p:spPr>
      </p:pic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473311" y="1896911"/>
            <a:ext cx="132151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Part </a:t>
            </a:r>
            <a:r>
              <a:rPr lang="en-US" altLang="zh-CN" sz="5400" b="1" dirty="0">
                <a:solidFill>
                  <a:schemeClr val="bg1"/>
                </a:solidFill>
              </a:rPr>
              <a:t>1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53178" y="2049783"/>
            <a:ext cx="1985159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情景引入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>
            <a:spLocks noChangeArrowheads="1"/>
          </p:cNvSpPr>
          <p:nvPr/>
        </p:nvSpPr>
        <p:spPr bwMode="auto">
          <a:xfrm>
            <a:off x="501585" y="1301981"/>
            <a:ext cx="7494437" cy="3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ts val="2105"/>
              </a:lnSpc>
            </a:pPr>
            <a:r>
              <a:rPr lang="zh-CN" altLang="en-US" sz="1800" kern="100" dirty="0">
                <a:cs typeface="Times New Roman" panose="02020603050405020304" pitchFamily="18" charset="0"/>
              </a:rPr>
              <a:t>当我们键入一个网址，会发生什么呢？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情景引入</a:t>
            </a: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37D4454-F808-DF7B-4DB8-8BED91F3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8" y="2837623"/>
            <a:ext cx="8539566" cy="3847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8FDD-8174-6136-DDF3-7683B0B7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EA811118-0645-E753-F747-BA09C0904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579" y="940345"/>
            <a:ext cx="7494437" cy="3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ts val="2105"/>
              </a:lnSpc>
            </a:pPr>
            <a:r>
              <a:rPr lang="zh-CN" altLang="en-US" sz="1800" kern="100" dirty="0">
                <a:cs typeface="Times New Roman" panose="02020603050405020304" pitchFamily="18" charset="0"/>
              </a:rPr>
              <a:t>当我们键入一个网址，会发生什么呢？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矩形 46">
            <a:extLst>
              <a:ext uri="{FF2B5EF4-FFF2-40B4-BE49-F238E27FC236}">
                <a16:creationId xmlns:a16="http://schemas.microsoft.com/office/drawing/2014/main" id="{A59B7987-A306-AE52-7D05-4957A324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情景引入</a:t>
            </a:r>
          </a:p>
        </p:txBody>
      </p:sp>
      <p:sp>
        <p:nvSpPr>
          <p:cNvPr id="34" name="等腰三角形 47">
            <a:extLst>
              <a:ext uri="{FF2B5EF4-FFF2-40B4-BE49-F238E27FC236}">
                <a16:creationId xmlns:a16="http://schemas.microsoft.com/office/drawing/2014/main" id="{1C6DB834-4D94-49AA-0338-468619478E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9FBD71-45B1-BD1F-A9BE-8DF85E4D9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" y="1410436"/>
            <a:ext cx="8539566" cy="384772"/>
          </a:xfrm>
          <a:prstGeom prst="rect">
            <a:avLst/>
          </a:prstGeom>
        </p:spPr>
      </p:pic>
      <p:pic>
        <p:nvPicPr>
          <p:cNvPr id="10" name="图片 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DE52D22-F9B8-1954-B7B4-B679E275A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9" y="1795208"/>
            <a:ext cx="7092173" cy="318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情景引入</a:t>
            </a:r>
          </a:p>
        </p:txBody>
      </p:sp>
      <p:sp>
        <p:nvSpPr>
          <p:cNvPr id="16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3D4983-F10E-019D-0B01-155B52850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2" y="857536"/>
            <a:ext cx="9053895" cy="191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/>
              <a:t>第一阶段：寻找终点 </a:t>
            </a:r>
            <a:r>
              <a:rPr lang="en-US" altLang="zh-CN" sz="2000" b="1" dirty="0"/>
              <a:t>—— DNS </a:t>
            </a:r>
            <a:r>
              <a:rPr lang="zh-CN" altLang="en-US" sz="2000" b="1" dirty="0"/>
              <a:t>解析</a:t>
            </a:r>
            <a:endParaRPr lang="en-US" altLang="zh-CN" sz="2000" b="1" dirty="0"/>
          </a:p>
          <a:p>
            <a:endParaRPr lang="zh-CN" altLang="en-US" b="1" dirty="0"/>
          </a:p>
          <a:p>
            <a:r>
              <a:rPr lang="zh-CN" altLang="en-US" b="1" dirty="0"/>
              <a:t>情境</a:t>
            </a:r>
            <a:r>
              <a:rPr lang="zh-CN" altLang="en-US" dirty="0"/>
              <a:t>：你只知道百度的“名字”（域名），但网络只认“身份证号”（</a:t>
            </a:r>
            <a:r>
              <a:rPr lang="en-US" altLang="zh-CN" dirty="0"/>
              <a:t>IP </a:t>
            </a:r>
            <a:r>
              <a:rPr lang="zh-CN" altLang="en-US" dirty="0"/>
              <a:t>地址）</a:t>
            </a:r>
          </a:p>
          <a:p>
            <a:r>
              <a:rPr lang="zh-CN" altLang="en-US" b="1" dirty="0"/>
              <a:t>浏览器缓存</a:t>
            </a:r>
            <a:r>
              <a:rPr lang="en-US" altLang="zh-CN" b="1" dirty="0"/>
              <a:t>/</a:t>
            </a:r>
            <a:r>
              <a:rPr lang="zh-CN" altLang="en-US" b="1" dirty="0"/>
              <a:t>系统缓存</a:t>
            </a:r>
            <a:r>
              <a:rPr lang="zh-CN" altLang="en-US" dirty="0"/>
              <a:t>：先看电脑记没记住过这个 </a:t>
            </a:r>
            <a:r>
              <a:rPr lang="en-US" altLang="zh-CN" dirty="0"/>
              <a:t>IP</a:t>
            </a:r>
            <a:endParaRPr lang="zh-CN" altLang="en-US" dirty="0"/>
          </a:p>
          <a:p>
            <a:r>
              <a:rPr lang="en-US" altLang="zh-CN" b="1" dirty="0"/>
              <a:t>DNS </a:t>
            </a:r>
            <a:r>
              <a:rPr lang="zh-CN" altLang="en-US" b="1" dirty="0"/>
              <a:t>查询</a:t>
            </a:r>
            <a:r>
              <a:rPr lang="zh-CN" altLang="en-US" dirty="0"/>
              <a:t>：如果没有，电脑会向</a:t>
            </a:r>
            <a:r>
              <a:rPr lang="zh-CN" altLang="en-US" b="1" dirty="0"/>
              <a:t>递归服务器</a:t>
            </a:r>
            <a:r>
              <a:rPr lang="zh-CN" altLang="en-US" dirty="0"/>
              <a:t>（通常是运营商提供）发问</a:t>
            </a:r>
          </a:p>
          <a:p>
            <a:r>
              <a:rPr lang="zh-CN" altLang="en-US" b="1" dirty="0"/>
              <a:t>层层寻找</a:t>
            </a:r>
            <a:r>
              <a:rPr lang="zh-CN" altLang="en-US" dirty="0"/>
              <a:t>：如果递归服务器也不知道，它会去问</a:t>
            </a:r>
            <a:r>
              <a:rPr lang="zh-CN" altLang="en-US" b="1" dirty="0"/>
              <a:t>根域名服务器</a:t>
            </a:r>
            <a:r>
              <a:rPr lang="zh-CN" altLang="en-US" dirty="0"/>
              <a:t>、</a:t>
            </a:r>
            <a:r>
              <a:rPr lang="en-US" altLang="zh-CN" b="1" dirty="0"/>
              <a:t>TLD</a:t>
            </a:r>
            <a:r>
              <a:rPr lang="zh-CN" altLang="en-US" b="1" dirty="0"/>
              <a:t>顶级域名服务器</a:t>
            </a:r>
            <a:r>
              <a:rPr lang="zh-CN" altLang="en-US" dirty="0"/>
              <a:t>，最后找到百度权威 </a:t>
            </a:r>
            <a:r>
              <a:rPr lang="en-US" altLang="zh-CN" dirty="0"/>
              <a:t>DNS</a:t>
            </a:r>
            <a:endParaRPr lang="zh-CN" altLang="en-US" sz="2400" dirty="0"/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D94ED-573A-5BE9-241D-1FEB57222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2" y="2754558"/>
            <a:ext cx="6514925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1" dirty="0"/>
              <a:t>第二阶段：建立连接 —— TCP 三次握手</a:t>
            </a:r>
            <a:endParaRPr lang="en-US" altLang="zh-CN" sz="2000" b="1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2000" b="1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b="1" dirty="0"/>
              <a:t>情境：</a:t>
            </a:r>
            <a:r>
              <a:rPr lang="zh-CN" altLang="zh-CN" dirty="0"/>
              <a:t>拿到 IP 后，你的电脑要和服务器打个招呼，确认双方都能正常收发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第一次握手：</a:t>
            </a:r>
            <a:r>
              <a:rPr lang="zh-CN" altLang="zh-CN" dirty="0"/>
              <a:t>客户端发送 SYN报文（</a:t>
            </a:r>
            <a:r>
              <a:rPr lang="zh-CN" altLang="en-US" dirty="0"/>
              <a:t>兄弟你在吗？收到请回答</a:t>
            </a:r>
            <a:r>
              <a:rPr lang="zh-CN" altLang="zh-CN" dirty="0"/>
              <a:t>）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第二次握手：</a:t>
            </a:r>
            <a:r>
              <a:rPr lang="zh-CN" altLang="zh-CN" dirty="0"/>
              <a:t>服务器回传 SYN+ACK 报文（</a:t>
            </a:r>
            <a:r>
              <a:rPr lang="zh-CN" altLang="en-US" dirty="0"/>
              <a:t>兄弟我在呢，你能听到我说话吗？</a:t>
            </a:r>
            <a:r>
              <a:rPr lang="zh-CN" altLang="zh-CN" dirty="0"/>
              <a:t>）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第三次握手：</a:t>
            </a:r>
            <a:r>
              <a:rPr lang="zh-CN" altLang="zh-CN" dirty="0"/>
              <a:t>客户端发送 ACK报文（</a:t>
            </a:r>
            <a:r>
              <a:rPr lang="zh-CN" altLang="en-US" dirty="0"/>
              <a:t>我能听到，我们开始传数据吧</a:t>
            </a:r>
            <a:r>
              <a:rPr lang="zh-CN" altLang="zh-CN" dirty="0"/>
              <a:t>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4CF45-962D-604A-07C7-46E2B7CA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>
            <a:extLst>
              <a:ext uri="{FF2B5EF4-FFF2-40B4-BE49-F238E27FC236}">
                <a16:creationId xmlns:a16="http://schemas.microsoft.com/office/drawing/2014/main" id="{45957841-3A9F-8CEE-47B4-466CB7CA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情景引入</a:t>
            </a:r>
          </a:p>
        </p:txBody>
      </p:sp>
      <p:sp>
        <p:nvSpPr>
          <p:cNvPr id="16" name="等腰三角形 47">
            <a:extLst>
              <a:ext uri="{FF2B5EF4-FFF2-40B4-BE49-F238E27FC236}">
                <a16:creationId xmlns:a16="http://schemas.microsoft.com/office/drawing/2014/main" id="{F541DD31-91A0-DE64-0EF3-97DC195F1C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F2139E-185E-0C81-3246-3ED3AB6A8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2" y="857536"/>
            <a:ext cx="9053895" cy="191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/>
              <a:t>第三阶段：数据传输</a:t>
            </a:r>
            <a:r>
              <a:rPr lang="zh-CN" altLang="zh-CN" sz="2000" b="1" dirty="0"/>
              <a:t>——</a:t>
            </a:r>
            <a:r>
              <a:rPr lang="zh-CN" altLang="en-US" sz="2000" b="1" dirty="0"/>
              <a:t>发送</a:t>
            </a:r>
            <a:r>
              <a:rPr lang="en-US" altLang="zh-CN" sz="2000" b="1" dirty="0"/>
              <a:t>HTTP</a:t>
            </a:r>
            <a:r>
              <a:rPr lang="zh-CN" altLang="en-US" sz="2000" b="1" dirty="0"/>
              <a:t>请求</a:t>
            </a:r>
          </a:p>
          <a:p>
            <a:endParaRPr lang="zh-CN" altLang="en-US" b="1" dirty="0"/>
          </a:p>
          <a:p>
            <a:r>
              <a:rPr lang="zh-CN" altLang="en-US" b="1" dirty="0"/>
              <a:t>情境</a:t>
            </a:r>
            <a:r>
              <a:rPr lang="zh-CN" altLang="en-US" dirty="0"/>
              <a:t>：握手成功，开始把你的网页请求（</a:t>
            </a:r>
            <a:r>
              <a:rPr lang="en-US" altLang="zh-CN" dirty="0"/>
              <a:t>HTTP</a:t>
            </a:r>
            <a:r>
              <a:rPr lang="zh-CN" altLang="en-US" dirty="0"/>
              <a:t>）层层打包</a:t>
            </a:r>
          </a:p>
          <a:p>
            <a:r>
              <a:rPr lang="en-US" altLang="zh-CN" b="1" dirty="0"/>
              <a:t>1.</a:t>
            </a:r>
            <a:r>
              <a:rPr lang="zh-CN" altLang="en-US" dirty="0"/>
              <a:t>浏览器向服务器发送一个 </a:t>
            </a:r>
            <a:r>
              <a:rPr lang="en-US" altLang="zh-CN" b="1" dirty="0"/>
              <a:t>HTTP </a:t>
            </a:r>
            <a:r>
              <a:rPr lang="zh-CN" altLang="en-US" b="1" dirty="0"/>
              <a:t>请求报文</a:t>
            </a:r>
            <a:r>
              <a:rPr lang="zh-CN" altLang="en-US" dirty="0"/>
              <a:t>，其中包含了请求的资源路径、请求方法等信息</a:t>
            </a:r>
            <a:endParaRPr lang="en-US" altLang="zh-CN" dirty="0"/>
          </a:p>
          <a:p>
            <a:r>
              <a:rPr lang="en-US" altLang="zh-CN" b="1" dirty="0"/>
              <a:t>2.</a:t>
            </a:r>
            <a:r>
              <a:rPr lang="zh-CN" altLang="en-US" dirty="0"/>
              <a:t>服务器接收到请求报文后，会返回一个 </a:t>
            </a:r>
            <a:r>
              <a:rPr lang="en-US" altLang="zh-CN" b="1" dirty="0"/>
              <a:t>HTTP </a:t>
            </a:r>
            <a:r>
              <a:rPr lang="zh-CN" altLang="en-US" b="1" dirty="0"/>
              <a:t>响应报文</a:t>
            </a:r>
            <a:r>
              <a:rPr lang="zh-CN" altLang="en-US" dirty="0"/>
              <a:t>，其中包含了资源内容、响应状态码等信息</a:t>
            </a:r>
            <a:endParaRPr lang="en-US" altLang="zh-CN" dirty="0"/>
          </a:p>
          <a:p>
            <a:r>
              <a:rPr lang="en-US" altLang="zh-CN" b="1" dirty="0"/>
              <a:t>3.</a:t>
            </a:r>
            <a:r>
              <a:rPr lang="zh-CN" altLang="en-US" dirty="0"/>
              <a:t>浏览器接收到响应报文后，会</a:t>
            </a:r>
            <a:r>
              <a:rPr lang="zh-CN" altLang="en-US" b="1" dirty="0"/>
              <a:t>对资源内容进行解析</a:t>
            </a:r>
            <a:r>
              <a:rPr lang="zh-CN" altLang="en-US" dirty="0"/>
              <a:t>，并将其显示在浏览器中</a:t>
            </a:r>
            <a:endParaRPr lang="en-US" altLang="zh-CN" dirty="0"/>
          </a:p>
          <a:p>
            <a:pPr>
              <a:lnSpc>
                <a:spcPct val="130000"/>
              </a:lnSpc>
            </a:pP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6473C-E6EA-92AC-C607-E95F792E0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2" y="2814780"/>
            <a:ext cx="6468437" cy="173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1" dirty="0"/>
              <a:t>第</a:t>
            </a:r>
            <a:r>
              <a:rPr lang="zh-CN" altLang="en-US" sz="2000" b="1" dirty="0"/>
              <a:t>四</a:t>
            </a:r>
            <a:r>
              <a:rPr lang="zh-CN" altLang="zh-CN" sz="2000" b="1" dirty="0"/>
              <a:t>阶段：</a:t>
            </a:r>
            <a:r>
              <a:rPr lang="zh-CN" altLang="en-US" sz="2000" b="1" dirty="0"/>
              <a:t>断开</a:t>
            </a:r>
            <a:r>
              <a:rPr lang="zh-CN" altLang="zh-CN" sz="2000" b="1" dirty="0"/>
              <a:t>连接 —— TCP</a:t>
            </a:r>
            <a:r>
              <a:rPr lang="zh-CN" altLang="en-US" sz="2000" b="1" dirty="0"/>
              <a:t>四</a:t>
            </a:r>
            <a:r>
              <a:rPr lang="zh-CN" altLang="zh-CN" sz="2000" b="1" dirty="0"/>
              <a:t>次</a:t>
            </a:r>
            <a:r>
              <a:rPr lang="zh-CN" altLang="en-US" sz="2000" b="1" dirty="0"/>
              <a:t>挥</a:t>
            </a:r>
            <a:r>
              <a:rPr lang="zh-CN" altLang="zh-CN" sz="2000" b="1" dirty="0"/>
              <a:t>手</a:t>
            </a:r>
            <a:endParaRPr lang="en-US" altLang="zh-CN" sz="2000" b="1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2000" b="1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b="1" dirty="0"/>
              <a:t>情境：</a:t>
            </a:r>
            <a:r>
              <a:rPr lang="zh-CN" altLang="en-US" dirty="0"/>
              <a:t>当客户端和服务器之间数据传输完成，要断开连接</a:t>
            </a:r>
            <a:endParaRPr lang="zh-CN" altLang="zh-CN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第一次</a:t>
            </a:r>
            <a:r>
              <a:rPr lang="zh-CN" altLang="en-US" b="1" dirty="0"/>
              <a:t>挥手</a:t>
            </a:r>
            <a:r>
              <a:rPr lang="zh-CN" altLang="zh-CN" b="1" dirty="0"/>
              <a:t>：</a:t>
            </a:r>
            <a:r>
              <a:rPr lang="zh-CN" altLang="en-US" b="1" dirty="0"/>
              <a:t>客户端：</a:t>
            </a:r>
            <a:r>
              <a:rPr lang="zh-CN" altLang="en-US" dirty="0"/>
              <a:t>兄弟我没东西要传了，我要断开连接了</a:t>
            </a:r>
            <a:endParaRPr lang="en-US" altLang="zh-CN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第二次</a:t>
            </a:r>
            <a:r>
              <a:rPr lang="zh-CN" altLang="en-US" b="1" dirty="0"/>
              <a:t>挥手</a:t>
            </a:r>
            <a:r>
              <a:rPr lang="zh-CN" altLang="zh-CN" b="1" dirty="0"/>
              <a:t>：</a:t>
            </a:r>
            <a:r>
              <a:rPr lang="zh-CN" altLang="en-US" b="1" dirty="0"/>
              <a:t>服务器：</a:t>
            </a:r>
            <a:r>
              <a:rPr lang="zh-CN" altLang="en-US" dirty="0"/>
              <a:t>好的，我知道了，我还有点东西没传完，我传完了告诉你</a:t>
            </a:r>
            <a:endParaRPr lang="en-US" altLang="zh-CN" dirty="0"/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b="1" dirty="0"/>
              <a:t>第三次</a:t>
            </a:r>
            <a:r>
              <a:rPr lang="zh-CN" altLang="en-US" b="1" dirty="0"/>
              <a:t>挥手</a:t>
            </a:r>
            <a:r>
              <a:rPr lang="zh-CN" altLang="zh-CN" b="1" dirty="0"/>
              <a:t>：</a:t>
            </a:r>
            <a:r>
              <a:rPr lang="zh-CN" altLang="en-US" b="1" dirty="0"/>
              <a:t>服务器：</a:t>
            </a:r>
            <a:r>
              <a:rPr lang="zh-CN" altLang="en-US" dirty="0"/>
              <a:t>兄弟，我东西都传好了，我们可以断开连接了</a:t>
            </a:r>
            <a:endParaRPr lang="en-US" altLang="zh-CN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/>
              <a:t>第</a:t>
            </a:r>
            <a:r>
              <a:rPr lang="zh-CN" altLang="en-US" b="1" dirty="0"/>
              <a:t>四</a:t>
            </a:r>
            <a:r>
              <a:rPr lang="zh-CN" altLang="zh-CN" b="1" dirty="0"/>
              <a:t>次</a:t>
            </a:r>
            <a:r>
              <a:rPr lang="zh-CN" altLang="en-US" b="1" dirty="0"/>
              <a:t>挥手</a:t>
            </a:r>
            <a:r>
              <a:rPr lang="zh-CN" altLang="zh-CN" b="1" dirty="0"/>
              <a:t>：</a:t>
            </a:r>
            <a:r>
              <a:rPr lang="zh-CN" altLang="en-US" b="1" dirty="0"/>
              <a:t>客户端：</a:t>
            </a:r>
            <a:r>
              <a:rPr lang="zh-CN" altLang="en-US" dirty="0"/>
              <a:t>好的，我们断开吧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7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1335600"/>
            <a:ext cx="1310400" cy="1324960"/>
          </a:xfrm>
          <a:prstGeom prst="rect">
            <a:avLst/>
          </a:prstGeom>
        </p:spPr>
      </p:pic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480291" y="1896911"/>
            <a:ext cx="132151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Part </a:t>
            </a:r>
            <a:r>
              <a:rPr lang="en-US" altLang="zh-CN" sz="5400" b="1" dirty="0">
                <a:solidFill>
                  <a:schemeClr val="bg1"/>
                </a:solidFill>
              </a:rPr>
              <a:t>2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9098" y="2019303"/>
            <a:ext cx="1985159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内容概述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454380" y="1045560"/>
            <a:ext cx="908761" cy="58116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2118" tIns="31058" rIns="62118" bIns="31058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900" b="1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4F666B-83FC-E9BF-8647-8390DC899513}"/>
              </a:ext>
            </a:extLst>
          </p:cNvPr>
          <p:cNvSpPr txBox="1"/>
          <p:nvPr/>
        </p:nvSpPr>
        <p:spPr>
          <a:xfrm>
            <a:off x="1673816" y="947636"/>
            <a:ext cx="6594530" cy="77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网络协议（</a:t>
            </a:r>
            <a:r>
              <a:rPr lang="en-US" altLang="zh-CN" sz="1800" dirty="0">
                <a:latin typeface="Arial" panose="020B0604020202020204" pitchFamily="34" charset="0"/>
                <a:ea typeface="微软雅黑" panose="020B0503020204020204" pitchFamily="34" charset="-122"/>
              </a:rPr>
              <a:t>network protocol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），简称为协议，是为进行网络中的数据交换而建立的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规则、标准或约定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51EE15-9A5B-CFDA-ADC4-3EECDAFF960A}"/>
              </a:ext>
            </a:extLst>
          </p:cNvPr>
          <p:cNvSpPr txBox="1"/>
          <p:nvPr/>
        </p:nvSpPr>
        <p:spPr>
          <a:xfrm>
            <a:off x="1743559" y="1867546"/>
            <a:ext cx="5656882" cy="2937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  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三要素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语法：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数据与控制信息的结构或格式 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语义：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需要发出何种控制信息，完成何种动作以及做出何种响应</a:t>
            </a:r>
            <a:endParaRPr lang="en-US" altLang="zh-CN" sz="18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同步：</a:t>
            </a:r>
            <a:r>
              <a:rPr lang="zh-CN" altLang="en-US" sz="1800" dirty="0">
                <a:latin typeface="Arial" panose="020B0604020202020204" pitchFamily="34" charset="0"/>
                <a:ea typeface="微软雅黑" panose="020B0503020204020204" pitchFamily="34" charset="-122"/>
              </a:rPr>
              <a:t>事件实现顺序的详细说明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2DAF-2752-B500-E65E-C64DA46C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>
            <a:extLst>
              <a:ext uri="{FF2B5EF4-FFF2-40B4-BE49-F238E27FC236}">
                <a16:creationId xmlns:a16="http://schemas.microsoft.com/office/drawing/2014/main" id="{B47855B9-FCA6-139E-5544-058B38019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34" name="等腰三角形 47">
            <a:extLst>
              <a:ext uri="{FF2B5EF4-FFF2-40B4-BE49-F238E27FC236}">
                <a16:creationId xmlns:a16="http://schemas.microsoft.com/office/drawing/2014/main" id="{8BC4AFF4-76C1-F6F7-A252-F6458B8914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图形用户界面, 图示&#10;&#10;AI 生成的内容可能不正确。">
            <a:extLst>
              <a:ext uri="{FF2B5EF4-FFF2-40B4-BE49-F238E27FC236}">
                <a16:creationId xmlns:a16="http://schemas.microsoft.com/office/drawing/2014/main" id="{3DF5DA4E-531C-03BA-CF6A-426BE180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92" y="901119"/>
            <a:ext cx="84391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6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B02771-9700-753E-8221-36DAF4A3C54E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509CCF-0D39-C1FB-FD8A-DA32F55ADFBC}"/>
              </a:ext>
            </a:extLst>
          </p:cNvPr>
          <p:cNvSpPr txBox="1"/>
          <p:nvPr/>
        </p:nvSpPr>
        <p:spPr>
          <a:xfrm>
            <a:off x="402956" y="1611824"/>
            <a:ext cx="8338088" cy="11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）数据链路层</a:t>
            </a: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PPP (Point-to-Point Protocol)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：点对点协议，主要用于在两个节点之间建立直接连接，例如拨号上网。</a:t>
            </a: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08F1-42FE-68C3-CB18-33D27BDA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BDDD4097-1194-DA7A-BD2B-EE277CC6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8ECF5A7F-8B33-7779-6EE9-C0150CC1400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99A5EB-8367-E085-169C-B197A6C18F15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9F0370-907E-E528-CA45-361FB496A9BC}"/>
              </a:ext>
            </a:extLst>
          </p:cNvPr>
          <p:cNvSpPr txBox="1"/>
          <p:nvPr/>
        </p:nvSpPr>
        <p:spPr>
          <a:xfrm>
            <a:off x="402956" y="1611824"/>
            <a:ext cx="8338088" cy="286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）网络层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IP (Internet Protocol)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：网际协议，这是网络层的核心协议。它负责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为每个设备分配唯一的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，并实现数据包的寻址和路由。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协议是无连接的、不可靠的。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ARP (Address Resolution Protocol)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：地址解析协议，用于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将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地址解析为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MAC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。当一个设备需要向另一个设备发送数据时，它首先需要知道目的设备的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MAC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地址。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ICMP (Internet Control Message Protocol)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：网际控制报文协议，用于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在网络设备之间传递控制消息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，例如报告网络错误或进行网络诊断。我们常用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`ping`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命令就是基于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ICMP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协议实现的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56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1D87-6E62-BF97-9D32-423D6334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6CFA04B5-2AEC-99CF-1D00-EC91A0B7D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87BE5623-2584-439A-FEDB-9BC83357751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2886F4-09DC-C6C2-D3C3-6FDD0DC0EAFA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0CE281-1B5A-3F40-79F8-27F90C20A0A9}"/>
              </a:ext>
            </a:extLst>
          </p:cNvPr>
          <p:cNvSpPr txBox="1"/>
          <p:nvPr/>
        </p:nvSpPr>
        <p:spPr>
          <a:xfrm>
            <a:off x="402956" y="1611824"/>
            <a:ext cx="8338088" cy="2305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）传输层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TCP (Transmission Control Protocol)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：传输控制协议，提供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面向连接的、可靠的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、基于字节流的传输服务。它会确保数据完整、有序地到达。适用于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对可靠性要求高的应用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，如文件传输、网页浏览。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UDP (User Datagram Protocol)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：用户数据报协议，提供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无连接的、不可靠的传输服务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。它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传输效率高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，但不能保证数据一定到达或顺序正确。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适用于实时性要求高、但对少量丢包不敏感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的应用，如视频会议、在线游戏、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DNS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查询。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068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4249-6A43-C9C8-5DAF-AACC2E33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719930F5-2010-EE2C-1943-038E46552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ECD66487-94ED-5AFD-DB84-9DE3AB03E2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DBDBA-DF24-588F-EE29-F228B7B25831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967B41-53AC-EC12-ADFD-7C8931AD4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35" y="1407962"/>
            <a:ext cx="7163330" cy="312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3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8CCA-C3D1-2E59-56D9-F0E29E4B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1511B2E9-6E94-ED90-3965-BBA202E9D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9E5BD815-FE2D-792E-697D-F1A9CCF24B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4411DE-11C4-8430-8FB3-5C45A2958CD6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3D9291-F735-D9F4-30F3-080D0851248A}"/>
              </a:ext>
            </a:extLst>
          </p:cNvPr>
          <p:cNvSpPr txBox="1"/>
          <p:nvPr/>
        </p:nvSpPr>
        <p:spPr>
          <a:xfrm>
            <a:off x="402956" y="1611824"/>
            <a:ext cx="83380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）应用层</a:t>
            </a: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HTTP (HyperText Transfer Protocol)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超文本传输协议，用于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从万维网服务器传输超文本到本地浏览器的协议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。这是我们访问网页时最常用的协议。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HTTPS (HyperText Transfer Protocol Secure)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fr-FR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HTTP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的安全版本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，通过 </a:t>
            </a: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SSL/TLS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协议进行加密，保障数据传输的安全性。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FTP (File Transfer Protocol)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文件传输协议，用于在网络上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进行文件传输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6339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E57B3-1C38-39AD-A24E-AF5948A7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96E1F6D3-E7AA-DC1F-65FC-78EE77404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内容概述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4E6F82E8-1B63-D0B8-FA9B-DB15C312D7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F62FA4-6608-1633-F8F2-31B043A7CF4C}"/>
              </a:ext>
            </a:extLst>
          </p:cNvPr>
          <p:cNvSpPr txBox="1"/>
          <p:nvPr/>
        </p:nvSpPr>
        <p:spPr>
          <a:xfrm>
            <a:off x="501585" y="766751"/>
            <a:ext cx="389782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各层有哪些具体的协议？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1B292B-6D52-7291-D919-18CFE5968E78}"/>
              </a:ext>
            </a:extLst>
          </p:cNvPr>
          <p:cNvSpPr txBox="1"/>
          <p:nvPr/>
        </p:nvSpPr>
        <p:spPr>
          <a:xfrm>
            <a:off x="402956" y="1611824"/>
            <a:ext cx="8338088" cy="314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）应用层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SMTP (Simple Mail Transfer Protocol)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简单邮件传输协议，用于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发送电子邮件</a:t>
            </a: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POP3 (Post Office Protocol version 3)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和 </a:t>
            </a: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IMAP (Internet Message Access Protocol)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这两种协议都用于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接收电子邮件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POP3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倾向于从服务器下载邮件后删除，而 </a:t>
            </a: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IMAP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则在服务器上同步邮件，更加灵活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DNS (Domain Name System)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域名系统，用于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将域名（如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`</a:t>
            </a:r>
            <a:r>
              <a:rPr lang="fr-FR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www.google.com`</a:t>
            </a:r>
            <a:r>
              <a:rPr lang="zh-CN" altLang="fr-FR" b="1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解析为 </a:t>
            </a:r>
            <a:r>
              <a:rPr lang="fr-FR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fr-FR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DHCP (Dynamic Host Configuration Protocol)</a:t>
            </a:r>
            <a:r>
              <a:rPr lang="zh-CN" altLang="fr-FR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动态主机配置协议，用于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自动为网络中的设备分配 </a:t>
            </a:r>
            <a:r>
              <a:rPr lang="fr-FR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地址等网络配置信息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035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1335600"/>
            <a:ext cx="1310400" cy="1324960"/>
          </a:xfrm>
          <a:prstGeom prst="rect">
            <a:avLst/>
          </a:prstGeom>
        </p:spPr>
      </p:pic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480291" y="1896911"/>
            <a:ext cx="132151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Part </a:t>
            </a:r>
            <a:r>
              <a:rPr lang="en-US" altLang="zh-CN" sz="5400" b="1" dirty="0">
                <a:solidFill>
                  <a:schemeClr val="bg1"/>
                </a:solidFill>
              </a:rPr>
              <a:t>3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9098" y="2019303"/>
            <a:ext cx="1985159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重点突破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7AFC-A4F1-9588-1247-E4707068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36AAABF-8DFD-D56C-0887-DAAE893CDAC0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8870FEF3-CF83-75C2-1438-7F0DB31D3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448E70E5-2EBA-66AD-EB25-2732FDEE24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BBFF8A-82B2-A673-102B-A7F5F4C0DABE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拥塞控制算法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9E26628E-59D4-9EF9-C557-0643339ED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6" y="1686330"/>
            <a:ext cx="8745939" cy="293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6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4D4351-8A39-7D03-3A92-297528631873}"/>
              </a:ext>
            </a:extLst>
          </p:cNvPr>
          <p:cNvSpPr txBox="1"/>
          <p:nvPr/>
        </p:nvSpPr>
        <p:spPr>
          <a:xfrm>
            <a:off x="1184072" y="2189446"/>
            <a:ext cx="6692695" cy="166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/>
              <a:t>假设一个</a:t>
            </a:r>
            <a:r>
              <a:rPr lang="en-US" altLang="zh-CN" sz="1600" dirty="0"/>
              <a:t>TCP </a:t>
            </a:r>
            <a:r>
              <a:rPr lang="zh-CN" altLang="en-US" sz="1600" dirty="0"/>
              <a:t>连接初始慢开始门限值</a:t>
            </a:r>
            <a:r>
              <a:rPr lang="en-US" altLang="zh-CN" sz="1600" dirty="0" err="1"/>
              <a:t>ssthresh</a:t>
            </a:r>
            <a:r>
              <a:rPr lang="zh-CN" altLang="en-US" sz="1600" dirty="0"/>
              <a:t>为</a:t>
            </a:r>
            <a:r>
              <a:rPr lang="en-US" altLang="zh-CN" sz="1600" dirty="0"/>
              <a:t>8</a:t>
            </a:r>
            <a:r>
              <a:rPr lang="zh-CN" altLang="en-US" sz="1600" dirty="0"/>
              <a:t>（单位为报文段），当 拥塞窗口</a:t>
            </a:r>
            <a:r>
              <a:rPr lang="en-US" altLang="zh-CN" sz="1600" dirty="0" err="1"/>
              <a:t>cwind</a:t>
            </a:r>
            <a:r>
              <a:rPr lang="en-US" altLang="zh-CN" sz="1600" dirty="0"/>
              <a:t> </a:t>
            </a:r>
            <a:r>
              <a:rPr lang="zh-CN" altLang="en-US" sz="1600" dirty="0"/>
              <a:t>增长到</a:t>
            </a:r>
            <a:r>
              <a:rPr lang="en-US" altLang="zh-CN" sz="1600" dirty="0"/>
              <a:t>10</a:t>
            </a:r>
            <a:r>
              <a:rPr lang="zh-CN" altLang="en-US" sz="1600" dirty="0"/>
              <a:t>时出现了网络拥塞而进入拥塞避免。请根据</a:t>
            </a:r>
            <a:r>
              <a:rPr lang="en-US" altLang="zh-CN" sz="1600" dirty="0"/>
              <a:t>TCP </a:t>
            </a:r>
            <a:r>
              <a:rPr lang="zh-CN" altLang="en-US" sz="1600" dirty="0"/>
              <a:t>拥塞控制的慢开始和拥塞避免机制，描述该</a:t>
            </a:r>
            <a:r>
              <a:rPr lang="en-US" altLang="zh-CN" sz="1600" dirty="0"/>
              <a:t>TCP</a:t>
            </a:r>
            <a:r>
              <a:rPr lang="zh-CN" altLang="en-US" sz="1600" dirty="0"/>
              <a:t>连接从第</a:t>
            </a:r>
            <a:r>
              <a:rPr lang="en-US" altLang="zh-CN" sz="1600" dirty="0"/>
              <a:t>1</a:t>
            </a:r>
            <a:r>
              <a:rPr lang="zh-CN" altLang="en-US" sz="1600" dirty="0"/>
              <a:t>轮到第</a:t>
            </a:r>
            <a:r>
              <a:rPr lang="en-US" altLang="zh-CN" sz="1600" dirty="0"/>
              <a:t>12</a:t>
            </a:r>
            <a:r>
              <a:rPr lang="zh-CN" altLang="en-US" sz="1600" dirty="0"/>
              <a:t>轮传 输过程中，每轮分别采用什么机制？每轮拥塞窗口</a:t>
            </a:r>
            <a:r>
              <a:rPr lang="en-US" altLang="zh-CN" sz="1600" dirty="0" err="1"/>
              <a:t>cwind</a:t>
            </a:r>
            <a:r>
              <a:rPr lang="zh-CN" altLang="en-US" sz="1600" dirty="0"/>
              <a:t>多大？以及</a:t>
            </a:r>
            <a:r>
              <a:rPr lang="en-US" altLang="zh-CN" sz="1600" dirty="0" err="1"/>
              <a:t>ssthresh</a:t>
            </a:r>
            <a:r>
              <a:rPr lang="en-US" altLang="zh-CN" sz="1600" dirty="0"/>
              <a:t> </a:t>
            </a:r>
            <a:r>
              <a:rPr lang="zh-CN" altLang="en-US" sz="1600" dirty="0"/>
              <a:t>多大？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AB56EB-E784-0DFB-DECA-0FC2DAEBA75C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拥塞控制算法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FAB7-E334-A92F-6638-6D8A04B2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3F3C39F-695B-8848-E593-D12040F0999E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3473B3EA-4793-1DA1-B800-9A1EF749B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9ED93374-370B-A0E6-222D-6A88AFC7466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4373EA-766F-5179-185C-2D3EADD0F199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拥塞控制算法</a:t>
            </a:r>
          </a:p>
        </p:txBody>
      </p:sp>
      <p:pic>
        <p:nvPicPr>
          <p:cNvPr id="5" name="图片 4" descr="文本, 表格&#10;&#10;AI 生成的内容可能不正确。">
            <a:extLst>
              <a:ext uri="{FF2B5EF4-FFF2-40B4-BE49-F238E27FC236}">
                <a16:creationId xmlns:a16="http://schemas.microsoft.com/office/drawing/2014/main" id="{03F99393-4EEF-EC12-EECB-0F53B65A0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144" y="273089"/>
            <a:ext cx="5662058" cy="473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6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E4AF-88CA-76DD-21F3-60298B42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60A3A16-551B-3AB8-817F-21DC76A19317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FFC635B4-628B-2A60-A6E6-A42F4EA34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7705BCFA-F67B-501F-2AFE-63676CFB40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B0280F-F5ED-F17F-1948-11FE6DD65AE6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地址聚合算法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3A1535-B235-B252-E3BD-BF44C0A55282}"/>
              </a:ext>
            </a:extLst>
          </p:cNvPr>
          <p:cNvSpPr txBox="1"/>
          <p:nvPr/>
        </p:nvSpPr>
        <p:spPr>
          <a:xfrm>
            <a:off x="1720312" y="1639399"/>
            <a:ext cx="7028481" cy="350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有如下四个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/24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地址块，请进行最大可能的聚合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A.212.56.132.0/24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B.212.56.133.0/24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C.212.56.134.0/24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D.212.56.135.0/24</a:t>
            </a: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099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A6A18-78B1-A5A2-AE67-F45ECEA2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1CEEB74-FA68-2E2A-4B87-CC24D3A8F6DC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D0CC96F9-ED9F-6E8F-9DF3-D6CD5A9FA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9B8FB09E-8F0A-E689-014D-180CB79F60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0129BB-5B9D-1A2C-D676-0473C2CA72AE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地址聚合算法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482971-462C-9275-B57A-B7704047C2F0}"/>
              </a:ext>
            </a:extLst>
          </p:cNvPr>
          <p:cNvSpPr txBox="1"/>
          <p:nvPr/>
        </p:nvSpPr>
        <p:spPr>
          <a:xfrm>
            <a:off x="669001" y="1639399"/>
            <a:ext cx="2678634" cy="3184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A.212.56.10000100.0/24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B.212.56. 10000101.0/24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C.212.56. 10000110.0/24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D.212.56. 100001111.0/24</a:t>
            </a: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FA67B8-6566-980F-A696-8597D90F3FD6}"/>
              </a:ext>
            </a:extLst>
          </p:cNvPr>
          <p:cNvSpPr txBox="1"/>
          <p:nvPr/>
        </p:nvSpPr>
        <p:spPr>
          <a:xfrm>
            <a:off x="5904853" y="2870408"/>
            <a:ext cx="2448733" cy="450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212.56.132.0/22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D6A339D-3055-F733-DA13-6FD5CA98E778}"/>
              </a:ext>
            </a:extLst>
          </p:cNvPr>
          <p:cNvSpPr/>
          <p:nvPr/>
        </p:nvSpPr>
        <p:spPr>
          <a:xfrm>
            <a:off x="4137040" y="2909497"/>
            <a:ext cx="978408" cy="4846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B8A52C-E4B5-3851-A93B-CCAFD04144BF}"/>
              </a:ext>
            </a:extLst>
          </p:cNvPr>
          <p:cNvSpPr txBox="1"/>
          <p:nvPr/>
        </p:nvSpPr>
        <p:spPr>
          <a:xfrm>
            <a:off x="3846665" y="2602826"/>
            <a:ext cx="1663485" cy="380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共同前缀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22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位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375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0EFC9-0F2A-8444-FD73-37964FC7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177A1BD-7B88-A066-D58A-0DD1C54BE23B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16C84499-F618-63B5-0E4F-54CBEA63E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232C027C-37FD-36C7-DAC8-FCC758FE5C4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6BB716-C73E-54C3-7DE8-E7D06457FE8D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路由表下一跳</a:t>
            </a: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1D229987-AF1F-BA84-6C7B-CA4B8B015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292" y="95018"/>
            <a:ext cx="5625321" cy="4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6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FD69-1BEF-C573-B295-AF234E9F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F036EFB-4B72-309C-E88C-F1300B30677B}"/>
              </a:ext>
            </a:extLst>
          </p:cNvPr>
          <p:cNvCxnSpPr>
            <a:cxnSpLocks/>
          </p:cNvCxnSpPr>
          <p:nvPr/>
        </p:nvCxnSpPr>
        <p:spPr>
          <a:xfrm>
            <a:off x="669000" y="1389390"/>
            <a:ext cx="159375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46">
            <a:extLst>
              <a:ext uri="{FF2B5EF4-FFF2-40B4-BE49-F238E27FC236}">
                <a16:creationId xmlns:a16="http://schemas.microsoft.com/office/drawing/2014/main" id="{964C2B98-F43D-BC04-1A66-7BB086A7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重点突破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53476794-DCD8-4D1A-A8AA-585785D0639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0E11AC-FEC2-F2B5-5884-734F7C87D43A}"/>
              </a:ext>
            </a:extLst>
          </p:cNvPr>
          <p:cNvSpPr txBox="1"/>
          <p:nvPr/>
        </p:nvSpPr>
        <p:spPr>
          <a:xfrm>
            <a:off x="599258" y="936445"/>
            <a:ext cx="197603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路由表下一跳</a:t>
            </a: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4FE9ADBA-71A9-249B-2CD9-F6FAE237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491" y="117502"/>
            <a:ext cx="5625321" cy="47152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266BCA0-C46E-6D30-79F4-A5FB9EEABA42}"/>
              </a:ext>
            </a:extLst>
          </p:cNvPr>
          <p:cNvSpPr txBox="1"/>
          <p:nvPr/>
        </p:nvSpPr>
        <p:spPr>
          <a:xfrm>
            <a:off x="250792" y="1445670"/>
            <a:ext cx="2678634" cy="4144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128.96.40.10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         255.255.255.128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        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按位相与得：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         128.96.40.0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        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因此该分组目的站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128.96.40.0</a:t>
            </a:r>
          </a:p>
          <a:p>
            <a:pPr>
              <a:lnSpc>
                <a:spcPct val="130000"/>
              </a:lnSpc>
            </a:pP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        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下一跳：接口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Eth0</a:t>
            </a:r>
          </a:p>
          <a:p>
            <a:pPr>
              <a:lnSpc>
                <a:spcPct val="130000"/>
              </a:lnSpc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20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1335600"/>
            <a:ext cx="1310400" cy="1324960"/>
          </a:xfrm>
          <a:prstGeom prst="rect">
            <a:avLst/>
          </a:prstGeom>
        </p:spPr>
      </p:pic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480291" y="1896911"/>
            <a:ext cx="132151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Part </a:t>
            </a:r>
            <a:r>
              <a:rPr lang="en-US" altLang="zh-CN" sz="5400" b="1" dirty="0">
                <a:solidFill>
                  <a:schemeClr val="bg1"/>
                </a:solidFill>
              </a:rPr>
              <a:t>4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31872" y="2058897"/>
            <a:ext cx="1985159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填空简答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DCCF-5CAA-200B-FFB9-63128F60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0C5BD0D3-339C-4663-84E0-4F5DB8DEC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填空简答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D9CCEEF4-1BE2-86D3-2A21-8AA0F4E44A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89EFF2-FBDE-DD2C-BA40-2B504B5730EB}"/>
              </a:ext>
            </a:extLst>
          </p:cNvPr>
          <p:cNvSpPr txBox="1"/>
          <p:nvPr/>
        </p:nvSpPr>
        <p:spPr>
          <a:xfrm>
            <a:off x="501585" y="766751"/>
            <a:ext cx="3690707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服务和协议的区别和联系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CEE0D1-E9FB-04D1-00B4-95A64AE105DD}"/>
              </a:ext>
            </a:extLst>
          </p:cNvPr>
          <p:cNvSpPr txBox="1"/>
          <p:nvPr/>
        </p:nvSpPr>
        <p:spPr>
          <a:xfrm>
            <a:off x="1906292" y="1420199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协议：控制两个对等实体进行通信的规则的集合。</a:t>
            </a:r>
          </a:p>
          <a:p>
            <a:endParaRPr lang="zh-CN" altLang="en-US" dirty="0"/>
          </a:p>
          <a:p>
            <a:r>
              <a:rPr lang="zh-CN" altLang="en-US" dirty="0"/>
              <a:t>服务：在协议的控制下，两个对等实体间的通信使得本层能够向上一层提供服务。</a:t>
            </a:r>
          </a:p>
          <a:p>
            <a:endParaRPr lang="zh-CN" altLang="en-US" dirty="0"/>
          </a:p>
          <a:p>
            <a:r>
              <a:rPr lang="zh-CN" altLang="en-US" dirty="0"/>
              <a:t>要实现本层协议，还需要使用下层所提供的服务。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96A62B-5B8C-4CBD-1361-0FD96BED85B2}"/>
              </a:ext>
            </a:extLst>
          </p:cNvPr>
          <p:cNvSpPr txBox="1"/>
          <p:nvPr/>
        </p:nvSpPr>
        <p:spPr>
          <a:xfrm>
            <a:off x="501585" y="2833192"/>
            <a:ext cx="3690707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设备相关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2BAACB4-5013-5D8A-09F4-6BE2E69F1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155865"/>
              </p:ext>
            </p:extLst>
          </p:nvPr>
        </p:nvGraphicFramePr>
        <p:xfrm>
          <a:off x="1267470" y="3376888"/>
          <a:ext cx="6342197" cy="1588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7876">
                  <a:extLst>
                    <a:ext uri="{9D8B030D-6E8A-4147-A177-3AD203B41FA5}">
                      <a16:colId xmlns:a16="http://schemas.microsoft.com/office/drawing/2014/main" val="434169596"/>
                    </a:ext>
                  </a:extLst>
                </a:gridCol>
                <a:gridCol w="859959">
                  <a:extLst>
                    <a:ext uri="{9D8B030D-6E8A-4147-A177-3AD203B41FA5}">
                      <a16:colId xmlns:a16="http://schemas.microsoft.com/office/drawing/2014/main" val="3842122865"/>
                    </a:ext>
                  </a:extLst>
                </a:gridCol>
                <a:gridCol w="4604362">
                  <a:extLst>
                    <a:ext uri="{9D8B030D-6E8A-4147-A177-3AD203B41FA5}">
                      <a16:colId xmlns:a16="http://schemas.microsoft.com/office/drawing/2014/main" val="1327242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设备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工作层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主要功能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8047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中继器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物理层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延长信号传输距离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542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网桥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数据链路层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sz="1400" kern="100">
                          <a:effectLst/>
                          <a:latin typeface="+mn-ea"/>
                          <a:ea typeface="+mn-ea"/>
                        </a:rPr>
                        <a:t> MAC </a:t>
                      </a: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地址转发帧，连接局域网段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123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路由器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网络层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基于</a:t>
                      </a:r>
                      <a:r>
                        <a:rPr lang="en-US" sz="1400" kern="100">
                          <a:effectLst/>
                          <a:latin typeface="+mn-ea"/>
                          <a:ea typeface="+mn-ea"/>
                        </a:rPr>
                        <a:t> IP </a:t>
                      </a: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地址转发数据包，连接不同网络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8462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网关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>
                          <a:effectLst/>
                          <a:latin typeface="+mn-ea"/>
                          <a:ea typeface="+mn-ea"/>
                        </a:rPr>
                        <a:t>应用层（可跨层）</a:t>
                      </a:r>
                      <a:endParaRPr lang="zh-CN" sz="1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kern="100" dirty="0">
                          <a:effectLst/>
                          <a:latin typeface="+mn-ea"/>
                          <a:ea typeface="+mn-ea"/>
                        </a:rPr>
                        <a:t>不同协议间的转换</a:t>
                      </a:r>
                      <a:endParaRPr lang="zh-CN" sz="1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7901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26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BF15-0337-B7E7-2EB3-3C0E27FB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31DFBE04-0EE5-E48E-F02B-BAC790BA9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填空简答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103E8EBD-FC8B-624A-9853-BDDE9687D9D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27FF9E-C213-E7BB-56AF-AF89B53163C0}"/>
              </a:ext>
            </a:extLst>
          </p:cNvPr>
          <p:cNvSpPr txBox="1"/>
          <p:nvPr/>
        </p:nvSpPr>
        <p:spPr>
          <a:xfrm>
            <a:off x="501585" y="766751"/>
            <a:ext cx="6736123" cy="850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使用 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UDP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和 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TCP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的典型应用和应用层协议</a:t>
            </a:r>
          </a:p>
          <a:p>
            <a:pPr>
              <a:lnSpc>
                <a:spcPct val="130000"/>
              </a:lnSpc>
            </a:pP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52ABDA-247A-CB0E-8B22-C674C4FDC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34" y="1712971"/>
            <a:ext cx="8133791" cy="237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38EE-EF7C-2203-0014-82DC4A4B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C8716F9C-A57E-4A91-4E4D-36AD6E78B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填空简答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AC9AFC07-CB70-FADB-4E69-F58777402F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06752A-04E9-A2B8-8B90-A1FAA7BFAF9C}"/>
              </a:ext>
            </a:extLst>
          </p:cNvPr>
          <p:cNvSpPr txBox="1"/>
          <p:nvPr/>
        </p:nvSpPr>
        <p:spPr>
          <a:xfrm>
            <a:off x="476188" y="759002"/>
            <a:ext cx="3690707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4. DNS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域名解析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协议执行过程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3220D8-53AB-8138-61D6-BD04230D26B4}"/>
              </a:ext>
            </a:extLst>
          </p:cNvPr>
          <p:cNvSpPr txBox="1"/>
          <p:nvPr/>
        </p:nvSpPr>
        <p:spPr>
          <a:xfrm>
            <a:off x="555829" y="3408669"/>
            <a:ext cx="6805866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5. UDP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相比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IP</a:t>
            </a:r>
          </a:p>
          <a:p>
            <a:pPr>
              <a:lnSpc>
                <a:spcPct val="130000"/>
              </a:lnSpc>
            </a:pP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检测数据，而不是只首部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增加了端口号，实现了端口到端口的通信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IP</a:t>
            </a:r>
            <a:r>
              <a:rPr lang="zh-CN" altLang="zh-CN" dirty="0"/>
              <a:t>分组只实现了源主机到目标主机的通信，不包含双方进程的信息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FB46EA-3215-47FF-5BBD-F41F31082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210" y="1309548"/>
            <a:ext cx="5274310" cy="20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1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494E-0CE3-E630-A47C-01C5160B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C1CD7AE1-BA4C-A15A-6E0A-48240C1A2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填空简答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3FE110CA-AA8F-4F87-26E3-3E8748B21F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D68F48-8905-CFD9-D231-28C262A8C56C}"/>
              </a:ext>
            </a:extLst>
          </p:cNvPr>
          <p:cNvSpPr txBox="1"/>
          <p:nvPr/>
        </p:nvSpPr>
        <p:spPr>
          <a:xfrm>
            <a:off x="476188" y="759002"/>
            <a:ext cx="7745663" cy="417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6.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试从网络层、数据链路层的数据收发原理出发，说明同样作为数据收发设备的网桥和路由器，为什么网桥的端口不需要有物理地址而路由器的端口需要有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 IP 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地址和物理地址？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br>
              <a:rPr lang="en-US" altLang="zh-CN" dirty="0"/>
            </a:b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）网桥不作为任何主机发送数据帧的直接接收方，而是通过端口直接将其所在网段的所有数据包全部收下来，分析后再决定是否转发</a:t>
            </a:r>
            <a:r>
              <a:rPr lang="en-US" altLang="zh-CN" dirty="0"/>
              <a:t>;</a:t>
            </a:r>
            <a:r>
              <a:rPr lang="zh-CN" altLang="zh-CN" dirty="0"/>
              <a:t>所以网桥不需要物理地址在网络层的数据发送过程中</a:t>
            </a:r>
            <a:endParaRPr lang="en-US" altLang="zh-CN" dirty="0"/>
          </a:p>
          <a:p>
            <a:pPr>
              <a:lnSpc>
                <a:spcPct val="130000"/>
              </a:lnSpc>
            </a:pPr>
            <a:br>
              <a:rPr lang="en-US" altLang="zh-CN" dirty="0"/>
            </a:b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）如果目的</a:t>
            </a:r>
            <a:r>
              <a:rPr lang="en-US" altLang="zh-CN" dirty="0"/>
              <a:t>IP</a:t>
            </a:r>
            <a:r>
              <a:rPr lang="zh-CN" altLang="zh-CN" dirty="0"/>
              <a:t>与本机</a:t>
            </a:r>
            <a:r>
              <a:rPr lang="en-US" altLang="zh-CN" dirty="0"/>
              <a:t>IP</a:t>
            </a:r>
            <a:r>
              <a:rPr lang="zh-CN" altLang="zh-CN" dirty="0"/>
              <a:t>不在同一网段，则需要将</a:t>
            </a:r>
            <a:r>
              <a:rPr lang="en-US" altLang="zh-CN" dirty="0"/>
              <a:t>IP</a:t>
            </a:r>
            <a:r>
              <a:rPr lang="zh-CN" altLang="zh-CN" dirty="0"/>
              <a:t>数据报交由下一跳路由器</a:t>
            </a:r>
            <a:r>
              <a:rPr lang="en-US" altLang="zh-CN" dirty="0"/>
              <a:t>/</a:t>
            </a:r>
            <a:r>
              <a:rPr lang="zh-CN" altLang="zh-CN" dirty="0"/>
              <a:t>网关间接转发，所以需要在网络层将下一跳网关</a:t>
            </a:r>
            <a:r>
              <a:rPr lang="en-US" altLang="zh-CN" dirty="0"/>
              <a:t>/</a:t>
            </a:r>
            <a:r>
              <a:rPr lang="zh-CN" altLang="zh-CN" dirty="0"/>
              <a:t>路由器标识出来</a:t>
            </a:r>
            <a:endParaRPr lang="en-US" altLang="zh-CN" dirty="0"/>
          </a:p>
          <a:p>
            <a:pPr>
              <a:lnSpc>
                <a:spcPct val="130000"/>
              </a:lnSpc>
            </a:pPr>
            <a:br>
              <a:rPr lang="en-US" altLang="zh-CN" dirty="0"/>
            </a:b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）要从当前节点通过链路层将数据传输到网关，需要在封装链路层帧的时候，将网关的物理地址作为接收地址，所以路由器接口需要物理地址</a:t>
            </a:r>
          </a:p>
          <a:p>
            <a:pPr>
              <a:lnSpc>
                <a:spcPct val="130000"/>
              </a:lnSpc>
            </a:pP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91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A0B6-9205-A403-2AE9-88BFAFD8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6">
            <a:extLst>
              <a:ext uri="{FF2B5EF4-FFF2-40B4-BE49-F238E27FC236}">
                <a16:creationId xmlns:a16="http://schemas.microsoft.com/office/drawing/2014/main" id="{D2CFE00A-0374-F17D-DAE5-D3F464DEE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填空简答</a:t>
            </a:r>
          </a:p>
        </p:txBody>
      </p:sp>
      <p:sp>
        <p:nvSpPr>
          <p:cNvPr id="20" name="等腰三角形 47">
            <a:extLst>
              <a:ext uri="{FF2B5EF4-FFF2-40B4-BE49-F238E27FC236}">
                <a16:creationId xmlns:a16="http://schemas.microsoft.com/office/drawing/2014/main" id="{85E2196B-0235-034A-5288-8FFE4C4AA73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B5738B-51D1-A9BC-61DA-91942A838DF1}"/>
              </a:ext>
            </a:extLst>
          </p:cNvPr>
          <p:cNvSpPr txBox="1"/>
          <p:nvPr/>
        </p:nvSpPr>
        <p:spPr>
          <a:xfrm>
            <a:off x="476188" y="759002"/>
            <a:ext cx="7745663" cy="1131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7.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隐蔽站问题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br>
              <a:rPr lang="en-US" altLang="zh-CN" dirty="0"/>
            </a:b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 descr="钟表的特写&#10;&#10;AI 生成的内容可能不正确。">
            <a:extLst>
              <a:ext uri="{FF2B5EF4-FFF2-40B4-BE49-F238E27FC236}">
                <a16:creationId xmlns:a16="http://schemas.microsoft.com/office/drawing/2014/main" id="{586EBFF6-0401-146F-6D21-3BC706EA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269" y="1516331"/>
            <a:ext cx="3727801" cy="19785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AA18CE-A008-2D09-39EC-3659C3143B0D}"/>
              </a:ext>
            </a:extLst>
          </p:cNvPr>
          <p:cNvSpPr txBox="1"/>
          <p:nvPr/>
        </p:nvSpPr>
        <p:spPr>
          <a:xfrm>
            <a:off x="1671913" y="393767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zh-CN" dirty="0"/>
              <a:t>由于无线信号覆盖范围和穿透能力有限，</a:t>
            </a:r>
            <a:r>
              <a:rPr lang="en-US" altLang="zh-CN" dirty="0"/>
              <a:t>A </a:t>
            </a:r>
            <a:r>
              <a:rPr lang="zh-CN" altLang="zh-CN" dirty="0"/>
              <a:t>和</a:t>
            </a:r>
            <a:r>
              <a:rPr lang="en-US" altLang="zh-CN" dirty="0"/>
              <a:t> C </a:t>
            </a:r>
            <a:r>
              <a:rPr lang="zh-CN" altLang="zh-CN" dirty="0"/>
              <a:t>检测不到彼此的无线信号，都以为</a:t>
            </a:r>
            <a:r>
              <a:rPr lang="en-US" altLang="zh-CN" dirty="0"/>
              <a:t> B </a:t>
            </a:r>
            <a:r>
              <a:rPr lang="zh-CN" altLang="zh-CN" dirty="0"/>
              <a:t>是空闲的，因而都向</a:t>
            </a:r>
            <a:r>
              <a:rPr lang="en-US" altLang="zh-CN" dirty="0"/>
              <a:t> B </a:t>
            </a:r>
            <a:r>
              <a:rPr lang="zh-CN" altLang="zh-CN" dirty="0"/>
              <a:t>发送数据，结果发生碰撞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21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1335600"/>
            <a:ext cx="1310400" cy="1324960"/>
          </a:xfrm>
          <a:prstGeom prst="rect">
            <a:avLst/>
          </a:prstGeom>
        </p:spPr>
      </p:pic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7" name="文本框 2"/>
          <p:cNvSpPr txBox="1"/>
          <p:nvPr/>
        </p:nvSpPr>
        <p:spPr>
          <a:xfrm>
            <a:off x="2480291" y="1896911"/>
            <a:ext cx="1321516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Part </a:t>
            </a:r>
            <a:r>
              <a:rPr lang="en-US" altLang="zh-CN" sz="5400" b="1" dirty="0">
                <a:solidFill>
                  <a:schemeClr val="bg1"/>
                </a:solidFill>
              </a:rPr>
              <a:t>5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31872" y="2058897"/>
            <a:ext cx="1985159" cy="62324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前辈资源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C533-EE38-71D3-D05C-2A9495F1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A1772BB-141B-9A11-2452-AF6A1559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</a:rPr>
              <a:t>前辈资源</a:t>
            </a:r>
          </a:p>
        </p:txBody>
      </p:sp>
      <p:sp>
        <p:nvSpPr>
          <p:cNvPr id="50" name="等腰三角形 49">
            <a:extLst>
              <a:ext uri="{FF2B5EF4-FFF2-40B4-BE49-F238E27FC236}">
                <a16:creationId xmlns:a16="http://schemas.microsoft.com/office/drawing/2014/main" id="{7E081421-0A86-7C7F-7CC4-A7A876248B5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56" name="圆角矩形 7">
            <a:extLst>
              <a:ext uri="{FF2B5EF4-FFF2-40B4-BE49-F238E27FC236}">
                <a16:creationId xmlns:a16="http://schemas.microsoft.com/office/drawing/2014/main" id="{32791323-5F1E-BE25-28DB-1D7A6949DFC7}"/>
              </a:ext>
            </a:extLst>
          </p:cNvPr>
          <p:cNvSpPr/>
          <p:nvPr/>
        </p:nvSpPr>
        <p:spPr>
          <a:xfrm>
            <a:off x="864102" y="2667601"/>
            <a:ext cx="1752456" cy="1754999"/>
          </a:xfrm>
          <a:prstGeom prst="roundRect">
            <a:avLst>
              <a:gd name="adj" fmla="val 9951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7" name="圆角矩形 8">
            <a:extLst>
              <a:ext uri="{FF2B5EF4-FFF2-40B4-BE49-F238E27FC236}">
                <a16:creationId xmlns:a16="http://schemas.microsoft.com/office/drawing/2014/main" id="{A63332E0-F87C-F754-D91F-E4EEADA3B1E0}"/>
              </a:ext>
            </a:extLst>
          </p:cNvPr>
          <p:cNvSpPr/>
          <p:nvPr/>
        </p:nvSpPr>
        <p:spPr>
          <a:xfrm>
            <a:off x="864102" y="2082602"/>
            <a:ext cx="1752456" cy="1754999"/>
          </a:xfrm>
          <a:prstGeom prst="roundRect">
            <a:avLst>
              <a:gd name="adj" fmla="val 9951"/>
            </a:avLst>
          </a:prstGeom>
          <a:solidFill>
            <a:srgbClr val="1C4885"/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9DECD07E-5402-9A7E-0614-BF1DF7C17B45}"/>
              </a:ext>
            </a:extLst>
          </p:cNvPr>
          <p:cNvSpPr/>
          <p:nvPr/>
        </p:nvSpPr>
        <p:spPr>
          <a:xfrm>
            <a:off x="686041" y="1070594"/>
            <a:ext cx="609600" cy="609600"/>
          </a:xfrm>
          <a:prstGeom prst="ellipse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8" name="文本框 23">
            <a:extLst>
              <a:ext uri="{FF2B5EF4-FFF2-40B4-BE49-F238E27FC236}">
                <a16:creationId xmlns:a16="http://schemas.microsoft.com/office/drawing/2014/main" id="{CC14AE33-B40B-7D6C-A7E2-CA756456BCBA}"/>
              </a:ext>
            </a:extLst>
          </p:cNvPr>
          <p:cNvSpPr txBox="1"/>
          <p:nvPr/>
        </p:nvSpPr>
        <p:spPr>
          <a:xfrm>
            <a:off x="1469932" y="1191244"/>
            <a:ext cx="572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FZZhengHeiS-DB-GB" panose="02000000000000000000" pitchFamily="2" charset="0"/>
                <a:cs typeface="Times New Roman" panose="02020603050405020304" pitchFamily="18" charset="0"/>
              </a:rPr>
              <a:t>https://github.com/LeoMooreCST/CQUCS-Study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8AC3FD1B-C5D2-99E0-03FE-58794BA98F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72" y="1166824"/>
            <a:ext cx="392538" cy="392538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ACD0BE0-8A92-2B94-06D5-9D637BA1F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175" y="2112315"/>
            <a:ext cx="3102351" cy="202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6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3511923" y="1825765"/>
            <a:ext cx="5839485" cy="10849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6600" b="1" dirty="0">
                <a:solidFill>
                  <a:srgbClr val="071F65"/>
                </a:solidFill>
                <a:latin typeface="+mj-ea"/>
              </a:rPr>
              <a:t>谢谢大家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2682302" y="2975333"/>
            <a:ext cx="5031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569" y="408459"/>
            <a:ext cx="2591025" cy="88399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68722" y="3141990"/>
            <a:ext cx="4646478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计算机网络期末复习分享</a:t>
            </a:r>
          </a:p>
        </p:txBody>
      </p:sp>
      <p:sp>
        <p:nvSpPr>
          <p:cNvPr id="5" name="矩形 4"/>
          <p:cNvSpPr/>
          <p:nvPr/>
        </p:nvSpPr>
        <p:spPr>
          <a:xfrm>
            <a:off x="2682302" y="3805089"/>
            <a:ext cx="2038058" cy="82291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分享人：李璠志</a:t>
            </a:r>
            <a:endParaRPr kumimoji="1" lang="en-US" altLang="zh-CN" b="1" dirty="0">
              <a:solidFill>
                <a:srgbClr val="071F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en-US" altLang="zh-CN" b="1" dirty="0">
              <a:solidFill>
                <a:srgbClr val="071F6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   期：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kumimoji="1" lang="en-US" altLang="zh-CN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KSO_WPP_MARK_KEY" val="1a15e0ca-4f38-4c42-886c-830ef85a67bd"/>
  <p:tag name="COMMONDATA" val="eyJoZGlkIjoiOTc2ODkwNTQ0YzhlODMwMGYxMjA0MDg4ZWM0YzA1YTMifQ==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3074</TotalTime>
  <Words>1767</Words>
  <Application>Microsoft Office PowerPoint</Application>
  <PresentationFormat>全屏显示(16:9)</PresentationFormat>
  <Paragraphs>229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FZZhengHeiS-DB-GB</vt:lpstr>
      <vt:lpstr>微软雅黑</vt:lpstr>
      <vt:lpstr>幼圆</vt:lpstr>
      <vt:lpstr>Arial</vt:lpstr>
      <vt:lpstr>Arial Black</vt:lpstr>
      <vt:lpstr>Calibri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Fz Lee</cp:lastModifiedBy>
  <cp:revision>638</cp:revision>
  <dcterms:created xsi:type="dcterms:W3CDTF">2014-06-03T07:56:00Z</dcterms:created>
  <dcterms:modified xsi:type="dcterms:W3CDTF">2026-01-06T12:06:03Z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DF2DDFFDD0924CD788504D31FC3FC9B8_12</vt:lpwstr>
  </property>
</Properties>
</file>