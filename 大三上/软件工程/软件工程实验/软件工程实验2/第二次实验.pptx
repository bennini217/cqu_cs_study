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88" r:id="rId7"/>
    <p:sldId id="289" r:id="rId8"/>
    <p:sldId id="270" r:id="rId9"/>
    <p:sldId id="271" r:id="rId10"/>
    <p:sldId id="272" r:id="rId11"/>
    <p:sldId id="273" r:id="rId12"/>
    <p:sldId id="274" r:id="rId13"/>
    <p:sldId id="275" r:id="rId14"/>
    <p:sldId id="285" r:id="rId15"/>
    <p:sldId id="284" r:id="rId16"/>
    <p:sldId id="283" r:id="rId17"/>
    <p:sldId id="282" r:id="rId18"/>
    <p:sldId id="276" r:id="rId19"/>
    <p:sldId id="286" r:id="rId20"/>
    <p:sldId id="281" r:id="rId21"/>
    <p:sldId id="290" r:id="rId22"/>
    <p:sldId id="279" r:id="rId23"/>
    <p:sldId id="280" r:id="rId24"/>
    <p:sldId id="287"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87E9DC9-E75F-4F4C-915B-605BEEF55364}">
          <p14:sldIdLst>
            <p14:sldId id="256"/>
            <p14:sldId id="257"/>
            <p14:sldId id="258"/>
            <p14:sldId id="288"/>
            <p14:sldId id="289"/>
            <p14:sldId id="270"/>
            <p14:sldId id="271"/>
            <p14:sldId id="272"/>
            <p14:sldId id="273"/>
            <p14:sldId id="274"/>
            <p14:sldId id="275"/>
            <p14:sldId id="285"/>
            <p14:sldId id="284"/>
            <p14:sldId id="283"/>
            <p14:sldId id="282"/>
            <p14:sldId id="276"/>
            <p14:sldId id="286"/>
            <p14:sldId id="281"/>
            <p14:sldId id="290"/>
            <p14:sldId id="279"/>
            <p14:sldId id="280"/>
            <p14:sldId id="28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us"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20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D731F5-83B5-4823-8455-31956C5866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F6C47C-6D1B-4BCB-8EE0-B27BBA05D75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6F6C47C-6D1B-4BCB-8EE0-B27BBA05D75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D6E85F-181C-4279-887E-8CB7033C296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B1A9B2-05EF-434C-8AF2-45D114C727E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D6E85F-181C-4279-887E-8CB7033C296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1A9B2-05EF-434C-8AF2-45D114C727E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0.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30.jpe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image" Target="../media/image38.GIF"/><Relationship Id="rId1"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类图</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87065" y="182382"/>
            <a:ext cx="10617869" cy="1631216"/>
          </a:xfrm>
          <a:prstGeom prst="rect">
            <a:avLst/>
          </a:prstGeom>
          <a:noFill/>
        </p:spPr>
        <p:txBody>
          <a:bodyPr wrap="square">
            <a:spAutoFit/>
          </a:bodyPr>
          <a:lstStyle/>
          <a:p>
            <a:pPr indent="306070">
              <a:spcBef>
                <a:spcPts val="750"/>
              </a:spcBef>
              <a:spcAft>
                <a:spcPts val="750"/>
              </a:spcAft>
            </a:pPr>
            <a:r>
              <a:rPr lang="zh-CN" altLang="en-US"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类图</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以反映类的结构</a:t>
            </a: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属性、操作</a:t>
            </a: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以及类之间的关系为主要目的，描述了软件系统的结构，是一种静态建模方法。</a:t>
            </a:r>
            <a:br>
              <a:rPr lang="zh-CN" altLang="en-US" sz="2000" dirty="0"/>
            </a:br>
            <a:r>
              <a:rPr lang="en-US" altLang="zh-CN" sz="2000" dirty="0"/>
              <a:t>    </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在类图中一共包含了以下几种模型元素，分别是：类（</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Class</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）、接口（</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Interface</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依赖关系（</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Dependency</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、泛化关系</a:t>
            </a:r>
            <a:r>
              <a:rPr lang="en-US"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Generalization</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、关联关系（</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Association</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、聚合关系（</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Aggregation</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）、组合关系（</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Composition</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实现关系（</a:t>
            </a:r>
            <a:r>
              <a:rPr lang="en-US" altLang="zh-CN" sz="20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Realization</a:t>
            </a:r>
            <a:r>
              <a:rPr lang="zh-CN" altLang="zh-CN" sz="2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1941244" y="1949116"/>
            <a:ext cx="8050757" cy="40819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8836" y="120315"/>
            <a:ext cx="492443" cy="461665"/>
          </a:xfrm>
          <a:prstGeom prst="rect">
            <a:avLst/>
          </a:prstGeom>
          <a:noFill/>
        </p:spPr>
        <p:txBody>
          <a:bodyPr wrap="none" rtlCol="0">
            <a:spAutoFit/>
          </a:bodyPr>
          <a:lstStyle/>
          <a:p>
            <a:r>
              <a:rPr lang="zh-CN" altLang="en-US" sz="2400" dirty="0"/>
              <a:t>类</a:t>
            </a:r>
            <a:endParaRPr lang="zh-CN" altLang="en-US" sz="2400" dirty="0"/>
          </a:p>
        </p:txBody>
      </p:sp>
      <p:sp>
        <p:nvSpPr>
          <p:cNvPr id="7" name="文本框 6"/>
          <p:cNvSpPr txBox="1"/>
          <p:nvPr/>
        </p:nvSpPr>
        <p:spPr>
          <a:xfrm>
            <a:off x="5700963" y="1144520"/>
            <a:ext cx="6491037" cy="2585323"/>
          </a:xfrm>
          <a:prstGeom prst="rect">
            <a:avLst/>
          </a:prstGeom>
          <a:noFill/>
        </p:spPr>
        <p:txBody>
          <a:bodyPr wrap="square" rtlCol="0">
            <a:spAutoFit/>
          </a:bodyPr>
          <a:lstStyle/>
          <a:p>
            <a:pPr marL="285750" indent="-285750">
              <a:buFont typeface="Arial" panose="020B0604020202020204" pitchFamily="34" charset="0"/>
              <a:buChar char="•"/>
            </a:pPr>
            <a:r>
              <a:rPr lang="en-US" altLang="zh-CN" i="0" dirty="0">
                <a:effectLst/>
                <a:latin typeface="-apple-system"/>
              </a:rPr>
              <a:t>Name</a:t>
            </a:r>
            <a:r>
              <a:rPr lang="zh-CN" altLang="en-US" b="0" i="0" dirty="0">
                <a:effectLst/>
                <a:latin typeface="-apple-system"/>
              </a:rPr>
              <a:t>：类名，通常放在方框中间加粗，类名首字母大写</a:t>
            </a:r>
            <a:endParaRPr lang="en-US" altLang="zh-CN" b="0" i="0" dirty="0">
              <a:effectLst/>
              <a:latin typeface="-apple-system"/>
            </a:endParaRPr>
          </a:p>
          <a:p>
            <a:pPr marL="285750" indent="-285750">
              <a:buFont typeface="Arial" panose="020B0604020202020204" pitchFamily="34" charset="0"/>
              <a:buChar char="•"/>
            </a:pPr>
            <a:r>
              <a:rPr lang="en-US" altLang="zh-CN" i="0" dirty="0">
                <a:effectLst/>
                <a:latin typeface="-apple-system"/>
              </a:rPr>
              <a:t>Attributes</a:t>
            </a:r>
            <a:r>
              <a:rPr lang="zh-CN" altLang="en-US" b="0" i="0" dirty="0">
                <a:effectLst/>
                <a:latin typeface="-apple-system"/>
              </a:rPr>
              <a:t>：第二个小框介绍了类的属性（字段），包括属性名，属性的可见性和数据类型</a:t>
            </a:r>
            <a:endParaRPr lang="zh-CN" altLang="en-US" b="0" i="0" dirty="0">
              <a:effectLst/>
              <a:latin typeface="-apple-system"/>
            </a:endParaRPr>
          </a:p>
          <a:p>
            <a:pPr marL="285750" indent="-285750">
              <a:buFont typeface="Arial" panose="020B0604020202020204" pitchFamily="34" charset="0"/>
              <a:buChar char="•"/>
            </a:pPr>
            <a:r>
              <a:rPr lang="en-US" altLang="zh-CN" i="0" dirty="0">
                <a:effectLst/>
                <a:latin typeface="-apple-system"/>
              </a:rPr>
              <a:t>Methods</a:t>
            </a:r>
            <a:r>
              <a:rPr lang="zh-CN" altLang="en-US" b="0" i="0" dirty="0">
                <a:effectLst/>
                <a:latin typeface="-apple-system"/>
              </a:rPr>
              <a:t>：第三个小框介绍了类的方法，代表了类的行为函数，包括可见性，返回类型和参数</a:t>
            </a:r>
            <a:endParaRPr lang="zh-CN" altLang="en-US" b="0" i="0" dirty="0">
              <a:effectLst/>
              <a:latin typeface="-apple-system"/>
            </a:endParaRPr>
          </a:p>
          <a:p>
            <a:pPr marL="285750" indent="-285750">
              <a:buFont typeface="Arial" panose="020B0604020202020204" pitchFamily="34" charset="0"/>
              <a:buChar char="•"/>
            </a:pPr>
            <a:r>
              <a:rPr lang="en-US" altLang="zh-CN" i="0" dirty="0">
                <a:effectLst/>
                <a:latin typeface="-apple-system"/>
              </a:rPr>
              <a:t>Visibility</a:t>
            </a:r>
            <a:r>
              <a:rPr lang="zh-CN" altLang="en-US" b="0" i="0" dirty="0">
                <a:effectLst/>
                <a:latin typeface="-apple-system"/>
              </a:rPr>
              <a:t>：可见性，表示了属性和方法的可获取水平</a:t>
            </a:r>
            <a:br>
              <a:rPr lang="zh-CN" altLang="en-US" b="0" i="0" dirty="0">
                <a:effectLst/>
                <a:latin typeface="-apple-system"/>
              </a:rPr>
            </a:br>
            <a:r>
              <a:rPr lang="zh-CN" altLang="en-US" b="0" i="0" dirty="0">
                <a:effectLst/>
                <a:latin typeface="-apple-system"/>
              </a:rPr>
              <a:t>（</a:t>
            </a:r>
            <a:r>
              <a:rPr lang="en-US" altLang="zh-CN" b="0" i="0" dirty="0">
                <a:effectLst/>
                <a:latin typeface="-apple-system"/>
              </a:rPr>
              <a:t>1</a:t>
            </a:r>
            <a:r>
              <a:rPr lang="zh-CN" altLang="en-US" b="0" i="0" dirty="0">
                <a:effectLst/>
                <a:latin typeface="-apple-system"/>
              </a:rPr>
              <a:t>）</a:t>
            </a:r>
            <a:r>
              <a:rPr lang="en-US" altLang="zh-CN" b="0" i="0" dirty="0">
                <a:effectLst/>
                <a:latin typeface="-apple-system"/>
              </a:rPr>
              <a:t>+</a:t>
            </a:r>
            <a:r>
              <a:rPr lang="zh-CN" altLang="en-US" b="0" i="0" dirty="0">
                <a:effectLst/>
                <a:latin typeface="-apple-system"/>
              </a:rPr>
              <a:t>：</a:t>
            </a:r>
            <a:r>
              <a:rPr lang="en-US" altLang="zh-CN" b="0" i="0" dirty="0">
                <a:effectLst/>
                <a:latin typeface="-apple-system"/>
              </a:rPr>
              <a:t>public</a:t>
            </a:r>
            <a:r>
              <a:rPr lang="zh-CN" altLang="en-US" b="0" i="0" dirty="0">
                <a:effectLst/>
                <a:latin typeface="-apple-system"/>
              </a:rPr>
              <a:t>公共，对所有类可见</a:t>
            </a:r>
            <a:br>
              <a:rPr lang="zh-CN" altLang="en-US" b="0" i="0" dirty="0">
                <a:effectLst/>
                <a:latin typeface="-apple-system"/>
              </a:rPr>
            </a:br>
            <a:r>
              <a:rPr lang="zh-CN" altLang="en-US" b="0" i="0" dirty="0">
                <a:effectLst/>
                <a:latin typeface="-apple-system"/>
              </a:rPr>
              <a:t>（</a:t>
            </a:r>
            <a:r>
              <a:rPr lang="en-US" altLang="zh-CN" b="0" i="0" dirty="0">
                <a:effectLst/>
                <a:latin typeface="-apple-system"/>
              </a:rPr>
              <a:t>2</a:t>
            </a:r>
            <a:r>
              <a:rPr lang="zh-CN" altLang="en-US" b="0" i="0" dirty="0">
                <a:effectLst/>
                <a:latin typeface="-apple-system"/>
              </a:rPr>
              <a:t>）</a:t>
            </a:r>
            <a:r>
              <a:rPr lang="en-US" altLang="zh-CN" b="0" i="0" dirty="0">
                <a:effectLst/>
                <a:latin typeface="-apple-system"/>
              </a:rPr>
              <a:t>-</a:t>
            </a:r>
            <a:r>
              <a:rPr lang="zh-CN" altLang="en-US" b="0" i="0" dirty="0">
                <a:effectLst/>
                <a:latin typeface="-apple-system"/>
              </a:rPr>
              <a:t>：</a:t>
            </a:r>
            <a:r>
              <a:rPr lang="en-US" altLang="zh-CN" b="0" i="0" dirty="0">
                <a:effectLst/>
                <a:latin typeface="-apple-system"/>
              </a:rPr>
              <a:t>private</a:t>
            </a:r>
            <a:r>
              <a:rPr lang="zh-CN" altLang="en-US" b="0" i="0" dirty="0">
                <a:effectLst/>
                <a:latin typeface="-apple-system"/>
              </a:rPr>
              <a:t>私有，仅在类内可见</a:t>
            </a:r>
            <a:br>
              <a:rPr lang="zh-CN" altLang="en-US" b="0" i="0" dirty="0">
                <a:effectLst/>
                <a:latin typeface="-apple-system"/>
              </a:rPr>
            </a:br>
            <a:r>
              <a:rPr lang="zh-CN" altLang="en-US" b="0" i="0" dirty="0">
                <a:effectLst/>
                <a:latin typeface="-apple-system"/>
              </a:rPr>
              <a:t>（</a:t>
            </a:r>
            <a:r>
              <a:rPr lang="en-US" altLang="zh-CN" b="0" i="0" dirty="0">
                <a:effectLst/>
                <a:latin typeface="-apple-system"/>
              </a:rPr>
              <a:t>3</a:t>
            </a:r>
            <a:r>
              <a:rPr lang="zh-CN" altLang="en-US" b="0" i="0" dirty="0">
                <a:effectLst/>
                <a:latin typeface="-apple-system"/>
              </a:rPr>
              <a:t>）</a:t>
            </a:r>
            <a:r>
              <a:rPr lang="en-US" altLang="zh-CN" b="0" i="0" dirty="0">
                <a:effectLst/>
                <a:latin typeface="-apple-system"/>
              </a:rPr>
              <a:t>#</a:t>
            </a:r>
            <a:r>
              <a:rPr lang="zh-CN" altLang="en-US" b="0" i="0" dirty="0">
                <a:effectLst/>
                <a:latin typeface="-apple-system"/>
              </a:rPr>
              <a:t>：</a:t>
            </a:r>
            <a:r>
              <a:rPr lang="en-US" altLang="zh-CN" b="0" i="0" dirty="0">
                <a:effectLst/>
                <a:latin typeface="-apple-system"/>
              </a:rPr>
              <a:t>protected</a:t>
            </a:r>
            <a:r>
              <a:rPr lang="zh-CN" altLang="en-US" b="0" i="0" dirty="0">
                <a:effectLst/>
                <a:latin typeface="-apple-system"/>
              </a:rPr>
              <a:t>保护，对子类可见</a:t>
            </a:r>
            <a:endParaRPr lang="en-US" altLang="zh-CN" b="0" i="0" dirty="0">
              <a:effectLst/>
              <a:latin typeface="-apple-system"/>
            </a:endParaRPr>
          </a:p>
        </p:txBody>
      </p:sp>
      <p:pic>
        <p:nvPicPr>
          <p:cNvPr id="8" name="图片 7"/>
          <p:cNvPicPr>
            <a:picLocks noChangeAspect="1"/>
          </p:cNvPicPr>
          <p:nvPr/>
        </p:nvPicPr>
        <p:blipFill>
          <a:blip r:embed="rId1"/>
          <a:stretch>
            <a:fillRect/>
          </a:stretch>
        </p:blipFill>
        <p:spPr>
          <a:xfrm>
            <a:off x="499309" y="1373559"/>
            <a:ext cx="4197566" cy="1752690"/>
          </a:xfrm>
          <a:prstGeom prst="rect">
            <a:avLst/>
          </a:prstGeom>
        </p:spPr>
      </p:pic>
      <p:pic>
        <p:nvPicPr>
          <p:cNvPr id="10" name="图片 9"/>
          <p:cNvPicPr>
            <a:picLocks noChangeAspect="1"/>
          </p:cNvPicPr>
          <p:nvPr/>
        </p:nvPicPr>
        <p:blipFill>
          <a:blip r:embed="rId2"/>
          <a:stretch>
            <a:fillRect/>
          </a:stretch>
        </p:blipFill>
        <p:spPr>
          <a:xfrm>
            <a:off x="318836" y="3287637"/>
            <a:ext cx="5685994" cy="25853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1236980" y="654050"/>
            <a:ext cx="9717405" cy="5471160"/>
          </a:xfrm>
          <a:prstGeom prst="rect">
            <a:avLst/>
          </a:prstGeom>
        </p:spPr>
      </p:pic>
      <p:sp>
        <p:nvSpPr>
          <p:cNvPr id="5" name="文本框 4"/>
          <p:cNvSpPr txBox="1"/>
          <p:nvPr/>
        </p:nvSpPr>
        <p:spPr>
          <a:xfrm>
            <a:off x="1392555" y="200660"/>
            <a:ext cx="4064000" cy="368300"/>
          </a:xfrm>
          <a:prstGeom prst="rect">
            <a:avLst/>
          </a:prstGeom>
          <a:noFill/>
        </p:spPr>
        <p:txBody>
          <a:bodyPr wrap="square" rtlCol="0">
            <a:spAutoFit/>
          </a:bodyPr>
          <a:p>
            <a:r>
              <a:rPr lang="zh-CN" altLang="en-US"/>
              <a:t>创建</a:t>
            </a:r>
            <a:r>
              <a:rPr lang="zh-CN" altLang="en-US"/>
              <a:t>类图</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384810" y="741045"/>
            <a:ext cx="11421745" cy="5734050"/>
          </a:xfrm>
          <a:prstGeom prst="rect">
            <a:avLst/>
          </a:prstGeom>
        </p:spPr>
      </p:pic>
      <p:sp>
        <p:nvSpPr>
          <p:cNvPr id="5" name="文本框 4"/>
          <p:cNvSpPr txBox="1"/>
          <p:nvPr/>
        </p:nvSpPr>
        <p:spPr>
          <a:xfrm>
            <a:off x="3556000" y="3311208"/>
            <a:ext cx="5080000" cy="235585"/>
          </a:xfrm>
          <a:prstGeom prst="rect">
            <a:avLst/>
          </a:prstGeom>
        </p:spPr>
        <p:txBody>
          <a:bodyPr>
            <a:spAutoFit/>
          </a:bodyPr>
          <a:p>
            <a:pPr marL="0" indent="0">
              <a:lnSpc>
                <a:spcPts val="1125"/>
              </a:lnSpc>
              <a:spcBef>
                <a:spcPts val="900"/>
              </a:spcBef>
              <a:spcAft>
                <a:spcPts val="300"/>
              </a:spcAft>
            </a:pPr>
            <a:r>
              <a:rPr lang="zh-CN" altLang="en-US" sz="1600" b="0" i="0">
                <a:solidFill>
                  <a:srgbClr val="4F4F4F"/>
                </a:solidFill>
                <a:latin typeface="PingFang SC"/>
                <a:ea typeface="PingFang SC"/>
              </a:rPr>
              <a:t>格式化面板</a:t>
            </a:r>
            <a:r>
              <a:rPr lang="en-US" altLang="zh-CN" sz="1600" b="0" i="0">
                <a:solidFill>
                  <a:srgbClr val="4F4F4F"/>
                </a:solidFill>
                <a:latin typeface="PingFang SC"/>
                <a:ea typeface="PingFang SC"/>
              </a:rPr>
              <a:t>(</a:t>
            </a:r>
            <a:r>
              <a:rPr lang="zh-CN" altLang="en-US" sz="1600" b="0" i="0">
                <a:solidFill>
                  <a:srgbClr val="4F4F4F"/>
                </a:solidFill>
                <a:latin typeface="PingFang SC"/>
                <a:ea typeface="PingFang SC"/>
              </a:rPr>
              <a:t>样式</a:t>
            </a:r>
            <a:r>
              <a:rPr lang="en-US" altLang="zh-CN" sz="1600" b="0" i="0">
                <a:solidFill>
                  <a:srgbClr val="4F4F4F"/>
                </a:solidFill>
                <a:latin typeface="PingFang SC"/>
                <a:ea typeface="PingFang SC"/>
              </a:rPr>
              <a:t>)</a:t>
            </a:r>
            <a:endParaRPr lang="en-US" altLang="zh-CN" sz="1600" b="0" i="0">
              <a:solidFill>
                <a:srgbClr val="4F4F4F"/>
              </a:solidFill>
              <a:latin typeface="PingFang SC"/>
              <a:ea typeface="PingFang SC"/>
            </a:endParaRPr>
          </a:p>
        </p:txBody>
      </p:sp>
      <p:sp>
        <p:nvSpPr>
          <p:cNvPr id="6" name="文本框 5"/>
          <p:cNvSpPr txBox="1"/>
          <p:nvPr/>
        </p:nvSpPr>
        <p:spPr>
          <a:xfrm>
            <a:off x="431165" y="292418"/>
            <a:ext cx="5080000" cy="235585"/>
          </a:xfrm>
          <a:prstGeom prst="rect">
            <a:avLst/>
          </a:prstGeom>
        </p:spPr>
        <p:txBody>
          <a:bodyPr>
            <a:spAutoFit/>
          </a:bodyPr>
          <a:p>
            <a:pPr marL="0" indent="0">
              <a:lnSpc>
                <a:spcPts val="1125"/>
              </a:lnSpc>
              <a:spcBef>
                <a:spcPts val="900"/>
              </a:spcBef>
              <a:spcAft>
                <a:spcPts val="300"/>
              </a:spcAft>
            </a:pPr>
            <a:r>
              <a:rPr lang="zh-CN" altLang="en-US" sz="1600" b="0" i="0">
                <a:solidFill>
                  <a:srgbClr val="4F4F4F"/>
                </a:solidFill>
                <a:latin typeface="PingFang SC"/>
                <a:ea typeface="PingFang SC"/>
              </a:rPr>
              <a:t>格式化面板</a:t>
            </a:r>
            <a:r>
              <a:rPr lang="en-US" altLang="zh-CN" sz="1600" b="0" i="0">
                <a:solidFill>
                  <a:srgbClr val="4F4F4F"/>
                </a:solidFill>
                <a:latin typeface="PingFang SC"/>
                <a:ea typeface="PingFang SC"/>
              </a:rPr>
              <a:t>(</a:t>
            </a:r>
            <a:r>
              <a:rPr lang="zh-CN" altLang="en-US" sz="1600" b="0" i="0">
                <a:solidFill>
                  <a:srgbClr val="4F4F4F"/>
                </a:solidFill>
                <a:latin typeface="PingFang SC"/>
                <a:ea typeface="PingFang SC"/>
              </a:rPr>
              <a:t>样式</a:t>
            </a:r>
            <a:r>
              <a:rPr lang="en-US" altLang="zh-CN" sz="1600" b="0" i="0">
                <a:solidFill>
                  <a:srgbClr val="4F4F4F"/>
                </a:solidFill>
                <a:latin typeface="PingFang SC"/>
                <a:ea typeface="PingFang SC"/>
              </a:rPr>
              <a:t>)</a:t>
            </a:r>
            <a:endParaRPr lang="en-US" altLang="zh-CN" sz="1600" b="0" i="0">
              <a:solidFill>
                <a:srgbClr val="4F4F4F"/>
              </a:solidFill>
              <a:latin typeface="PingFang SC"/>
              <a:ea typeface="PingFang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1329210" cy="369332"/>
          </a:xfrm>
          <a:prstGeom prst="rect">
            <a:avLst/>
          </a:prstGeom>
          <a:noFill/>
        </p:spPr>
        <p:txBody>
          <a:bodyPr wrap="none" rtlCol="0">
            <a:spAutoFit/>
          </a:bodyPr>
          <a:lstStyle/>
          <a:p>
            <a:r>
              <a:rPr lang="zh-CN" altLang="en-US" dirty="0"/>
              <a:t>设置类属性</a:t>
            </a:r>
            <a:endParaRPr lang="zh-CN" altLang="en-US" dirty="0"/>
          </a:p>
        </p:txBody>
      </p:sp>
      <p:pic>
        <p:nvPicPr>
          <p:cNvPr id="6" name="图片 5"/>
          <p:cNvPicPr>
            <a:picLocks noChangeAspect="1"/>
          </p:cNvPicPr>
          <p:nvPr/>
        </p:nvPicPr>
        <p:blipFill rotWithShape="1">
          <a:blip r:embed="rId1"/>
          <a:srcRect l="2169" t="5918" r="1632" b="15192"/>
          <a:stretch>
            <a:fillRect/>
          </a:stretch>
        </p:blipFill>
        <p:spPr>
          <a:xfrm>
            <a:off x="2057400" y="559832"/>
            <a:ext cx="7969250" cy="4209424"/>
          </a:xfrm>
          <a:prstGeom prst="rect">
            <a:avLst/>
          </a:prstGeom>
        </p:spPr>
      </p:pic>
      <p:sp>
        <p:nvSpPr>
          <p:cNvPr id="7" name="文本框 6"/>
          <p:cNvSpPr txBox="1"/>
          <p:nvPr/>
        </p:nvSpPr>
        <p:spPr>
          <a:xfrm>
            <a:off x="328794" y="4820840"/>
            <a:ext cx="11691756" cy="1754326"/>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Visibility</a:t>
            </a:r>
            <a:r>
              <a:rPr lang="zh-CN" altLang="en-US" dirty="0"/>
              <a:t>：类的可见性，例如</a:t>
            </a:r>
            <a:r>
              <a:rPr lang="en-US" altLang="zh-CN" dirty="0"/>
              <a:t>public</a:t>
            </a:r>
            <a:r>
              <a:rPr lang="zh-CN" altLang="en-US" dirty="0"/>
              <a:t>、</a:t>
            </a:r>
            <a:r>
              <a:rPr lang="en-US" altLang="zh-CN" dirty="0"/>
              <a:t>private</a:t>
            </a:r>
            <a:r>
              <a:rPr lang="zh-CN" altLang="en-US" dirty="0"/>
              <a:t>、</a:t>
            </a:r>
            <a:r>
              <a:rPr lang="en-US" altLang="zh-CN" dirty="0"/>
              <a:t>protected</a:t>
            </a:r>
            <a:r>
              <a:rPr lang="zh-CN" altLang="en-US" dirty="0"/>
              <a:t>，一般用于修饰内部类</a:t>
            </a:r>
            <a:endParaRPr lang="en-US" altLang="zh-CN" dirty="0"/>
          </a:p>
          <a:p>
            <a:pPr marL="285750" indent="-285750">
              <a:buFont typeface="Arial" panose="020B0604020202020204" pitchFamily="34" charset="0"/>
              <a:buChar char="•"/>
            </a:pPr>
            <a:r>
              <a:rPr lang="en-US" altLang="zh-CN" b="1" dirty="0"/>
              <a:t>Cardinality</a:t>
            </a:r>
            <a:r>
              <a:rPr lang="zh-CN" altLang="en-US" dirty="0"/>
              <a:t>：基数，描述类的多重性，指定类可以拥有实例的最小和最大数量，</a:t>
            </a:r>
            <a:r>
              <a:rPr lang="en-US" altLang="zh-CN" dirty="0"/>
              <a:t>0..1</a:t>
            </a:r>
            <a:r>
              <a:rPr lang="zh-CN" altLang="en-US" dirty="0"/>
              <a:t>，表示可以拥有</a:t>
            </a:r>
            <a:r>
              <a:rPr lang="en-US" altLang="zh-CN" dirty="0"/>
              <a:t>0</a:t>
            </a:r>
            <a:r>
              <a:rPr lang="zh-CN" altLang="en-US" dirty="0"/>
              <a:t>个或</a:t>
            </a:r>
            <a:r>
              <a:rPr lang="en-US" altLang="zh-CN" dirty="0"/>
              <a:t>1</a:t>
            </a:r>
            <a:r>
              <a:rPr lang="zh-CN" altLang="en-US" dirty="0"/>
              <a:t>个；</a:t>
            </a:r>
            <a:r>
              <a:rPr lang="en-US" altLang="zh-CN" dirty="0"/>
              <a:t>0..*</a:t>
            </a:r>
            <a:r>
              <a:rPr lang="zh-CN" altLang="en-US" dirty="0"/>
              <a:t>，表示</a:t>
            </a:r>
            <a:r>
              <a:rPr lang="en-US" altLang="zh-CN" dirty="0"/>
              <a:t>0</a:t>
            </a:r>
            <a:r>
              <a:rPr lang="zh-CN" altLang="en-US" dirty="0"/>
              <a:t>个或多个；</a:t>
            </a:r>
            <a:r>
              <a:rPr lang="en-US" altLang="zh-CN" dirty="0"/>
              <a:t>1..1</a:t>
            </a:r>
            <a:r>
              <a:rPr lang="zh-CN" altLang="en-US" dirty="0"/>
              <a:t>，表示有且只有</a:t>
            </a:r>
            <a:r>
              <a:rPr lang="en-US" altLang="zh-CN" dirty="0"/>
              <a:t>1</a:t>
            </a:r>
            <a:r>
              <a:rPr lang="zh-CN" altLang="en-US" dirty="0"/>
              <a:t>个；</a:t>
            </a:r>
            <a:r>
              <a:rPr lang="en-US" altLang="zh-CN" dirty="0"/>
              <a:t>1..*</a:t>
            </a:r>
            <a:r>
              <a:rPr lang="zh-CN" altLang="en-US" dirty="0"/>
              <a:t>，表示</a:t>
            </a:r>
            <a:r>
              <a:rPr lang="en-US" altLang="zh-CN" dirty="0"/>
              <a:t>1</a:t>
            </a:r>
            <a:r>
              <a:rPr lang="zh-CN" altLang="en-US" dirty="0"/>
              <a:t>到多个</a:t>
            </a:r>
            <a:endParaRPr lang="en-US" altLang="zh-CN" dirty="0"/>
          </a:p>
          <a:p>
            <a:pPr marL="285750" indent="-285750">
              <a:buFont typeface="Arial" panose="020B0604020202020204" pitchFamily="34" charset="0"/>
              <a:buChar char="•"/>
            </a:pPr>
            <a:r>
              <a:rPr lang="en-US" altLang="zh-CN" b="1" dirty="0"/>
              <a:t>Type</a:t>
            </a:r>
            <a:r>
              <a:rPr lang="zh-CN" altLang="en-US" dirty="0"/>
              <a:t>：类的实现类型，有</a:t>
            </a:r>
            <a:r>
              <a:rPr lang="en-US" altLang="zh-CN" dirty="0"/>
              <a:t>class</a:t>
            </a:r>
            <a:r>
              <a:rPr lang="zh-CN" altLang="en-US" dirty="0"/>
              <a:t>类型（普通类），和</a:t>
            </a:r>
            <a:r>
              <a:rPr lang="en-US" altLang="zh-CN" dirty="0"/>
              <a:t>Generic</a:t>
            </a:r>
            <a:r>
              <a:rPr lang="zh-CN" altLang="en-US" dirty="0"/>
              <a:t>类型（泛型类，一种参数化的类，在编译时把模版参数绑定到不同的数据类型，从而产生不同的类）</a:t>
            </a:r>
            <a:endParaRPr lang="en-US" altLang="zh-CN" dirty="0"/>
          </a:p>
          <a:p>
            <a:pPr marL="285750" indent="-285750">
              <a:buFont typeface="Arial" panose="020B0604020202020204" pitchFamily="34" charset="0"/>
              <a:buChar char="•"/>
            </a:pPr>
            <a:r>
              <a:rPr lang="en-US" altLang="zh-CN" b="1" dirty="0"/>
              <a:t>Abstract</a:t>
            </a:r>
            <a:r>
              <a:rPr lang="zh-CN" altLang="en-US" dirty="0"/>
              <a:t>：抽象类，不能被实例化的类，一般至少包含一个抽象操作</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1329210" cy="369332"/>
          </a:xfrm>
          <a:prstGeom prst="rect">
            <a:avLst/>
          </a:prstGeom>
          <a:noFill/>
        </p:spPr>
        <p:txBody>
          <a:bodyPr wrap="none" rtlCol="0">
            <a:spAutoFit/>
          </a:bodyPr>
          <a:lstStyle/>
          <a:p>
            <a:r>
              <a:rPr lang="zh-CN" altLang="en-US" dirty="0"/>
              <a:t>设置类属性</a:t>
            </a:r>
            <a:endParaRPr lang="zh-CN" altLang="en-US" dirty="0"/>
          </a:p>
        </p:txBody>
      </p:sp>
      <p:pic>
        <p:nvPicPr>
          <p:cNvPr id="14" name="图片 13"/>
          <p:cNvPicPr>
            <a:picLocks noChangeAspect="1"/>
          </p:cNvPicPr>
          <p:nvPr/>
        </p:nvPicPr>
        <p:blipFill>
          <a:blip r:embed="rId1"/>
          <a:stretch>
            <a:fillRect/>
          </a:stretch>
        </p:blipFill>
        <p:spPr>
          <a:xfrm>
            <a:off x="254000" y="714242"/>
            <a:ext cx="7226671" cy="5175516"/>
          </a:xfrm>
          <a:prstGeom prst="rect">
            <a:avLst/>
          </a:prstGeom>
        </p:spPr>
      </p:pic>
      <p:sp>
        <p:nvSpPr>
          <p:cNvPr id="15" name="文本框 14"/>
          <p:cNvSpPr txBox="1"/>
          <p:nvPr/>
        </p:nvSpPr>
        <p:spPr>
          <a:xfrm>
            <a:off x="7613650" y="714242"/>
            <a:ext cx="4508500" cy="5078313"/>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Initial Value</a:t>
            </a:r>
            <a:r>
              <a:rPr lang="zh-CN" altLang="en-US" dirty="0"/>
              <a:t>：属性的默认值</a:t>
            </a:r>
            <a:endParaRPr lang="en-US" altLang="zh-CN" dirty="0"/>
          </a:p>
          <a:p>
            <a:pPr marL="285750" indent="-285750">
              <a:buFont typeface="Arial" panose="020B0604020202020204" pitchFamily="34" charset="0"/>
              <a:buChar char="•"/>
            </a:pPr>
            <a:r>
              <a:rPr lang="en-US" altLang="zh-CN" b="1" dirty="0"/>
              <a:t>Parent</a:t>
            </a:r>
            <a:r>
              <a:rPr lang="zh-CN" altLang="en-US" dirty="0"/>
              <a:t>：表示属性所属的类或接口。</a:t>
            </a:r>
            <a:endParaRPr lang="en-US" altLang="zh-CN" dirty="0"/>
          </a:p>
          <a:p>
            <a:pPr marL="285750" indent="-285750">
              <a:buFont typeface="Arial" panose="020B0604020202020204" pitchFamily="34" charset="0"/>
              <a:buChar char="•"/>
            </a:pPr>
            <a:r>
              <a:rPr lang="en-US" altLang="zh-CN" b="1" dirty="0"/>
              <a:t>Visibility</a:t>
            </a:r>
            <a:r>
              <a:rPr lang="zh-CN" altLang="en-US" dirty="0"/>
              <a:t>：可见性，包括</a:t>
            </a:r>
            <a:r>
              <a:rPr lang="en-US" altLang="zh-CN" dirty="0"/>
              <a:t>Private</a:t>
            </a:r>
            <a:r>
              <a:rPr lang="zh-CN" altLang="en-US" dirty="0"/>
              <a:t>，</a:t>
            </a:r>
            <a:r>
              <a:rPr lang="en-US" altLang="zh-CN" dirty="0"/>
              <a:t>Public</a:t>
            </a:r>
            <a:r>
              <a:rPr lang="zh-CN" altLang="en-US" dirty="0"/>
              <a:t>，</a:t>
            </a:r>
            <a:r>
              <a:rPr lang="en-US" altLang="zh-CN" dirty="0"/>
              <a:t>Protected</a:t>
            </a:r>
            <a:r>
              <a:rPr lang="zh-CN" altLang="en-US" dirty="0"/>
              <a:t>。</a:t>
            </a:r>
            <a:endParaRPr lang="en-US" altLang="zh-CN" dirty="0"/>
          </a:p>
          <a:p>
            <a:pPr marL="285750" indent="-285750">
              <a:buFont typeface="Arial" panose="020B0604020202020204" pitchFamily="34" charset="0"/>
              <a:buChar char="•"/>
            </a:pPr>
            <a:r>
              <a:rPr lang="en-US" altLang="zh-CN" b="1" dirty="0"/>
              <a:t>Multiplicity</a:t>
            </a:r>
            <a:r>
              <a:rPr lang="zh-CN" altLang="en-US" dirty="0"/>
              <a:t>：表示这个属性可以容纳的值的数量，可以设定为</a:t>
            </a:r>
            <a:endParaRPr lang="en-US" altLang="zh-CN" dirty="0"/>
          </a:p>
          <a:p>
            <a:pPr marL="742950" lvl="1" indent="-285750">
              <a:buFont typeface="Arial" panose="020B0604020202020204" pitchFamily="34" charset="0"/>
              <a:buChar char="•"/>
            </a:pPr>
            <a:r>
              <a:rPr lang="en-US" altLang="zh-CN" dirty="0"/>
              <a:t>0..1 – zero or one</a:t>
            </a:r>
            <a:endParaRPr lang="en-US" altLang="zh-CN" dirty="0"/>
          </a:p>
          <a:p>
            <a:pPr marL="742950" lvl="1" indent="-285750">
              <a:buFont typeface="Arial" panose="020B0604020202020204" pitchFamily="34" charset="0"/>
              <a:buChar char="•"/>
            </a:pPr>
            <a:r>
              <a:rPr lang="en-US" altLang="zh-CN" dirty="0"/>
              <a:t>0..* – zero to unlimited</a:t>
            </a:r>
            <a:endParaRPr lang="en-US" altLang="zh-CN" dirty="0"/>
          </a:p>
          <a:p>
            <a:pPr marL="742950" lvl="1" indent="-285750">
              <a:buFont typeface="Arial" panose="020B0604020202020204" pitchFamily="34" charset="0"/>
              <a:buChar char="•"/>
            </a:pPr>
            <a:r>
              <a:rPr lang="en-US" altLang="zh-CN" dirty="0"/>
              <a:t>1..1 – exactly one</a:t>
            </a:r>
            <a:endParaRPr lang="en-US" altLang="zh-CN" dirty="0"/>
          </a:p>
          <a:p>
            <a:pPr marL="742950" lvl="1" indent="-285750">
              <a:buFont typeface="Arial" panose="020B0604020202020204" pitchFamily="34" charset="0"/>
              <a:buChar char="•"/>
            </a:pPr>
            <a:r>
              <a:rPr lang="en-US" altLang="zh-CN" dirty="0"/>
              <a:t>1..* – one to unlimited</a:t>
            </a:r>
            <a:endParaRPr lang="en-US" altLang="zh-CN" dirty="0"/>
          </a:p>
          <a:p>
            <a:pPr marL="742950" lvl="1" indent="-285750">
              <a:buFont typeface="Arial" panose="020B0604020202020204" pitchFamily="34" charset="0"/>
              <a:buChar char="•"/>
            </a:pPr>
            <a:r>
              <a:rPr lang="en-US" altLang="zh-CN" dirty="0"/>
              <a:t>* – none to unlimited</a:t>
            </a:r>
            <a:endParaRPr lang="en-US" altLang="zh-CN" dirty="0"/>
          </a:p>
          <a:p>
            <a:pPr marL="285750" indent="-285750">
              <a:buFont typeface="Arial" panose="020B0604020202020204" pitchFamily="34" charset="0"/>
              <a:buChar char="•"/>
            </a:pPr>
            <a:r>
              <a:rPr lang="en-US" altLang="zh-CN" b="1" dirty="0"/>
              <a:t>Array size</a:t>
            </a:r>
            <a:r>
              <a:rPr lang="zh-CN" altLang="en-US" dirty="0"/>
              <a:t>：用来定义数组长度</a:t>
            </a:r>
            <a:endParaRPr lang="en-US" altLang="zh-CN" dirty="0"/>
          </a:p>
          <a:p>
            <a:pPr marL="285750" indent="-285750">
              <a:buFont typeface="Arial" panose="020B0604020202020204" pitchFamily="34" charset="0"/>
              <a:buChar char="•"/>
            </a:pPr>
            <a:r>
              <a:rPr lang="en-US" altLang="zh-CN" b="1" dirty="0"/>
              <a:t>Static</a:t>
            </a:r>
            <a:r>
              <a:rPr lang="zh-CN" altLang="en-US" dirty="0"/>
              <a:t>：静态属性，由类的所有实例共享</a:t>
            </a:r>
            <a:endParaRPr lang="en-US" altLang="zh-CN" dirty="0"/>
          </a:p>
          <a:p>
            <a:pPr marL="285750" indent="-285750">
              <a:buFont typeface="Arial" panose="020B0604020202020204" pitchFamily="34" charset="0"/>
              <a:buChar char="•"/>
            </a:pPr>
            <a:r>
              <a:rPr lang="en-US" altLang="zh-CN" b="1" dirty="0"/>
              <a:t>Derived</a:t>
            </a:r>
            <a:r>
              <a:rPr lang="zh-CN" altLang="en-US" dirty="0"/>
              <a:t>：派生属性，表示该属性可以被另外的属性计算得到（例如生日计算出当前年龄）</a:t>
            </a:r>
            <a:endParaRPr lang="en-US" altLang="zh-CN" dirty="0"/>
          </a:p>
          <a:p>
            <a:pPr marL="285750" indent="-285750">
              <a:buFont typeface="Arial" panose="020B0604020202020204" pitchFamily="34" charset="0"/>
              <a:buChar char="•"/>
            </a:pPr>
            <a:r>
              <a:rPr lang="en-US" altLang="zh-CN" b="1" dirty="0"/>
              <a:t>Mandatory</a:t>
            </a:r>
            <a:r>
              <a:rPr lang="zh-CN" altLang="en-US" dirty="0"/>
              <a:t>：非空，要求初始化时必须要设置初始值</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1338828" cy="369332"/>
          </a:xfrm>
          <a:prstGeom prst="rect">
            <a:avLst/>
          </a:prstGeom>
          <a:noFill/>
        </p:spPr>
        <p:txBody>
          <a:bodyPr wrap="none" rtlCol="0">
            <a:spAutoFit/>
          </a:bodyPr>
          <a:lstStyle/>
          <a:p>
            <a:r>
              <a:rPr lang="zh-CN" altLang="en-US" dirty="0"/>
              <a:t>设置类方法</a:t>
            </a:r>
            <a:endParaRPr lang="zh-CN" altLang="en-US" dirty="0"/>
          </a:p>
        </p:txBody>
      </p:sp>
      <p:sp>
        <p:nvSpPr>
          <p:cNvPr id="15" name="文本框 14"/>
          <p:cNvSpPr txBox="1"/>
          <p:nvPr/>
        </p:nvSpPr>
        <p:spPr>
          <a:xfrm>
            <a:off x="7296150" y="834892"/>
            <a:ext cx="4508500" cy="3139321"/>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Language event</a:t>
            </a:r>
            <a:r>
              <a:rPr lang="zh-CN" altLang="en-US" dirty="0"/>
              <a:t>：属性的默认值</a:t>
            </a:r>
            <a:endParaRPr lang="en-US" altLang="zh-CN" dirty="0"/>
          </a:p>
          <a:p>
            <a:pPr marL="285750" indent="-285750">
              <a:buFont typeface="Arial" panose="020B0604020202020204" pitchFamily="34" charset="0"/>
              <a:buChar char="•"/>
            </a:pPr>
            <a:r>
              <a:rPr lang="en-US" altLang="zh-CN" b="1" dirty="0"/>
              <a:t>Parent</a:t>
            </a:r>
            <a:r>
              <a:rPr lang="zh-CN" altLang="en-US" dirty="0"/>
              <a:t>：表示属性所属的类或接口。</a:t>
            </a:r>
            <a:endParaRPr lang="en-US" altLang="zh-CN" dirty="0"/>
          </a:p>
          <a:p>
            <a:pPr marL="285750" indent="-285750">
              <a:buFont typeface="Arial" panose="020B0604020202020204" pitchFamily="34" charset="0"/>
              <a:buChar char="•"/>
            </a:pPr>
            <a:r>
              <a:rPr lang="en-US" altLang="zh-CN" b="1" dirty="0"/>
              <a:t>Visibility</a:t>
            </a:r>
            <a:r>
              <a:rPr lang="zh-CN" altLang="en-US" dirty="0"/>
              <a:t>：可见性，包括</a:t>
            </a:r>
            <a:r>
              <a:rPr lang="en-US" altLang="zh-CN" dirty="0"/>
              <a:t>Private</a:t>
            </a:r>
            <a:r>
              <a:rPr lang="zh-CN" altLang="en-US" dirty="0"/>
              <a:t>，</a:t>
            </a:r>
            <a:r>
              <a:rPr lang="en-US" altLang="zh-CN" dirty="0"/>
              <a:t>Public</a:t>
            </a:r>
            <a:r>
              <a:rPr lang="zh-CN" altLang="en-US" dirty="0"/>
              <a:t>，</a:t>
            </a:r>
            <a:r>
              <a:rPr lang="en-US" altLang="zh-CN" dirty="0"/>
              <a:t>Protected</a:t>
            </a:r>
            <a:r>
              <a:rPr lang="zh-CN" altLang="en-US" dirty="0"/>
              <a:t>。</a:t>
            </a:r>
            <a:endParaRPr lang="en-US" altLang="zh-CN" dirty="0"/>
          </a:p>
          <a:p>
            <a:pPr marL="285750" indent="-285750">
              <a:buFont typeface="Arial" panose="020B0604020202020204" pitchFamily="34" charset="0"/>
              <a:buChar char="•"/>
            </a:pPr>
            <a:r>
              <a:rPr lang="en-US" altLang="zh-CN" b="1" dirty="0"/>
              <a:t>Array</a:t>
            </a:r>
            <a:r>
              <a:rPr lang="zh-CN" altLang="en-US" dirty="0"/>
              <a:t>：返回值是数组</a:t>
            </a:r>
            <a:endParaRPr lang="en-US" altLang="zh-CN" dirty="0"/>
          </a:p>
          <a:p>
            <a:pPr marL="285750" indent="-285750">
              <a:buFont typeface="Arial" panose="020B0604020202020204" pitchFamily="34" charset="0"/>
              <a:buChar char="•"/>
            </a:pPr>
            <a:r>
              <a:rPr lang="en-US" altLang="zh-CN" b="1" dirty="0"/>
              <a:t>Static</a:t>
            </a:r>
            <a:r>
              <a:rPr lang="zh-CN" altLang="en-US" dirty="0"/>
              <a:t>：静态方法，由类的所有实例共享</a:t>
            </a:r>
            <a:endParaRPr lang="en-US" altLang="zh-CN" dirty="0"/>
          </a:p>
          <a:p>
            <a:pPr marL="285750" indent="-285750">
              <a:buFont typeface="Arial" panose="020B0604020202020204" pitchFamily="34" charset="0"/>
              <a:buChar char="•"/>
            </a:pPr>
            <a:r>
              <a:rPr lang="en-US" altLang="zh-CN" b="1" dirty="0"/>
              <a:t>Abstract</a:t>
            </a:r>
            <a:r>
              <a:rPr lang="zh-CN" altLang="en-US" dirty="0"/>
              <a:t>：抽象方法</a:t>
            </a:r>
            <a:endParaRPr lang="en-US" altLang="zh-CN" dirty="0"/>
          </a:p>
          <a:p>
            <a:pPr marL="285750" indent="-285750">
              <a:buFont typeface="Arial" panose="020B0604020202020204" pitchFamily="34" charset="0"/>
              <a:buChar char="•"/>
            </a:pPr>
            <a:r>
              <a:rPr lang="en-US" altLang="zh-CN" b="1" dirty="0"/>
              <a:t>Final</a:t>
            </a:r>
            <a:r>
              <a:rPr lang="zh-CN" altLang="en-US" dirty="0"/>
              <a:t>：方法不能被重写</a:t>
            </a:r>
            <a:endParaRPr lang="en-US" altLang="zh-CN" dirty="0"/>
          </a:p>
          <a:p>
            <a:pPr marL="285750" indent="-285750">
              <a:buFont typeface="Arial" panose="020B0604020202020204" pitchFamily="34" charset="0"/>
              <a:buChar char="•"/>
            </a:pPr>
            <a:r>
              <a:rPr lang="en-US" altLang="zh-CN" b="1" dirty="0"/>
              <a:t>Generic</a:t>
            </a:r>
            <a:r>
              <a:rPr lang="zh-CN" altLang="en-US" dirty="0"/>
              <a:t>：表示泛型方法</a:t>
            </a:r>
            <a:endParaRPr lang="en-US" altLang="zh-CN" dirty="0"/>
          </a:p>
          <a:p>
            <a:pPr marL="285750" indent="-285750">
              <a:buFont typeface="Arial" panose="020B0604020202020204" pitchFamily="34" charset="0"/>
              <a:buChar char="•"/>
            </a:pPr>
            <a:r>
              <a:rPr lang="en-US" altLang="zh-CN" b="1" dirty="0"/>
              <a:t>Read-only</a:t>
            </a:r>
            <a:r>
              <a:rPr lang="zh-CN" altLang="en-US" dirty="0"/>
              <a:t>：表示方法执行时，不会更改类的实例</a:t>
            </a:r>
            <a:endParaRPr lang="en-US" altLang="zh-CN" dirty="0"/>
          </a:p>
        </p:txBody>
      </p:sp>
      <p:pic>
        <p:nvPicPr>
          <p:cNvPr id="8" name="图片 7"/>
          <p:cNvPicPr>
            <a:picLocks noChangeAspect="1"/>
          </p:cNvPicPr>
          <p:nvPr/>
        </p:nvPicPr>
        <p:blipFill rotWithShape="1">
          <a:blip r:embed="rId1"/>
          <a:srcRect l="10599" t="6111" r="6694" b="2222"/>
          <a:stretch>
            <a:fillRect/>
          </a:stretch>
        </p:blipFill>
        <p:spPr>
          <a:xfrm>
            <a:off x="254000" y="618992"/>
            <a:ext cx="6788149" cy="5874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1569660" cy="369332"/>
          </a:xfrm>
          <a:prstGeom prst="rect">
            <a:avLst/>
          </a:prstGeom>
          <a:noFill/>
        </p:spPr>
        <p:txBody>
          <a:bodyPr wrap="none" rtlCol="0">
            <a:spAutoFit/>
          </a:bodyPr>
          <a:lstStyle/>
          <a:p>
            <a:r>
              <a:rPr lang="zh-CN" altLang="en-US" dirty="0"/>
              <a:t>设置方法参数</a:t>
            </a:r>
            <a:endParaRPr lang="zh-CN" altLang="en-US" dirty="0"/>
          </a:p>
        </p:txBody>
      </p:sp>
      <p:sp>
        <p:nvSpPr>
          <p:cNvPr id="15" name="文本框 14"/>
          <p:cNvSpPr txBox="1"/>
          <p:nvPr/>
        </p:nvSpPr>
        <p:spPr>
          <a:xfrm>
            <a:off x="6832734" y="911108"/>
            <a:ext cx="4508500"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Parameters</a:t>
            </a:r>
            <a:r>
              <a:rPr lang="zh-CN" altLang="en-US" dirty="0"/>
              <a:t>：方法的参数</a:t>
            </a:r>
            <a:endParaRPr lang="en-US" altLang="zh-CN" dirty="0"/>
          </a:p>
          <a:p>
            <a:pPr marL="285750" indent="-285750">
              <a:buFont typeface="Arial" panose="020B0604020202020204" pitchFamily="34" charset="0"/>
              <a:buChar char="•"/>
            </a:pPr>
            <a:r>
              <a:rPr lang="en-US" altLang="zh-CN" b="1" dirty="0"/>
              <a:t>Parent</a:t>
            </a:r>
            <a:r>
              <a:rPr lang="zh-CN" altLang="en-US" dirty="0"/>
              <a:t>：表示方法所属的类或接口</a:t>
            </a:r>
            <a:endParaRPr lang="en-US" altLang="zh-CN" dirty="0"/>
          </a:p>
          <a:p>
            <a:pPr marL="285750" indent="-285750">
              <a:buFont typeface="Arial" panose="020B0604020202020204" pitchFamily="34" charset="0"/>
              <a:buChar char="•"/>
            </a:pPr>
            <a:r>
              <a:rPr lang="en-US" altLang="zh-CN" b="1" dirty="0"/>
              <a:t>Data type</a:t>
            </a:r>
            <a:r>
              <a:rPr lang="zh-CN" altLang="en-US" dirty="0"/>
              <a:t>：参数的数据类型</a:t>
            </a:r>
            <a:endParaRPr lang="en-US" altLang="zh-CN" dirty="0"/>
          </a:p>
          <a:p>
            <a:pPr marL="285750" indent="-285750">
              <a:buFont typeface="Arial" panose="020B0604020202020204" pitchFamily="34" charset="0"/>
              <a:buChar char="•"/>
            </a:pPr>
            <a:r>
              <a:rPr lang="en-US" altLang="zh-CN" b="1" dirty="0"/>
              <a:t>Array</a:t>
            </a:r>
            <a:r>
              <a:rPr lang="zh-CN" altLang="en-US" dirty="0"/>
              <a:t>：表示参数是数组类型</a:t>
            </a:r>
            <a:endParaRPr lang="en-US" altLang="zh-CN" dirty="0"/>
          </a:p>
          <a:p>
            <a:pPr marL="285750" indent="-285750">
              <a:buFont typeface="Arial" panose="020B0604020202020204" pitchFamily="34" charset="0"/>
              <a:buChar char="•"/>
            </a:pPr>
            <a:r>
              <a:rPr lang="en-US" altLang="zh-CN" b="1" dirty="0"/>
              <a:t>Variable argument</a:t>
            </a:r>
            <a:r>
              <a:rPr lang="zh-CN" altLang="en-US" dirty="0"/>
              <a:t>：可变数量的参数，仅当参数为方法的最后一个参数时使用</a:t>
            </a:r>
            <a:endParaRPr lang="en-US" altLang="zh-CN" dirty="0"/>
          </a:p>
          <a:p>
            <a:pPr marL="285750" indent="-285750">
              <a:buFont typeface="Arial" panose="020B0604020202020204" pitchFamily="34" charset="0"/>
              <a:buChar char="•"/>
            </a:pPr>
            <a:r>
              <a:rPr lang="en-US" altLang="zh-CN" b="1" dirty="0"/>
              <a:t>Default value</a:t>
            </a:r>
            <a:r>
              <a:rPr lang="zh-CN" altLang="en-US" dirty="0"/>
              <a:t>：参数默认值</a:t>
            </a:r>
            <a:endParaRPr lang="en-US" altLang="zh-CN" dirty="0"/>
          </a:p>
        </p:txBody>
      </p:sp>
      <p:pic>
        <p:nvPicPr>
          <p:cNvPr id="3" name="图片 2"/>
          <p:cNvPicPr>
            <a:picLocks noChangeAspect="1"/>
          </p:cNvPicPr>
          <p:nvPr/>
        </p:nvPicPr>
        <p:blipFill>
          <a:blip r:embed="rId1"/>
          <a:stretch>
            <a:fillRect/>
          </a:stretch>
        </p:blipFill>
        <p:spPr>
          <a:xfrm>
            <a:off x="539616" y="911108"/>
            <a:ext cx="5527778" cy="4791191"/>
          </a:xfrm>
          <a:prstGeom prst="rect">
            <a:avLst/>
          </a:prstGeom>
        </p:spPr>
      </p:pic>
      <p:pic>
        <p:nvPicPr>
          <p:cNvPr id="6" name="图片 5"/>
          <p:cNvPicPr>
            <a:picLocks noChangeAspect="1"/>
          </p:cNvPicPr>
          <p:nvPr/>
        </p:nvPicPr>
        <p:blipFill>
          <a:blip r:embed="rId2"/>
          <a:stretch>
            <a:fillRect/>
          </a:stretch>
        </p:blipFill>
        <p:spPr>
          <a:xfrm>
            <a:off x="1077695" y="1926770"/>
            <a:ext cx="5181866" cy="3880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8836" y="120315"/>
            <a:ext cx="800219" cy="461665"/>
          </a:xfrm>
          <a:prstGeom prst="rect">
            <a:avLst/>
          </a:prstGeom>
          <a:noFill/>
        </p:spPr>
        <p:txBody>
          <a:bodyPr wrap="none" rtlCol="0">
            <a:spAutoFit/>
          </a:bodyPr>
          <a:lstStyle/>
          <a:p>
            <a:r>
              <a:rPr lang="zh-CN" altLang="en-US" sz="2400" dirty="0"/>
              <a:t>接口</a:t>
            </a:r>
            <a:endParaRPr lang="zh-CN" altLang="en-US" sz="2400" dirty="0"/>
          </a:p>
        </p:txBody>
      </p:sp>
      <p:pic>
        <p:nvPicPr>
          <p:cNvPr id="3" name="图片 2"/>
          <p:cNvPicPr>
            <a:picLocks noChangeAspect="1"/>
          </p:cNvPicPr>
          <p:nvPr/>
        </p:nvPicPr>
        <p:blipFill>
          <a:blip r:embed="rId1"/>
          <a:stretch>
            <a:fillRect/>
          </a:stretch>
        </p:blipFill>
        <p:spPr>
          <a:xfrm>
            <a:off x="1702842" y="1923243"/>
            <a:ext cx="7924166" cy="2338413"/>
          </a:xfrm>
          <a:prstGeom prst="rect">
            <a:avLst/>
          </a:prstGeom>
        </p:spPr>
      </p:pic>
      <p:sp>
        <p:nvSpPr>
          <p:cNvPr id="5" name="文本框 4"/>
          <p:cNvSpPr txBox="1"/>
          <p:nvPr/>
        </p:nvSpPr>
        <p:spPr>
          <a:xfrm>
            <a:off x="1119055" y="866275"/>
            <a:ext cx="10932801" cy="461665"/>
          </a:xfrm>
          <a:prstGeom prst="rect">
            <a:avLst/>
          </a:prstGeom>
          <a:noFill/>
        </p:spPr>
        <p:txBody>
          <a:bodyPr wrap="none" rtlCol="0">
            <a:spAutoFit/>
          </a:bodyPr>
          <a:lstStyle/>
          <a:p>
            <a:r>
              <a:rPr lang="zh-CN" altLang="en-US" sz="2400" dirty="0"/>
              <a:t>接口是一种特殊的类，具有类的结构，但是不能被实例化。操作和定义类相似。</a:t>
            </a:r>
            <a:endParaRPr lang="zh-CN"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2031325" cy="369332"/>
          </a:xfrm>
          <a:prstGeom prst="rect">
            <a:avLst/>
          </a:prstGeom>
          <a:noFill/>
        </p:spPr>
        <p:txBody>
          <a:bodyPr wrap="none" rtlCol="0">
            <a:spAutoFit/>
          </a:bodyPr>
          <a:lstStyle/>
          <a:p>
            <a:r>
              <a:rPr lang="zh-CN" altLang="en-US" dirty="0"/>
              <a:t>类与类之间的关系</a:t>
            </a:r>
            <a:endParaRPr lang="zh-CN" altLang="en-US" dirty="0"/>
          </a:p>
        </p:txBody>
      </p:sp>
      <p:sp>
        <p:nvSpPr>
          <p:cNvPr id="2" name="文本框 1"/>
          <p:cNvSpPr txBox="1"/>
          <p:nvPr/>
        </p:nvSpPr>
        <p:spPr>
          <a:xfrm>
            <a:off x="768350" y="882633"/>
            <a:ext cx="10655300" cy="923330"/>
          </a:xfrm>
          <a:prstGeom prst="rect">
            <a:avLst/>
          </a:prstGeom>
          <a:noFill/>
        </p:spPr>
        <p:txBody>
          <a:bodyPr wrap="square" rtlCol="0">
            <a:spAutoFit/>
          </a:bodyPr>
          <a:lstStyle/>
          <a:p>
            <a:r>
              <a:rPr lang="zh-CN" altLang="en-US" b="1" dirty="0"/>
              <a:t>泛化关系</a:t>
            </a:r>
            <a:r>
              <a:rPr lang="zh-CN" altLang="en-US" dirty="0"/>
              <a:t>（</a:t>
            </a:r>
            <a:r>
              <a:rPr lang="en-US" altLang="zh-CN" dirty="0"/>
              <a:t>Generalization):</a:t>
            </a:r>
            <a:r>
              <a:rPr lang="zh-CN" altLang="en-US" dirty="0"/>
              <a:t>在面向对象中一般称为继承关系，存在于父类与子类、父接口与子接口</a:t>
            </a:r>
            <a:endParaRPr lang="zh-CN" altLang="en-US" dirty="0"/>
          </a:p>
          <a:p>
            <a:r>
              <a:rPr lang="zh-CN" altLang="en-US" dirty="0"/>
              <a:t>之间。箭头指向父类。</a:t>
            </a:r>
            <a:endParaRPr lang="en-US" altLang="zh-CN" dirty="0"/>
          </a:p>
          <a:p>
            <a:endParaRPr lang="en-US" altLang="zh-CN" dirty="0"/>
          </a:p>
        </p:txBody>
      </p:sp>
      <p:pic>
        <p:nvPicPr>
          <p:cNvPr id="7" name="图片 6"/>
          <p:cNvPicPr>
            <a:picLocks noChangeAspect="1"/>
          </p:cNvPicPr>
          <p:nvPr/>
        </p:nvPicPr>
        <p:blipFill>
          <a:blip r:embed="rId1"/>
          <a:stretch>
            <a:fillRect/>
          </a:stretch>
        </p:blipFill>
        <p:spPr>
          <a:xfrm>
            <a:off x="768350" y="1831828"/>
            <a:ext cx="10305562" cy="1597172"/>
          </a:xfrm>
          <a:prstGeom prst="rect">
            <a:avLst/>
          </a:prstGeom>
        </p:spPr>
      </p:pic>
      <p:sp>
        <p:nvSpPr>
          <p:cNvPr id="10" name="文本框 9"/>
          <p:cNvSpPr txBox="1"/>
          <p:nvPr/>
        </p:nvSpPr>
        <p:spPr>
          <a:xfrm>
            <a:off x="768350" y="3873483"/>
            <a:ext cx="10655300" cy="646331"/>
          </a:xfrm>
          <a:prstGeom prst="rect">
            <a:avLst/>
          </a:prstGeom>
          <a:noFill/>
        </p:spPr>
        <p:txBody>
          <a:bodyPr wrap="square" rtlCol="0">
            <a:spAutoFit/>
          </a:bodyPr>
          <a:lstStyle/>
          <a:p>
            <a:r>
              <a:rPr lang="zh-CN" altLang="en-US" b="1" dirty="0"/>
              <a:t>实现关系</a:t>
            </a:r>
            <a:r>
              <a:rPr lang="zh-CN" altLang="en-US" dirty="0"/>
              <a:t>（</a:t>
            </a:r>
            <a:r>
              <a:rPr lang="en-US" altLang="zh-CN" dirty="0"/>
              <a:t>Realization):</a:t>
            </a:r>
            <a:r>
              <a:rPr lang="zh-CN" altLang="en-US" dirty="0"/>
              <a:t>对应于类和接口之间的关系，类实现接口的操作。实现用空心箭头加虚线表示，箭头指向接口。</a:t>
            </a:r>
            <a:endParaRPr lang="en-US" altLang="zh-CN" dirty="0"/>
          </a:p>
        </p:txBody>
      </p:sp>
      <p:pic>
        <p:nvPicPr>
          <p:cNvPr id="11" name="图片 10"/>
          <p:cNvPicPr>
            <a:picLocks noChangeAspect="1"/>
          </p:cNvPicPr>
          <p:nvPr/>
        </p:nvPicPr>
        <p:blipFill rotWithShape="1">
          <a:blip r:embed="rId2"/>
          <a:srcRect l="5203" t="9392" r="1894" b="6245"/>
          <a:stretch>
            <a:fillRect/>
          </a:stretch>
        </p:blipFill>
        <p:spPr>
          <a:xfrm>
            <a:off x="3302000" y="4687298"/>
            <a:ext cx="4991100" cy="1816100"/>
          </a:xfrm>
          <a:prstGeom prst="rect">
            <a:avLst/>
          </a:prstGeom>
        </p:spPr>
      </p:pic>
      <p:pic>
        <p:nvPicPr>
          <p:cNvPr id="13" name="图片 12"/>
          <p:cNvPicPr>
            <a:picLocks noChangeAspect="1"/>
          </p:cNvPicPr>
          <p:nvPr/>
        </p:nvPicPr>
        <p:blipFill>
          <a:blip r:embed="rId3"/>
          <a:stretch>
            <a:fillRect/>
          </a:stretch>
        </p:blipFill>
        <p:spPr>
          <a:xfrm>
            <a:off x="10740985" y="843750"/>
            <a:ext cx="884674" cy="543595"/>
          </a:xfrm>
          <a:prstGeom prst="rect">
            <a:avLst/>
          </a:prstGeom>
        </p:spPr>
      </p:pic>
      <p:pic>
        <p:nvPicPr>
          <p:cNvPr id="16" name="图片 15"/>
          <p:cNvPicPr>
            <a:picLocks noChangeAspect="1"/>
          </p:cNvPicPr>
          <p:nvPr/>
        </p:nvPicPr>
        <p:blipFill>
          <a:blip r:embed="rId4"/>
          <a:stretch>
            <a:fillRect/>
          </a:stretch>
        </p:blipFill>
        <p:spPr>
          <a:xfrm>
            <a:off x="10838998" y="4196648"/>
            <a:ext cx="786661" cy="4603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2031325" cy="369332"/>
          </a:xfrm>
          <a:prstGeom prst="rect">
            <a:avLst/>
          </a:prstGeom>
          <a:noFill/>
        </p:spPr>
        <p:txBody>
          <a:bodyPr wrap="none" rtlCol="0">
            <a:spAutoFit/>
          </a:bodyPr>
          <a:lstStyle/>
          <a:p>
            <a:r>
              <a:rPr lang="zh-CN" altLang="en-US" dirty="0"/>
              <a:t>类与类之间的关系</a:t>
            </a:r>
            <a:endParaRPr lang="zh-CN" altLang="en-US" dirty="0"/>
          </a:p>
        </p:txBody>
      </p:sp>
      <p:sp>
        <p:nvSpPr>
          <p:cNvPr id="2" name="文本框 1"/>
          <p:cNvSpPr txBox="1"/>
          <p:nvPr/>
        </p:nvSpPr>
        <p:spPr>
          <a:xfrm>
            <a:off x="533400" y="685621"/>
            <a:ext cx="10655300" cy="1200329"/>
          </a:xfrm>
          <a:prstGeom prst="rect">
            <a:avLst/>
          </a:prstGeom>
          <a:noFill/>
        </p:spPr>
        <p:txBody>
          <a:bodyPr wrap="square" rtlCol="0">
            <a:spAutoFit/>
          </a:bodyPr>
          <a:lstStyle/>
          <a:p>
            <a:r>
              <a:rPr lang="zh-CN" altLang="en-US" b="1" dirty="0"/>
              <a:t>关联关系</a:t>
            </a:r>
            <a:r>
              <a:rPr lang="zh-CN" altLang="en-US" dirty="0"/>
              <a:t>（</a:t>
            </a:r>
            <a:r>
              <a:rPr lang="en-US" altLang="zh-CN" dirty="0"/>
              <a:t>Association):</a:t>
            </a:r>
            <a:r>
              <a:rPr lang="zh-CN" altLang="en-US" dirty="0"/>
              <a:t>描述了类的结构之间的关系。具有方向、名字、角色和多重性等信息。一般的关</a:t>
            </a:r>
            <a:endParaRPr lang="zh-CN" altLang="en-US" dirty="0"/>
          </a:p>
          <a:p>
            <a:r>
              <a:rPr lang="zh-CN" altLang="en-US" dirty="0"/>
              <a:t>联关系语义较弱。也有两种语义较强，分别是聚合与组合</a:t>
            </a:r>
            <a:endParaRPr lang="en-US" altLang="zh-CN" dirty="0"/>
          </a:p>
          <a:p>
            <a:pPr marL="285750" indent="-285750">
              <a:buFont typeface="Arial" panose="020B0604020202020204" pitchFamily="34" charset="0"/>
              <a:buChar char="•"/>
            </a:pPr>
            <a:r>
              <a:rPr lang="zh-CN" altLang="en-US" b="1" dirty="0"/>
              <a:t>聚合关系</a:t>
            </a:r>
            <a:r>
              <a:rPr lang="zh-CN" altLang="en-US" dirty="0"/>
              <a:t>（</a:t>
            </a:r>
            <a:r>
              <a:rPr lang="en-US" altLang="zh-CN" dirty="0"/>
              <a:t>Aggregation):</a:t>
            </a:r>
            <a:r>
              <a:rPr lang="zh-CN" altLang="en-US" dirty="0"/>
              <a:t>特殊关联关系，指明一个聚集（整体）和组成部分之间的关系。</a:t>
            </a:r>
            <a:endParaRPr lang="en-US" altLang="zh-CN" dirty="0"/>
          </a:p>
          <a:p>
            <a:pPr marL="285750" indent="-285750">
              <a:buFont typeface="Arial" panose="020B0604020202020204" pitchFamily="34" charset="0"/>
              <a:buChar char="•"/>
            </a:pPr>
            <a:r>
              <a:rPr lang="zh-CN" altLang="en-US" b="1" dirty="0"/>
              <a:t>组合关系</a:t>
            </a:r>
            <a:r>
              <a:rPr lang="zh-CN" altLang="en-US" dirty="0"/>
              <a:t>（</a:t>
            </a:r>
            <a:r>
              <a:rPr lang="en-US" altLang="zh-CN" dirty="0"/>
              <a:t>Composition):</a:t>
            </a:r>
            <a:r>
              <a:rPr lang="zh-CN" altLang="en-US" dirty="0"/>
              <a:t>语义更强的聚合，部分和整体具有相同的生命周期</a:t>
            </a:r>
            <a:endParaRPr lang="zh-CN" altLang="en-US" dirty="0"/>
          </a:p>
        </p:txBody>
      </p:sp>
      <p:pic>
        <p:nvPicPr>
          <p:cNvPr id="8" name="图片 7"/>
          <p:cNvPicPr>
            <a:picLocks noChangeAspect="1"/>
          </p:cNvPicPr>
          <p:nvPr/>
        </p:nvPicPr>
        <p:blipFill rotWithShape="1">
          <a:blip r:embed="rId1"/>
          <a:srcRect l="2961" t="1175" r="2437" b="15673"/>
          <a:stretch>
            <a:fillRect/>
          </a:stretch>
        </p:blipFill>
        <p:spPr>
          <a:xfrm>
            <a:off x="2879564" y="2125979"/>
            <a:ext cx="6064250" cy="1872572"/>
          </a:xfrm>
          <a:prstGeom prst="rect">
            <a:avLst/>
          </a:prstGeom>
        </p:spPr>
      </p:pic>
      <p:pic>
        <p:nvPicPr>
          <p:cNvPr id="14" name="图片 13"/>
          <p:cNvPicPr>
            <a:picLocks noChangeAspect="1"/>
          </p:cNvPicPr>
          <p:nvPr/>
        </p:nvPicPr>
        <p:blipFill>
          <a:blip r:embed="rId2"/>
          <a:stretch>
            <a:fillRect/>
          </a:stretch>
        </p:blipFill>
        <p:spPr>
          <a:xfrm>
            <a:off x="145748" y="4456544"/>
            <a:ext cx="5893103" cy="1606633"/>
          </a:xfrm>
          <a:prstGeom prst="rect">
            <a:avLst/>
          </a:prstGeom>
        </p:spPr>
      </p:pic>
      <p:pic>
        <p:nvPicPr>
          <p:cNvPr id="16" name="图片 15"/>
          <p:cNvPicPr>
            <a:picLocks noChangeAspect="1"/>
          </p:cNvPicPr>
          <p:nvPr/>
        </p:nvPicPr>
        <p:blipFill>
          <a:blip r:embed="rId3"/>
          <a:stretch>
            <a:fillRect/>
          </a:stretch>
        </p:blipFill>
        <p:spPr>
          <a:xfrm>
            <a:off x="5981690" y="4238581"/>
            <a:ext cx="6064562" cy="1720938"/>
          </a:xfrm>
          <a:prstGeom prst="rect">
            <a:avLst/>
          </a:prstGeom>
        </p:spPr>
      </p:pic>
      <p:pic>
        <p:nvPicPr>
          <p:cNvPr id="18" name="图片 17"/>
          <p:cNvPicPr>
            <a:picLocks noChangeAspect="1"/>
          </p:cNvPicPr>
          <p:nvPr/>
        </p:nvPicPr>
        <p:blipFill>
          <a:blip r:embed="rId4"/>
          <a:stretch>
            <a:fillRect/>
          </a:stretch>
        </p:blipFill>
        <p:spPr>
          <a:xfrm>
            <a:off x="11090229" y="367493"/>
            <a:ext cx="847771" cy="1061976"/>
          </a:xfrm>
          <a:prstGeom prst="rect">
            <a:avLst/>
          </a:prstGeom>
        </p:spPr>
      </p:pic>
      <p:pic>
        <p:nvPicPr>
          <p:cNvPr id="20" name="图片 19"/>
          <p:cNvPicPr>
            <a:picLocks noChangeAspect="1"/>
          </p:cNvPicPr>
          <p:nvPr/>
        </p:nvPicPr>
        <p:blipFill>
          <a:blip r:embed="rId5"/>
          <a:stretch>
            <a:fillRect/>
          </a:stretch>
        </p:blipFill>
        <p:spPr>
          <a:xfrm>
            <a:off x="8639135" y="1623470"/>
            <a:ext cx="911265" cy="502509"/>
          </a:xfrm>
          <a:prstGeom prst="rect">
            <a:avLst/>
          </a:prstGeom>
        </p:spPr>
      </p:pic>
      <p:pic>
        <p:nvPicPr>
          <p:cNvPr id="22" name="图片 21"/>
          <p:cNvPicPr>
            <a:picLocks noChangeAspect="1"/>
          </p:cNvPicPr>
          <p:nvPr/>
        </p:nvPicPr>
        <p:blipFill>
          <a:blip r:embed="rId6"/>
          <a:stretch>
            <a:fillRect/>
          </a:stretch>
        </p:blipFill>
        <p:spPr>
          <a:xfrm>
            <a:off x="9705940" y="1178214"/>
            <a:ext cx="743295" cy="5025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2031325" cy="369332"/>
          </a:xfrm>
          <a:prstGeom prst="rect">
            <a:avLst/>
          </a:prstGeom>
          <a:noFill/>
        </p:spPr>
        <p:txBody>
          <a:bodyPr wrap="none" rtlCol="0">
            <a:spAutoFit/>
          </a:bodyPr>
          <a:lstStyle/>
          <a:p>
            <a:r>
              <a:rPr lang="zh-CN" altLang="en-US" dirty="0"/>
              <a:t>类与类之间的关系</a:t>
            </a:r>
            <a:endParaRPr lang="zh-CN" altLang="en-US" dirty="0"/>
          </a:p>
        </p:txBody>
      </p:sp>
      <p:sp>
        <p:nvSpPr>
          <p:cNvPr id="2" name="文本框 1"/>
          <p:cNvSpPr txBox="1"/>
          <p:nvPr/>
        </p:nvSpPr>
        <p:spPr>
          <a:xfrm>
            <a:off x="768350" y="965166"/>
            <a:ext cx="10655300" cy="923330"/>
          </a:xfrm>
          <a:prstGeom prst="rect">
            <a:avLst/>
          </a:prstGeom>
          <a:noFill/>
        </p:spPr>
        <p:txBody>
          <a:bodyPr wrap="square" rtlCol="0">
            <a:spAutoFit/>
          </a:bodyPr>
          <a:lstStyle/>
          <a:p>
            <a:r>
              <a:rPr lang="zh-CN" altLang="en-US" b="1" dirty="0"/>
              <a:t>依赖关系</a:t>
            </a:r>
            <a:r>
              <a:rPr lang="zh-CN" altLang="en-US" dirty="0"/>
              <a:t>（</a:t>
            </a:r>
            <a:r>
              <a:rPr lang="en-US" altLang="zh-CN" dirty="0"/>
              <a:t>Generalization):</a:t>
            </a:r>
            <a:r>
              <a:rPr lang="zh-CN" altLang="en-US" dirty="0"/>
              <a:t>描述了一个类的变化对依赖于它的类产生影响的情况。表示类之间临时的关系，一个类需要短暂使用另一个类的某个功能，通常通过成员方法调用、局部变量、或者静态方法调用实现。箭头指向为依赖的方向，例如：树木依赖于阳光、空气、土壤。</a:t>
            </a:r>
            <a:endParaRPr lang="en-US" altLang="zh-CN" dirty="0"/>
          </a:p>
        </p:txBody>
      </p:sp>
      <p:pic>
        <p:nvPicPr>
          <p:cNvPr id="5" name="图片 4"/>
          <p:cNvPicPr>
            <a:picLocks noChangeAspect="1"/>
          </p:cNvPicPr>
          <p:nvPr/>
        </p:nvPicPr>
        <p:blipFill>
          <a:blip r:embed="rId1"/>
          <a:stretch>
            <a:fillRect/>
          </a:stretch>
        </p:blipFill>
        <p:spPr>
          <a:xfrm>
            <a:off x="3105016" y="2416112"/>
            <a:ext cx="5194567" cy="2444876"/>
          </a:xfrm>
          <a:prstGeom prst="rect">
            <a:avLst/>
          </a:prstGeom>
        </p:spPr>
      </p:pic>
      <p:pic>
        <p:nvPicPr>
          <p:cNvPr id="8" name="图片 7"/>
          <p:cNvPicPr>
            <a:picLocks noChangeAspect="1"/>
          </p:cNvPicPr>
          <p:nvPr/>
        </p:nvPicPr>
        <p:blipFill>
          <a:blip r:embed="rId2"/>
          <a:stretch>
            <a:fillRect/>
          </a:stretch>
        </p:blipFill>
        <p:spPr>
          <a:xfrm>
            <a:off x="10537785" y="1531474"/>
            <a:ext cx="1127165" cy="15247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2031325" cy="369332"/>
          </a:xfrm>
          <a:prstGeom prst="rect">
            <a:avLst/>
          </a:prstGeom>
          <a:noFill/>
        </p:spPr>
        <p:txBody>
          <a:bodyPr wrap="none" rtlCol="0">
            <a:spAutoFit/>
          </a:bodyPr>
          <a:lstStyle/>
          <a:p>
            <a:r>
              <a:rPr lang="zh-CN" altLang="en-US" dirty="0"/>
              <a:t>类与类之间的关系</a:t>
            </a:r>
            <a:endParaRPr lang="zh-CN" altLang="en-US" dirty="0"/>
          </a:p>
        </p:txBody>
      </p:sp>
      <p:sp>
        <p:nvSpPr>
          <p:cNvPr id="2" name="文本框 1"/>
          <p:cNvSpPr txBox="1"/>
          <p:nvPr/>
        </p:nvSpPr>
        <p:spPr>
          <a:xfrm>
            <a:off x="666750" y="1276316"/>
            <a:ext cx="10655300" cy="3139321"/>
          </a:xfrm>
          <a:prstGeom prst="rect">
            <a:avLst/>
          </a:prstGeom>
          <a:noFill/>
        </p:spPr>
        <p:txBody>
          <a:bodyPr wrap="square" rtlCol="0">
            <a:spAutoFit/>
          </a:bodyPr>
          <a:lstStyle/>
          <a:p>
            <a:r>
              <a:rPr lang="zh-CN" altLang="en-US" b="1" dirty="0"/>
              <a:t>关联、依赖、聚合、组合之间的区别：</a:t>
            </a:r>
            <a:endParaRPr lang="en-US" altLang="zh-CN" b="1" dirty="0"/>
          </a:p>
          <a:p>
            <a:endParaRPr lang="en-US" altLang="zh-CN" b="1" dirty="0"/>
          </a:p>
          <a:p>
            <a:pPr marL="742950" lvl="1" indent="-285750">
              <a:buFont typeface="Arial" panose="020B0604020202020204" pitchFamily="34" charset="0"/>
              <a:buChar char="•"/>
            </a:pPr>
            <a:r>
              <a:rPr lang="zh-CN" altLang="en-US" dirty="0"/>
              <a:t>依赖关系是一种</a:t>
            </a:r>
            <a:r>
              <a:rPr lang="zh-CN" altLang="en-US" u="sng" dirty="0"/>
              <a:t>临时</a:t>
            </a:r>
            <a:r>
              <a:rPr lang="zh-CN" altLang="en-US" dirty="0"/>
              <a:t>的关系，这种关系不像关联或继承那么强，它表示类之间更松散的耦合连接。当类以</a:t>
            </a:r>
            <a:r>
              <a:rPr lang="zh-CN" altLang="en-US" u="sng" dirty="0"/>
              <a:t>局部变量</a:t>
            </a:r>
            <a:r>
              <a:rPr lang="zh-CN" altLang="en-US" dirty="0"/>
              <a:t>的形式存在于另一个类时，二者是依赖关系。例如，类作为方法调用的参数。</a:t>
            </a:r>
            <a:endParaRPr lang="en-US" altLang="zh-CN" dirty="0"/>
          </a:p>
          <a:p>
            <a:pPr lvl="1"/>
            <a:endParaRPr lang="en-US" altLang="zh-CN" dirty="0"/>
          </a:p>
          <a:p>
            <a:pPr marL="742950" lvl="1" indent="-285750">
              <a:buFont typeface="Arial" panose="020B0604020202020204" pitchFamily="34" charset="0"/>
              <a:buChar char="•"/>
            </a:pPr>
            <a:r>
              <a:rPr lang="zh-CN" altLang="en-US" dirty="0"/>
              <a:t>关联关系比依赖更强、不存在依赖关系的偶然性、关系也不是临时性的，一般是长期性的，而且双方的关系一般是平等的。关联可以是双向的，也可以是单向的。通常以成员变量的形式体现。</a:t>
            </a:r>
            <a:endParaRPr lang="en-US" altLang="zh-CN" dirty="0"/>
          </a:p>
          <a:p>
            <a:pPr lvl="1"/>
            <a:endParaRPr lang="en-US" altLang="zh-CN" dirty="0"/>
          </a:p>
          <a:p>
            <a:pPr marL="742950" lvl="1" indent="-285750">
              <a:buFont typeface="Arial" panose="020B0604020202020204" pitchFamily="34" charset="0"/>
              <a:buChar char="•"/>
            </a:pPr>
            <a:r>
              <a:rPr lang="zh-CN" altLang="en-US" dirty="0"/>
              <a:t>聚合和组合是关联关系的一种，都表示整体与部分的关系，但是组合比聚合更强。聚合关系是整体不存在了，但是部分还可以继续存在；但是组合关系是，整体不存在了，部分也不会存在，整体和部分拥有相同的生命周期。</a:t>
            </a:r>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2031325" cy="369332"/>
          </a:xfrm>
          <a:prstGeom prst="rect">
            <a:avLst/>
          </a:prstGeom>
          <a:noFill/>
        </p:spPr>
        <p:txBody>
          <a:bodyPr wrap="none" rtlCol="0">
            <a:spAutoFit/>
          </a:bodyPr>
          <a:lstStyle/>
          <a:p>
            <a:r>
              <a:rPr lang="zh-CN" altLang="en-US" dirty="0"/>
              <a:t>类与类之间的关系</a:t>
            </a:r>
            <a:endParaRPr lang="zh-CN" altLang="en-US" dirty="0"/>
          </a:p>
        </p:txBody>
      </p:sp>
      <p:sp>
        <p:nvSpPr>
          <p:cNvPr id="8" name="AutoShape 4"/>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9" name="图片 8"/>
          <p:cNvPicPr>
            <a:picLocks noChangeAspect="1"/>
          </p:cNvPicPr>
          <p:nvPr/>
        </p:nvPicPr>
        <p:blipFill>
          <a:blip r:embed="rId1"/>
          <a:stretch>
            <a:fillRect/>
          </a:stretch>
        </p:blipFill>
        <p:spPr>
          <a:xfrm>
            <a:off x="2396935" y="72852"/>
            <a:ext cx="7398130" cy="67122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984149" y="621241"/>
            <a:ext cx="6207851" cy="4680849"/>
          </a:xfrm>
          <a:prstGeom prst="rect">
            <a:avLst/>
          </a:prstGeom>
        </p:spPr>
      </p:pic>
      <p:pic>
        <p:nvPicPr>
          <p:cNvPr id="6" name="图片 5"/>
          <p:cNvPicPr>
            <a:picLocks noChangeAspect="1"/>
          </p:cNvPicPr>
          <p:nvPr/>
        </p:nvPicPr>
        <p:blipFill rotWithShape="1">
          <a:blip r:embed="rId2"/>
          <a:srcRect l="23687" t="13516" r="25457" b="24449"/>
          <a:stretch>
            <a:fillRect/>
          </a:stretch>
        </p:blipFill>
        <p:spPr>
          <a:xfrm>
            <a:off x="90214" y="572550"/>
            <a:ext cx="5807359" cy="47295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状态图</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22859" y="387595"/>
            <a:ext cx="11346281" cy="6021118"/>
            <a:chOff x="422859" y="183058"/>
            <a:chExt cx="11346281" cy="6021118"/>
          </a:xfrm>
        </p:grpSpPr>
        <p:sp>
          <p:nvSpPr>
            <p:cNvPr id="2" name="文本框 1"/>
            <p:cNvSpPr txBox="1"/>
            <p:nvPr/>
          </p:nvSpPr>
          <p:spPr>
            <a:xfrm>
              <a:off x="422859" y="183058"/>
              <a:ext cx="11346281" cy="5355312"/>
            </a:xfrm>
            <a:prstGeom prst="rect">
              <a:avLst/>
            </a:prstGeom>
            <a:noFill/>
          </p:spPr>
          <p:txBody>
            <a:bodyPr wrap="square" rtlCol="0">
              <a:spAutoFit/>
            </a:bodyPr>
            <a:lstStyle/>
            <a:p>
              <a:r>
                <a:rPr lang="zh-CN" altLang="en-US" sz="1800" b="0" i="0" dirty="0">
                  <a:solidFill>
                    <a:srgbClr val="000000"/>
                  </a:solidFill>
                  <a:effectLst/>
                  <a:latin typeface="宋体" panose="02010600030101010101" pitchFamily="2" charset="-122"/>
                  <a:ea typeface="宋体" panose="02010600030101010101" pitchFamily="2" charset="-122"/>
                </a:rPr>
                <a:t>    </a:t>
              </a:r>
              <a:r>
                <a:rPr lang="zh-CN" altLang="en-US" sz="1800" b="1" i="0" dirty="0">
                  <a:solidFill>
                    <a:srgbClr val="000000"/>
                  </a:solidFill>
                  <a:effectLst/>
                  <a:latin typeface="宋体" panose="02010600030101010101" pitchFamily="2" charset="-122"/>
                  <a:ea typeface="宋体" panose="02010600030101010101" pitchFamily="2" charset="-122"/>
                </a:rPr>
                <a:t>状态图</a:t>
              </a:r>
              <a:r>
                <a:rPr lang="en-US" altLang="zh-CN" sz="1800" b="0" i="0" dirty="0">
                  <a:solidFill>
                    <a:srgbClr val="000000"/>
                  </a:solidFill>
                  <a:effectLst/>
                  <a:latin typeface="TimesNewRomanPSMT"/>
                </a:rPr>
                <a:t>(</a:t>
              </a:r>
              <a:r>
                <a:rPr lang="en-US" altLang="zh-CN" sz="1800" b="0" i="0" dirty="0" err="1">
                  <a:solidFill>
                    <a:srgbClr val="000000"/>
                  </a:solidFill>
                  <a:effectLst/>
                  <a:latin typeface="TimesNewRomanPSMT"/>
                </a:rPr>
                <a:t>Statechart</a:t>
              </a:r>
              <a:r>
                <a:rPr lang="en-US" altLang="zh-CN" sz="1800" b="0" i="0" dirty="0">
                  <a:solidFill>
                    <a:srgbClr val="000000"/>
                  </a:solidFill>
                  <a:effectLst/>
                  <a:latin typeface="TimesNewRomanPSMT"/>
                </a:rPr>
                <a:t> Diagram)</a:t>
              </a:r>
              <a:r>
                <a:rPr lang="zh-CN" altLang="en-US" sz="1800" b="0" i="0" dirty="0">
                  <a:solidFill>
                    <a:srgbClr val="000000"/>
                  </a:solidFill>
                  <a:effectLst/>
                  <a:latin typeface="宋体" panose="02010600030101010101" pitchFamily="2" charset="-122"/>
                  <a:ea typeface="宋体" panose="02010600030101010101" pitchFamily="2" charset="-122"/>
                </a:rPr>
                <a:t>是一种行为图。描述一个特定对象的所有可能的状态以及引起状态转换的事件。</a:t>
              </a:r>
              <a:r>
                <a:rPr lang="zh-CN" altLang="en-US" dirty="0">
                  <a:solidFill>
                    <a:srgbClr val="000000"/>
                  </a:solidFill>
                  <a:latin typeface="宋体" panose="02010600030101010101" pitchFamily="2" charset="-122"/>
                  <a:ea typeface="宋体" panose="02010600030101010101" pitchFamily="2" charset="-122"/>
                </a:rPr>
                <a:t>状态图主要由状态、转换、事件、活动、动作五个基本元素组成。</a:t>
              </a:r>
              <a:endParaRPr lang="en-US" altLang="zh-CN" dirty="0">
                <a:solidFill>
                  <a:srgbClr val="000000"/>
                </a:solidFill>
                <a:latin typeface="宋体" panose="02010600030101010101" pitchFamily="2" charset="-122"/>
                <a:ea typeface="宋体" panose="02010600030101010101" pitchFamily="2" charset="-122"/>
              </a:endParaRPr>
            </a:p>
            <a:p>
              <a:pPr marL="742950" lvl="1" indent="-285750">
                <a:buFont typeface="Arial" panose="020B0604020202020204" pitchFamily="34" charset="0"/>
                <a:buChar char="•"/>
              </a:pPr>
              <a:r>
                <a:rPr lang="zh-CN" altLang="en-US" b="1" dirty="0">
                  <a:solidFill>
                    <a:srgbClr val="000000"/>
                  </a:solidFill>
                  <a:latin typeface="宋体" panose="02010600030101010101" pitchFamily="2" charset="-122"/>
                  <a:ea typeface="宋体" panose="02010600030101010101" pitchFamily="2" charset="-122"/>
                </a:rPr>
                <a:t>状态</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宋体" panose="02010600030101010101" pitchFamily="2" charset="-122"/>
                  <a:ea typeface="宋体" panose="02010600030101010101" pitchFamily="2" charset="-122"/>
                </a:rPr>
                <a:t>state</a:t>
              </a:r>
              <a:r>
                <a:rPr lang="zh-CN" altLang="en-US" dirty="0">
                  <a:solidFill>
                    <a:srgbClr val="000000"/>
                  </a:solidFill>
                  <a:latin typeface="宋体" panose="02010600030101010101" pitchFamily="2" charset="-122"/>
                  <a:ea typeface="宋体" panose="02010600030101010101" pitchFamily="2" charset="-122"/>
                </a:rPr>
                <a:t>）：对象在其生命周期中的一种状况，处于某个特定状态中的对象必然会满足某些条件、执行某些动作或者是等待某些事件。一个状态的生命周期是一个有限的时间阶段。</a:t>
              </a:r>
              <a:endParaRPr lang="en-US" altLang="zh-CN" dirty="0">
                <a:solidFill>
                  <a:srgbClr val="000000"/>
                </a:solidFill>
                <a:latin typeface="宋体" panose="02010600030101010101" pitchFamily="2" charset="-122"/>
                <a:ea typeface="宋体" panose="02010600030101010101" pitchFamily="2" charset="-122"/>
              </a:endParaRPr>
            </a:p>
            <a:p>
              <a:pPr marL="742950" lvl="1" indent="-285750">
                <a:buFont typeface="Arial" panose="020B0604020202020204" pitchFamily="34" charset="0"/>
                <a:buChar char="•"/>
              </a:pPr>
              <a:r>
                <a:rPr lang="zh-CN" altLang="en-US" b="1" dirty="0">
                  <a:solidFill>
                    <a:srgbClr val="000000"/>
                  </a:solidFill>
                  <a:latin typeface="宋体" panose="02010600030101010101" pitchFamily="2" charset="-122"/>
                  <a:ea typeface="宋体" panose="02010600030101010101" pitchFamily="2" charset="-122"/>
                </a:rPr>
                <a:t>活动</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宋体" panose="02010600030101010101" pitchFamily="2" charset="-122"/>
                  <a:ea typeface="宋体" panose="02010600030101010101" pitchFamily="2" charset="-122"/>
                </a:rPr>
                <a:t>action</a:t>
              </a:r>
              <a:r>
                <a:rPr lang="zh-CN" altLang="en-US" dirty="0">
                  <a:solidFill>
                    <a:srgbClr val="000000"/>
                  </a:solidFill>
                  <a:latin typeface="宋体" panose="02010600030101010101" pitchFamily="2" charset="-122"/>
                  <a:ea typeface="宋体" panose="02010600030101010101" pitchFamily="2" charset="-122"/>
                </a:rPr>
                <a:t>）：对象处于某个状态时，执行的行为，有</a:t>
              </a:r>
              <a:r>
                <a:rPr lang="en-US" altLang="zh-CN" dirty="0">
                  <a:solidFill>
                    <a:srgbClr val="000000"/>
                  </a:solidFill>
                  <a:latin typeface="宋体" panose="02010600030101010101" pitchFamily="2" charset="-122"/>
                  <a:ea typeface="宋体" panose="02010600030101010101" pitchFamily="2" charset="-122"/>
                </a:rPr>
                <a:t>entry</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宋体" panose="02010600030101010101" pitchFamily="2" charset="-122"/>
                  <a:ea typeface="宋体" panose="02010600030101010101" pitchFamily="2" charset="-122"/>
                </a:rPr>
                <a:t>do</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宋体" panose="02010600030101010101" pitchFamily="2" charset="-122"/>
                  <a:ea typeface="宋体" panose="02010600030101010101" pitchFamily="2" charset="-122"/>
                </a:rPr>
                <a:t>exit</a:t>
              </a:r>
              <a:r>
                <a:rPr lang="zh-CN" altLang="en-US" dirty="0">
                  <a:solidFill>
                    <a:srgbClr val="000000"/>
                  </a:solidFill>
                  <a:latin typeface="宋体" panose="02010600030101010101" pitchFamily="2" charset="-122"/>
                  <a:ea typeface="宋体" panose="02010600030101010101" pitchFamily="2" charset="-122"/>
                </a:rPr>
                <a:t>三种形式。</a:t>
              </a:r>
              <a:endParaRPr lang="en-US" altLang="zh-CN" dirty="0">
                <a:solidFill>
                  <a:srgbClr val="000000"/>
                </a:solidFill>
                <a:latin typeface="宋体" panose="02010600030101010101" pitchFamily="2" charset="-122"/>
                <a:ea typeface="宋体" panose="02010600030101010101" pitchFamily="2" charset="-122"/>
              </a:endParaRPr>
            </a:p>
            <a:p>
              <a:pPr marL="742950" lvl="1" indent="-285750">
                <a:buFont typeface="Arial" panose="020B0604020202020204" pitchFamily="34" charset="0"/>
                <a:buChar char="•"/>
              </a:pPr>
              <a:r>
                <a:rPr lang="zh-CN" altLang="en-US" b="1" dirty="0">
                  <a:solidFill>
                    <a:srgbClr val="000000"/>
                  </a:solidFill>
                  <a:latin typeface="宋体" panose="02010600030101010101" pitchFamily="2" charset="-122"/>
                  <a:ea typeface="宋体" panose="02010600030101010101" pitchFamily="2" charset="-122"/>
                </a:rPr>
                <a:t>转换</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宋体" panose="02010600030101010101" pitchFamily="2" charset="-122"/>
                  <a:ea typeface="宋体" panose="02010600030101010101" pitchFamily="2" charset="-122"/>
                </a:rPr>
                <a:t>transition</a:t>
              </a:r>
              <a:r>
                <a:rPr lang="zh-CN" altLang="en-US" dirty="0">
                  <a:solidFill>
                    <a:srgbClr val="000000"/>
                  </a:solidFill>
                  <a:latin typeface="宋体" panose="02010600030101010101" pitchFamily="2" charset="-122"/>
                  <a:ea typeface="宋体" panose="02010600030101010101" pitchFamily="2" charset="-122"/>
                </a:rPr>
                <a:t>）：转移指的是两个不同状态之间的一种关系，表明对象在第一个状态中执行一定的动作，并且在满足某个特定条件下由某个事件触发进入第二个状态。</a:t>
              </a:r>
              <a:endParaRPr lang="en-US" altLang="zh-CN" dirty="0">
                <a:solidFill>
                  <a:srgbClr val="000000"/>
                </a:solidFill>
                <a:latin typeface="宋体" panose="02010600030101010101" pitchFamily="2" charset="-122"/>
                <a:ea typeface="宋体" panose="02010600030101010101" pitchFamily="2" charset="-122"/>
              </a:endParaRPr>
            </a:p>
            <a:p>
              <a:pPr lvl="1"/>
              <a:endParaRPr lang="en-US" altLang="zh-CN" dirty="0">
                <a:solidFill>
                  <a:srgbClr val="000000"/>
                </a:solidFill>
                <a:latin typeface="宋体" panose="02010600030101010101" pitchFamily="2" charset="-122"/>
                <a:ea typeface="宋体" panose="02010600030101010101" pitchFamily="2" charset="-122"/>
              </a:endParaRPr>
            </a:p>
            <a:p>
              <a:pPr lvl="1"/>
              <a:endParaRPr lang="en-US" altLang="zh-CN" dirty="0">
                <a:solidFill>
                  <a:srgbClr val="000000"/>
                </a:solidFill>
                <a:latin typeface="宋体" panose="02010600030101010101" pitchFamily="2" charset="-122"/>
                <a:ea typeface="宋体" panose="02010600030101010101" pitchFamily="2" charset="-122"/>
              </a:endParaRPr>
            </a:p>
            <a:p>
              <a:pPr lvl="1"/>
              <a:endParaRPr lang="en-US" altLang="zh-CN" dirty="0">
                <a:solidFill>
                  <a:srgbClr val="000000"/>
                </a:solidFill>
                <a:latin typeface="宋体" panose="02010600030101010101" pitchFamily="2" charset="-122"/>
                <a:ea typeface="宋体" panose="02010600030101010101" pitchFamily="2" charset="-122"/>
              </a:endParaRPr>
            </a:p>
            <a:p>
              <a:pPr lvl="1"/>
              <a:endParaRPr lang="en-US" altLang="zh-CN" dirty="0">
                <a:solidFill>
                  <a:srgbClr val="000000"/>
                </a:solidFill>
                <a:latin typeface="宋体" panose="02010600030101010101" pitchFamily="2" charset="-122"/>
                <a:ea typeface="宋体" panose="02010600030101010101" pitchFamily="2" charset="-122"/>
              </a:endParaRPr>
            </a:p>
            <a:p>
              <a:pPr lvl="1"/>
              <a:endParaRPr lang="en-US" altLang="zh-CN" dirty="0">
                <a:solidFill>
                  <a:srgbClr val="000000"/>
                </a:solidFill>
                <a:latin typeface="宋体" panose="02010600030101010101" pitchFamily="2" charset="-122"/>
                <a:ea typeface="宋体" panose="02010600030101010101" pitchFamily="2" charset="-122"/>
              </a:endParaRPr>
            </a:p>
            <a:p>
              <a:pPr marL="742950" lvl="1" indent="-285750">
                <a:buFont typeface="Arial" panose="020B0604020202020204" pitchFamily="34" charset="0"/>
                <a:buChar char="•"/>
              </a:pPr>
              <a:endParaRPr lang="en-US" altLang="zh-CN" dirty="0">
                <a:solidFill>
                  <a:srgbClr val="000000"/>
                </a:solidFill>
                <a:latin typeface="宋体" panose="02010600030101010101" pitchFamily="2" charset="-122"/>
                <a:ea typeface="宋体" panose="02010600030101010101" pitchFamily="2" charset="-122"/>
              </a:endParaRPr>
            </a:p>
            <a:p>
              <a:pPr marL="742950" lvl="1" indent="-285750">
                <a:buFont typeface="Arial" panose="020B0604020202020204" pitchFamily="34" charset="0"/>
                <a:buChar char="•"/>
              </a:pPr>
              <a:r>
                <a:rPr lang="zh-CN" altLang="en-US" b="1" dirty="0">
                  <a:solidFill>
                    <a:srgbClr val="000000"/>
                  </a:solidFill>
                  <a:latin typeface="宋体" panose="02010600030101010101" pitchFamily="2" charset="-122"/>
                  <a:ea typeface="宋体" panose="02010600030101010101" pitchFamily="2" charset="-122"/>
                </a:rPr>
                <a:t>事件</a:t>
              </a:r>
              <a:r>
                <a:rPr lang="zh-CN" altLang="en-US" dirty="0">
                  <a:solidFill>
                    <a:srgbClr val="000000"/>
                  </a:solidFill>
                  <a:latin typeface="宋体" panose="02010600030101010101" pitchFamily="2" charset="-122"/>
                  <a:ea typeface="宋体" panose="02010600030101010101" pitchFamily="2" charset="-122"/>
                </a:rPr>
                <a:t>（</a:t>
              </a:r>
              <a:r>
                <a:rPr lang="en-US" altLang="zh-CN" dirty="0">
                  <a:solidFill>
                    <a:srgbClr val="000000"/>
                  </a:solidFill>
                  <a:latin typeface="宋体" panose="02010600030101010101" pitchFamily="2" charset="-122"/>
                  <a:ea typeface="宋体" panose="02010600030101010101" pitchFamily="2" charset="-122"/>
                </a:rPr>
                <a:t>event</a:t>
              </a:r>
              <a:r>
                <a:rPr lang="zh-CN" altLang="en-US" dirty="0">
                  <a:solidFill>
                    <a:srgbClr val="000000"/>
                  </a:solidFill>
                  <a:latin typeface="宋体" panose="02010600030101010101" pitchFamily="2" charset="-122"/>
                  <a:ea typeface="宋体" panose="02010600030101010101" pitchFamily="2" charset="-122"/>
                </a:rPr>
                <a:t>）：事件指的是发生在时间和空间上的对状态机来讲有意义的那些事情。事件通常会引起状态的变迁，促使状态机从一种状态切换到另一种状态，如信号、对象额度创建和销毁等。事件表达式的语法为，</a:t>
              </a:r>
              <a:r>
                <a:rPr lang="zh-CN" altLang="en-US" b="1" dirty="0">
                  <a:solidFill>
                    <a:srgbClr val="000000"/>
                  </a:solidFill>
                  <a:latin typeface="宋体" panose="02010600030101010101" pitchFamily="2" charset="-122"/>
                  <a:ea typeface="宋体" panose="02010600030101010101" pitchFamily="2" charset="-122"/>
                </a:rPr>
                <a:t>事件名</a:t>
              </a:r>
              <a:r>
                <a:rPr lang="en-US" altLang="zh-CN" b="1" dirty="0">
                  <a:solidFill>
                    <a:srgbClr val="000000"/>
                  </a:solidFill>
                  <a:latin typeface="宋体" panose="02010600030101010101" pitchFamily="2" charset="-122"/>
                  <a:ea typeface="宋体" panose="02010600030101010101" pitchFamily="2" charset="-122"/>
                </a:rPr>
                <a:t>(</a:t>
              </a:r>
              <a:r>
                <a:rPr lang="zh-CN" altLang="en-US" b="1" dirty="0">
                  <a:solidFill>
                    <a:srgbClr val="000000"/>
                  </a:solidFill>
                  <a:latin typeface="宋体" panose="02010600030101010101" pitchFamily="2" charset="-122"/>
                  <a:ea typeface="宋体" panose="02010600030101010101" pitchFamily="2" charset="-122"/>
                </a:rPr>
                <a:t>参数表</a:t>
              </a:r>
              <a:r>
                <a:rPr lang="en-US" altLang="zh-CN" b="1" dirty="0">
                  <a:solidFill>
                    <a:srgbClr val="000000"/>
                  </a:solidFill>
                  <a:latin typeface="宋体" panose="02010600030101010101" pitchFamily="2" charset="-122"/>
                  <a:ea typeface="宋体" panose="02010600030101010101" pitchFamily="2" charset="-122"/>
                </a:rPr>
                <a:t>)</a:t>
              </a:r>
              <a:r>
                <a:rPr lang="zh-CN" altLang="en-US" b="1" dirty="0">
                  <a:solidFill>
                    <a:srgbClr val="000000"/>
                  </a:solidFill>
                  <a:latin typeface="宋体" panose="02010600030101010101" pitchFamily="2" charset="-122"/>
                  <a:ea typeface="宋体" panose="02010600030101010101" pitchFamily="2" charset="-122"/>
                </a:rPr>
                <a:t>［守卫条件］</a:t>
              </a:r>
              <a:r>
                <a:rPr lang="en-US" altLang="zh-CN" b="1" dirty="0">
                  <a:solidFill>
                    <a:srgbClr val="000000"/>
                  </a:solidFill>
                  <a:latin typeface="宋体" panose="02010600030101010101" pitchFamily="2" charset="-122"/>
                  <a:ea typeface="宋体" panose="02010600030101010101" pitchFamily="2" charset="-122"/>
                </a:rPr>
                <a:t>/ </a:t>
              </a:r>
              <a:r>
                <a:rPr lang="zh-CN" altLang="en-US" b="1" dirty="0">
                  <a:solidFill>
                    <a:srgbClr val="000000"/>
                  </a:solidFill>
                  <a:latin typeface="宋体" panose="02010600030101010101" pitchFamily="2" charset="-122"/>
                  <a:ea typeface="宋体" panose="02010600030101010101" pitchFamily="2" charset="-122"/>
                </a:rPr>
                <a:t>动作表达式</a:t>
              </a:r>
              <a:endParaRPr lang="en-US" altLang="zh-CN" b="1" dirty="0">
                <a:solidFill>
                  <a:srgbClr val="000000"/>
                </a:solidFill>
                <a:latin typeface="宋体" panose="02010600030101010101" pitchFamily="2" charset="-122"/>
                <a:ea typeface="宋体" panose="02010600030101010101" pitchFamily="2" charset="-122"/>
              </a:endParaRPr>
            </a:p>
            <a:p>
              <a:pPr marL="742950" lvl="1" indent="-285750">
                <a:buFont typeface="Arial" panose="020B0604020202020204" pitchFamily="34" charset="0"/>
                <a:buChar char="•"/>
              </a:pPr>
              <a:r>
                <a:rPr lang="zh-CN" altLang="en-US" b="1" dirty="0">
                  <a:solidFill>
                    <a:srgbClr val="000000"/>
                  </a:solidFill>
                  <a:latin typeface="宋体" panose="02010600030101010101" pitchFamily="2" charset="-122"/>
                  <a:ea typeface="宋体" panose="02010600030101010101" pitchFamily="2" charset="-122"/>
                </a:rPr>
                <a:t>动作</a:t>
              </a:r>
              <a:r>
                <a:rPr lang="zh-CN" altLang="en-US" dirty="0">
                  <a:solidFill>
                    <a:srgbClr val="000000"/>
                  </a:solidFill>
                  <a:latin typeface="宋体" panose="02010600030101010101" pitchFamily="2" charset="-122"/>
                  <a:ea typeface="宋体" panose="02010600030101010101" pitchFamily="2" charset="-122"/>
                </a:rPr>
                <a:t>：转换时应该执行的行为。</a:t>
              </a:r>
              <a:endParaRPr lang="en-US" altLang="zh-CN" dirty="0">
                <a:solidFill>
                  <a:srgbClr val="000000"/>
                </a:solidFill>
                <a:latin typeface="宋体" panose="02010600030101010101" pitchFamily="2" charset="-122"/>
                <a:ea typeface="宋体" panose="02010600030101010101" pitchFamily="2" charset="-122"/>
              </a:endParaRPr>
            </a:p>
            <a:p>
              <a:pPr lvl="1"/>
              <a:endParaRPr lang="en-US" altLang="zh-CN" dirty="0">
                <a:solidFill>
                  <a:srgbClr val="000000"/>
                </a:solidFill>
                <a:latin typeface="宋体" panose="02010600030101010101" pitchFamily="2" charset="-122"/>
                <a:ea typeface="宋体" panose="02010600030101010101" pitchFamily="2" charset="-122"/>
              </a:endParaRPr>
            </a:p>
            <a:p>
              <a:pPr lvl="1"/>
              <a:endParaRPr lang="en-US" altLang="zh-CN" dirty="0">
                <a:solidFill>
                  <a:srgbClr val="000000"/>
                </a:solidFill>
                <a:latin typeface="宋体" panose="02010600030101010101" pitchFamily="2" charset="-122"/>
                <a:ea typeface="宋体" panose="02010600030101010101" pitchFamily="2" charset="-122"/>
              </a:endParaRPr>
            </a:p>
          </p:txBody>
        </p:sp>
        <p:pic>
          <p:nvPicPr>
            <p:cNvPr id="103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5623" y="2303719"/>
              <a:ext cx="2221780" cy="9674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451" y="2303719"/>
              <a:ext cx="5793746" cy="937712"/>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3"/>
            <a:stretch>
              <a:fillRect/>
            </a:stretch>
          </p:blipFill>
          <p:spPr>
            <a:xfrm>
              <a:off x="2726113" y="4977208"/>
              <a:ext cx="6084761" cy="1226968"/>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399415" y="2499360"/>
            <a:ext cx="5875020" cy="3289935"/>
          </a:xfrm>
          <a:prstGeom prst="rect">
            <a:avLst/>
          </a:prstGeom>
        </p:spPr>
      </p:pic>
      <p:sp>
        <p:nvSpPr>
          <p:cNvPr id="5" name="文本框 4"/>
          <p:cNvSpPr txBox="1"/>
          <p:nvPr/>
        </p:nvSpPr>
        <p:spPr>
          <a:xfrm>
            <a:off x="295275" y="743585"/>
            <a:ext cx="10295890" cy="583565"/>
          </a:xfrm>
          <a:prstGeom prst="rect">
            <a:avLst/>
          </a:prstGeom>
        </p:spPr>
        <p:txBody>
          <a:bodyPr wrap="square">
            <a:spAutoFit/>
          </a:bodyPr>
          <a:p>
            <a:pPr marL="0" indent="0"/>
            <a:r>
              <a:rPr lang="zh-CN" altLang="en-US" sz="1600" b="0" i="0">
                <a:solidFill>
                  <a:srgbClr val="4D4D4D"/>
                </a:solidFill>
                <a:latin typeface="Helvetica Neue"/>
                <a:ea typeface="Helvetica Neue"/>
              </a:rPr>
              <a:t>转移（</a:t>
            </a:r>
            <a:r>
              <a:rPr lang="en-US" altLang="zh-CN" sz="1600" b="0" i="0">
                <a:solidFill>
                  <a:srgbClr val="4D4D4D"/>
                </a:solidFill>
                <a:latin typeface="Helvetica Neue"/>
                <a:ea typeface="Helvetica Neue"/>
              </a:rPr>
              <a:t>Transitions</a:t>
            </a:r>
            <a:r>
              <a:rPr lang="zh-CN" altLang="en-US" sz="1600" b="0" i="0">
                <a:solidFill>
                  <a:srgbClr val="4D4D4D"/>
                </a:solidFill>
                <a:latin typeface="Helvetica Neue"/>
                <a:ea typeface="Helvetica Neue"/>
              </a:rPr>
              <a:t>）是两个状态之间的一种关系，表示对象将在源状态（</a:t>
            </a:r>
            <a:r>
              <a:rPr lang="en-US" altLang="zh-CN" sz="1600" b="0" i="0">
                <a:solidFill>
                  <a:srgbClr val="4D4D4D"/>
                </a:solidFill>
                <a:latin typeface="Helvetica Neue"/>
                <a:ea typeface="Helvetica Neue"/>
              </a:rPr>
              <a:t>Source State</a:t>
            </a:r>
            <a:r>
              <a:rPr lang="zh-CN" altLang="en-US" sz="1600" b="0" i="0">
                <a:solidFill>
                  <a:srgbClr val="4D4D4D"/>
                </a:solidFill>
                <a:latin typeface="Helvetica Neue"/>
                <a:ea typeface="Helvetica Neue"/>
              </a:rPr>
              <a:t>）中执行一定的动作，并在某个特定事件发生而且某个特定的警界条件满足时进入目标状态（</a:t>
            </a:r>
            <a:r>
              <a:rPr lang="en-US" altLang="zh-CN" sz="1600" b="0" i="0">
                <a:solidFill>
                  <a:srgbClr val="4D4D4D"/>
                </a:solidFill>
                <a:latin typeface="Helvetica Neue"/>
                <a:ea typeface="Helvetica Neue"/>
              </a:rPr>
              <a:t>Target State</a:t>
            </a:r>
            <a:r>
              <a:rPr lang="zh-CN" altLang="en-US" sz="1600" b="0" i="0">
                <a:solidFill>
                  <a:srgbClr val="4D4D4D"/>
                </a:solidFill>
                <a:latin typeface="Helvetica Neue"/>
                <a:ea typeface="Helvetica Neue"/>
              </a:rPr>
              <a:t>）</a:t>
            </a:r>
            <a:endParaRPr lang="zh-CN" altLang="en-US" sz="1600" b="0" i="0">
              <a:solidFill>
                <a:srgbClr val="4D4D4D"/>
              </a:solidFill>
              <a:latin typeface="Helvetica Neue"/>
              <a:ea typeface="Helvetica Neue"/>
            </a:endParaRPr>
          </a:p>
        </p:txBody>
      </p:sp>
      <p:sp>
        <p:nvSpPr>
          <p:cNvPr id="6" name="文本框 5"/>
          <p:cNvSpPr txBox="1"/>
          <p:nvPr/>
        </p:nvSpPr>
        <p:spPr>
          <a:xfrm>
            <a:off x="399415" y="1498600"/>
            <a:ext cx="9881235" cy="583565"/>
          </a:xfrm>
          <a:prstGeom prst="rect">
            <a:avLst/>
          </a:prstGeom>
        </p:spPr>
        <p:txBody>
          <a:bodyPr wrap="square">
            <a:spAutoFit/>
          </a:bodyPr>
          <a:p>
            <a:pPr marL="0" indent="0"/>
            <a:r>
              <a:rPr lang="zh-CN" altLang="en-US" sz="1600" b="0" i="0">
                <a:solidFill>
                  <a:srgbClr val="4D4D4D"/>
                </a:solidFill>
                <a:latin typeface="Helvetica Neue"/>
                <a:ea typeface="Helvetica Neue"/>
              </a:rPr>
              <a:t>事件标记（</a:t>
            </a:r>
            <a:r>
              <a:rPr lang="en-US" altLang="zh-CN" sz="1600" b="0" i="0">
                <a:solidFill>
                  <a:srgbClr val="4D4D4D"/>
                </a:solidFill>
                <a:latin typeface="Helvetica Neue"/>
                <a:ea typeface="Helvetica Neue"/>
              </a:rPr>
              <a:t>Trigger</a:t>
            </a:r>
            <a:r>
              <a:rPr lang="zh-CN" altLang="en-US" sz="1600" b="0" i="0">
                <a:solidFill>
                  <a:srgbClr val="4D4D4D"/>
                </a:solidFill>
                <a:latin typeface="Helvetica Neue"/>
                <a:ea typeface="Helvetica Neue"/>
              </a:rPr>
              <a:t>）：是转移的诱因，可以是一个信号，事件、条件变化（</a:t>
            </a:r>
            <a:r>
              <a:rPr lang="en-US" altLang="zh-CN" sz="1600" b="0" i="0">
                <a:solidFill>
                  <a:srgbClr val="4D4D4D"/>
                </a:solidFill>
                <a:latin typeface="Helvetica Neue"/>
                <a:ea typeface="Helvetica Neue"/>
              </a:rPr>
              <a:t>a change in some condition</a:t>
            </a:r>
            <a:r>
              <a:rPr lang="zh-CN" altLang="en-US" sz="1600" b="0" i="0">
                <a:solidFill>
                  <a:srgbClr val="4D4D4D"/>
                </a:solidFill>
                <a:latin typeface="Helvetica Neue"/>
                <a:ea typeface="Helvetica Neue"/>
              </a:rPr>
              <a:t>）和时间表达式。</a:t>
            </a:r>
            <a:endParaRPr lang="zh-CN" altLang="en-US" sz="1600" b="0" i="0">
              <a:solidFill>
                <a:srgbClr val="4D4D4D"/>
              </a:solidFill>
              <a:latin typeface="Helvetica Neue"/>
              <a:ea typeface="Helvetica Neue"/>
            </a:endParaRPr>
          </a:p>
        </p:txBody>
      </p:sp>
      <p:sp>
        <p:nvSpPr>
          <p:cNvPr id="7" name="文本框 6"/>
          <p:cNvSpPr txBox="1"/>
          <p:nvPr/>
        </p:nvSpPr>
        <p:spPr>
          <a:xfrm>
            <a:off x="6761480" y="2159317"/>
            <a:ext cx="5080000" cy="583565"/>
          </a:xfrm>
          <a:prstGeom prst="rect">
            <a:avLst/>
          </a:prstGeom>
        </p:spPr>
        <p:txBody>
          <a:bodyPr>
            <a:spAutoFit/>
          </a:bodyPr>
          <a:p>
            <a:pPr marL="0" indent="0"/>
            <a:r>
              <a:rPr lang="zh-CN" altLang="en-US" sz="1600" b="0" i="0">
                <a:solidFill>
                  <a:srgbClr val="4D4D4D"/>
                </a:solidFill>
                <a:latin typeface="Helvetica Neue"/>
                <a:ea typeface="Helvetica Neue"/>
              </a:rPr>
              <a:t>警界条件（</a:t>
            </a:r>
            <a:r>
              <a:rPr lang="en-US" altLang="zh-CN" sz="1600" b="0" i="0">
                <a:solidFill>
                  <a:srgbClr val="4D4D4D"/>
                </a:solidFill>
                <a:latin typeface="Helvetica Neue"/>
                <a:ea typeface="Helvetica Neue"/>
              </a:rPr>
              <a:t>Guard Condition</a:t>
            </a:r>
            <a:r>
              <a:rPr lang="zh-CN" altLang="en-US" sz="1600" b="0" i="0">
                <a:solidFill>
                  <a:srgbClr val="4D4D4D"/>
                </a:solidFill>
                <a:latin typeface="Helvetica Neue"/>
                <a:ea typeface="Helvetica Neue"/>
              </a:rPr>
              <a:t>）：当警界条件满足时，事件才会引发转移（</a:t>
            </a:r>
            <a:r>
              <a:rPr lang="en-US" altLang="zh-CN" sz="1600" b="0" i="0">
                <a:solidFill>
                  <a:srgbClr val="4D4D4D"/>
                </a:solidFill>
                <a:latin typeface="Helvetica Neue"/>
                <a:ea typeface="Helvetica Neue"/>
              </a:rPr>
              <a:t>Transition</a:t>
            </a:r>
            <a:r>
              <a:rPr lang="zh-CN" altLang="en-US" sz="1600" b="0" i="0">
                <a:solidFill>
                  <a:srgbClr val="4D4D4D"/>
                </a:solidFill>
                <a:latin typeface="Helvetica Neue"/>
                <a:ea typeface="Helvetica Neue"/>
              </a:rPr>
              <a:t>）</a:t>
            </a:r>
            <a:endParaRPr lang="zh-CN" altLang="en-US" sz="1600" b="0" i="0">
              <a:solidFill>
                <a:srgbClr val="4D4D4D"/>
              </a:solidFill>
              <a:latin typeface="Helvetica Neue"/>
              <a:ea typeface="Helvetica Neue"/>
            </a:endParaRPr>
          </a:p>
        </p:txBody>
      </p:sp>
      <p:pic>
        <p:nvPicPr>
          <p:cNvPr id="8" name="图片 7"/>
          <p:cNvPicPr/>
          <p:nvPr/>
        </p:nvPicPr>
        <p:blipFill>
          <a:blip r:embed="rId2"/>
          <a:stretch>
            <a:fillRect/>
          </a:stretch>
        </p:blipFill>
        <p:spPr>
          <a:xfrm>
            <a:off x="6981825" y="2936240"/>
            <a:ext cx="4215765" cy="28530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611" y="1135541"/>
            <a:ext cx="5825943" cy="3688877"/>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254000" y="190500"/>
            <a:ext cx="646331" cy="369332"/>
          </a:xfrm>
          <a:prstGeom prst="rect">
            <a:avLst/>
          </a:prstGeom>
          <a:noFill/>
        </p:spPr>
        <p:txBody>
          <a:bodyPr wrap="none" rtlCol="0">
            <a:spAutoFit/>
          </a:bodyPr>
          <a:lstStyle/>
          <a:p>
            <a:r>
              <a:rPr lang="zh-CN" altLang="en-US" dirty="0"/>
              <a:t>转移</a:t>
            </a:r>
            <a:endParaRPr lang="zh-CN" altLang="en-US" dirty="0"/>
          </a:p>
        </p:txBody>
      </p:sp>
      <p:pic>
        <p:nvPicPr>
          <p:cNvPr id="205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5044" y="3687679"/>
            <a:ext cx="5857875" cy="26574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0281" y="238008"/>
            <a:ext cx="5487403" cy="2832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4000" y="190500"/>
            <a:ext cx="646331" cy="369332"/>
          </a:xfrm>
          <a:prstGeom prst="rect">
            <a:avLst/>
          </a:prstGeom>
          <a:noFill/>
        </p:spPr>
        <p:txBody>
          <a:bodyPr wrap="none" rtlCol="0">
            <a:spAutoFit/>
          </a:bodyPr>
          <a:lstStyle/>
          <a:p>
            <a:r>
              <a:rPr lang="zh-CN" altLang="en-US" dirty="0"/>
              <a:t>状态</a:t>
            </a:r>
            <a:endParaRPr lang="zh-CN" altLang="en-US" dirty="0"/>
          </a:p>
        </p:txBody>
      </p:sp>
      <p:pic>
        <p:nvPicPr>
          <p:cNvPr id="2" name="图片 1"/>
          <p:cNvPicPr>
            <a:picLocks noChangeAspect="1"/>
          </p:cNvPicPr>
          <p:nvPr/>
        </p:nvPicPr>
        <p:blipFill rotWithShape="1">
          <a:blip r:embed="rId1"/>
          <a:srcRect t="2250" r="705"/>
          <a:stretch>
            <a:fillRect/>
          </a:stretch>
        </p:blipFill>
        <p:spPr>
          <a:xfrm>
            <a:off x="197169" y="661736"/>
            <a:ext cx="4817002" cy="4343401"/>
          </a:xfrm>
          <a:prstGeom prst="rect">
            <a:avLst/>
          </a:prstGeom>
        </p:spPr>
      </p:pic>
      <p:sp>
        <p:nvSpPr>
          <p:cNvPr id="3" name="文本框 2"/>
          <p:cNvSpPr txBox="1"/>
          <p:nvPr/>
        </p:nvSpPr>
        <p:spPr>
          <a:xfrm>
            <a:off x="5482139" y="3569286"/>
            <a:ext cx="5163803" cy="2308324"/>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entry</a:t>
            </a:r>
            <a:r>
              <a:rPr lang="zh-CN" altLang="en-US" dirty="0"/>
              <a:t>：入口活动，进入状态时的活动。</a:t>
            </a:r>
            <a:endParaRPr lang="en-US" altLang="zh-CN" dirty="0"/>
          </a:p>
          <a:p>
            <a:pPr marL="285750" indent="-285750">
              <a:buFont typeface="Arial" panose="020B0604020202020204" pitchFamily="34" charset="0"/>
              <a:buChar char="•"/>
            </a:pPr>
            <a:r>
              <a:rPr lang="en-US" altLang="zh-CN" b="1" dirty="0"/>
              <a:t>do</a:t>
            </a:r>
            <a:r>
              <a:rPr lang="zh-CN" altLang="en-US" dirty="0"/>
              <a:t>：内部活动</a:t>
            </a:r>
            <a:endParaRPr lang="en-US" altLang="zh-CN" dirty="0"/>
          </a:p>
          <a:p>
            <a:pPr marL="285750" indent="-285750">
              <a:buFont typeface="Arial" panose="020B0604020202020204" pitchFamily="34" charset="0"/>
              <a:buChar char="•"/>
            </a:pPr>
            <a:r>
              <a:rPr lang="en-US" altLang="zh-CN" b="1" dirty="0"/>
              <a:t>exit</a:t>
            </a:r>
            <a:r>
              <a:rPr lang="zh-CN" altLang="en-US" dirty="0"/>
              <a:t>：出口活动，退出状态时的活动。</a:t>
            </a:r>
            <a:endParaRPr lang="en-US" altLang="zh-CN" dirty="0"/>
          </a:p>
          <a:p>
            <a:pPr marL="285750" indent="-285750">
              <a:buFont typeface="Arial" panose="020B0604020202020204" pitchFamily="34" charset="0"/>
              <a:buChar char="•"/>
            </a:pPr>
            <a:r>
              <a:rPr lang="en-US" altLang="zh-CN" b="1" dirty="0"/>
              <a:t>Trigger event</a:t>
            </a:r>
            <a:r>
              <a:rPr lang="zh-CN" altLang="en-US" dirty="0"/>
              <a:t>：触发活动的事件类型，可以选择</a:t>
            </a:r>
            <a:r>
              <a:rPr lang="en-US" altLang="zh-CN" dirty="0"/>
              <a:t>do</a:t>
            </a:r>
            <a:r>
              <a:rPr lang="zh-CN" altLang="en-US" dirty="0"/>
              <a:t>、</a:t>
            </a:r>
            <a:r>
              <a:rPr lang="en-US" altLang="zh-CN" dirty="0"/>
              <a:t>entry</a:t>
            </a:r>
            <a:r>
              <a:rPr lang="zh-CN" altLang="en-US" dirty="0"/>
              <a:t>或者</a:t>
            </a:r>
            <a:r>
              <a:rPr lang="en-US" altLang="zh-CN" dirty="0"/>
              <a:t>exit</a:t>
            </a:r>
            <a:endParaRPr lang="en-US" altLang="zh-CN" dirty="0"/>
          </a:p>
          <a:p>
            <a:pPr marL="285750" indent="-285750">
              <a:buFont typeface="Arial" panose="020B0604020202020204" pitchFamily="34" charset="0"/>
              <a:buChar char="•"/>
            </a:pPr>
            <a:r>
              <a:rPr lang="en-US" altLang="zh-CN" b="1" dirty="0"/>
              <a:t>Name</a:t>
            </a:r>
            <a:r>
              <a:rPr lang="zh-CN" altLang="en-US" dirty="0"/>
              <a:t>：活动的名称</a:t>
            </a:r>
            <a:endParaRPr lang="en-US" altLang="zh-CN" dirty="0"/>
          </a:p>
          <a:p>
            <a:pPr marL="285750" indent="-285750">
              <a:buFont typeface="Arial" panose="020B0604020202020204" pitchFamily="34" charset="0"/>
              <a:buChar char="•"/>
            </a:pPr>
            <a:r>
              <a:rPr lang="en-US" altLang="zh-CN" b="1" dirty="0"/>
              <a:t>Termination</a:t>
            </a:r>
            <a:r>
              <a:rPr lang="zh-CN" altLang="en-US" dirty="0"/>
              <a:t>：表示终态是整个活动的终止态还是其中一种可能</a:t>
            </a:r>
            <a:endParaRPr lang="en-US" altLang="zh-CN" dirty="0"/>
          </a:p>
        </p:txBody>
      </p:sp>
      <p:pic>
        <p:nvPicPr>
          <p:cNvPr id="6" name="图片 5"/>
          <p:cNvPicPr>
            <a:picLocks noChangeAspect="1"/>
          </p:cNvPicPr>
          <p:nvPr/>
        </p:nvPicPr>
        <p:blipFill>
          <a:blip r:embed="rId2"/>
          <a:stretch>
            <a:fillRect/>
          </a:stretch>
        </p:blipFill>
        <p:spPr>
          <a:xfrm>
            <a:off x="296528" y="2951199"/>
            <a:ext cx="4919161" cy="3716301"/>
          </a:xfrm>
          <a:prstGeom prst="rect">
            <a:avLst/>
          </a:prstGeom>
        </p:spPr>
      </p:pic>
      <p:pic>
        <p:nvPicPr>
          <p:cNvPr id="8" name="图片 7"/>
          <p:cNvPicPr>
            <a:picLocks noChangeAspect="1"/>
          </p:cNvPicPr>
          <p:nvPr/>
        </p:nvPicPr>
        <p:blipFill>
          <a:blip r:embed="rId3"/>
          <a:stretch>
            <a:fillRect/>
          </a:stretch>
        </p:blipFill>
        <p:spPr>
          <a:xfrm>
            <a:off x="6096000" y="242818"/>
            <a:ext cx="2354601" cy="1000943"/>
          </a:xfrm>
          <a:prstGeom prst="rect">
            <a:avLst/>
          </a:prstGeom>
        </p:spPr>
      </p:pic>
      <p:pic>
        <p:nvPicPr>
          <p:cNvPr id="7" name="图片 6"/>
          <p:cNvPicPr>
            <a:picLocks noChangeAspect="1"/>
          </p:cNvPicPr>
          <p:nvPr/>
        </p:nvPicPr>
        <p:blipFill rotWithShape="1">
          <a:blip r:embed="rId4"/>
          <a:srcRect l="6217" t="3072" r="11225" b="1242"/>
          <a:stretch>
            <a:fillRect/>
          </a:stretch>
        </p:blipFill>
        <p:spPr>
          <a:xfrm>
            <a:off x="8590546" y="70682"/>
            <a:ext cx="2719137" cy="318644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7243553" y="0"/>
            <a:ext cx="3981909" cy="3075034"/>
          </a:xfrm>
          <a:prstGeom prst="rect">
            <a:avLst/>
          </a:prstGeom>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21" y="48127"/>
            <a:ext cx="7334250" cy="385762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254000" y="190500"/>
            <a:ext cx="646331" cy="369332"/>
          </a:xfrm>
          <a:prstGeom prst="rect">
            <a:avLst/>
          </a:prstGeom>
          <a:noFill/>
        </p:spPr>
        <p:txBody>
          <a:bodyPr wrap="none" rtlCol="0">
            <a:spAutoFit/>
          </a:bodyPr>
          <a:lstStyle/>
          <a:p>
            <a:r>
              <a:rPr lang="zh-CN" altLang="en-US" dirty="0"/>
              <a:t>转换</a:t>
            </a:r>
            <a:endParaRPr lang="zh-CN" altLang="en-US" dirty="0"/>
          </a:p>
        </p:txBody>
      </p:sp>
      <p:pic>
        <p:nvPicPr>
          <p:cNvPr id="11" name="图片 10"/>
          <p:cNvPicPr>
            <a:picLocks noChangeAspect="1"/>
          </p:cNvPicPr>
          <p:nvPr/>
        </p:nvPicPr>
        <p:blipFill>
          <a:blip r:embed="rId3"/>
          <a:stretch>
            <a:fillRect/>
          </a:stretch>
        </p:blipFill>
        <p:spPr>
          <a:xfrm>
            <a:off x="6667084" y="3075034"/>
            <a:ext cx="5278443" cy="332328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2945</Words>
  <Application>WPS 演示</Application>
  <PresentationFormat>宽屏</PresentationFormat>
  <Paragraphs>132</Paragraphs>
  <Slides>22</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22</vt:i4>
      </vt:variant>
    </vt:vector>
  </HeadingPairs>
  <TitlesOfParts>
    <vt:vector size="39" baseType="lpstr">
      <vt:lpstr>Arial</vt:lpstr>
      <vt:lpstr>宋体</vt:lpstr>
      <vt:lpstr>Wingdings</vt:lpstr>
      <vt:lpstr>Times New Roman</vt:lpstr>
      <vt:lpstr>-apple-system</vt:lpstr>
      <vt:lpstr>Segoe Print</vt:lpstr>
      <vt:lpstr>TimesNewRomanPSMT</vt:lpstr>
      <vt:lpstr>等线 Light</vt:lpstr>
      <vt:lpstr>微软雅黑</vt:lpstr>
      <vt:lpstr>Arial Unicode MS</vt:lpstr>
      <vt:lpstr>等线</vt:lpstr>
      <vt:lpstr>Calibri</vt:lpstr>
      <vt:lpstr>汉仪君黑-45简</vt:lpstr>
      <vt:lpstr>Therese</vt:lpstr>
      <vt:lpstr>PingFang SC</vt:lpstr>
      <vt:lpstr>Helvetica Neue</vt:lpstr>
      <vt:lpstr>Office 主题​​</vt:lpstr>
      <vt:lpstr>类图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状态图</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类图</dc:title>
  <dc:creator>Asus</dc:creator>
  <cp:lastModifiedBy>一凡</cp:lastModifiedBy>
  <cp:revision>62</cp:revision>
  <dcterms:created xsi:type="dcterms:W3CDTF">2024-10-24T02:40:00Z</dcterms:created>
  <dcterms:modified xsi:type="dcterms:W3CDTF">2025-11-01T11:12:45Z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16BE762BB0F04DF491FB4FB482F325AC_12</vt:lpwstr>
  </property>
  <property fmtid="{D5CDD505-2E9C-101B-9397-08002B2CF9AE}" pid="3" name="KSOProductBuildVer">
    <vt:lpwstr>2052-12.1.0.23125</vt:lpwstr>
  </property>
</Properties>
</file>