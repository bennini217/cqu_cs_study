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5.svg" ContentType="image/svg+xml"/>
  <Override PartName="/ppt/media/image27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4.svg" ContentType="image/svg+xml"/>
  <Override PartName="/ppt/media/image40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sldIdLst>
    <p:sldId id="256" r:id="rId9"/>
    <p:sldId id="265" r:id="rId11"/>
    <p:sldId id="267" r:id="rId12"/>
    <p:sldId id="257" r:id="rId13"/>
    <p:sldId id="258" r:id="rId14"/>
    <p:sldId id="259" r:id="rId15"/>
    <p:sldId id="260" r:id="rId16"/>
    <p:sldId id="261" r:id="rId17"/>
    <p:sldId id="271" r:id="rId18"/>
    <p:sldId id="262" r:id="rId19"/>
    <p:sldId id="272" r:id="rId20"/>
    <p:sldId id="263" r:id="rId21"/>
    <p:sldId id="264" r:id="rId22"/>
    <p:sldId id="268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747775"/>
          </p15:clr>
        </p15:guide>
        <p15:guide id="2" pos="280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4"/>
        <p:guide pos="280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一个令人兴奋的话题：实时交互式AI绘画。我们将一起深入探讨如何利用潜空间一致性模型，也就是LCM，将传统需要数秒甚至数十秒的AI图像生成，压缩到毫秒级别，实现真正的“落笔即显”。这次分享将涵盖技术原理、工程实现和未来展望，希望能为大家带来启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首先，我们来谈谈为什么需要实时交互。智能交互有三个核心要素：低延迟、高保真和即时反馈。然而，传统的扩散模型，如大家熟知的Stable Diffusion，其致命伤就在于高延迟。生成一张图需要几十步的计算，这在交互场景中是不可接受的，因为它会彻底打断用户的创作思路。因此，技术的演进必然要求我们从异步等待走向同步协同。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首先，我们来谈谈为什么需要实时交互。智能交互有三个核心要素：低延迟、高保真和即时反馈。然而，传统的扩散模型，如大家熟知的Stable Diffusion，其致命伤就在于高延迟。生成一张图需要几十步的计算，这在交互场景中是不可接受的，因为它会彻底打断用户的创作思路。因此，技术的演进必然要求我们从异步等待走向同步协同。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首先，我们来谈谈为什么需要实时交互。智能交互有三个核心要素：低延迟、高保真和即时反馈。然而，传统的扩散模型，如大家熟知的Stable Diffusion，其致命伤就在于高延迟。生成一张图需要几十步的计算，这在交互场景中是不可接受的，因为它会彻底打断用户的创作思路。因此，技术的演进必然要求我们从异步等待走向同步协同。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实现这一突破呢？答案就是潜空间一致性模型，简称LCM。我们可以用一个比喻来理解：传统模型生成图像就像走楼梯，必须一步一步来，往往需要几十步。而LCM通过一种叫做“常微分方程蒸馏学习”的技术，掌握了空间捷径，就像右边图片里的滑梯一样，可以一步到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这一算法创新将推理步数从传统的50步以上，惊人地压缩到了1到4步，实现了生成速度10倍以上的跨越式提升，真正做到了兼顾图像质量与生成效率，是开启实时AI生成时代的关键技术之一。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有了LCM算法，我们还需要一个工程上的桥梁来让它普及。这就是LCM-LoRA。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想象一下，如果每次换个模型都要重新训练一次，成本太高了，这就是我们面临的“新痛点”。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CM-LoRA的聪明之处在于，它把“加速”这个功能做成了一个即插即用的插件。它的核心价值体现在两个方面：一是彻底解耦了“加速能力”和“风格能力”，二是真正做到了轻量化的即插即用。你可以把它挂载到任何你喜欢的AI绘画模型上，立刻就能让那个模型拥有极速出图的能力。这是连接LCM理论与落地应用的关键一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接下来我们看看具体是如何实现的。这个开源项目展示了一个完整的交互闭环：前端捕捉你的笔触，通过网络发送给后端，后端利用LCM模型在极短时间内生成图像并返回。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在现代显卡，比如RTX 4090上，这个过程可以压缩到300毫秒以内，也就是人几乎无法感知的延迟，真正实现了“落笔即显”。而在主流的消费级设备如M2 Max上，也能做到秒级响应，完全可用。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背后的代码其实非常简洁。我们首先加载一个基础的AI模型，然后动态加载LCM-LoRA这个提速模块。最关键的是predict函数里的三个参数：num_inference_steps设为4，这就是我们说的4步推理；guidance_scale设为1.0，这是LCM推荐的低指导强度；以及strength参数，它控制着AI在多大程度上尊重你的原始草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背后的代码其实非常简洁。我们首先加载一个基础的AI模型，然后动态加载LCM-LoRA这个提速模块。最关键的是predict函数里的三个参数：num_inference_steps设为4，这就是我们说的4步推理；guidance_scale设为1.0，这是LCM推荐的低指导强度；以及strength参数，它控制着AI在多大程度上尊重你的原始草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实现了实时交互之后，到底意味着什么？它重构了我们与AI的交互方式。过去，我们是命令者，AI是执行者，中间隔着一个看不见的黑盒。现在，我们更像是在同一个画布上创作的伙伴，每一次落笔都是一次交流，AI的反馈实时激发我们新的灵感。这不再是单向的输出，而是一种双向交织、实时动态纠偏的“创造性对话”，这才是真正的“人机协同”新范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展望一下未来。技术还在飞速发展，现在已经有方案能做到1到2步出图，并且控制能力更强。实时交互技术正在打破AI的时间壁垒，让强大的AI能力像水和电一样，自然地融入我们的创作过程。我的分享到此结束，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展望一下未来。技术还在飞速发展，现在已经有方案能做到1到2步出图，并且控制能力更强。实时交互技术正在打破AI的时间壁垒，让强大的AI能力像水和电一样，自然地融入我们的创作过程。我的分享到此结束，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tags" Target="../tags/tag19.xml"/><Relationship Id="rId10" Type="http://schemas.openxmlformats.org/officeDocument/2006/relationships/image" Target="../media/image35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image" Target="../media/image4.svg"/><Relationship Id="rId4" Type="http://schemas.openxmlformats.org/officeDocument/2006/relationships/image" Target="../media/image38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6.xml"/><Relationship Id="rId17" Type="http://schemas.openxmlformats.org/officeDocument/2006/relationships/image" Target="../media/image14.svg"/><Relationship Id="rId16" Type="http://schemas.openxmlformats.org/officeDocument/2006/relationships/image" Target="../media/image44.png"/><Relationship Id="rId15" Type="http://schemas.openxmlformats.org/officeDocument/2006/relationships/tags" Target="../tags/tag26.xml"/><Relationship Id="rId14" Type="http://schemas.openxmlformats.org/officeDocument/2006/relationships/image" Target="../media/image43.png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1" Type="http://schemas.openxmlformats.org/officeDocument/2006/relationships/tags" Target="../tags/tag25.xml"/><Relationship Id="rId10" Type="http://schemas.openxmlformats.org/officeDocument/2006/relationships/image" Target="../media/image40.sv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4.svg"/><Relationship Id="rId7" Type="http://schemas.openxmlformats.org/officeDocument/2006/relationships/image" Target="../media/image53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5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实时交互式 AI 绘画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基于潜空间一致性模型 (LCM) 的技术拆解与工程复现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探索生成式 AI 在智能交互中的“</a:t>
            </a:r>
            <a:r>
              <a:rPr lang="zh-CN" alt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</a:t>
            </a: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级”体验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endParaRPr lang="zh-CN" altLang="en-US" sz="18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智能交互</a:t>
            </a:r>
            <a:r>
              <a:rPr lang="zh-CN" alt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绘画</a:t>
            </a:r>
            <a:r>
              <a:rPr lang="zh-CN" alt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</a:t>
            </a:r>
            <a:endParaRPr lang="zh-CN" altLang="en-US" sz="3200" b="1" i="0" u="none" strike="noStrike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10895" y="3373120"/>
            <a:ext cx="10619740" cy="2954020"/>
          </a:xfrm>
          <a:prstGeom prst="roundRect">
            <a:avLst>
              <a:gd name="adj" fmla="val 521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" y="362712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45895" y="357632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核心特征</a:t>
            </a:r>
            <a:endParaRPr lang="en-US" sz="20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247775" y="4207510"/>
            <a:ext cx="9695815" cy="15728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交互性：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并非“输入指令→等待结果”的单向操作，而是用户每一步操作（落笔、修改），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都能即时响应，形成双向互动。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实时性：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生成速度达到秒级甚至毫秒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级，无明显等待延迟，保障用户创作思维的连贯性（流体验）。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协同性：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用户主导创作方向（线条、构图），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辅助完善细节、渲染风格，二者协同完成创作，而非 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独立生成。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0895" y="1486535"/>
            <a:ext cx="10668000" cy="139700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0F172A">
                  <a:alpha val="95000"/>
                </a:srgbClr>
              </a:gs>
              <a:gs pos="100000">
                <a:srgbClr val="155E75">
                  <a:alpha val="90000"/>
                </a:srgbClr>
              </a:gs>
            </a:gsLst>
            <a:lin ang="0"/>
          </a:gradFill>
          <a:ln w="127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4895" y="1867535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53895" y="1677035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智能交互绘画是生成式 </a:t>
            </a:r>
            <a:r>
              <a:rPr lang="en-US" altLang="zh-CN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与人机交互技术深度融合的新型创作形式，核心是让用户通过自然交互（如手写、涂鸦、语音指令），与 </a:t>
            </a:r>
            <a:r>
              <a:rPr lang="en-US" altLang="zh-CN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实时联动，共同完成绘画创作，实现“人画同步、即时反馈”。</a:t>
            </a:r>
            <a:endParaRPr lang="zh-CN" alt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智能交互</a:t>
            </a:r>
            <a:r>
              <a:rPr lang="zh-CN" alt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绘画</a:t>
            </a:r>
            <a:r>
              <a:rPr lang="zh-CN" alt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</a:t>
            </a:r>
            <a:endParaRPr lang="zh-CN" altLang="en-US" sz="3200" b="1" i="0" u="none" strike="noStrike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910080"/>
            <a:ext cx="7130415" cy="3446145"/>
          </a:xfrm>
          <a:prstGeom prst="rect">
            <a:avLst/>
          </a:prstGeom>
        </p:spPr>
      </p:pic>
      <p:sp>
        <p:nvSpPr>
          <p:cNvPr id="9" name="AutoShape 13"/>
          <p:cNvSpPr/>
          <p:nvPr/>
        </p:nvSpPr>
        <p:spPr>
          <a:xfrm>
            <a:off x="7722870" y="2002155"/>
            <a:ext cx="4088130" cy="343916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0F172A">
                  <a:alpha val="95000"/>
                </a:srgbClr>
              </a:gs>
              <a:gs pos="100000">
                <a:srgbClr val="155E75">
                  <a:alpha val="90000"/>
                </a:srgbClr>
              </a:gs>
            </a:gsLst>
            <a:lin ang="0"/>
          </a:gradFill>
          <a:ln w="127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文本框 9"/>
          <p:cNvSpPr txBox="1"/>
          <p:nvPr/>
        </p:nvSpPr>
        <p:spPr>
          <a:xfrm>
            <a:off x="8145780" y="2865120"/>
            <a:ext cx="3242945" cy="3272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6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应用场景：</a:t>
            </a:r>
            <a:r>
              <a:rPr lang="zh-CN" altLang="en-US" sz="16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数字插画创作、UI/UX 快速原型设计、儿童创意涂鸦、设计师灵感辅助、在线互动教学等，核心价值是降低创作门槛、提升创作效率，让“随手涂鸦”快速转化为专业级作品。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3195320" y="5536565"/>
            <a:ext cx="2225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krea.ai</a:t>
            </a:r>
            <a:r>
              <a:rPr lang="zh-CN" altLang="en-US">
                <a:solidFill>
                  <a:schemeClr val="bg1"/>
                </a:solidFill>
              </a:rPr>
              <a:t>示例图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【Why】智能交互的痛点与传统 Diffusion 的局限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429000" cy="2921000"/>
          </a:xfrm>
          <a:prstGeom prst="roundRect">
            <a:avLst>
              <a:gd name="adj" fmla="val 521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97000" y="198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智能交互的三要素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2540000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低延迟 (Latency)：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操作与反馈的时间间隔极短，流畅无卡顿。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高保真 (Fidelity)：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生成结果高质量，精准还原用户意图与预期。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即时反馈 (Feedback)：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系统响应用户操作零延迟，所见即所得。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4125" b="24125"/>
          <a:stretch>
            <a:fillRect/>
          </a:stretch>
        </p:blipFill>
        <p:spPr>
          <a:xfrm>
            <a:off x="4508500" y="1778000"/>
            <a:ext cx="3175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8001000" y="1778000"/>
            <a:ext cx="3429000" cy="2921000"/>
          </a:xfrm>
          <a:prstGeom prst="roundRect">
            <a:avLst>
              <a:gd name="adj" fmla="val 521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8717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2032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4"/>
            </p:custDataLst>
          </p:nvPr>
        </p:nvSpPr>
        <p:spPr>
          <a:xfrm>
            <a:off x="8636000" y="1981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传统模型的致命伤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8191500" y="2667000"/>
            <a:ext cx="3048000" cy="1416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高延迟去噪：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 30~50 步迭代计算，生成单图耗时数秒至数十秒，效率低下。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打破认知流：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漫长的等待强行中断用户的创作思路与沉浸式“流体验”。</a:t>
            </a:r>
            <a:endParaRPr 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10909"/>
            </a:avLst>
          </a:prstGeom>
          <a:gradFill rotWithShape="1">
            <a:gsLst>
              <a:gs pos="0">
                <a:srgbClr val="0F172A">
                  <a:alpha val="95000"/>
                </a:srgbClr>
              </a:gs>
              <a:gs pos="100000">
                <a:srgbClr val="155E75">
                  <a:alpha val="90000"/>
                </a:srgbClr>
              </a:gs>
            </a:gsLst>
            <a:lin ang="0"/>
          </a:gradFill>
          <a:ln w="127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5334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1435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演进必然性：从“异步黑箱”走向“同步协同”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交互方式必须完成根本性的范式转移：从传统的“输入 Prompt → 漫长等待 → 结果呈现”的被动响应模式，全面升级为“落笔即显、实时纠偏、人机共创”的同步协同模式。</a:t>
            </a:r>
            <a:endParaRPr lang="en-US" sz="14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18820" y="43434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【What】算法突破：潜空间一致性模型 (LCM)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1388745"/>
            <a:ext cx="5334000" cy="1308735"/>
          </a:xfrm>
          <a:prstGeom prst="roundRect">
            <a:avLst>
              <a:gd name="adj" fmla="val 80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6500" y="186563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1598295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Latent Consistency Models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》解决了传统扩散模型需30~50步迭代，单张图耗时数秒，无法实时交互。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altLang="zh-CN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3079750"/>
            <a:ext cx="5334000" cy="1897380"/>
          </a:xfrm>
          <a:prstGeom prst="roundRect">
            <a:avLst>
              <a:gd name="adj" fmla="val 551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500" y="3660775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3079750"/>
            <a:ext cx="4318000" cy="1808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核心思想：从任意噪声点“一步直达”最终图像，跳过中间迭代步骤。</a:t>
            </a:r>
            <a:endParaRPr lang="zh-CN" alt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zh-CN" altLang="en-US" sz="1200" b="0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技术路径：采用一致性蒸馏，在潜空间中学习概率流常微分方程的直达映射。</a:t>
            </a:r>
            <a:endParaRPr lang="zh-CN" altLang="en-US" sz="1200" b="0" i="0" u="none" strike="noStrike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52705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22D3EE">
              <a:alpha val="15000"/>
            </a:srgbClr>
          </a:solidFill>
          <a:ln w="12700" cap="flat" cmpd="sng">
            <a:solidFill>
              <a:srgbClr val="22D3E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6500" y="569595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5397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推理步数压缩至</a:t>
            </a:r>
            <a:r>
              <a:rPr lang="en-US" sz="2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1~4 步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生成速度提升</a:t>
            </a:r>
            <a:r>
              <a:rPr lang="en-US" sz="22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10倍+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兼顾质量与效率的跨越式突破，开启实时生成时代</a:t>
            </a:r>
            <a:endParaRPr lang="en-US" sz="1200" b="0" i="0" u="none" strike="noStrike">
              <a:solidFill>
                <a:srgbClr val="CBD5E1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825" y="2766695"/>
            <a:ext cx="5554980" cy="37103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825" y="1206500"/>
            <a:ext cx="5770880" cy="5549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0825" y="2080895"/>
            <a:ext cx="577088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8953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/>
              <a:t>加速插件和风格插件是独立的，直接相加就能让任意风格模型变得飞快，不需要重新训练。</a:t>
            </a:r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762000" y="22542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【What】工程桥梁：解耦加速插件 LCM-LoRA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63260" y="1203325"/>
            <a:ext cx="5920105" cy="1333500"/>
          </a:xfrm>
          <a:prstGeom prst="roundRect">
            <a:avLst>
              <a:gd name="adj" fmla="val 761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F8717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7400" y="1660525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477000" y="1362075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新的痛点：高昂的迁移成本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</a:t>
            </a:r>
            <a:r>
              <a:rPr lang="en-US" altLang="zh-CN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LCM</a:t>
            </a: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虽快，但换一个模型风格就需要重新蒸馏，迁移成本依然较高。</a:t>
            </a:r>
            <a:endParaRPr lang="zh-CN" alt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62625" y="2860675"/>
            <a:ext cx="5920740" cy="1893570"/>
          </a:xfrm>
          <a:prstGeom prst="roundRect">
            <a:avLst>
              <a:gd name="adj" fmla="val 761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4080" y="36068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550660" y="3166110"/>
            <a:ext cx="5015865" cy="1796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创新方案：LCM-LoRA 加速模块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 </a:t>
            </a: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LCM-LoRA: A Universal Stable-Diffusion Acceleration Module</a:t>
            </a: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》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给出了解决思路：将加速能力封装为独立的、通用的插件形式。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核心洞察：将“加速能力”与“风格能力”彻底解耦。</a:t>
            </a:r>
            <a:endParaRPr lang="zh-CN" alt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实现方式：加速能力被封装为一个轻量</a:t>
            </a:r>
            <a:r>
              <a:rPr lang="en-US" altLang="zh-CN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LoRA</a:t>
            </a:r>
            <a:r>
              <a:rPr lang="zh-CN" alt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插件，大小仅几百</a:t>
            </a:r>
            <a:r>
              <a:rPr lang="en-US" altLang="zh-CN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MB。</a:t>
            </a:r>
            <a:endParaRPr lang="en-US" altLang="zh-CN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zh-CN" alt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62625" y="5080000"/>
            <a:ext cx="592074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6000" y="5207000"/>
            <a:ext cx="2747645" cy="1223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彻底解耦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将LCM的“底层加速能力”与模型的“上层风格能力”彻底分离，互不干扰。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994140" y="5207000"/>
            <a:ext cx="2572385" cy="1173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即插即用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几百MB大小的插件，可挂载至任意SD基础模型，瞬间获得“4步极速出图”能力。</a:t>
            </a:r>
            <a:endParaRPr lang="en-US" sz="12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rcRect l="1573" r="2460" b="36587"/>
          <a:stretch>
            <a:fillRect/>
          </a:stretch>
        </p:blipFill>
        <p:spPr>
          <a:xfrm>
            <a:off x="762000" y="917575"/>
            <a:ext cx="4573270" cy="15265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 r="-1907" b="21451"/>
          <a:stretch>
            <a:fillRect/>
          </a:stretch>
        </p:blipFill>
        <p:spPr>
          <a:xfrm>
            <a:off x="1113155" y="3234690"/>
            <a:ext cx="3970655" cy="26600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50620" y="2501265"/>
            <a:ext cx="3565525" cy="867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加速插件和风格插件是独立的，直接相加就能让任意风格模型变得飞快，不需要重新训练。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6310" y="5918835"/>
            <a:ext cx="41852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加上 </a:t>
            </a:r>
            <a:r>
              <a:rPr lang="en-US" altLang="zh-CN">
                <a:solidFill>
                  <a:schemeClr val="bg1"/>
                </a:solidFill>
              </a:rPr>
              <a:t>LCM‑LoRA </a:t>
            </a:r>
            <a:r>
              <a:rPr lang="zh-CN" altLang="en-US">
                <a:solidFill>
                  <a:schemeClr val="bg1"/>
                </a:solidFill>
              </a:rPr>
              <a:t>后，同一个风格 </a:t>
            </a:r>
            <a:r>
              <a:rPr lang="en-US" altLang="zh-CN">
                <a:solidFill>
                  <a:schemeClr val="bg1"/>
                </a:solidFill>
              </a:rPr>
              <a:t>LoRA </a:t>
            </a:r>
            <a:r>
              <a:rPr lang="zh-CN" altLang="en-US">
                <a:solidFill>
                  <a:schemeClr val="bg1"/>
                </a:solidFill>
              </a:rPr>
              <a:t>在 4 步内就能达到原本需要 16~32 步的质量，而且风格保持得很好。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【How】系统架构：实时素描画布的交互闭环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58800"/>
          </a:xfrm>
          <a:prstGeom prst="roundRect">
            <a:avLst>
              <a:gd name="adj" fmla="val 18181"/>
            </a:avLst>
          </a:prstGeom>
          <a:solidFill>
            <a:srgbClr val="22D3EE">
              <a:alpha val="1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625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📦 开源落地项目：</a:t>
            </a:r>
            <a:r>
              <a:rPr lang="en-US" sz="1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flowty-realtime-lcm-canvas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17202D">
              <a:alpha val="85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828165" y="2667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交互数据流闭环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238500"/>
            <a:ext cx="306959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前端 (Gradio Canvas):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实时捕获鼠标或手写笔的笔触轨迹与坐标。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网络层 (Web Traffic):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高频监听 change 事件，将画布残影异步发送至后端。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后端 (Diffusers Pipeline):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结合文本 Prompt 与草图，在显存中进行 4 步</a:t>
            </a:r>
            <a:r>
              <a:rPr lang="zh-CN" alt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（可设置）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快速去噪推理。</a:t>
            </a:r>
            <a:endParaRPr lang="en-US" sz="12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1255" y="53213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828165" y="5207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核心逻辑：将连续的绘画动作拆解为“采样点”，通过低延迟网络与高性能推理，在用户感知阈值内完成图像生成并刷新画布。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413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17202D">
              <a:alpha val="85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42225" y="2667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硬件算力表现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42225" y="3145155"/>
            <a:ext cx="2730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MacBook M2 Max:</a:t>
            </a:r>
            <a:r>
              <a:rPr lang="en-US" sz="14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 1.2 秒 / 张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NVIDIA RTX 4090/4060: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300 ms / 张</a:t>
            </a:r>
            <a:endParaRPr lang="en-US" sz="2200" b="1" i="0" u="none" strike="noStrike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1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真正实现无感知级交互延迟</a:t>
            </a:r>
            <a:endParaRPr lang="en-US" sz="1100" b="0" i="1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04000" y="50165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7510" y="52959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51435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关键指标：300毫秒是实现“落笔即现”流畅交互的临界点。通过优化模型与推理引擎，我们将延迟压缩至人类视觉无法察觉的范围。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【How】核心代码剖析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4445000"/>
          </a:xfrm>
          <a:prstGeom prst="roundRect">
            <a:avLst>
              <a:gd name="adj" fmla="val 3428"/>
            </a:avLst>
          </a:prstGeom>
          <a:solidFill>
            <a:srgbClr val="17202D">
              <a:alpha val="92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223000" y="2125980"/>
            <a:ext cx="4953000" cy="1520190"/>
          </a:xfrm>
          <a:prstGeom prst="roundRect">
            <a:avLst>
              <a:gd name="adj" fmla="val 888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596515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985000" y="2406015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模型准备（为什么能 4 步）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图生图管线：草图当 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image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LCM LoRA + LCM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调度器：支持极少步去噪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223000" y="4062095"/>
            <a:ext cx="4953000" cy="1630680"/>
          </a:xfrm>
          <a:prstGeom prst="roundRect">
            <a:avLst>
              <a:gd name="adj" fmla="val 888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9380" y="4674235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109460" y="450215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一次推理（三个关键参数）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80330" y="868680"/>
            <a:ext cx="4865370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solidFill>
                  <a:schemeClr val="bg1"/>
                </a:solidFill>
              </a:rPr>
              <a:t>推理核心 — </a:t>
            </a:r>
            <a:r>
              <a:rPr lang="en-US" altLang="zh-CN" sz="1800">
                <a:solidFill>
                  <a:schemeClr val="bg1"/>
                </a:solidFill>
              </a:rPr>
              <a:t>load_models() + infer()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110" y="2479040"/>
            <a:ext cx="5243830" cy="9499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" y="3918585"/>
            <a:ext cx="5163820" cy="181800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583940" y="5840095"/>
            <a:ext cx="6757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核心就这一处 </a:t>
            </a:r>
            <a:r>
              <a:rPr lang="en-US" altLang="zh-CN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pipe(...) </a:t>
            </a:r>
            <a:r>
              <a:rPr lang="zh-CN" altLang="en-US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调用；前面是加载，这里是生成。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【How】核心代码剖析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4445000"/>
          </a:xfrm>
          <a:prstGeom prst="roundRect">
            <a:avLst>
              <a:gd name="adj" fmla="val 3428"/>
            </a:avLst>
          </a:prstGeom>
          <a:solidFill>
            <a:srgbClr val="17202D">
              <a:alpha val="92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6223000" y="1974215"/>
            <a:ext cx="4953000" cy="661035"/>
          </a:xfrm>
          <a:prstGeom prst="roundRect">
            <a:avLst>
              <a:gd name="adj" fmla="val 888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0975" y="2148205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677150" y="2148205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输入从哪来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223000" y="3339465"/>
            <a:ext cx="4953000" cy="1181735"/>
          </a:xfrm>
          <a:prstGeom prst="roundRect">
            <a:avLst>
              <a:gd name="adj" fmla="val 888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0975" y="3676015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510780" y="3429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拼参数并推理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80330" y="868680"/>
            <a:ext cx="4865370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solidFill>
                  <a:schemeClr val="bg1"/>
                </a:solidFill>
              </a:rPr>
              <a:t>实时交互核心 — </a:t>
            </a:r>
            <a:r>
              <a:rPr lang="en-US" altLang="zh-CN" sz="1800">
                <a:solidFill>
                  <a:schemeClr val="bg1"/>
                </a:solidFill>
              </a:rPr>
              <a:t>ui.py </a:t>
            </a:r>
            <a:r>
              <a:rPr lang="zh-CN" altLang="en-US" sz="1800">
                <a:solidFill>
                  <a:schemeClr val="bg1"/>
                </a:solidFill>
              </a:rPr>
              <a:t>自动触发</a:t>
            </a:r>
            <a:endParaRPr lang="zh-CN" altLang="en-US" sz="180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310" y="2049780"/>
            <a:ext cx="5087620" cy="6769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310" y="2971800"/>
            <a:ext cx="5086985" cy="18148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6310" y="5100320"/>
            <a:ext cx="5062220" cy="575310"/>
          </a:xfrm>
          <a:prstGeom prst="rect">
            <a:avLst/>
          </a:prstGeom>
        </p:spPr>
      </p:pic>
      <p:sp>
        <p:nvSpPr>
          <p:cNvPr id="14" name="AutoShape 9"/>
          <p:cNvSpPr/>
          <p:nvPr>
            <p:custDataLst>
              <p:tags r:id="rId15"/>
            </p:custDataLst>
          </p:nvPr>
        </p:nvSpPr>
        <p:spPr>
          <a:xfrm>
            <a:off x="6282055" y="4985385"/>
            <a:ext cx="4953000" cy="805180"/>
          </a:xfrm>
          <a:prstGeom prst="roundRect">
            <a:avLst>
              <a:gd name="adj" fmla="val 8888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62090" y="5203825"/>
            <a:ext cx="375285" cy="37528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361555" y="5283200"/>
            <a:ext cx="3110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实时关键：绑定 </a:t>
            </a:r>
            <a:r>
              <a:rPr lang="en-US" altLang="zh-CN">
                <a:solidFill>
                  <a:schemeClr val="bg1"/>
                </a:solidFill>
              </a:rPr>
              <a:t>change </a:t>
            </a:r>
            <a:r>
              <a:rPr lang="zh-CN" altLang="en-US">
                <a:solidFill>
                  <a:schemeClr val="bg1"/>
                </a:solidFill>
              </a:rPr>
              <a:t>事件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6515" y="5851525"/>
            <a:ext cx="74491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没有「生成」按钮；画一笔、改 </a:t>
            </a:r>
            <a:r>
              <a:rPr lang="en-US" altLang="zh-CN">
                <a:solidFill>
                  <a:schemeClr val="bg1"/>
                </a:solidFill>
              </a:rPr>
              <a:t>prompt、</a:t>
            </a:r>
            <a:r>
              <a:rPr lang="zh-CN" altLang="en-US">
                <a:solidFill>
                  <a:schemeClr val="bg1"/>
                </a:solidFill>
              </a:rPr>
              <a:t>拖滑条都会重新 </a:t>
            </a:r>
            <a:r>
              <a:rPr lang="en-US" altLang="zh-CN">
                <a:solidFill>
                  <a:schemeClr val="bg1"/>
                </a:solidFill>
              </a:rPr>
              <a:t>infer，</a:t>
            </a:r>
            <a:r>
              <a:rPr lang="zh-CN" altLang="en-US">
                <a:solidFill>
                  <a:schemeClr val="bg1"/>
                </a:solidFill>
              </a:rPr>
              <a:t>这就是实时交互的核心代码。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24230" y="4743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【How】实践复现：</a:t>
            </a:r>
            <a:endParaRPr lang="en-US" sz="11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" y="1214120"/>
            <a:ext cx="7330440" cy="3746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20" y="4626610"/>
            <a:ext cx="5909310" cy="1740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600440" y="2299970"/>
            <a:ext cx="2993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</a:rPr>
              <a:t>复现流程主要就是在</a:t>
            </a:r>
            <a:r>
              <a:rPr lang="en-US" altLang="zh-CN" sz="1600">
                <a:solidFill>
                  <a:schemeClr val="bg1"/>
                </a:solidFill>
              </a:rPr>
              <a:t>github</a:t>
            </a:r>
            <a:r>
              <a:rPr lang="zh-CN" altLang="en-US" sz="1600">
                <a:solidFill>
                  <a:schemeClr val="bg1"/>
                </a:solidFill>
              </a:rPr>
              <a:t>下载这个项目，然后根据</a:t>
            </a:r>
            <a:r>
              <a:rPr lang="en-US" altLang="zh-CN" sz="1600">
                <a:solidFill>
                  <a:schemeClr val="bg1"/>
                </a:solidFill>
              </a:rPr>
              <a:t>readme</a:t>
            </a:r>
            <a:r>
              <a:rPr lang="zh-CN" altLang="en-US" sz="1600">
                <a:solidFill>
                  <a:schemeClr val="bg1"/>
                </a:solidFill>
              </a:rPr>
              <a:t>安装依赖，启动项目即可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24230" y="4743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【How】实践复现：</a:t>
            </a:r>
            <a:endParaRPr lang="en-US" sz="1100"/>
          </a:p>
        </p:txBody>
      </p:sp>
      <p:sp>
        <p:nvSpPr>
          <p:cNvPr id="5" name="文本框 4"/>
          <p:cNvSpPr txBox="1"/>
          <p:nvPr/>
        </p:nvSpPr>
        <p:spPr>
          <a:xfrm>
            <a:off x="2922270" y="1121410"/>
            <a:ext cx="7103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solidFill>
                  <a:schemeClr val="bg1"/>
                </a:solidFill>
              </a:rPr>
              <a:t>A girl is lying on the grass, which is covered with many red patterns in a children’s illustration style.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290" y="1969135"/>
            <a:ext cx="8054340" cy="4315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【So What】智能交互反思：人机协同 (Human-in-the-Loop)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6957" r="16957"/>
          <a:stretch>
            <a:fillRect/>
          </a:stretch>
        </p:blipFill>
        <p:spPr>
          <a:xfrm>
            <a:off x="762000" y="1778000"/>
            <a:ext cx="5080000" cy="4318000"/>
          </a:xfrm>
          <a:prstGeom prst="rect">
            <a:avLst/>
          </a:prstGeom>
          <a:noFill/>
          <a:ln w="254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778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196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858000" y="1905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PAST · 单向指令模式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人类是“发号施令”的指挥者，AI则是独立处理任务的“黑箱”。两者间缺乏实时反馈，互动流程呈现线性与割裂感。</a:t>
            </a:r>
            <a:endParaRPr lang="en-US" sz="13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429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3683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3556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NOW · 实时共创模式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人类的每一次“落笔”，AI都会即刻提供视觉反馈；而AI的生成内容又化作新的感官刺激，反哺并激发人类的下一轮创作灵感。</a:t>
            </a:r>
            <a:endParaRPr lang="en-US" sz="1300" b="0" i="0" u="none" strike="noStrike">
              <a:solidFill>
                <a:srgbClr val="E2E8F0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5207000"/>
            <a:ext cx="5207000" cy="114300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0F172A">
                  <a:alpha val="95000"/>
                </a:srgbClr>
              </a:gs>
              <a:gs pos="100000">
                <a:srgbClr val="22D3EE">
                  <a:alpha val="15000"/>
                </a:srgbClr>
              </a:gs>
            </a:gsLst>
            <a:lin ang="0"/>
          </a:gra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552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5397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这不再是单向的指令，而是双向交织、动态纠偏的</a:t>
            </a:r>
            <a:r>
              <a:rPr lang="en-US" sz="18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“创造性对话”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76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前沿展望与总结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13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技术前沿演进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26995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更少步数：</a:t>
            </a: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Hyper-SD 和 SDXL-Lightning 方案已将画质在 1~2 步内推向极致。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更强语义：</a:t>
            </a:r>
            <a:r>
              <a:rPr lang="en-US" sz="13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下一代架构如 Flux.1 (Schnell) 带来了更精准、更强大的细节控制能力。</a:t>
            </a:r>
            <a:endParaRPr lang="en-US" sz="1300" b="0" i="0" u="none" strike="noStrike">
              <a:solidFill>
                <a:srgbClr val="E5E7EB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213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结语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26995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ECFE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实时交互技术打破了AI的时间壁垒。多媒体交互的未来，是让强大的算力悄无声息地融入人类随手的涂鸦之中，让灵感无需等待，即刻成为现实。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1595" y="258445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7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</a:t>
            </a:r>
            <a:r>
              <a:rPr lang="zh-CN" altLang="en-US" sz="7200" b="1" i="0" u="none" strike="noStrike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大家！</a:t>
            </a:r>
            <a:endParaRPr lang="zh-CN" altLang="en-US" sz="7200" b="1" i="0" u="none" strike="noStrike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0" y="596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15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16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17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18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19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0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1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2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3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4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5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ags/tag26.xml><?xml version="1.0" encoding="utf-8"?>
<p:tagLst xmlns:p="http://schemas.openxmlformats.org/presentationml/2006/main">
  <p:tag name="KSO_WM_DIAGRAM_VIRTUALLY_FRAME" val="{&quot;height&quot;:300,&quot;left&quot;:490,&quot;top&quot;:165,&quot;width&quot;:39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2646</Words>
  <Application>WPS 演示</Application>
  <PresentationFormat/>
  <Paragraphs>154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WPS_1718022752</cp:lastModifiedBy>
  <cp:revision>27</cp:revision>
  <dcterms:created xsi:type="dcterms:W3CDTF">2026-05-17T14:09:00Z</dcterms:created>
  <dcterms:modified xsi:type="dcterms:W3CDTF">2026-10-27T07:53:12Z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E6DCD2690C444FDBB1BDEA8567BF7CDF_12</vt:lpwstr>
  </property>
</Properties>
</file>