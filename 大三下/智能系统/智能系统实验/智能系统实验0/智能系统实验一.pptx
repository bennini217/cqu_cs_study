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7" r:id="rId2"/>
    <p:sldId id="266" r:id="rId3"/>
    <p:sldId id="328" r:id="rId4"/>
    <p:sldId id="355" r:id="rId5"/>
    <p:sldId id="356" r:id="rId6"/>
    <p:sldId id="357" r:id="rId7"/>
    <p:sldId id="358" r:id="rId8"/>
    <p:sldId id="362" r:id="rId9"/>
    <p:sldId id="360" r:id="rId10"/>
    <p:sldId id="361" r:id="rId11"/>
    <p:sldId id="351" r:id="rId12"/>
    <p:sldId id="364" r:id="rId13"/>
    <p:sldId id="354" r:id="rId14"/>
    <p:sldId id="376" r:id="rId15"/>
    <p:sldId id="365" r:id="rId16"/>
    <p:sldId id="366" r:id="rId17"/>
    <p:sldId id="369" r:id="rId18"/>
    <p:sldId id="371" r:id="rId19"/>
    <p:sldId id="367" r:id="rId20"/>
    <p:sldId id="370" r:id="rId21"/>
    <p:sldId id="342" r:id="rId22"/>
    <p:sldId id="372" r:id="rId23"/>
    <p:sldId id="373" r:id="rId24"/>
    <p:sldId id="374" r:id="rId25"/>
    <p:sldId id="343" r:id="rId26"/>
    <p:sldId id="344" r:id="rId27"/>
    <p:sldId id="377" r:id="rId28"/>
    <p:sldId id="379" r:id="rId29"/>
    <p:sldId id="381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" initials="M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74"/>
    <a:srgbClr val="0033CC"/>
    <a:srgbClr val="71CDE4"/>
    <a:srgbClr val="660066"/>
    <a:srgbClr val="FFFFFF"/>
    <a:srgbClr val="EDB9DF"/>
    <a:srgbClr val="AEDAFF"/>
    <a:srgbClr val="0085C6"/>
    <a:srgbClr val="6893B9"/>
    <a:srgbClr val="8AB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8" y="120"/>
      </p:cViewPr>
      <p:guideLst>
        <p:guide orient="horz" pos="217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7FE339-AEFB-4ED3-8568-F5E079498F80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3E89FC-7A01-4326-9D9E-2BBF1DCDA50D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BDC4DC-A066-4304-A437-2EBBFFCA632E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3800AB-4A94-4FC5-945A-7E2C4E6E33D8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63B13C-B5D5-4CFF-90FA-4F30307E5D7F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C5052C-072C-4B50-9BDC-DBBF9E8CDABD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6F4C94-6696-4DB6-82CA-06FBFB31DB37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55EB37-B387-4FFC-9C7A-3852E6119B03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2A9A1D-00B7-46A5-8A03-8E8B0D3869EA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651459-0B68-4E3E-A151-B9393338F9BF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84A940-9BBB-48C1-8EE4-CF60FD960971}"/>
              </a:ext>
            </a:extLst>
          </p:cNvPr>
          <p:cNvSpPr/>
          <p:nvPr userDrawn="1"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0" y="0"/>
            <a:ext cx="3999230" cy="3831590"/>
            <a:chOff x="-48" y="0"/>
            <a:chExt cx="6298" cy="6034"/>
          </a:xfrm>
        </p:grpSpPr>
        <p:pic>
          <p:nvPicPr>
            <p:cNvPr id="4" name="图片 3" descr="预览图_千图网_编号25686508"/>
            <p:cNvPicPr>
              <a:picLocks noChangeAspect="1"/>
            </p:cNvPicPr>
            <p:nvPr/>
          </p:nvPicPr>
          <p:blipFill>
            <a:blip r:embed="rId4"/>
            <a:srcRect l="49481" b="59847"/>
            <a:stretch>
              <a:fillRect/>
            </a:stretch>
          </p:blipFill>
          <p:spPr>
            <a:xfrm rot="16200000">
              <a:off x="84" y="-132"/>
              <a:ext cx="6034" cy="6298"/>
            </a:xfrm>
            <a:prstGeom prst="rect">
              <a:avLst/>
            </a:prstGeom>
            <a:noFill/>
          </p:spPr>
        </p:pic>
        <p:grpSp>
          <p:nvGrpSpPr>
            <p:cNvPr id="13" name="组合 12"/>
            <p:cNvGrpSpPr/>
            <p:nvPr/>
          </p:nvGrpSpPr>
          <p:grpSpPr>
            <a:xfrm>
              <a:off x="637" y="944"/>
              <a:ext cx="1960" cy="3590"/>
              <a:chOff x="637" y="944"/>
              <a:chExt cx="1960" cy="3590"/>
            </a:xfrm>
          </p:grpSpPr>
          <p:sp>
            <p:nvSpPr>
              <p:cNvPr id="10" name="六边形 9"/>
              <p:cNvSpPr/>
              <p:nvPr/>
            </p:nvSpPr>
            <p:spPr>
              <a:xfrm>
                <a:off x="637" y="944"/>
                <a:ext cx="1960" cy="1759"/>
              </a:xfrm>
              <a:prstGeom prst="hexagon">
                <a:avLst/>
              </a:prstGeom>
              <a:solidFill>
                <a:srgbClr val="0085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Noto Sans S Chinese"/>
                  <a:cs typeface="+mn-ea"/>
                  <a:sym typeface="Noto Sans S Chinese"/>
                </a:endParaRPr>
              </a:p>
            </p:txBody>
          </p:sp>
          <p:sp>
            <p:nvSpPr>
              <p:cNvPr id="12" name="六边形 11"/>
              <p:cNvSpPr/>
              <p:nvPr/>
            </p:nvSpPr>
            <p:spPr>
              <a:xfrm>
                <a:off x="637" y="2775"/>
                <a:ext cx="1960" cy="1759"/>
              </a:xfrm>
              <a:prstGeom prst="hexagon">
                <a:avLst>
                  <a:gd name="adj" fmla="val 28241"/>
                  <a:gd name="vf" fmla="val 115470"/>
                </a:avLst>
              </a:prstGeom>
              <a:solidFill>
                <a:srgbClr val="0042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Noto Sans S Chinese"/>
                  <a:cs typeface="+mn-ea"/>
                  <a:sym typeface="Noto Sans S Chinese"/>
                </a:endParaRPr>
              </a:p>
            </p:txBody>
          </p:sp>
        </p:grpSp>
      </p:grpSp>
      <p:pic>
        <p:nvPicPr>
          <p:cNvPr id="5" name="图片 4" descr="预览图_千图网_编号25686508"/>
          <p:cNvPicPr>
            <a:picLocks noChangeAspect="1"/>
          </p:cNvPicPr>
          <p:nvPr/>
        </p:nvPicPr>
        <p:blipFill>
          <a:blip r:embed="rId4"/>
          <a:srcRect l="-104" t="54637" r="40889" b="-156"/>
          <a:stretch>
            <a:fillRect/>
          </a:stretch>
        </p:blipFill>
        <p:spPr>
          <a:xfrm rot="16200000">
            <a:off x="8644890" y="3285490"/>
            <a:ext cx="3523615" cy="362204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4694995" y="4391323"/>
            <a:ext cx="3480230" cy="396240"/>
            <a:chOff x="4061" y="7525"/>
            <a:chExt cx="6165" cy="624"/>
          </a:xfrm>
          <a:solidFill>
            <a:srgbClr val="004274"/>
          </a:solidFill>
        </p:grpSpPr>
        <p:sp>
          <p:nvSpPr>
            <p:cNvPr id="20" name="圆角矩形 19"/>
            <p:cNvSpPr/>
            <p:nvPr/>
          </p:nvSpPr>
          <p:spPr>
            <a:xfrm>
              <a:off x="4061" y="7525"/>
              <a:ext cx="6165" cy="6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bg1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476" y="7580"/>
              <a:ext cx="5335" cy="48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Noto Sans S Chinese"/>
                  <a:cs typeface="+mn-ea"/>
                  <a:sym typeface="Noto Sans S Chinese"/>
                </a:rPr>
                <a:t>董傲通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4274544" y="1905944"/>
            <a:ext cx="447430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endParaRPr lang="en-US" altLang="zh-CN" sz="3200" b="1" dirty="0">
              <a:solidFill>
                <a:srgbClr val="004274"/>
              </a:solidFill>
              <a:cs typeface="+mn-ea"/>
              <a:sym typeface="Noto Sans S Chinese"/>
            </a:endParaRPr>
          </a:p>
          <a:p>
            <a:pPr lvl="0" algn="ctr">
              <a:defRPr/>
            </a:pPr>
            <a:r>
              <a:rPr lang="zh-CN" altLang="en-US" sz="3200" b="1" dirty="0">
                <a:solidFill>
                  <a:srgbClr val="004274"/>
                </a:solidFill>
                <a:cs typeface="+mn-ea"/>
                <a:sym typeface="Noto Sans S Chinese"/>
              </a:rPr>
              <a:t>实验一  数据采集与通信</a:t>
            </a:r>
          </a:p>
          <a:p>
            <a:pPr lvl="0" algn="ctr">
              <a:defRPr/>
            </a:pPr>
            <a:r>
              <a:rPr lang="en-US" altLang="zh-CN" sz="3200" b="1" dirty="0">
                <a:solidFill>
                  <a:srgbClr val="004274"/>
                </a:solidFill>
                <a:latin typeface="Noto Sans S Chinese"/>
                <a:cs typeface="+mn-ea"/>
                <a:sym typeface="Noto Sans S Chinese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6A4758-4CE6-4B28-9FBE-9C29545B9CF1}"/>
              </a:ext>
            </a:extLst>
          </p:cNvPr>
          <p:cNvSpPr/>
          <p:nvPr/>
        </p:nvSpPr>
        <p:spPr>
          <a:xfrm>
            <a:off x="9378775" y="324111"/>
            <a:ext cx="2492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《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智能系统</a:t>
            </a:r>
            <a:r>
              <a:rPr lang="en-US" altLang="zh-CN" b="1" dirty="0">
                <a:solidFill>
                  <a:srgbClr val="004274"/>
                </a:solidFill>
                <a:cs typeface="+mn-ea"/>
                <a:sym typeface="Noto Sans S Chinese"/>
              </a:rPr>
              <a:t>》</a:t>
            </a:r>
            <a:r>
              <a:rPr lang="zh-CN" altLang="en-US" b="1" dirty="0">
                <a:solidFill>
                  <a:srgbClr val="004274"/>
                </a:solidFill>
                <a:cs typeface="+mn-ea"/>
                <a:sym typeface="Noto Sans S Chinese"/>
              </a:rPr>
              <a:t>实验课程</a:t>
            </a:r>
            <a:endParaRPr lang="en-US" altLang="zh-CN" b="1" dirty="0">
              <a:solidFill>
                <a:srgbClr val="004274"/>
              </a:solidFill>
              <a:cs typeface="+mn-ea"/>
              <a:sym typeface="Noto Sans S Chinese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-3689" y="635"/>
            <a:ext cx="3999230" cy="3831590"/>
            <a:chOff x="-49" y="1"/>
            <a:chExt cx="6298" cy="6034"/>
          </a:xfrm>
        </p:grpSpPr>
        <p:pic>
          <p:nvPicPr>
            <p:cNvPr id="39" name="图片 38" descr="预览图_千图网_编号25686508"/>
            <p:cNvPicPr>
              <a:picLocks noChangeAspect="1"/>
            </p:cNvPicPr>
            <p:nvPr/>
          </p:nvPicPr>
          <p:blipFill>
            <a:blip r:embed="rId4"/>
            <a:srcRect l="49481" b="59847"/>
            <a:stretch>
              <a:fillRect/>
            </a:stretch>
          </p:blipFill>
          <p:spPr>
            <a:xfrm rot="16200000">
              <a:off x="83" y="-131"/>
              <a:ext cx="6034" cy="6298"/>
            </a:xfrm>
            <a:prstGeom prst="rect">
              <a:avLst/>
            </a:prstGeom>
            <a:noFill/>
          </p:spPr>
        </p:pic>
        <p:grpSp>
          <p:nvGrpSpPr>
            <p:cNvPr id="41" name="组合 40"/>
            <p:cNvGrpSpPr/>
            <p:nvPr/>
          </p:nvGrpSpPr>
          <p:grpSpPr>
            <a:xfrm>
              <a:off x="637" y="944"/>
              <a:ext cx="1960" cy="3590"/>
              <a:chOff x="637" y="944"/>
              <a:chExt cx="1960" cy="3590"/>
            </a:xfrm>
          </p:grpSpPr>
          <p:sp>
            <p:nvSpPr>
              <p:cNvPr id="42" name="六边形 41"/>
              <p:cNvSpPr/>
              <p:nvPr/>
            </p:nvSpPr>
            <p:spPr>
              <a:xfrm>
                <a:off x="637" y="944"/>
                <a:ext cx="1960" cy="1759"/>
              </a:xfrm>
              <a:prstGeom prst="hexagon">
                <a:avLst/>
              </a:prstGeom>
              <a:solidFill>
                <a:srgbClr val="0085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Noto Sans S Chinese"/>
                  <a:cs typeface="+mn-ea"/>
                  <a:sym typeface="Noto Sans S Chinese"/>
                </a:endParaRPr>
              </a:p>
            </p:txBody>
          </p:sp>
          <p:sp>
            <p:nvSpPr>
              <p:cNvPr id="44" name="六边形 43"/>
              <p:cNvSpPr/>
              <p:nvPr/>
            </p:nvSpPr>
            <p:spPr>
              <a:xfrm>
                <a:off x="637" y="2775"/>
                <a:ext cx="1960" cy="1759"/>
              </a:xfrm>
              <a:prstGeom prst="hexagon">
                <a:avLst>
                  <a:gd name="adj" fmla="val 28241"/>
                  <a:gd name="vf" fmla="val 115470"/>
                </a:avLst>
              </a:prstGeom>
              <a:solidFill>
                <a:srgbClr val="0042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Noto Sans S Chinese"/>
                  <a:cs typeface="+mn-ea"/>
                  <a:sym typeface="Noto Sans S Chinese"/>
                </a:endParaRPr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3931849" y="1550399"/>
            <a:ext cx="58439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4000" b="1" dirty="0">
                <a:solidFill>
                  <a:srgbClr val="004274"/>
                </a:solidFill>
                <a:latin typeface="Noto Sans S Chinese"/>
                <a:cs typeface="+mn-ea"/>
                <a:sym typeface="Noto Sans S Chinese"/>
              </a:rPr>
              <a:t>目录</a:t>
            </a:r>
            <a:r>
              <a:rPr lang="en-US" altLang="zh-CN" sz="4000" b="1" dirty="0">
                <a:solidFill>
                  <a:srgbClr val="004274"/>
                </a:solidFill>
                <a:latin typeface="Noto Sans S Chinese"/>
                <a:cs typeface="+mn-ea"/>
                <a:sym typeface="Noto Sans S Chinese"/>
              </a:rPr>
              <a:t>/CONTENTS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F4D3AE4-3E7E-4DEB-AA60-A7F22FC9E9DF}"/>
              </a:ext>
            </a:extLst>
          </p:cNvPr>
          <p:cNvSpPr txBox="1"/>
          <p:nvPr/>
        </p:nvSpPr>
        <p:spPr>
          <a:xfrm>
            <a:off x="3592575" y="4599716"/>
            <a:ext cx="3295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325288"/>
                </a:solidFill>
                <a:latin typeface="Noto Sans S Chinese"/>
                <a:cs typeface="+mn-ea"/>
                <a:sym typeface="Noto Sans S Chinese"/>
              </a:rPr>
              <a:t>02.</a:t>
            </a:r>
            <a:r>
              <a:rPr lang="zh-CN" altLang="en-US" sz="3200" dirty="0">
                <a:solidFill>
                  <a:srgbClr val="325288"/>
                </a:solidFill>
                <a:cs typeface="+mn-ea"/>
                <a:sym typeface="Noto Sans S Chinese"/>
              </a:rPr>
              <a:t> 实验一</a:t>
            </a:r>
            <a:endParaRPr lang="zh-CN" altLang="en-US" sz="3200" dirty="0">
              <a:solidFill>
                <a:srgbClr val="325288"/>
              </a:solidFill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E2FB592-1041-4E2B-A7E9-4925BEEE75E4}"/>
              </a:ext>
            </a:extLst>
          </p:cNvPr>
          <p:cNvSpPr txBox="1"/>
          <p:nvPr/>
        </p:nvSpPr>
        <p:spPr>
          <a:xfrm>
            <a:off x="3240463" y="3223275"/>
            <a:ext cx="3999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325288"/>
                </a:solidFill>
                <a:latin typeface="Noto Sans S Chinese"/>
                <a:cs typeface="+mn-ea"/>
                <a:sym typeface="Noto Sans S Chinese"/>
              </a:rPr>
              <a:t>01.</a:t>
            </a:r>
            <a:r>
              <a:rPr lang="zh-CN" altLang="en-US" sz="3200" dirty="0">
                <a:solidFill>
                  <a:srgbClr val="325288"/>
                </a:solidFill>
                <a:cs typeface="+mn-ea"/>
                <a:sym typeface="Noto Sans S Chinese"/>
              </a:rPr>
              <a:t> 课程实验概述</a:t>
            </a:r>
            <a:endParaRPr lang="zh-CN" altLang="en-US" sz="3200" dirty="0">
              <a:solidFill>
                <a:srgbClr val="325288"/>
              </a:solidFill>
              <a:latin typeface="Noto Sans S Chinese"/>
              <a:cs typeface="+mn-ea"/>
              <a:sym typeface="Noto Sans S Chinese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9715229" y="5679758"/>
            <a:ext cx="1610690" cy="312831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Noto Sans S Chinese"/>
                <a:cs typeface="+mn-ea"/>
                <a:sym typeface="Noto Sans S Chinese"/>
              </a:rPr>
              <a:t>请替换文字内容</a:t>
            </a:r>
            <a:endParaRPr lang="en-US" sz="1400" b="1" dirty="0">
              <a:solidFill>
                <a:schemeClr val="bg1"/>
              </a:solidFill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971665" y="2572385"/>
            <a:ext cx="4625340" cy="909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2020</a:t>
            </a:r>
            <a:r>
              <a:rPr lang="zh-CN" altLang="en-US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11</a:t>
            </a:r>
            <a:r>
              <a:rPr lang="zh-CN" altLang="en-US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月，四川甘孜藏族自治州理塘县，藏族青年丁真因一条不到</a:t>
            </a:r>
            <a:r>
              <a:rPr lang="en-US" altLang="zh-CN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秒视频意外走红网络。后开通微博账号并接受央视采访继续引发各界关注。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88DA4C4B-E946-4279-ABE0-6A0197405B2E}"/>
              </a:ext>
            </a:extLst>
          </p:cNvPr>
          <p:cNvSpPr/>
          <p:nvPr/>
        </p:nvSpPr>
        <p:spPr>
          <a:xfrm>
            <a:off x="1344632" y="575652"/>
            <a:ext cx="213391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智能系统组成架构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AE4A0B0-E8CD-4539-AB45-7463FCC5A35B}"/>
              </a:ext>
            </a:extLst>
          </p:cNvPr>
          <p:cNvSpPr/>
          <p:nvPr/>
        </p:nvSpPr>
        <p:spPr>
          <a:xfrm>
            <a:off x="591477" y="1366185"/>
            <a:ext cx="5473559" cy="49805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33" name="Rectangle 7">
            <a:extLst>
              <a:ext uri="{FF2B5EF4-FFF2-40B4-BE49-F238E27FC236}">
                <a16:creationId xmlns:a16="http://schemas.microsoft.com/office/drawing/2014/main" id="{0C14428B-33C4-4BE4-9D2E-F5CCD86AAE6D}"/>
              </a:ext>
            </a:extLst>
          </p:cNvPr>
          <p:cNvSpPr/>
          <p:nvPr/>
        </p:nvSpPr>
        <p:spPr>
          <a:xfrm>
            <a:off x="1314802" y="593348"/>
            <a:ext cx="119455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实验简介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C24EAA-1B44-495D-BB67-2BFC284D2C41}"/>
              </a:ext>
            </a:extLst>
          </p:cNvPr>
          <p:cNvSpPr/>
          <p:nvPr/>
        </p:nvSpPr>
        <p:spPr>
          <a:xfrm>
            <a:off x="3343317" y="1480331"/>
            <a:ext cx="914400" cy="503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实验一</a:t>
            </a:r>
          </a:p>
        </p:txBody>
      </p:sp>
    </p:spTree>
    <p:extLst>
      <p:ext uri="{BB962C8B-B14F-4D97-AF65-F5344CB8AC3E}">
        <p14:creationId xmlns:p14="http://schemas.microsoft.com/office/powerpoint/2010/main" val="308684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12CA07AF-30F5-414A-83CD-F4CC8901A346}"/>
              </a:ext>
            </a:extLst>
          </p:cNvPr>
          <p:cNvSpPr/>
          <p:nvPr/>
        </p:nvSpPr>
        <p:spPr>
          <a:xfrm>
            <a:off x="6552286" y="2839261"/>
            <a:ext cx="3782951" cy="9162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A0C30E70-EE2A-4CF3-8270-DD368AC8151B}"/>
              </a:ext>
            </a:extLst>
          </p:cNvPr>
          <p:cNvSpPr/>
          <p:nvPr/>
        </p:nvSpPr>
        <p:spPr>
          <a:xfrm>
            <a:off x="7999751" y="3120901"/>
            <a:ext cx="914399" cy="372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实验二</a:t>
            </a:r>
          </a:p>
        </p:txBody>
      </p:sp>
      <p:sp>
        <p:nvSpPr>
          <p:cNvPr id="49" name="Rectangle 7">
            <a:extLst>
              <a:ext uri="{FF2B5EF4-FFF2-40B4-BE49-F238E27FC236}">
                <a16:creationId xmlns:a16="http://schemas.microsoft.com/office/drawing/2014/main" id="{A61A7DB5-D07B-4C7A-BCC3-26D70A3BE785}"/>
              </a:ext>
            </a:extLst>
          </p:cNvPr>
          <p:cNvSpPr/>
          <p:nvPr/>
        </p:nvSpPr>
        <p:spPr>
          <a:xfrm>
            <a:off x="1314802" y="593348"/>
            <a:ext cx="119455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实验简介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</p:spTree>
    <p:extLst>
      <p:ext uri="{BB962C8B-B14F-4D97-AF65-F5344CB8AC3E}">
        <p14:creationId xmlns:p14="http://schemas.microsoft.com/office/powerpoint/2010/main" val="153154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21BD13BE-F18A-48F5-A5EE-53ABA8736569}"/>
              </a:ext>
            </a:extLst>
          </p:cNvPr>
          <p:cNvSpPr/>
          <p:nvPr/>
        </p:nvSpPr>
        <p:spPr>
          <a:xfrm>
            <a:off x="7672376" y="1924067"/>
            <a:ext cx="1506738" cy="661292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459BB152-10F5-4E08-BFA3-9F3700B3373B}"/>
              </a:ext>
            </a:extLst>
          </p:cNvPr>
          <p:cNvSpPr/>
          <p:nvPr/>
        </p:nvSpPr>
        <p:spPr>
          <a:xfrm>
            <a:off x="11022714" y="1924066"/>
            <a:ext cx="914400" cy="661291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实验三</a:t>
            </a:r>
          </a:p>
        </p:txBody>
      </p:sp>
      <p:sp>
        <p:nvSpPr>
          <p:cNvPr id="51" name="Rectangle 7">
            <a:extLst>
              <a:ext uri="{FF2B5EF4-FFF2-40B4-BE49-F238E27FC236}">
                <a16:creationId xmlns:a16="http://schemas.microsoft.com/office/drawing/2014/main" id="{73F9E6CC-645A-48ED-97DE-AE286581CA26}"/>
              </a:ext>
            </a:extLst>
          </p:cNvPr>
          <p:cNvSpPr/>
          <p:nvPr/>
        </p:nvSpPr>
        <p:spPr>
          <a:xfrm>
            <a:off x="1314802" y="593348"/>
            <a:ext cx="119455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实验简介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89D2ADBF-2D0A-46C8-8CDB-8FB25C78230B}"/>
              </a:ext>
            </a:extLst>
          </p:cNvPr>
          <p:cNvCxnSpPr>
            <a:cxnSpLocks/>
          </p:cNvCxnSpPr>
          <p:nvPr/>
        </p:nvCxnSpPr>
        <p:spPr>
          <a:xfrm>
            <a:off x="9181063" y="2254712"/>
            <a:ext cx="1837764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16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19C7E3CE-6366-4D32-A8B0-7E68F6DB4ACA}"/>
              </a:ext>
            </a:extLst>
          </p:cNvPr>
          <p:cNvSpPr/>
          <p:nvPr/>
        </p:nvSpPr>
        <p:spPr>
          <a:xfrm>
            <a:off x="494950" y="1187864"/>
            <a:ext cx="11467752" cy="536016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5D2AF2A-93AB-4925-9AEE-32EB8A889A88}"/>
              </a:ext>
            </a:extLst>
          </p:cNvPr>
          <p:cNvSpPr/>
          <p:nvPr/>
        </p:nvSpPr>
        <p:spPr>
          <a:xfrm>
            <a:off x="7568006" y="3825732"/>
            <a:ext cx="1857898" cy="7204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C8E1F2-086B-4C59-8992-71B6A443F9B6}"/>
              </a:ext>
            </a:extLst>
          </p:cNvPr>
          <p:cNvSpPr/>
          <p:nvPr/>
        </p:nvSpPr>
        <p:spPr>
          <a:xfrm>
            <a:off x="7672376" y="1924067"/>
            <a:ext cx="1506738" cy="661292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C592871-8D9A-4CAD-818F-4944B29C893A}"/>
              </a:ext>
            </a:extLst>
          </p:cNvPr>
          <p:cNvSpPr/>
          <p:nvPr/>
        </p:nvSpPr>
        <p:spPr>
          <a:xfrm>
            <a:off x="4829175" y="733511"/>
            <a:ext cx="3891832" cy="4452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实验四  解释器设计和系统集成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FFDBB74-969C-424F-90EF-1C1FFECC43E6}"/>
              </a:ext>
            </a:extLst>
          </p:cNvPr>
          <p:cNvSpPr/>
          <p:nvPr/>
        </p:nvSpPr>
        <p:spPr>
          <a:xfrm>
            <a:off x="6552286" y="2839261"/>
            <a:ext cx="3782951" cy="9162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C54558-0A05-4208-A91E-9944D627CDED}"/>
              </a:ext>
            </a:extLst>
          </p:cNvPr>
          <p:cNvSpPr/>
          <p:nvPr/>
        </p:nvSpPr>
        <p:spPr>
          <a:xfrm>
            <a:off x="7999751" y="3120901"/>
            <a:ext cx="914399" cy="372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实验二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8ADEA2-1818-4D7D-8E44-42D354BB22A8}"/>
              </a:ext>
            </a:extLst>
          </p:cNvPr>
          <p:cNvSpPr/>
          <p:nvPr/>
        </p:nvSpPr>
        <p:spPr>
          <a:xfrm>
            <a:off x="591477" y="1366185"/>
            <a:ext cx="5473559" cy="49805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1E91D1-249E-47A4-9EFD-C5EF734A8293}"/>
              </a:ext>
            </a:extLst>
          </p:cNvPr>
          <p:cNvSpPr/>
          <p:nvPr/>
        </p:nvSpPr>
        <p:spPr>
          <a:xfrm>
            <a:off x="3343317" y="1480331"/>
            <a:ext cx="914400" cy="503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实验一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49" name="Rectangle 7">
            <a:extLst>
              <a:ext uri="{FF2B5EF4-FFF2-40B4-BE49-F238E27FC236}">
                <a16:creationId xmlns:a16="http://schemas.microsoft.com/office/drawing/2014/main" id="{5FAA07EF-DEEB-40C9-AEF0-48994959904F}"/>
              </a:ext>
            </a:extLst>
          </p:cNvPr>
          <p:cNvSpPr/>
          <p:nvPr/>
        </p:nvSpPr>
        <p:spPr>
          <a:xfrm>
            <a:off x="1314802" y="593348"/>
            <a:ext cx="119455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实验简介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ED020D8-62AF-474F-84DD-D8B4E594F06B}"/>
              </a:ext>
            </a:extLst>
          </p:cNvPr>
          <p:cNvSpPr/>
          <p:nvPr/>
        </p:nvSpPr>
        <p:spPr>
          <a:xfrm>
            <a:off x="11022714" y="1924066"/>
            <a:ext cx="914400" cy="661291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实验三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E0C90392-2CE3-48B7-92CA-2526A14C2B94}"/>
              </a:ext>
            </a:extLst>
          </p:cNvPr>
          <p:cNvCxnSpPr>
            <a:cxnSpLocks/>
          </p:cNvCxnSpPr>
          <p:nvPr/>
        </p:nvCxnSpPr>
        <p:spPr>
          <a:xfrm>
            <a:off x="9181063" y="2254712"/>
            <a:ext cx="1837764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47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cs typeface="+mn-ea"/>
                  <a:sym typeface="Noto Sans S Chinese"/>
                </a:rPr>
                <a:t>课程实验概述</a:t>
              </a:r>
              <a:endPara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endParaRPr>
            </a:p>
          </p:txBody>
        </p: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88DA4C4B-E946-4279-ABE0-6A0197405B2E}"/>
              </a:ext>
            </a:extLst>
          </p:cNvPr>
          <p:cNvSpPr/>
          <p:nvPr/>
        </p:nvSpPr>
        <p:spPr>
          <a:xfrm>
            <a:off x="1336435" y="548555"/>
            <a:ext cx="1159292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系统演示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9F36C1-190B-4A10-8D16-88FD71EC7AE0}"/>
              </a:ext>
            </a:extLst>
          </p:cNvPr>
          <p:cNvSpPr/>
          <p:nvPr/>
        </p:nvSpPr>
        <p:spPr>
          <a:xfrm>
            <a:off x="2935905" y="2184934"/>
            <a:ext cx="64812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114E60"/>
                </a:solidFill>
                <a:cs typeface="+mn-ea"/>
                <a:sym typeface="Noto Sans S Chinese"/>
              </a:rPr>
              <a:t>实验一：</a:t>
            </a:r>
            <a:r>
              <a:rPr lang="zh-CN" altLang="en-US" sz="4400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z="4400" dirty="0">
              <a:solidFill>
                <a:srgbClr val="114E60"/>
              </a:solidFill>
              <a:cs typeface="+mn-ea"/>
              <a:sym typeface="Noto Sans S Chinese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1ED9F8D-18B9-48B3-BA86-7D0E57596A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648" y="4027358"/>
            <a:ext cx="1446061" cy="20610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097CA8-108F-4D35-8B77-B24E82F72D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30688">
            <a:off x="2008673" y="5119477"/>
            <a:ext cx="1507143" cy="5814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1DAF98A-B6D7-4172-8945-EDC371E4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43161" y="5093368"/>
            <a:ext cx="1256358" cy="42570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0C6FD6F-2FDD-430B-8323-DC1AFB103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64" y="4296177"/>
            <a:ext cx="1446061" cy="1921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249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AE4A0B0-E8CD-4539-AB45-7463FCC5A35B}"/>
              </a:ext>
            </a:extLst>
          </p:cNvPr>
          <p:cNvSpPr/>
          <p:nvPr/>
        </p:nvSpPr>
        <p:spPr>
          <a:xfrm>
            <a:off x="591477" y="1366185"/>
            <a:ext cx="5473559" cy="49805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sp>
        <p:nvSpPr>
          <p:cNvPr id="30" name="矩形: 圆角 29"/>
          <p:cNvSpPr/>
          <p:nvPr/>
        </p:nvSpPr>
        <p:spPr>
          <a:xfrm>
            <a:off x="1344632" y="530047"/>
            <a:ext cx="2302190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2" cy="4696188"/>
            <a:chOff x="-790154" y="1644484"/>
            <a:chExt cx="9569312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50" cy="4038371"/>
              <a:chOff x="1436986" y="1950715"/>
              <a:chExt cx="7522663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30" cy="3607049"/>
                <a:chOff x="1043608" y="3062310"/>
                <a:chExt cx="4042130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30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B9597DBE-E144-485A-80E6-07BE30E5D3C7}"/>
              </a:ext>
            </a:extLst>
          </p:cNvPr>
          <p:cNvSpPr txBox="1"/>
          <p:nvPr/>
        </p:nvSpPr>
        <p:spPr>
          <a:xfrm>
            <a:off x="1278195" y="53682"/>
            <a:ext cx="31077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rPr>
              <a:t>实验一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B73135FC-3F4D-4F76-A90F-0650494B6D69}"/>
              </a:ext>
            </a:extLst>
          </p:cNvPr>
          <p:cNvSpPr/>
          <p:nvPr/>
        </p:nvSpPr>
        <p:spPr>
          <a:xfrm>
            <a:off x="2495727" y="82739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03A141B-B17D-445F-8E5C-1991FD078205}"/>
              </a:ext>
            </a:extLst>
          </p:cNvPr>
          <p:cNvSpPr/>
          <p:nvPr/>
        </p:nvSpPr>
        <p:spPr>
          <a:xfrm>
            <a:off x="1344631" y="530047"/>
            <a:ext cx="2913085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</p:spTree>
    <p:extLst>
      <p:ext uri="{BB962C8B-B14F-4D97-AF65-F5344CB8AC3E}">
        <p14:creationId xmlns:p14="http://schemas.microsoft.com/office/powerpoint/2010/main" val="205921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sp>
        <p:nvSpPr>
          <p:cNvPr id="30" name="矩形: 圆角 29"/>
          <p:cNvSpPr/>
          <p:nvPr/>
        </p:nvSpPr>
        <p:spPr>
          <a:xfrm>
            <a:off x="1344632" y="530047"/>
            <a:ext cx="2302190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9597DBE-E144-485A-80E6-07BE30E5D3C7}"/>
              </a:ext>
            </a:extLst>
          </p:cNvPr>
          <p:cNvSpPr txBox="1"/>
          <p:nvPr/>
        </p:nvSpPr>
        <p:spPr>
          <a:xfrm>
            <a:off x="1278195" y="53682"/>
            <a:ext cx="31077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rPr>
              <a:t>实验一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B73135FC-3F4D-4F76-A90F-0650494B6D69}"/>
              </a:ext>
            </a:extLst>
          </p:cNvPr>
          <p:cNvSpPr/>
          <p:nvPr/>
        </p:nvSpPr>
        <p:spPr>
          <a:xfrm>
            <a:off x="2495727" y="82739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03A141B-B17D-445F-8E5C-1991FD078205}"/>
              </a:ext>
            </a:extLst>
          </p:cNvPr>
          <p:cNvSpPr/>
          <p:nvPr/>
        </p:nvSpPr>
        <p:spPr>
          <a:xfrm>
            <a:off x="1344631" y="530047"/>
            <a:ext cx="2913085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1AD7B7-0C0A-43E2-9153-870DE70B229B}"/>
              </a:ext>
            </a:extLst>
          </p:cNvPr>
          <p:cNvSpPr txBox="1"/>
          <p:nvPr/>
        </p:nvSpPr>
        <p:spPr>
          <a:xfrm>
            <a:off x="6716973" y="1469294"/>
            <a:ext cx="3892361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4274"/>
                </a:solidFill>
              </a:rPr>
              <a:t>实验硬件：</a:t>
            </a:r>
            <a:endParaRPr lang="en-US" altLang="zh-CN" b="1" dirty="0">
              <a:solidFill>
                <a:srgbClr val="004274"/>
              </a:solidFill>
            </a:endParaRPr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Arduino</a:t>
            </a:r>
            <a:r>
              <a:rPr lang="zh-CN" altLang="en-US" dirty="0"/>
              <a:t>开发板、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红外避障传感器模块、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LED</a:t>
            </a:r>
            <a:r>
              <a:rPr lang="zh-CN" altLang="en-US" dirty="0"/>
              <a:t>交通信号灯发光模块、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连接线、面包板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E721ED-E6E7-45CB-8518-BC785D21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0" y="1652715"/>
            <a:ext cx="5325114" cy="333070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29CB15-FE0E-4014-9868-2FB7EF836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81" y="2357199"/>
            <a:ext cx="1446061" cy="1921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7014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88DA4C4B-E946-4279-ABE0-6A0197405B2E}"/>
              </a:ext>
            </a:extLst>
          </p:cNvPr>
          <p:cNvSpPr/>
          <p:nvPr/>
        </p:nvSpPr>
        <p:spPr>
          <a:xfrm>
            <a:off x="1228738" y="593348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D74508C-504F-4271-BDC8-26A22D1E6B2B}"/>
              </a:ext>
            </a:extLst>
          </p:cNvPr>
          <p:cNvGrpSpPr/>
          <p:nvPr/>
        </p:nvGrpSpPr>
        <p:grpSpPr>
          <a:xfrm>
            <a:off x="659447" y="5250882"/>
            <a:ext cx="3929249" cy="398620"/>
            <a:chOff x="-148245" y="6002277"/>
            <a:chExt cx="3929249" cy="398620"/>
          </a:xfrm>
        </p:grpSpPr>
        <p:sp>
          <p:nvSpPr>
            <p:cNvPr id="65" name="TextBox 5">
              <a:extLst>
                <a:ext uri="{FF2B5EF4-FFF2-40B4-BE49-F238E27FC236}">
                  <a16:creationId xmlns:a16="http://schemas.microsoft.com/office/drawing/2014/main" id="{7B9498FA-1F46-41AD-82E8-980BC21E6588}"/>
                </a:ext>
              </a:extLst>
            </p:cNvPr>
            <p:cNvSpPr txBox="1"/>
            <p:nvPr/>
          </p:nvSpPr>
          <p:spPr>
            <a:xfrm>
              <a:off x="-148245" y="6031565"/>
              <a:ext cx="2109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传感器子系统</a:t>
              </a:r>
            </a:p>
          </p:txBody>
        </p:sp>
        <p:sp>
          <p:nvSpPr>
            <p:cNvPr id="66" name="TextBox 6">
              <a:extLst>
                <a:ext uri="{FF2B5EF4-FFF2-40B4-BE49-F238E27FC236}">
                  <a16:creationId xmlns:a16="http://schemas.microsoft.com/office/drawing/2014/main" id="{43655024-6343-42CD-B4AE-A5A3042143D9}"/>
                </a:ext>
              </a:extLst>
            </p:cNvPr>
            <p:cNvSpPr txBox="1"/>
            <p:nvPr/>
          </p:nvSpPr>
          <p:spPr>
            <a:xfrm>
              <a:off x="2211344" y="600227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下位机子系统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6FFAFD63-0EF4-4599-BCCF-3DD18B666033}"/>
              </a:ext>
            </a:extLst>
          </p:cNvPr>
          <p:cNvSpPr txBox="1"/>
          <p:nvPr/>
        </p:nvSpPr>
        <p:spPr>
          <a:xfrm>
            <a:off x="5913198" y="1196033"/>
            <a:ext cx="58679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实验内容：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zh-CN" dirty="0"/>
              <a:t>传感器</a:t>
            </a:r>
            <a:r>
              <a:rPr lang="en-US" altLang="zh-CN" dirty="0"/>
              <a:t>-</a:t>
            </a:r>
            <a:r>
              <a:rPr lang="zh-CN" altLang="zh-CN" dirty="0"/>
              <a:t>下位机</a:t>
            </a:r>
            <a:r>
              <a:rPr lang="en-US" altLang="zh-CN" dirty="0"/>
              <a:t>-</a:t>
            </a:r>
            <a:r>
              <a:rPr lang="zh-CN" altLang="zh-CN" dirty="0"/>
              <a:t>上位机的连接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物理连接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下位机数据采集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下位机采集程序设计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数据编码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zh-CN" dirty="0"/>
              <a:t>数据编码与传输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下位机与上位机通信，内容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00"/>
                </a:solidFill>
              </a:rPr>
              <a:t>采集数据和控制命令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zh-CN" dirty="0"/>
              <a:t>数据解析与输出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上位机对接收到的数据解析，输出</a:t>
            </a:r>
            <a:r>
              <a:rPr lang="zh-CN" altLang="en-US" dirty="0"/>
              <a:t>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0BC47CC-9311-4179-82AC-9C89AC007E77}"/>
              </a:ext>
            </a:extLst>
          </p:cNvPr>
          <p:cNvSpPr txBox="1"/>
          <p:nvPr/>
        </p:nvSpPr>
        <p:spPr>
          <a:xfrm>
            <a:off x="5989250" y="4678736"/>
            <a:ext cx="34603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4274"/>
                </a:solidFill>
              </a:rPr>
              <a:t>实验软件：</a:t>
            </a:r>
            <a:endParaRPr lang="en-US" altLang="zh-CN" b="1" dirty="0">
              <a:solidFill>
                <a:srgbClr val="004274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1.Arduino IDE  </a:t>
            </a:r>
            <a:r>
              <a:rPr lang="zh-CN" altLang="en-US" dirty="0"/>
              <a:t>开发工具（下位机）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上位机程序开发工具（上位机）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146E43-8726-40F0-84AD-FDBB3B469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09" y="1650624"/>
            <a:ext cx="4713361" cy="30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6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sp>
        <p:nvSpPr>
          <p:cNvPr id="30" name="矩形: 圆角 29"/>
          <p:cNvSpPr/>
          <p:nvPr/>
        </p:nvSpPr>
        <p:spPr>
          <a:xfrm>
            <a:off x="1344632" y="530047"/>
            <a:ext cx="2302190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9597DBE-E144-485A-80E6-07BE30E5D3C7}"/>
              </a:ext>
            </a:extLst>
          </p:cNvPr>
          <p:cNvSpPr txBox="1"/>
          <p:nvPr/>
        </p:nvSpPr>
        <p:spPr>
          <a:xfrm>
            <a:off x="1278195" y="53682"/>
            <a:ext cx="31077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14E60"/>
                </a:solidFill>
                <a:latin typeface="Noto Sans S Chinese"/>
                <a:cs typeface="+mn-ea"/>
                <a:sym typeface="Noto Sans S Chinese"/>
              </a:rPr>
              <a:t>实验一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B73135FC-3F4D-4F76-A90F-0650494B6D69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03A141B-B17D-445F-8E5C-1991FD078205}"/>
              </a:ext>
            </a:extLst>
          </p:cNvPr>
          <p:cNvSpPr/>
          <p:nvPr/>
        </p:nvSpPr>
        <p:spPr>
          <a:xfrm>
            <a:off x="1344631" y="530047"/>
            <a:ext cx="2913085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1EEE9F-D098-4C64-BC65-A5B3ED142491}"/>
              </a:ext>
            </a:extLst>
          </p:cNvPr>
          <p:cNvSpPr txBox="1"/>
          <p:nvPr/>
        </p:nvSpPr>
        <p:spPr>
          <a:xfrm>
            <a:off x="6096000" y="1573619"/>
            <a:ext cx="5473559" cy="4445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实验步骤：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1.   </a:t>
            </a:r>
            <a:r>
              <a:rPr lang="zh-CN" altLang="zh-CN" dirty="0"/>
              <a:t>连接传感器</a:t>
            </a:r>
            <a:r>
              <a:rPr lang="en-US" altLang="zh-CN" dirty="0"/>
              <a:t>-</a:t>
            </a:r>
            <a:r>
              <a:rPr lang="zh-CN" altLang="zh-CN" dirty="0"/>
              <a:t>下位机</a:t>
            </a:r>
            <a:r>
              <a:rPr lang="en-US" altLang="zh-CN" dirty="0"/>
              <a:t>-</a:t>
            </a:r>
            <a:r>
              <a:rPr lang="zh-CN" altLang="zh-CN" dirty="0"/>
              <a:t>上位机</a:t>
            </a:r>
            <a:r>
              <a:rPr lang="zh-CN" altLang="en-US" dirty="0"/>
              <a:t>。</a:t>
            </a:r>
            <a:endParaRPr lang="zh-CN" altLang="zh-CN" dirty="0"/>
          </a:p>
          <a:p>
            <a:pPr marL="342900" indent="-342900">
              <a:lnSpc>
                <a:spcPct val="200000"/>
              </a:lnSpc>
              <a:buAutoNum type="arabicPeriod" startAt="2"/>
            </a:pPr>
            <a:r>
              <a:rPr lang="zh-CN" altLang="en-US" dirty="0">
                <a:solidFill>
                  <a:srgbClr val="C00000"/>
                </a:solidFill>
              </a:rPr>
              <a:t>下位机程序设计</a:t>
            </a:r>
            <a:r>
              <a:rPr lang="zh-CN" altLang="en-US" dirty="0"/>
              <a:t>。采集传感器信号，编码后传输给上位机；接收上位机发送的编码数据，解析后根据解析结果向信号灯发送控制命令。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 startAt="2"/>
            </a:pPr>
            <a:r>
              <a:rPr lang="zh-CN" altLang="en-US" dirty="0">
                <a:solidFill>
                  <a:srgbClr val="C00000"/>
                </a:solidFill>
              </a:rPr>
              <a:t>上位机程序设计</a:t>
            </a:r>
            <a:r>
              <a:rPr lang="zh-CN" altLang="en-US" dirty="0"/>
              <a:t>。接收下位机发送的采集信号，根据业务需求生成控制命令，对控制命令进行编码后发送给下位机。</a:t>
            </a:r>
            <a:endParaRPr lang="zh-CN" altLang="zh-CN" dirty="0"/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51E7095D-B321-44C7-BB16-215263CC0676}"/>
              </a:ext>
            </a:extLst>
          </p:cNvPr>
          <p:cNvSpPr txBox="1"/>
          <p:nvPr/>
        </p:nvSpPr>
        <p:spPr>
          <a:xfrm>
            <a:off x="659447" y="5354126"/>
            <a:ext cx="2109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传感器子系统</a:t>
            </a:r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id="{0FBF2F42-47FE-4F17-B9C0-0A9F4F24F38A}"/>
              </a:ext>
            </a:extLst>
          </p:cNvPr>
          <p:cNvSpPr txBox="1"/>
          <p:nvPr/>
        </p:nvSpPr>
        <p:spPr>
          <a:xfrm>
            <a:off x="2861992" y="53226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下位机子系统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C731D135-1FA9-44A2-92D5-6240D1A9086F}"/>
              </a:ext>
            </a:extLst>
          </p:cNvPr>
          <p:cNvSpPr/>
          <p:nvPr/>
        </p:nvSpPr>
        <p:spPr>
          <a:xfrm>
            <a:off x="1972020" y="549347"/>
            <a:ext cx="1159292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Noto Sans S Chinese"/>
                <a:cs typeface="+mn-ea"/>
                <a:sym typeface="Noto Sans S Chinese"/>
              </a:rPr>
              <a:t>实验步骤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B6BABD3-DF6C-4227-9F83-AB7169F9E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09" y="1650624"/>
            <a:ext cx="4713361" cy="30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9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6011838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88DA4C4B-E946-4279-ABE0-6A0197405B2E}"/>
              </a:ext>
            </a:extLst>
          </p:cNvPr>
          <p:cNvSpPr/>
          <p:nvPr/>
        </p:nvSpPr>
        <p:spPr>
          <a:xfrm>
            <a:off x="2495726" y="14184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9E20EC-E772-4D40-A79C-3D99A1E686D8}"/>
              </a:ext>
            </a:extLst>
          </p:cNvPr>
          <p:cNvSpPr/>
          <p:nvPr/>
        </p:nvSpPr>
        <p:spPr>
          <a:xfrm>
            <a:off x="1264249" y="550747"/>
            <a:ext cx="4353216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zh-CN" dirty="0"/>
              <a:t>传感器</a:t>
            </a:r>
            <a:r>
              <a:rPr lang="en-US" altLang="zh-CN" dirty="0"/>
              <a:t>-</a:t>
            </a:r>
            <a:r>
              <a:rPr lang="zh-CN" altLang="zh-CN" dirty="0"/>
              <a:t>下位机</a:t>
            </a:r>
            <a:r>
              <a:rPr lang="en-US" altLang="zh-CN" dirty="0"/>
              <a:t>-</a:t>
            </a:r>
            <a:r>
              <a:rPr lang="zh-CN" altLang="zh-CN" dirty="0"/>
              <a:t>上位机的连接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8CE5C5-9247-48CF-8846-2D00608BF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445162"/>
            <a:ext cx="107632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7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6011838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88DA4C4B-E946-4279-ABE0-6A0197405B2E}"/>
              </a:ext>
            </a:extLst>
          </p:cNvPr>
          <p:cNvSpPr/>
          <p:nvPr/>
        </p:nvSpPr>
        <p:spPr>
          <a:xfrm>
            <a:off x="2495726" y="14184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9E20EC-E772-4D40-A79C-3D99A1E686D8}"/>
              </a:ext>
            </a:extLst>
          </p:cNvPr>
          <p:cNvSpPr/>
          <p:nvPr/>
        </p:nvSpPr>
        <p:spPr>
          <a:xfrm>
            <a:off x="1264249" y="550747"/>
            <a:ext cx="4353216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zh-CN" dirty="0"/>
              <a:t>传感器</a:t>
            </a:r>
            <a:r>
              <a:rPr lang="en-US" altLang="zh-CN" dirty="0"/>
              <a:t>-</a:t>
            </a:r>
            <a:r>
              <a:rPr lang="zh-CN" altLang="zh-CN" dirty="0"/>
              <a:t>下位机</a:t>
            </a:r>
            <a:r>
              <a:rPr lang="en-US" altLang="zh-CN" dirty="0"/>
              <a:t>-</a:t>
            </a:r>
            <a:r>
              <a:rPr lang="zh-CN" altLang="zh-CN" dirty="0"/>
              <a:t>上位机的连接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07BF963-EB0D-485E-8C36-8DFF022B3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31" y="1336864"/>
            <a:ext cx="7630974" cy="523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3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12AA4CD-5627-4806-9967-23F7206A014B}"/>
              </a:ext>
            </a:extLst>
          </p:cNvPr>
          <p:cNvSpPr/>
          <p:nvPr/>
        </p:nvSpPr>
        <p:spPr>
          <a:xfrm>
            <a:off x="466598" y="1135912"/>
            <a:ext cx="5690921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2.1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开发环境搭建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  <a:p>
            <a:pPr marL="70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下载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Arduino IDE 1.8.19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，安装。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70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软件配置。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1008000" indent="-342900">
              <a:lnSpc>
                <a:spcPct val="150000"/>
              </a:lnSpc>
              <a:buAutoNum type="arabicParenR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使用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USB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连接线将开发板与上位机连接。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1008000" indent="-342900">
              <a:lnSpc>
                <a:spcPct val="150000"/>
              </a:lnSpc>
              <a:buAutoNum type="arabicParenR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工具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-&gt;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开发板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-&gt; Arduino Uno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。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1008000" indent="-342900">
              <a:lnSpc>
                <a:spcPct val="150000"/>
              </a:lnSpc>
              <a:buAutoNum type="arabicParenR"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工具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-&gt;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端口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-&gt; com1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。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上位机程序中使用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360000">
              <a:lnSpc>
                <a:spcPct val="150000"/>
              </a:lnSpc>
            </a:pP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360000">
              <a:lnSpc>
                <a:spcPct val="15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其他：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</a:rPr>
              <a:t>VSCode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 + Arduino IDE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。具有代码补全功能。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参考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《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使用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VS code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搭建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Arduino IDE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环境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》</a:t>
            </a:r>
          </a:p>
          <a:p>
            <a:pPr marL="360000">
              <a:lnSpc>
                <a:spcPct val="150000"/>
              </a:lnSpc>
            </a:pP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086AC9-579C-427D-8432-BFF0541DBE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688" b="55963"/>
          <a:stretch/>
        </p:blipFill>
        <p:spPr>
          <a:xfrm>
            <a:off x="6723175" y="1014335"/>
            <a:ext cx="4572450" cy="2556028"/>
          </a:xfrm>
          <a:prstGeom prst="rect">
            <a:avLst/>
          </a:prstGeom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5BFBCBC2-E781-4356-AAF0-D5993A7275ED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338899-D9A2-408B-8ABA-D6096782AE3F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zh-CN" dirty="0"/>
              <a:t>下位机</a:t>
            </a:r>
            <a:r>
              <a:rPr lang="zh-CN" altLang="en-US" dirty="0"/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FDFEED-A3FC-4825-AC55-1B171597E3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" t="156" r="30415" b="42299"/>
          <a:stretch/>
        </p:blipFill>
        <p:spPr>
          <a:xfrm>
            <a:off x="6723175" y="3825382"/>
            <a:ext cx="4572450" cy="268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0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8EC74A9-3BFC-42C0-BA95-C4A929726F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33" t="12043" r="38693" b="44153"/>
          <a:stretch/>
        </p:blipFill>
        <p:spPr>
          <a:xfrm>
            <a:off x="2427121" y="1999085"/>
            <a:ext cx="7723652" cy="430816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201F912-CE0E-4E55-9651-65095C3E8B89}"/>
              </a:ext>
            </a:extLst>
          </p:cNvPr>
          <p:cNvSpPr txBox="1"/>
          <p:nvPr/>
        </p:nvSpPr>
        <p:spPr>
          <a:xfrm>
            <a:off x="5496903" y="1237694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Blink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示例程序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811D5A2-A45B-400B-ACBF-7D81DF98FFAE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D577D03-0869-4B45-B19F-B5D9A08C16DB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0BE3147-6F3F-472A-84FB-86A5B48BE5BA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5" name="Rectangle 7">
            <a:extLst>
              <a:ext uri="{FF2B5EF4-FFF2-40B4-BE49-F238E27FC236}">
                <a16:creationId xmlns:a16="http://schemas.microsoft.com/office/drawing/2014/main" id="{500E2C45-9342-4EF9-9837-02C165E505CA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7288AC-07B1-43FA-96A1-FD827367BD0F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A926B7-88A5-471F-B219-CB3B695CB1E9}"/>
              </a:ext>
            </a:extLst>
          </p:cNvPr>
          <p:cNvSpPr/>
          <p:nvPr/>
        </p:nvSpPr>
        <p:spPr>
          <a:xfrm>
            <a:off x="783367" y="1143438"/>
            <a:ext cx="1451297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13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12AA4CD-5627-4806-9967-23F7206A014B}"/>
              </a:ext>
            </a:extLst>
          </p:cNvPr>
          <p:cNvSpPr/>
          <p:nvPr/>
        </p:nvSpPr>
        <p:spPr>
          <a:xfrm>
            <a:off x="783367" y="1143438"/>
            <a:ext cx="1451297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B985C7-7245-4B97-BBCA-BA3CB7A0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815" y="1957204"/>
            <a:ext cx="7629726" cy="490079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4D4A9CA-9A7A-47B0-9054-ADE0FAA2C48A}"/>
              </a:ext>
            </a:extLst>
          </p:cNvPr>
          <p:cNvSpPr txBox="1"/>
          <p:nvPr/>
        </p:nvSpPr>
        <p:spPr>
          <a:xfrm>
            <a:off x="935714" y="2172749"/>
            <a:ext cx="145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验证、上传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CFE6A7-BD0E-4F47-ACC7-88D1E766E3D6}"/>
              </a:ext>
            </a:extLst>
          </p:cNvPr>
          <p:cNvSpPr txBox="1"/>
          <p:nvPr/>
        </p:nvSpPr>
        <p:spPr>
          <a:xfrm>
            <a:off x="10369095" y="2107384"/>
            <a:ext cx="1451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串口监视器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模拟上位机，测试代码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C0DE1E-BD86-4183-8C0E-E73E784492CD}"/>
              </a:ext>
            </a:extLst>
          </p:cNvPr>
          <p:cNvSpPr/>
          <p:nvPr/>
        </p:nvSpPr>
        <p:spPr>
          <a:xfrm>
            <a:off x="3028426" y="2172749"/>
            <a:ext cx="520117" cy="234891"/>
          </a:xfrm>
          <a:prstGeom prst="rect">
            <a:avLst/>
          </a:prstGeom>
          <a:noFill/>
          <a:ln>
            <a:solidFill>
              <a:srgbClr val="0042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129DDC-76B8-4251-B20B-6A90AE2686B4}"/>
              </a:ext>
            </a:extLst>
          </p:cNvPr>
          <p:cNvSpPr/>
          <p:nvPr/>
        </p:nvSpPr>
        <p:spPr>
          <a:xfrm>
            <a:off x="3687097" y="183924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新建、打开、保存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200E6E6-E8B1-441C-AA31-90C6A799F43B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AA116A3-A2D0-4ACB-A277-AD09FD383A18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4A160BA-1EDE-4C5B-A4E6-236C65218E5A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1" name="Rectangle 7">
            <a:extLst>
              <a:ext uri="{FF2B5EF4-FFF2-40B4-BE49-F238E27FC236}">
                <a16:creationId xmlns:a16="http://schemas.microsoft.com/office/drawing/2014/main" id="{07ED62DE-8BA5-40F6-98A4-7D5FF10A0C8A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33554C-D8BC-426D-A96A-21802F8091B2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FC1E6A-B35F-40D7-8C2A-83079A0565AE}"/>
              </a:ext>
            </a:extLst>
          </p:cNvPr>
          <p:cNvSpPr txBox="1"/>
          <p:nvPr/>
        </p:nvSpPr>
        <p:spPr>
          <a:xfrm>
            <a:off x="5496903" y="1237694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Blink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示例程序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1D8864-0136-4176-AB8C-39991BCBB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235" y="3073668"/>
            <a:ext cx="4250902" cy="312234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075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12AA4CD-5627-4806-9967-23F7206A014B}"/>
              </a:ext>
            </a:extLst>
          </p:cNvPr>
          <p:cNvSpPr/>
          <p:nvPr/>
        </p:nvSpPr>
        <p:spPr>
          <a:xfrm>
            <a:off x="783367" y="1143438"/>
            <a:ext cx="1451297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200E6E6-E8B1-441C-AA31-90C6A799F43B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AA116A3-A2D0-4ACB-A277-AD09FD383A18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4A160BA-1EDE-4C5B-A4E6-236C65218E5A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1" name="Rectangle 7">
            <a:extLst>
              <a:ext uri="{FF2B5EF4-FFF2-40B4-BE49-F238E27FC236}">
                <a16:creationId xmlns:a16="http://schemas.microsoft.com/office/drawing/2014/main" id="{07ED62DE-8BA5-40F6-98A4-7D5FF10A0C8A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33554C-D8BC-426D-A96A-21802F8091B2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FC1E6A-B35F-40D7-8C2A-83079A0565AE}"/>
              </a:ext>
            </a:extLst>
          </p:cNvPr>
          <p:cNvSpPr txBox="1"/>
          <p:nvPr/>
        </p:nvSpPr>
        <p:spPr>
          <a:xfrm>
            <a:off x="5496903" y="1237694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运行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Blink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示例程序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E3C6DE-944E-44B6-A81E-BEEC333557AC}"/>
              </a:ext>
            </a:extLst>
          </p:cNvPr>
          <p:cNvSpPr txBox="1"/>
          <p:nvPr/>
        </p:nvSpPr>
        <p:spPr>
          <a:xfrm>
            <a:off x="2825118" y="2269068"/>
            <a:ext cx="668163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）使用</a:t>
            </a:r>
            <a:r>
              <a:rPr lang="en-US" altLang="zh-CN" dirty="0"/>
              <a:t>USB</a:t>
            </a:r>
            <a:r>
              <a:rPr lang="zh-CN" altLang="en-US" dirty="0"/>
              <a:t>连接线将组装好的开发板连接到上位机（计算机）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）点击</a:t>
            </a:r>
            <a:r>
              <a:rPr lang="en-US" altLang="zh-CN" dirty="0"/>
              <a:t>Arduino IDE</a:t>
            </a:r>
            <a:r>
              <a:rPr lang="zh-CN" altLang="en-US" dirty="0"/>
              <a:t>的验证按钮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）点击上传按钮。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备注：每次更新代码前，都必须点击上传按钮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247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9ECCBA2-EFA4-4EEB-9F63-CF4800C15889}"/>
              </a:ext>
            </a:extLst>
          </p:cNvPr>
          <p:cNvSpPr txBox="1"/>
          <p:nvPr/>
        </p:nvSpPr>
        <p:spPr>
          <a:xfrm>
            <a:off x="2665609" y="1759191"/>
            <a:ext cx="79129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// the setup function runs once when you press reset or power the board</a:t>
            </a:r>
            <a:r>
              <a:rPr lang="zh-CN" altLang="zh-CN" sz="1400" dirty="0"/>
              <a:t> </a:t>
            </a:r>
            <a:endParaRPr lang="en-US" altLang="zh-CN" sz="1400" dirty="0"/>
          </a:p>
          <a:p>
            <a:r>
              <a:rPr lang="en-US" altLang="zh-CN" dirty="0"/>
              <a:t>void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setup() 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主要做配置或初始化操作。</a:t>
            </a:r>
            <a:endParaRPr lang="en-US" altLang="zh-CN" dirty="0"/>
          </a:p>
          <a:p>
            <a:r>
              <a:rPr lang="en-US" altLang="zh-CN" dirty="0"/>
              <a:t>  // initialize digital pin LED_BUILTIN as an output. </a:t>
            </a:r>
            <a:endParaRPr lang="en-US" altLang="zh-CN" sz="1400" dirty="0"/>
          </a:p>
          <a:p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71CDE4"/>
                </a:highlight>
              </a:rPr>
              <a:t>pinMode</a:t>
            </a:r>
            <a:r>
              <a:rPr lang="en-US" altLang="zh-CN" dirty="0">
                <a:solidFill>
                  <a:srgbClr val="FF0000"/>
                </a:solidFill>
                <a:highlight>
                  <a:srgbClr val="71CDE4"/>
                </a:highlight>
              </a:rPr>
              <a:t>(LED_BUILTIN, OUTPUT);  // LED_BUILTIN=13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// the loop function runs over and over again forever</a:t>
            </a:r>
          </a:p>
          <a:p>
            <a:r>
              <a:rPr lang="en-US" altLang="zh-CN" dirty="0"/>
              <a:t>void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loop() 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监听，循环执行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71CDE4"/>
                </a:highlight>
              </a:rPr>
              <a:t>digitalWrite</a:t>
            </a:r>
            <a:r>
              <a:rPr lang="en-US" altLang="zh-CN" dirty="0">
                <a:solidFill>
                  <a:srgbClr val="FF0000"/>
                </a:solidFill>
                <a:highlight>
                  <a:srgbClr val="71CDE4"/>
                </a:highlight>
              </a:rPr>
              <a:t>(LED_BUILTIN, HIGH);   </a:t>
            </a:r>
            <a:r>
              <a:rPr lang="en-US" altLang="zh-CN" dirty="0"/>
              <a:t>// turn the LED on (HIGH is the voltage level)</a:t>
            </a:r>
          </a:p>
          <a:p>
            <a:r>
              <a:rPr lang="en-US" altLang="zh-CN" dirty="0"/>
              <a:t>  delay(1000);                       // wait for a second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digitalWrite</a:t>
            </a:r>
            <a:r>
              <a:rPr lang="en-US" altLang="zh-CN" dirty="0"/>
              <a:t>(LED_BUILTIN, LOW);    // turn the LED off by making the voltage LOW</a:t>
            </a:r>
          </a:p>
          <a:p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  <a:highlight>
                  <a:srgbClr val="71CDE4"/>
                </a:highlight>
              </a:rPr>
              <a:t>delay(1000); </a:t>
            </a:r>
            <a:r>
              <a:rPr lang="en-US" altLang="zh-CN" dirty="0"/>
              <a:t>                      // wait for a second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74671A4-E7C5-4059-A856-5F364B8054C9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709E6EC5-714C-41B8-98EC-74D502135464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EAD1A48-0DF1-4B96-9CC7-2C42E00AD775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3" name="Rectangle 7">
            <a:extLst>
              <a:ext uri="{FF2B5EF4-FFF2-40B4-BE49-F238E27FC236}">
                <a16:creationId xmlns:a16="http://schemas.microsoft.com/office/drawing/2014/main" id="{6407E88E-F2B6-48F7-97D1-D129CD40B7DD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3F5499-25E8-4340-A690-DAFAEDC7895C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4740C49-842E-4A38-9924-BE04A21299F2}"/>
              </a:ext>
            </a:extLst>
          </p:cNvPr>
          <p:cNvSpPr/>
          <p:nvPr/>
        </p:nvSpPr>
        <p:spPr>
          <a:xfrm>
            <a:off x="783367" y="1143438"/>
            <a:ext cx="1451297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3E8857-A9A0-42A1-93F0-2FF1BAC169D0}"/>
              </a:ext>
            </a:extLst>
          </p:cNvPr>
          <p:cNvSpPr txBox="1"/>
          <p:nvPr/>
        </p:nvSpPr>
        <p:spPr>
          <a:xfrm>
            <a:off x="5496903" y="1237694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Blink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示例程序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17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30" name="矩形: 圆角 29"/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9ECCBA2-EFA4-4EEB-9F63-CF4800C15889}"/>
              </a:ext>
            </a:extLst>
          </p:cNvPr>
          <p:cNvSpPr txBox="1"/>
          <p:nvPr/>
        </p:nvSpPr>
        <p:spPr>
          <a:xfrm>
            <a:off x="1149691" y="2023130"/>
            <a:ext cx="426816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入口函数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初始化函数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setup()</a:t>
            </a:r>
          </a:p>
          <a:p>
            <a:pPr marL="342900" indent="-342900">
              <a:buAutoNum type="arabicPeriod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监听函数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void loop()</a:t>
            </a: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引脚配置函数  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pinMode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 (pin , mode);</a:t>
            </a: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与传感器通信，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读取传感器感知的信号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1.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读操作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</a:rPr>
              <a:t>digitalRead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(pin)</a:t>
            </a: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与交通灯通信，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发送控制命令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写操作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</a:rPr>
              <a:t>digitalWrite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 (pin ,value)</a:t>
            </a:r>
          </a:p>
          <a:p>
            <a:pPr algn="ctr"/>
            <a:endParaRPr lang="en-US" altLang="zh-C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965087-EB2F-44F6-8084-3E72324C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EAA5D9-BADB-460E-9097-3071ED10C6DE}"/>
              </a:ext>
            </a:extLst>
          </p:cNvPr>
          <p:cNvSpPr txBox="1"/>
          <p:nvPr/>
        </p:nvSpPr>
        <p:spPr>
          <a:xfrm>
            <a:off x="7405878" y="2141959"/>
            <a:ext cx="4610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</a:rPr>
              <a:t>与上位机通信（串口通信）</a:t>
            </a:r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配置波特率   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Serial.begin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 (9600)</a:t>
            </a:r>
          </a:p>
          <a:p>
            <a:pPr marL="342900" indent="-342900">
              <a:buAutoNum type="arabicPeriod"/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2.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读操作 ，接收上位机传来的数据。 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rgbClr val="004274"/>
                </a:solidFill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004274"/>
                </a:solidFill>
              </a:rPr>
              <a:t> </a:t>
            </a:r>
            <a:r>
              <a:rPr lang="en-US" altLang="zh-CN" sz="1600" dirty="0" err="1">
                <a:solidFill>
                  <a:srgbClr val="004274"/>
                </a:solidFill>
              </a:rPr>
              <a:t>Serial.read</a:t>
            </a:r>
            <a:r>
              <a:rPr lang="en-US" altLang="zh-CN" sz="1600" dirty="0">
                <a:solidFill>
                  <a:srgbClr val="004274"/>
                </a:solidFill>
              </a:rPr>
              <a:t>()</a:t>
            </a:r>
          </a:p>
          <a:p>
            <a:r>
              <a:rPr lang="en-US" altLang="zh-CN" sz="1600" dirty="0">
                <a:solidFill>
                  <a:srgbClr val="004274"/>
                </a:solidFill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</a:rPr>
              <a:t>String</a:t>
            </a:r>
            <a:r>
              <a:rPr lang="en-US" altLang="zh-CN" sz="1600" dirty="0">
                <a:solidFill>
                  <a:srgbClr val="004274"/>
                </a:solidFill>
              </a:rPr>
              <a:t> Serial. </a:t>
            </a:r>
            <a:r>
              <a:rPr lang="en-US" altLang="zh-CN" sz="1600" dirty="0" err="1">
                <a:solidFill>
                  <a:srgbClr val="004274"/>
                </a:solidFill>
              </a:rPr>
              <a:t>readString</a:t>
            </a:r>
            <a:r>
              <a:rPr lang="en-US" altLang="zh-CN" sz="1600" dirty="0">
                <a:solidFill>
                  <a:srgbClr val="004274"/>
                </a:solidFill>
              </a:rPr>
              <a:t>()</a:t>
            </a: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</a:rPr>
              <a:t>3.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写操作，向上位机发送数据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600" dirty="0">
                <a:solidFill>
                  <a:srgbClr val="004274"/>
                </a:solidFill>
              </a:rPr>
              <a:t>       </a:t>
            </a:r>
            <a:r>
              <a:rPr lang="en-US" altLang="zh-CN" sz="1600" dirty="0" err="1">
                <a:solidFill>
                  <a:srgbClr val="004274"/>
                </a:solidFill>
              </a:rPr>
              <a:t>Serial.print</a:t>
            </a:r>
            <a:r>
              <a:rPr lang="en-US" altLang="zh-CN" sz="1600" dirty="0">
                <a:solidFill>
                  <a:srgbClr val="004274"/>
                </a:solidFill>
              </a:rPr>
              <a:t>() </a:t>
            </a:r>
          </a:p>
          <a:p>
            <a:r>
              <a:rPr lang="en-US" altLang="zh-CN" sz="1600" dirty="0">
                <a:solidFill>
                  <a:srgbClr val="004274"/>
                </a:solidFill>
              </a:rPr>
              <a:t>      </a:t>
            </a:r>
            <a:r>
              <a:rPr lang="zh-CN" altLang="en-US" sz="1600" dirty="0">
                <a:solidFill>
                  <a:srgbClr val="004274"/>
                </a:solidFill>
              </a:rPr>
              <a:t> </a:t>
            </a:r>
            <a:r>
              <a:rPr lang="en-US" altLang="zh-CN" sz="1600" dirty="0" err="1">
                <a:solidFill>
                  <a:srgbClr val="004274"/>
                </a:solidFill>
              </a:rPr>
              <a:t>Serial.println</a:t>
            </a:r>
            <a:r>
              <a:rPr lang="en-US" altLang="zh-CN" sz="1600" dirty="0">
                <a:solidFill>
                  <a:srgbClr val="004274"/>
                </a:solidFill>
              </a:rPr>
              <a:t>() </a:t>
            </a:r>
          </a:p>
          <a:p>
            <a:r>
              <a:rPr lang="en-US" altLang="zh-CN" sz="1600" dirty="0">
                <a:solidFill>
                  <a:srgbClr val="004274"/>
                </a:solidFill>
              </a:rPr>
              <a:t>       </a:t>
            </a:r>
            <a:r>
              <a:rPr lang="en-US" altLang="zh-CN" sz="1600" dirty="0" err="1">
                <a:solidFill>
                  <a:srgbClr val="004274"/>
                </a:solidFill>
              </a:rPr>
              <a:t>Serial.write</a:t>
            </a:r>
            <a:r>
              <a:rPr lang="en-US" altLang="zh-CN" sz="1600" dirty="0">
                <a:solidFill>
                  <a:srgbClr val="004274"/>
                </a:solidFill>
              </a:rPr>
              <a:t> ()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B529395-BCF0-4E2D-A560-D887A4E627EA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F00FDE4-FF19-4CB8-94C2-DC2EC9F2C7C8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1C8B599-4622-4026-B529-961360D22DE6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7" name="Rectangle 7">
            <a:extLst>
              <a:ext uri="{FF2B5EF4-FFF2-40B4-BE49-F238E27FC236}">
                <a16:creationId xmlns:a16="http://schemas.microsoft.com/office/drawing/2014/main" id="{939EF450-10C2-4ED8-9E06-C8A5B113BFFC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B04D11-A747-4588-8426-5464A94C6FB4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42814C-4A1E-4E96-8935-B2A9DB084819}"/>
              </a:ext>
            </a:extLst>
          </p:cNvPr>
          <p:cNvSpPr/>
          <p:nvPr/>
        </p:nvSpPr>
        <p:spPr>
          <a:xfrm>
            <a:off x="783367" y="1143438"/>
            <a:ext cx="1451297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13D94-2EB7-42D9-81D7-D295F14F3138}"/>
              </a:ext>
            </a:extLst>
          </p:cNvPr>
          <p:cNvSpPr txBox="1"/>
          <p:nvPr/>
        </p:nvSpPr>
        <p:spPr>
          <a:xfrm>
            <a:off x="5152954" y="1261197"/>
            <a:ext cx="225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Arduino API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常用函数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5190E-DB92-4609-88FB-56DDDE788713}"/>
              </a:ext>
            </a:extLst>
          </p:cNvPr>
          <p:cNvSpPr/>
          <p:nvPr/>
        </p:nvSpPr>
        <p:spPr>
          <a:xfrm>
            <a:off x="3800852" y="2682193"/>
            <a:ext cx="2478564" cy="79162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mode  =   INPUT </a:t>
            </a:r>
            <a:r>
              <a:rPr lang="zh-CN" altLang="en-US" sz="1600" dirty="0">
                <a:solidFill>
                  <a:srgbClr val="C00000"/>
                </a:solidFill>
              </a:rPr>
              <a:t>或</a:t>
            </a:r>
            <a:r>
              <a:rPr lang="en-US" altLang="zh-CN" sz="1600" dirty="0">
                <a:solidFill>
                  <a:srgbClr val="C00000"/>
                </a:solidFill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pin =  </a:t>
            </a:r>
            <a:r>
              <a:rPr lang="zh-CN" altLang="en-US" sz="1600" dirty="0">
                <a:solidFill>
                  <a:srgbClr val="C00000"/>
                </a:solidFill>
              </a:rPr>
              <a:t>引脚序号，</a:t>
            </a:r>
            <a:r>
              <a:rPr lang="en-US" altLang="zh-CN" sz="1600" dirty="0">
                <a:solidFill>
                  <a:srgbClr val="C00000"/>
                </a:solidFill>
              </a:rPr>
              <a:t>2-13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B126403-870C-4317-8B19-0AAAAE77C66E}"/>
              </a:ext>
            </a:extLst>
          </p:cNvPr>
          <p:cNvSpPr/>
          <p:nvPr/>
        </p:nvSpPr>
        <p:spPr>
          <a:xfrm>
            <a:off x="4227316" y="5326932"/>
            <a:ext cx="2052100" cy="42229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value   =   HIGH</a:t>
            </a:r>
            <a:r>
              <a:rPr lang="zh-CN" altLang="en-US" sz="1600" dirty="0">
                <a:solidFill>
                  <a:srgbClr val="C00000"/>
                </a:solidFill>
              </a:rPr>
              <a:t>或</a:t>
            </a:r>
            <a:r>
              <a:rPr lang="en-US" altLang="zh-CN" sz="1600" dirty="0">
                <a:solidFill>
                  <a:srgbClr val="C00000"/>
                </a:solidFill>
              </a:rPr>
              <a:t>LOW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7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152D8B-4AC4-41F6-A465-F8919D24A7D1}"/>
              </a:ext>
            </a:extLst>
          </p:cNvPr>
          <p:cNvSpPr/>
          <p:nvPr/>
        </p:nvSpPr>
        <p:spPr>
          <a:xfrm>
            <a:off x="673164" y="1093138"/>
            <a:ext cx="1826755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DC028C-8A02-40DE-AC64-E9CAE71FB23F}"/>
              </a:ext>
            </a:extLst>
          </p:cNvPr>
          <p:cNvSpPr/>
          <p:nvPr/>
        </p:nvSpPr>
        <p:spPr>
          <a:xfrm>
            <a:off x="3889507" y="1187394"/>
            <a:ext cx="4230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4274"/>
                </a:solidFill>
              </a:rPr>
              <a:t>Serial.read</a:t>
            </a:r>
            <a:r>
              <a:rPr lang="en-US" altLang="zh-CN" dirty="0">
                <a:solidFill>
                  <a:srgbClr val="004274"/>
                </a:solidFill>
              </a:rPr>
              <a:t>() </a:t>
            </a:r>
            <a:r>
              <a:rPr lang="zh-CN" altLang="en-US" dirty="0">
                <a:solidFill>
                  <a:srgbClr val="004274"/>
                </a:solidFill>
              </a:rPr>
              <a:t>与</a:t>
            </a:r>
            <a:r>
              <a:rPr lang="en-US" altLang="zh-CN" dirty="0">
                <a:solidFill>
                  <a:srgbClr val="004274"/>
                </a:solidFill>
              </a:rPr>
              <a:t> </a:t>
            </a:r>
            <a:r>
              <a:rPr lang="en-US" altLang="zh-CN" dirty="0" err="1">
                <a:solidFill>
                  <a:srgbClr val="004274"/>
                </a:solidFill>
              </a:rPr>
              <a:t>Serial.readString</a:t>
            </a:r>
            <a:r>
              <a:rPr lang="en-US" altLang="zh-CN" dirty="0">
                <a:solidFill>
                  <a:srgbClr val="004274"/>
                </a:solidFill>
              </a:rPr>
              <a:t> ()</a:t>
            </a:r>
            <a:r>
              <a:rPr lang="zh-CN" altLang="en-US" dirty="0">
                <a:solidFill>
                  <a:srgbClr val="004274"/>
                </a:solidFill>
              </a:rPr>
              <a:t>的区别</a:t>
            </a:r>
            <a:endParaRPr lang="en-US" altLang="zh-CN" dirty="0">
              <a:solidFill>
                <a:srgbClr val="004274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E9914B-2843-4103-88BA-AABBD0561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1" y="2145589"/>
            <a:ext cx="5407559" cy="3317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DCF8B84-727F-4FD2-9CE2-3D78A113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21208"/>
            <a:ext cx="5111281" cy="336624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488BDF7-E944-4206-A13B-A260BC4F9E93}"/>
              </a:ext>
            </a:extLst>
          </p:cNvPr>
          <p:cNvSpPr/>
          <p:nvPr/>
        </p:nvSpPr>
        <p:spPr>
          <a:xfrm>
            <a:off x="1344632" y="6155426"/>
            <a:ext cx="8456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004274"/>
                </a:solidFill>
              </a:rPr>
              <a:t>Serial.read</a:t>
            </a:r>
            <a:r>
              <a:rPr lang="en-US" altLang="zh-CN" dirty="0">
                <a:solidFill>
                  <a:srgbClr val="004274"/>
                </a:solidFill>
              </a:rPr>
              <a:t>()</a:t>
            </a:r>
            <a:r>
              <a:rPr lang="zh-CN" altLang="en-US" dirty="0">
                <a:solidFill>
                  <a:srgbClr val="004274"/>
                </a:solidFill>
              </a:rPr>
              <a:t>，每次</a:t>
            </a:r>
            <a:r>
              <a:rPr lang="en-US" altLang="zh-CN" dirty="0">
                <a:solidFill>
                  <a:srgbClr val="004274"/>
                </a:solidFill>
              </a:rPr>
              <a:t>loop</a:t>
            </a:r>
            <a:r>
              <a:rPr lang="zh-CN" altLang="en-US" dirty="0">
                <a:solidFill>
                  <a:srgbClr val="004274"/>
                </a:solidFill>
              </a:rPr>
              <a:t>，只读取一个字符，并且转化为字符对应的</a:t>
            </a:r>
            <a:r>
              <a:rPr lang="en-US" altLang="zh-CN" dirty="0">
                <a:solidFill>
                  <a:srgbClr val="004274"/>
                </a:solidFill>
              </a:rPr>
              <a:t>10</a:t>
            </a:r>
            <a:r>
              <a:rPr lang="zh-CN" altLang="en-US" dirty="0">
                <a:solidFill>
                  <a:srgbClr val="004274"/>
                </a:solidFill>
              </a:rPr>
              <a:t>进制</a:t>
            </a:r>
            <a:r>
              <a:rPr lang="en-US" altLang="zh-CN" dirty="0">
                <a:solidFill>
                  <a:srgbClr val="004274"/>
                </a:solidFill>
              </a:rPr>
              <a:t>ACSII</a:t>
            </a:r>
            <a:r>
              <a:rPr lang="zh-CN" altLang="en-US" dirty="0">
                <a:solidFill>
                  <a:srgbClr val="004274"/>
                </a:solidFill>
              </a:rPr>
              <a:t>码；</a:t>
            </a:r>
            <a:endParaRPr lang="en-US" altLang="zh-CN" dirty="0">
              <a:solidFill>
                <a:srgbClr val="004274"/>
              </a:solidFill>
            </a:endParaRPr>
          </a:p>
          <a:p>
            <a:r>
              <a:rPr lang="en-US" altLang="zh-CN" dirty="0" err="1">
                <a:solidFill>
                  <a:srgbClr val="004274"/>
                </a:solidFill>
              </a:rPr>
              <a:t>Serial.readString</a:t>
            </a:r>
            <a:r>
              <a:rPr lang="en-US" altLang="zh-CN" dirty="0">
                <a:solidFill>
                  <a:srgbClr val="004274"/>
                </a:solidFill>
              </a:rPr>
              <a:t> ()</a:t>
            </a:r>
            <a:r>
              <a:rPr lang="zh-CN" altLang="en-US" dirty="0">
                <a:solidFill>
                  <a:srgbClr val="004274"/>
                </a:solidFill>
              </a:rPr>
              <a:t> 读取整个字符串</a:t>
            </a:r>
            <a:endParaRPr lang="zh-CN" altLang="en-US" dirty="0"/>
          </a:p>
        </p:txBody>
      </p:sp>
      <p:pic>
        <p:nvPicPr>
          <p:cNvPr id="26" name="图片 25" descr="预览图_千图网_编号25686508">
            <a:extLst>
              <a:ext uri="{FF2B5EF4-FFF2-40B4-BE49-F238E27FC236}">
                <a16:creationId xmlns:a16="http://schemas.microsoft.com/office/drawing/2014/main" id="{96B21E4A-8E04-45D5-ABBB-3EDCBF701C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881095F2-3E52-4B8F-BA89-B9A237084BB3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CF2D4E3-A478-4B8D-8BB2-1C0CCA7AAAFF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49B736B-AE8B-4D74-BE10-0D3B5A934A15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31" name="Rectangle 1">
            <a:extLst>
              <a:ext uri="{FF2B5EF4-FFF2-40B4-BE49-F238E27FC236}">
                <a16:creationId xmlns:a16="http://schemas.microsoft.com/office/drawing/2014/main" id="{B053E546-1340-41A8-B912-9AC81399A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6C58FD7-59F3-4F25-BEA0-CADE9586FE0F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DF492B4-5DCA-499C-A551-93CCA2D47273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DD2AAC9-C2F5-4C99-B94D-1D580463D91D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35" name="Rectangle 7">
            <a:extLst>
              <a:ext uri="{FF2B5EF4-FFF2-40B4-BE49-F238E27FC236}">
                <a16:creationId xmlns:a16="http://schemas.microsoft.com/office/drawing/2014/main" id="{C3395F67-2341-4C5D-92CC-FC148E5AD1E0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629923-2DC9-4CFD-A872-33F664F29D03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08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152D8B-4AC4-41F6-A465-F8919D24A7D1}"/>
              </a:ext>
            </a:extLst>
          </p:cNvPr>
          <p:cNvSpPr/>
          <p:nvPr/>
        </p:nvSpPr>
        <p:spPr>
          <a:xfrm>
            <a:off x="673164" y="1093138"/>
            <a:ext cx="1826755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75B45C-196C-461E-B6A1-14AF2489D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12" y="1926287"/>
            <a:ext cx="7610475" cy="38385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DC028C-8A02-40DE-AC64-E9CAE71FB23F}"/>
              </a:ext>
            </a:extLst>
          </p:cNvPr>
          <p:cNvSpPr/>
          <p:nvPr/>
        </p:nvSpPr>
        <p:spPr>
          <a:xfrm>
            <a:off x="3990770" y="1327303"/>
            <a:ext cx="3676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4274"/>
                </a:solidFill>
              </a:rPr>
              <a:t>Serial.print</a:t>
            </a:r>
            <a:r>
              <a:rPr lang="en-US" altLang="zh-CN" dirty="0">
                <a:solidFill>
                  <a:srgbClr val="004274"/>
                </a:solidFill>
              </a:rPr>
              <a:t>() </a:t>
            </a:r>
            <a:r>
              <a:rPr lang="zh-CN" altLang="en-US" dirty="0">
                <a:solidFill>
                  <a:srgbClr val="004274"/>
                </a:solidFill>
              </a:rPr>
              <a:t>与</a:t>
            </a:r>
            <a:r>
              <a:rPr lang="en-US" altLang="zh-CN" dirty="0">
                <a:solidFill>
                  <a:srgbClr val="004274"/>
                </a:solidFill>
              </a:rPr>
              <a:t> </a:t>
            </a:r>
            <a:r>
              <a:rPr lang="en-US" altLang="zh-CN" dirty="0" err="1">
                <a:solidFill>
                  <a:srgbClr val="004274"/>
                </a:solidFill>
              </a:rPr>
              <a:t>Serial.write</a:t>
            </a:r>
            <a:r>
              <a:rPr lang="en-US" altLang="zh-CN" dirty="0">
                <a:solidFill>
                  <a:srgbClr val="004274"/>
                </a:solidFill>
              </a:rPr>
              <a:t> ()</a:t>
            </a:r>
            <a:r>
              <a:rPr lang="zh-CN" altLang="en-US" dirty="0">
                <a:solidFill>
                  <a:srgbClr val="004274"/>
                </a:solidFill>
              </a:rPr>
              <a:t>的区别</a:t>
            </a:r>
            <a:endParaRPr lang="en-US" altLang="zh-CN" dirty="0">
              <a:solidFill>
                <a:srgbClr val="004274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51689-B3A3-491C-A8D0-3D6B8E3FB1D0}"/>
              </a:ext>
            </a:extLst>
          </p:cNvPr>
          <p:cNvSpPr/>
          <p:nvPr/>
        </p:nvSpPr>
        <p:spPr>
          <a:xfrm>
            <a:off x="1661360" y="6084587"/>
            <a:ext cx="90097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4274"/>
                </a:solidFill>
              </a:rPr>
              <a:t>不同点：发送数字时， </a:t>
            </a:r>
            <a:r>
              <a:rPr lang="en-US" altLang="zh-CN" dirty="0" err="1">
                <a:solidFill>
                  <a:srgbClr val="004274"/>
                </a:solidFill>
              </a:rPr>
              <a:t>Serial.print</a:t>
            </a:r>
            <a:r>
              <a:rPr lang="en-US" altLang="zh-CN" dirty="0">
                <a:solidFill>
                  <a:srgbClr val="004274"/>
                </a:solidFill>
              </a:rPr>
              <a:t>()</a:t>
            </a:r>
            <a:r>
              <a:rPr lang="zh-CN" altLang="en-US" dirty="0">
                <a:solidFill>
                  <a:srgbClr val="004274"/>
                </a:solidFill>
              </a:rPr>
              <a:t> 发送的是数字字符；</a:t>
            </a:r>
            <a:r>
              <a:rPr lang="en-US" altLang="zh-CN" dirty="0">
                <a:solidFill>
                  <a:srgbClr val="004274"/>
                </a:solidFill>
              </a:rPr>
              <a:t> </a:t>
            </a:r>
            <a:r>
              <a:rPr lang="en-US" altLang="zh-CN" dirty="0" err="1">
                <a:solidFill>
                  <a:srgbClr val="004274"/>
                </a:solidFill>
              </a:rPr>
              <a:t>Serial.write</a:t>
            </a:r>
            <a:r>
              <a:rPr lang="en-US" altLang="zh-CN" dirty="0">
                <a:solidFill>
                  <a:srgbClr val="004274"/>
                </a:solidFill>
              </a:rPr>
              <a:t> ()</a:t>
            </a:r>
            <a:r>
              <a:rPr lang="zh-CN" altLang="en-US" dirty="0">
                <a:solidFill>
                  <a:srgbClr val="004274"/>
                </a:solidFill>
              </a:rPr>
              <a:t>发送的是</a:t>
            </a:r>
            <a:r>
              <a:rPr lang="en-US" altLang="zh-CN" dirty="0">
                <a:solidFill>
                  <a:srgbClr val="004274"/>
                </a:solidFill>
              </a:rPr>
              <a:t>ASCII</a:t>
            </a:r>
            <a:r>
              <a:rPr lang="zh-CN" altLang="en-US" dirty="0">
                <a:solidFill>
                  <a:srgbClr val="004274"/>
                </a:solidFill>
              </a:rPr>
              <a:t>码。</a:t>
            </a:r>
            <a:endParaRPr lang="en-US" altLang="zh-CN" dirty="0">
              <a:solidFill>
                <a:srgbClr val="004274"/>
              </a:solidFill>
            </a:endParaRPr>
          </a:p>
          <a:p>
            <a:r>
              <a:rPr lang="zh-CN" altLang="en-US" dirty="0">
                <a:solidFill>
                  <a:srgbClr val="004274"/>
                </a:solidFill>
              </a:rPr>
              <a:t>相同点：发送字符串时，效果相同。</a:t>
            </a:r>
            <a:endParaRPr lang="zh-CN" altLang="en-US" dirty="0"/>
          </a:p>
        </p:txBody>
      </p:sp>
      <p:pic>
        <p:nvPicPr>
          <p:cNvPr id="11" name="图片 10" descr="预览图_千图网_编号25686508">
            <a:extLst>
              <a:ext uri="{FF2B5EF4-FFF2-40B4-BE49-F238E27FC236}">
                <a16:creationId xmlns:a16="http://schemas.microsoft.com/office/drawing/2014/main" id="{31A8CC1B-B0ED-4932-B1E2-2C904EC28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ED0CF33C-90DE-4450-9361-184C7C1636D6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CB2C713-B379-4747-8FF0-26A0AB4977C8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FF7ED6F-FDB9-49B7-9350-7F94F5E8698D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12DFF95D-C407-4149-9284-B80196CA2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47D5F7A-4D49-4EB3-8949-027ED1D05E0E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0307798-6FA5-47EB-B4A1-09D2D065F5A0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D577398-39B9-42C0-A805-AE7FFD3A6CF5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1" name="Rectangle 7">
            <a:extLst>
              <a:ext uri="{FF2B5EF4-FFF2-40B4-BE49-F238E27FC236}">
                <a16:creationId xmlns:a16="http://schemas.microsoft.com/office/drawing/2014/main" id="{D898F0E5-2566-4FAF-94B6-9A76A398FB02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9B88C4-F205-4C41-8653-6B4B59DF82D6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152D8B-4AC4-41F6-A465-F8919D24A7D1}"/>
              </a:ext>
            </a:extLst>
          </p:cNvPr>
          <p:cNvSpPr/>
          <p:nvPr/>
        </p:nvSpPr>
        <p:spPr>
          <a:xfrm>
            <a:off x="673164" y="1093138"/>
            <a:ext cx="1826755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DC028C-8A02-40DE-AC64-E9CAE71FB23F}"/>
              </a:ext>
            </a:extLst>
          </p:cNvPr>
          <p:cNvSpPr/>
          <p:nvPr/>
        </p:nvSpPr>
        <p:spPr>
          <a:xfrm>
            <a:off x="5161029" y="1397093"/>
            <a:ext cx="13362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274"/>
                </a:solidFill>
              </a:rPr>
              <a:t>接入传感器</a:t>
            </a:r>
            <a:endParaRPr lang="en-US" altLang="zh-CN" dirty="0">
              <a:solidFill>
                <a:srgbClr val="004274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6C933B-DADA-45E5-AE91-AEF957CD3FE2}"/>
              </a:ext>
            </a:extLst>
          </p:cNvPr>
          <p:cNvSpPr/>
          <p:nvPr/>
        </p:nvSpPr>
        <p:spPr>
          <a:xfrm>
            <a:off x="1204576" y="2053683"/>
            <a:ext cx="50554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void 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setup</a:t>
            </a:r>
            <a:r>
              <a:rPr lang="zh-CN" altLang="en-US" dirty="0">
                <a:highlight>
                  <a:srgbClr val="FFFF00"/>
                </a:highlight>
              </a:rPr>
              <a:t>() {</a:t>
            </a:r>
          </a:p>
          <a:p>
            <a:r>
              <a:rPr lang="zh-CN" altLang="en-US" dirty="0"/>
              <a:t>  Serial.begin(9600);</a:t>
            </a:r>
          </a:p>
          <a:p>
            <a:r>
              <a:rPr lang="zh-CN" altLang="en-US" dirty="0"/>
              <a:t>  // initialize digital pin LED_BUILTIN as an output.</a:t>
            </a:r>
          </a:p>
          <a:p>
            <a:r>
              <a:rPr lang="zh-CN" altLang="en-US" dirty="0"/>
              <a:t>  pinMode(LED_BUILTIN, OUTPUT);//信号灯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C00000"/>
                </a:solidFill>
              </a:rPr>
              <a:t>pinMode(10, INPUT);//传感器</a:t>
            </a:r>
          </a:p>
          <a:p>
            <a:r>
              <a:rPr lang="zh-CN" altLang="en-US" dirty="0"/>
              <a:t>}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void 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loop</a:t>
            </a:r>
            <a:r>
              <a:rPr lang="zh-CN" altLang="en-US" dirty="0">
                <a:highlight>
                  <a:srgbClr val="FFFF00"/>
                </a:highlight>
              </a:rPr>
              <a:t>() {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C00000"/>
                </a:solidFill>
              </a:rPr>
              <a:t>int result = digitalRead(10);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读取传感器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C00000"/>
                </a:solidFill>
              </a:rPr>
              <a:t>Serial.println(result);</a:t>
            </a:r>
          </a:p>
          <a:p>
            <a:r>
              <a:rPr lang="zh-CN" altLang="en-US" dirty="0"/>
              <a:t>  digitalWrite(LED_BUILTIN, HIGH); </a:t>
            </a:r>
            <a:endParaRPr lang="en-US" altLang="zh-CN" dirty="0"/>
          </a:p>
          <a:p>
            <a:r>
              <a:rPr lang="en-US" altLang="zh-CN" dirty="0"/>
              <a:t>  delay(1000);</a:t>
            </a:r>
            <a:endParaRPr lang="zh-CN" altLang="en-US" dirty="0"/>
          </a:p>
          <a:p>
            <a:r>
              <a:rPr lang="zh-CN" altLang="en-US" dirty="0"/>
              <a:t>  digitalWrite(LED_BUILTIN, LOW);    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delay(1000);</a:t>
            </a:r>
          </a:p>
          <a:p>
            <a:r>
              <a:rPr lang="zh-CN" altLang="en-US" dirty="0"/>
              <a:t>}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693AC2-B0C4-4A1E-A871-67BBEB1F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268" y="1978699"/>
            <a:ext cx="5167661" cy="4114602"/>
          </a:xfrm>
          <a:prstGeom prst="rect">
            <a:avLst/>
          </a:prstGeom>
        </p:spPr>
      </p:pic>
      <p:pic>
        <p:nvPicPr>
          <p:cNvPr id="13" name="图片 12" descr="预览图_千图网_编号25686508">
            <a:extLst>
              <a:ext uri="{FF2B5EF4-FFF2-40B4-BE49-F238E27FC236}">
                <a16:creationId xmlns:a16="http://schemas.microsoft.com/office/drawing/2014/main" id="{C568F732-3F35-495C-9CBE-93997594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5A75B40E-27F4-4071-9061-0CD93ABE7F50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E666FF6-1C9A-4230-BC39-92C22FE5DFE8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D2528C5-745C-432C-A97E-7B96076B3C78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32BCA25B-CEFD-459E-85A5-2112C844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3459211-D4F8-43C2-88C3-A519CA73C726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D23CC09-A65F-4E29-825A-4E83B39B5C92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25C570A-6000-46E5-B663-8036B3F2F6D0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3" name="Rectangle 7">
            <a:extLst>
              <a:ext uri="{FF2B5EF4-FFF2-40B4-BE49-F238E27FC236}">
                <a16:creationId xmlns:a16="http://schemas.microsoft.com/office/drawing/2014/main" id="{F0036470-F06D-43FD-A9F8-2708A7B9C7C2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EC14119-17C2-45F2-B877-C83CA80D1EC9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152D8B-4AC4-41F6-A465-F8919D24A7D1}"/>
              </a:ext>
            </a:extLst>
          </p:cNvPr>
          <p:cNvSpPr/>
          <p:nvPr/>
        </p:nvSpPr>
        <p:spPr>
          <a:xfrm>
            <a:off x="673164" y="1093138"/>
            <a:ext cx="1826755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2.2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DC028C-8A02-40DE-AC64-E9CAE71FB23F}"/>
              </a:ext>
            </a:extLst>
          </p:cNvPr>
          <p:cNvSpPr/>
          <p:nvPr/>
        </p:nvSpPr>
        <p:spPr>
          <a:xfrm>
            <a:off x="1496309" y="1678679"/>
            <a:ext cx="9770105" cy="408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C00000"/>
                </a:solidFill>
              </a:rPr>
              <a:t>练习</a:t>
            </a:r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r>
              <a:rPr lang="zh-CN" altLang="en-US" sz="3200" dirty="0">
                <a:solidFill>
                  <a:srgbClr val="C00000"/>
                </a:solidFill>
              </a:rPr>
              <a:t>（和传感器通信）：</a:t>
            </a:r>
            <a:endParaRPr lang="en-US" altLang="zh-CN" sz="3200" dirty="0">
              <a:solidFill>
                <a:srgbClr val="C00000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800" dirty="0">
                <a:solidFill>
                  <a:srgbClr val="004274"/>
                </a:solidFill>
              </a:rPr>
              <a:t>使用传感器控制信号灯。手放在传感器周围，绿灯亮，手离开传感器，绿灯熄灭。</a:t>
            </a:r>
            <a:endParaRPr lang="en-US" altLang="zh-CN" sz="2800" dirty="0">
              <a:solidFill>
                <a:srgbClr val="004274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C00000"/>
                </a:solidFill>
              </a:rPr>
              <a:t>练习</a:t>
            </a:r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r>
              <a:rPr lang="zh-CN" altLang="en-US" sz="3200" dirty="0">
                <a:solidFill>
                  <a:srgbClr val="C00000"/>
                </a:solidFill>
              </a:rPr>
              <a:t> （和上位机通信</a:t>
            </a:r>
            <a:r>
              <a:rPr lang="en-US" altLang="zh-CN" sz="3200" dirty="0">
                <a:solidFill>
                  <a:srgbClr val="C00000"/>
                </a:solidFill>
              </a:rPr>
              <a:t>,</a:t>
            </a:r>
            <a:r>
              <a:rPr lang="zh-CN" altLang="en-US" sz="3200" dirty="0">
                <a:solidFill>
                  <a:srgbClr val="C00000"/>
                </a:solidFill>
              </a:rPr>
              <a:t>编码） </a:t>
            </a:r>
            <a:r>
              <a:rPr lang="en-US" altLang="zh-CN" sz="3200" dirty="0">
                <a:solidFill>
                  <a:srgbClr val="C00000"/>
                </a:solidFill>
                <a:sym typeface="Wingdings" panose="05000000000000000000" pitchFamily="2" charset="2"/>
              </a:rPr>
              <a:t>:</a:t>
            </a:r>
            <a:endParaRPr lang="zh-CN" altLang="en-US" sz="3200" dirty="0">
              <a:solidFill>
                <a:srgbClr val="C00000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实现通过串口监视器输入控制信号灯。输入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信号灯红灯亮绿灯熄灭，输入</a:t>
            </a:r>
            <a:r>
              <a:rPr lang="en-US" altLang="zh-C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</a:t>
            </a: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信号灯绿灯亮红灯熄灭。</a:t>
            </a:r>
            <a:endParaRPr lang="en-US" altLang="zh-CN" sz="2800" dirty="0">
              <a:solidFill>
                <a:srgbClr val="004274"/>
              </a:solidFill>
            </a:endParaRPr>
          </a:p>
        </p:txBody>
      </p:sp>
      <p:pic>
        <p:nvPicPr>
          <p:cNvPr id="12" name="图片 11" descr="预览图_千图网_编号25686508">
            <a:extLst>
              <a:ext uri="{FF2B5EF4-FFF2-40B4-BE49-F238E27FC236}">
                <a16:creationId xmlns:a16="http://schemas.microsoft.com/office/drawing/2014/main" id="{20933D8A-CFE2-4AC1-8022-6F42C41B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E0803D1C-B1A5-4E74-9FF4-B03E6E540851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FB787E2-B127-4722-B9F5-8A66D6136976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39A9E1B-F68C-4B7C-8E22-F551A3B90AEE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6" name="Rectangle 1">
            <a:extLst>
              <a:ext uri="{FF2B5EF4-FFF2-40B4-BE49-F238E27FC236}">
                <a16:creationId xmlns:a16="http://schemas.microsoft.com/office/drawing/2014/main" id="{C2B56845-A539-47E6-952D-7336CA16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A5849D-2B6D-4F7B-B33B-E22040435CF5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B45E968-627B-4F88-8946-F61E6D63887D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3E65183-54F3-4683-BCC9-A0F22F4D2115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22" name="Rectangle 7">
            <a:extLst>
              <a:ext uri="{FF2B5EF4-FFF2-40B4-BE49-F238E27FC236}">
                <a16:creationId xmlns:a16="http://schemas.microsoft.com/office/drawing/2014/main" id="{0499207F-F424-4E53-B2FA-424C4A9CF8B9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CBA86E-0CB0-4CB8-B476-C70FFF2AF0CA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9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405CC8-09FD-4665-9B8F-54CA6F6A6468}"/>
              </a:ext>
            </a:extLst>
          </p:cNvPr>
          <p:cNvSpPr/>
          <p:nvPr/>
        </p:nvSpPr>
        <p:spPr>
          <a:xfrm>
            <a:off x="1319213" y="1311351"/>
            <a:ext cx="44885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int last = 1;</a:t>
            </a:r>
          </a:p>
          <a:p>
            <a:r>
              <a:rPr lang="zh-CN" altLang="en-US" dirty="0"/>
              <a:t>int now = 1;</a:t>
            </a:r>
          </a:p>
          <a:p>
            <a:endParaRPr lang="zh-CN" altLang="en-US" dirty="0"/>
          </a:p>
          <a:p>
            <a:r>
              <a:rPr lang="zh-CN" altLang="en-US" dirty="0">
                <a:highlight>
                  <a:srgbClr val="FFFF00"/>
                </a:highlight>
              </a:rPr>
              <a:t>void loop() {</a:t>
            </a:r>
          </a:p>
          <a:p>
            <a:r>
              <a:rPr lang="zh-CN" altLang="en-US" dirty="0"/>
              <a:t>  int now = digitalRead(10);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C00000"/>
                </a:solidFill>
              </a:rPr>
              <a:t>if(now != last){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    if(now == 0)</a:t>
            </a:r>
          </a:p>
          <a:p>
            <a:r>
              <a:rPr lang="zh-CN" altLang="en-US" dirty="0"/>
              <a:t>      digitalWrite(LED_BUILTIN, HIGH);</a:t>
            </a:r>
          </a:p>
          <a:p>
            <a:r>
              <a:rPr lang="zh-CN" altLang="en-US" dirty="0"/>
              <a:t>    </a:t>
            </a:r>
            <a:r>
              <a:rPr lang="zh-CN" altLang="en-US" dirty="0">
                <a:solidFill>
                  <a:srgbClr val="C00000"/>
                </a:solidFill>
              </a:rPr>
              <a:t>else</a:t>
            </a:r>
          </a:p>
          <a:p>
            <a:r>
              <a:rPr lang="zh-CN" altLang="en-US" dirty="0"/>
              <a:t>      digitalWrite(LED_BUILTIN, LOW);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C00000"/>
                </a:solidFill>
              </a:rPr>
              <a:t>last = now;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767B6A-9997-40B0-8436-D7FDE55FD80D}"/>
              </a:ext>
            </a:extLst>
          </p:cNvPr>
          <p:cNvSpPr/>
          <p:nvPr/>
        </p:nvSpPr>
        <p:spPr>
          <a:xfrm>
            <a:off x="6266576" y="1311351"/>
            <a:ext cx="48823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void loop() {</a:t>
            </a:r>
          </a:p>
          <a:p>
            <a:pPr lvl="1"/>
            <a:r>
              <a:rPr lang="en-US" altLang="zh-CN" dirty="0"/>
              <a:t>  String now = </a:t>
            </a:r>
            <a:r>
              <a:rPr lang="en-US" altLang="zh-CN" dirty="0" err="1"/>
              <a:t>Serial.readString</a:t>
            </a:r>
            <a:r>
              <a:rPr lang="en-US" altLang="zh-CN" dirty="0"/>
              <a:t>();</a:t>
            </a:r>
          </a:p>
          <a:p>
            <a:pPr lvl="1"/>
            <a:r>
              <a:rPr lang="en-US" altLang="zh-CN" dirty="0"/>
              <a:t>  if(now[0]=='1' &amp;&amp; now[1]== '1'){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      </a:t>
            </a:r>
            <a:r>
              <a:rPr lang="en-US" altLang="zh-CN" dirty="0" err="1">
                <a:solidFill>
                  <a:srgbClr val="C00000"/>
                </a:solidFill>
              </a:rPr>
              <a:t>digitalWrite</a:t>
            </a:r>
            <a:r>
              <a:rPr lang="en-US" altLang="zh-CN" dirty="0">
                <a:solidFill>
                  <a:srgbClr val="C00000"/>
                </a:solidFill>
              </a:rPr>
              <a:t>(8, HIGH);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      </a:t>
            </a:r>
            <a:r>
              <a:rPr lang="en-US" altLang="zh-CN" dirty="0" err="1">
                <a:solidFill>
                  <a:srgbClr val="C00000"/>
                </a:solidFill>
              </a:rPr>
              <a:t>digitalWrite</a:t>
            </a:r>
            <a:r>
              <a:rPr lang="en-US" altLang="zh-CN" dirty="0">
                <a:solidFill>
                  <a:srgbClr val="C00000"/>
                </a:solidFill>
              </a:rPr>
              <a:t>(13, LOW);</a:t>
            </a:r>
          </a:p>
          <a:p>
            <a:pPr lvl="1"/>
            <a:r>
              <a:rPr lang="en-US" altLang="zh-CN" dirty="0"/>
              <a:t>  }</a:t>
            </a:r>
          </a:p>
          <a:p>
            <a:pPr lvl="1"/>
            <a:r>
              <a:rPr lang="en-US" altLang="zh-CN" dirty="0"/>
              <a:t>  if(now[0]=='1' &amp;&amp; now[1]== '2'){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digitalWrite</a:t>
            </a:r>
            <a:r>
              <a:rPr lang="en-US" altLang="zh-CN" dirty="0">
                <a:solidFill>
                  <a:srgbClr val="C00000"/>
                </a:solidFill>
              </a:rPr>
              <a:t>(8, LOW);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    </a:t>
            </a:r>
            <a:r>
              <a:rPr lang="en-US" altLang="zh-CN" dirty="0" err="1">
                <a:solidFill>
                  <a:srgbClr val="C00000"/>
                </a:solidFill>
              </a:rPr>
              <a:t>digitalWrite</a:t>
            </a:r>
            <a:r>
              <a:rPr lang="en-US" altLang="zh-CN" dirty="0">
                <a:solidFill>
                  <a:srgbClr val="C00000"/>
                </a:solidFill>
              </a:rPr>
              <a:t>(13, HIGH);</a:t>
            </a:r>
          </a:p>
          <a:p>
            <a:pPr lvl="1"/>
            <a:r>
              <a:rPr lang="en-US" altLang="zh-CN" dirty="0"/>
              <a:t>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9" name="图片 8" descr="预览图_千图网_编号25686508">
            <a:extLst>
              <a:ext uri="{FF2B5EF4-FFF2-40B4-BE49-F238E27FC236}">
                <a16:creationId xmlns:a16="http://schemas.microsoft.com/office/drawing/2014/main" id="{88FABB3C-58C9-43D8-B1B6-0A2F8767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F250CF3A-FF01-4A8E-BEBB-DCB0E5E912DD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3E45459-047C-4E66-BB50-843A0EF57555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9571757-8333-49D3-A951-98CAEB5E618B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0C5451F8-5323-42F7-9DE1-EDF566C9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5082BB8-5A39-496C-8108-CF69D86AC1E1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8523338-6732-40AE-B28F-48B822A7E42D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1990C5-A403-43B1-BCD5-5233CB03714C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9" name="Rectangle 7">
            <a:extLst>
              <a:ext uri="{FF2B5EF4-FFF2-40B4-BE49-F238E27FC236}">
                <a16:creationId xmlns:a16="http://schemas.microsoft.com/office/drawing/2014/main" id="{E727916E-D4A3-4271-9513-2364BBA282E7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ED13CD-C027-45EE-A8BF-9ACED7EA6CBE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下位机程序设计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9E909C-FE60-4C2D-87BF-825BE8042793}"/>
              </a:ext>
            </a:extLst>
          </p:cNvPr>
          <p:cNvSpPr txBox="1"/>
          <p:nvPr/>
        </p:nvSpPr>
        <p:spPr>
          <a:xfrm>
            <a:off x="6132352" y="5004670"/>
            <a:ext cx="5150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编码规则：</a:t>
            </a:r>
            <a:r>
              <a:rPr lang="zh-CN" altLang="en-US" dirty="0"/>
              <a:t>第一个字符控制信号灯方向，第二个字符控制信号灯颜色。</a:t>
            </a:r>
            <a:endParaRPr lang="en-US" altLang="zh-CN" dirty="0"/>
          </a:p>
          <a:p>
            <a:r>
              <a:rPr lang="en-US" altLang="zh-CN" dirty="0"/>
              <a:t>11-&gt;</a:t>
            </a:r>
            <a:r>
              <a:rPr lang="zh-CN" altLang="en-US" dirty="0"/>
              <a:t> </a:t>
            </a:r>
            <a:r>
              <a:rPr lang="en-US" altLang="zh-CN" dirty="0"/>
              <a:t>‘1’ , ’1’ ;   12-&gt; ‘1’,  ’2’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下位机编码解析：</a:t>
            </a:r>
            <a:r>
              <a:rPr lang="en-US" altLang="zh-CN" dirty="0"/>
              <a:t>……..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30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7" name="图片 6" descr="预览图_千图网_编号25686508">
            <a:extLst>
              <a:ext uri="{FF2B5EF4-FFF2-40B4-BE49-F238E27FC236}">
                <a16:creationId xmlns:a16="http://schemas.microsoft.com/office/drawing/2014/main" id="{21593B44-D06C-4F35-BAF6-C1672B04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84D223B-6E08-4A2C-80EB-699DBE385CB3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6CCBE17-3DD1-4B83-AF23-49F2389CCB96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52DA1A-6E51-478E-8F99-EE9B01391D3E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3D773EE1-3D4E-4A80-8B41-D09FFCA3F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66B844-D027-4381-BE39-6D1AD072869F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A996297-43A2-48DF-9DA8-329D8A9FAD22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F3F697-29A5-4BAE-A1A8-3DDE3C6C21A3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6" name="Rectangle 7">
            <a:extLst>
              <a:ext uri="{FF2B5EF4-FFF2-40B4-BE49-F238E27FC236}">
                <a16:creationId xmlns:a16="http://schemas.microsoft.com/office/drawing/2014/main" id="{C09BC6D1-1921-4746-B9F4-759D2F780CBE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95C562-845B-492F-B70D-F908B0A04CA5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上位机程序设计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B08464-18BA-47BA-8B37-BFB292D2147E}"/>
              </a:ext>
            </a:extLst>
          </p:cNvPr>
          <p:cNvSpPr txBox="1"/>
          <p:nvPr/>
        </p:nvSpPr>
        <p:spPr>
          <a:xfrm>
            <a:off x="1057013" y="1151151"/>
            <a:ext cx="64511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Python</a:t>
            </a:r>
            <a:r>
              <a:rPr lang="zh-CN" altLang="en-US" dirty="0"/>
              <a:t>语言为例。  模块：</a:t>
            </a:r>
            <a:r>
              <a:rPr lang="en-US" altLang="zh-CN" dirty="0" err="1"/>
              <a:t>pyserial</a:t>
            </a:r>
            <a:r>
              <a:rPr lang="en-US" altLang="zh-CN" dirty="0"/>
              <a:t>      </a:t>
            </a:r>
            <a:r>
              <a:rPr lang="zh-CN" altLang="en-US" dirty="0"/>
              <a:t>安装 </a:t>
            </a:r>
            <a:r>
              <a:rPr lang="en-US" altLang="zh-CN" dirty="0"/>
              <a:t>pip install </a:t>
            </a:r>
            <a:r>
              <a:rPr lang="en-US" altLang="zh-CN" dirty="0" err="1"/>
              <a:t>pyserial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import serial</a:t>
            </a:r>
          </a:p>
          <a:p>
            <a:r>
              <a:rPr lang="en-US" altLang="zh-CN" dirty="0" err="1"/>
              <a:t>serialPort</a:t>
            </a:r>
            <a:r>
              <a:rPr lang="en-US" altLang="zh-CN" dirty="0"/>
              <a:t> = "com4"# </a:t>
            </a:r>
            <a:r>
              <a:rPr lang="zh-CN" altLang="en-US" dirty="0"/>
              <a:t>串口</a:t>
            </a:r>
          </a:p>
          <a:p>
            <a:r>
              <a:rPr lang="en-US" altLang="zh-CN" dirty="0" err="1"/>
              <a:t>baudRate</a:t>
            </a:r>
            <a:r>
              <a:rPr lang="en-US" altLang="zh-CN" dirty="0"/>
              <a:t> = 9600 # </a:t>
            </a:r>
            <a:r>
              <a:rPr lang="zh-CN" altLang="en-US" dirty="0"/>
              <a:t>波特率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ser = </a:t>
            </a:r>
            <a:r>
              <a:rPr lang="en-US" altLang="zh-CN" dirty="0" err="1">
                <a:solidFill>
                  <a:srgbClr val="C00000"/>
                </a:solidFill>
              </a:rPr>
              <a:t>serial.Serial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serialPort</a:t>
            </a:r>
            <a:r>
              <a:rPr lang="en-US" altLang="zh-CN" dirty="0">
                <a:solidFill>
                  <a:srgbClr val="C00000"/>
                </a:solidFill>
              </a:rPr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baudRate</a:t>
            </a:r>
            <a:r>
              <a:rPr lang="en-US" altLang="zh-CN" dirty="0">
                <a:solidFill>
                  <a:srgbClr val="C00000"/>
                </a:solidFill>
              </a:rPr>
              <a:t>, timeout=0.5)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def </a:t>
            </a:r>
            <a:r>
              <a:rPr lang="en-US" altLang="zh-CN" dirty="0" err="1"/>
              <a:t>loopCheckTask</a:t>
            </a:r>
            <a:r>
              <a:rPr lang="en-US" altLang="zh-CN" dirty="0"/>
              <a:t>():</a:t>
            </a:r>
          </a:p>
          <a:p>
            <a:r>
              <a:rPr lang="en-US" altLang="zh-CN" dirty="0"/>
              <a:t>    last = ""</a:t>
            </a:r>
          </a:p>
          <a:p>
            <a:r>
              <a:rPr lang="en-US" altLang="zh-CN" dirty="0"/>
              <a:t>    while(1):</a:t>
            </a:r>
          </a:p>
          <a:p>
            <a:r>
              <a:rPr lang="en-US" altLang="zh-CN" dirty="0"/>
              <a:t>        data </a:t>
            </a:r>
            <a:r>
              <a:rPr lang="en-US" altLang="zh-CN" dirty="0">
                <a:solidFill>
                  <a:srgbClr val="C00000"/>
                </a:solidFill>
              </a:rPr>
              <a:t>= </a:t>
            </a:r>
            <a:r>
              <a:rPr lang="en-US" altLang="zh-CN" dirty="0" err="1">
                <a:solidFill>
                  <a:srgbClr val="C00000"/>
                </a:solidFill>
              </a:rPr>
              <a:t>ser.readline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r>
              <a:rPr lang="en-US" altLang="zh-CN" dirty="0"/>
              <a:t>//</a:t>
            </a:r>
            <a:r>
              <a:rPr lang="zh-CN" altLang="en-US" dirty="0"/>
              <a:t>读取下位机信息</a:t>
            </a:r>
            <a:endParaRPr lang="en-US" altLang="zh-CN" dirty="0"/>
          </a:p>
          <a:p>
            <a:r>
              <a:rPr lang="en-US" altLang="zh-CN" dirty="0"/>
              <a:t>        …….</a:t>
            </a:r>
          </a:p>
          <a:p>
            <a:r>
              <a:rPr lang="en-US" altLang="zh-CN" dirty="0"/>
              <a:t>        if …:</a:t>
            </a:r>
          </a:p>
          <a:p>
            <a:r>
              <a:rPr lang="en-US" altLang="zh-CN" dirty="0"/>
              <a:t> 	</a:t>
            </a:r>
            <a:r>
              <a:rPr lang="en-US" altLang="zh-CN" dirty="0" err="1">
                <a:solidFill>
                  <a:srgbClr val="C00000"/>
                </a:solidFill>
              </a:rPr>
              <a:t>ser.write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“</a:t>
            </a:r>
            <a:r>
              <a:rPr lang="en-US" altLang="zh-CN" dirty="0">
                <a:solidFill>
                  <a:srgbClr val="C00000"/>
                </a:solidFill>
              </a:rPr>
              <a:t>11</a:t>
            </a:r>
            <a:r>
              <a:rPr lang="zh-CN" altLang="en-US" dirty="0">
                <a:solidFill>
                  <a:srgbClr val="C00000"/>
                </a:solidFill>
              </a:rPr>
              <a:t>”</a:t>
            </a:r>
            <a:r>
              <a:rPr lang="en-US" altLang="zh-CN" dirty="0">
                <a:solidFill>
                  <a:srgbClr val="C00000"/>
                </a:solidFill>
              </a:rPr>
              <a:t>)//</a:t>
            </a:r>
            <a:r>
              <a:rPr lang="zh-CN" altLang="en-US" dirty="0">
                <a:solidFill>
                  <a:srgbClr val="C00000"/>
                </a:solidFill>
              </a:rPr>
              <a:t>发送命令编码数据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         else: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ser.write</a:t>
            </a:r>
            <a:r>
              <a:rPr lang="en-US" altLang="zh-CN" dirty="0"/>
              <a:t>(</a:t>
            </a:r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if __name__ == '__main__':</a:t>
            </a:r>
          </a:p>
          <a:p>
            <a:r>
              <a:rPr lang="en-US" altLang="zh-CN" dirty="0"/>
              <a:t>    thread = </a:t>
            </a:r>
            <a:r>
              <a:rPr lang="en-US" altLang="zh-CN" dirty="0" err="1">
                <a:solidFill>
                  <a:srgbClr val="C00000"/>
                </a:solidFill>
              </a:rPr>
              <a:t>threading.Thread</a:t>
            </a:r>
            <a:r>
              <a:rPr lang="en-US" altLang="zh-CN" dirty="0"/>
              <a:t>(target=</a:t>
            </a:r>
            <a:r>
              <a:rPr lang="en-US" altLang="zh-CN" dirty="0" err="1"/>
              <a:t>loopCheckTask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thread.start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57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971665" y="2037715"/>
            <a:ext cx="2112010" cy="531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  <a:cs typeface="Calibri" panose="020F0502020204030204" charset="0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Noto Sans S Chinese"/>
                <a:ea typeface="+mn-ea"/>
                <a:cs typeface="+mn-ea"/>
                <a:sym typeface="Noto Sans S Chinese"/>
              </a:rPr>
              <a:t>丁真走红</a:t>
            </a:r>
          </a:p>
        </p:txBody>
      </p:sp>
      <p:pic>
        <p:nvPicPr>
          <p:cNvPr id="7" name="图片 6" descr="预览图_千图网_编号25686508">
            <a:extLst>
              <a:ext uri="{FF2B5EF4-FFF2-40B4-BE49-F238E27FC236}">
                <a16:creationId xmlns:a16="http://schemas.microsoft.com/office/drawing/2014/main" id="{21593B44-D06C-4F35-BAF6-C1672B04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84D223B-6E08-4A2C-80EB-699DBE385CB3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6CCBE17-3DD1-4B83-AF23-49F2389CCB96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52DA1A-6E51-478E-8F99-EE9B01391D3E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3D773EE1-3D4E-4A80-8B41-D09FFCA3F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66B844-D027-4381-BE39-6D1AD072869F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A996297-43A2-48DF-9DA8-329D8A9FAD22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F3F697-29A5-4BAE-A1A8-3DDE3C6C21A3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6" name="Rectangle 7">
            <a:extLst>
              <a:ext uri="{FF2B5EF4-FFF2-40B4-BE49-F238E27FC236}">
                <a16:creationId xmlns:a16="http://schemas.microsoft.com/office/drawing/2014/main" id="{C09BC6D1-1921-4746-B9F4-759D2F780CBE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95C562-845B-492F-B70D-F908B0A04CA5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上位机程序设计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B08464-18BA-47BA-8B37-BFB292D2147E}"/>
              </a:ext>
            </a:extLst>
          </p:cNvPr>
          <p:cNvSpPr txBox="1"/>
          <p:nvPr/>
        </p:nvSpPr>
        <p:spPr>
          <a:xfrm>
            <a:off x="1037963" y="1448572"/>
            <a:ext cx="10268212" cy="299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练习</a:t>
            </a:r>
            <a:r>
              <a:rPr lang="en-US" altLang="zh-CN" sz="2800" dirty="0">
                <a:solidFill>
                  <a:srgbClr val="C00000"/>
                </a:solidFill>
              </a:rPr>
              <a:t>3</a:t>
            </a:r>
            <a:r>
              <a:rPr lang="zh-CN" altLang="en-US" sz="2800" dirty="0">
                <a:solidFill>
                  <a:srgbClr val="C00000"/>
                </a:solidFill>
              </a:rPr>
              <a:t>：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4274"/>
                </a:solidFill>
              </a:rPr>
              <a:t>       </a:t>
            </a:r>
            <a:r>
              <a:rPr lang="zh-CN" altLang="en-US" sz="2000" dirty="0">
                <a:solidFill>
                  <a:srgbClr val="004274"/>
                </a:solidFill>
              </a:rPr>
              <a:t>编写上位机和下位机程序，实现两者通信。当手放在传感器周围，下位机向上位机转发障碍信号；上位机收到障碍信号后，对数据进行编码后向下位机发送控制命令。上位机若接收到障碍信号，则向下位机发送红灯灭绿灯亮命令；若接收到障碍消失信号，则发送红灯亮绿灯灭命令。</a:t>
            </a:r>
            <a:endParaRPr lang="en-US" altLang="zh-CN" sz="2000" dirty="0">
              <a:solidFill>
                <a:srgbClr val="004274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35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预览图_千图网_编号25686508">
            <a:extLst>
              <a:ext uri="{FF2B5EF4-FFF2-40B4-BE49-F238E27FC236}">
                <a16:creationId xmlns:a16="http://schemas.microsoft.com/office/drawing/2014/main" id="{21593B44-D06C-4F35-BAF6-C1672B04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84D223B-6E08-4A2C-80EB-699DBE385CB3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6CCBE17-3DD1-4B83-AF23-49F2389CCB96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52DA1A-6E51-478E-8F99-EE9B01391D3E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3D773EE1-3D4E-4A80-8B41-D09FFCA3F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201E2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66B844-D027-4381-BE39-6D1AD072869F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A996297-43A2-48DF-9DA8-329D8A9FAD22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F3F697-29A5-4BAE-A1A8-3DDE3C6C21A3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16" name="Rectangle 7">
            <a:extLst>
              <a:ext uri="{FF2B5EF4-FFF2-40B4-BE49-F238E27FC236}">
                <a16:creationId xmlns:a16="http://schemas.microsoft.com/office/drawing/2014/main" id="{C09BC6D1-1921-4746-B9F4-759D2F780CBE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95C562-845B-492F-B70D-F908B0A04CA5}"/>
              </a:ext>
            </a:extLst>
          </p:cNvPr>
          <p:cNvSpPr/>
          <p:nvPr/>
        </p:nvSpPr>
        <p:spPr>
          <a:xfrm>
            <a:off x="1264249" y="550747"/>
            <a:ext cx="3121739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实验步骤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：</a:t>
            </a:r>
            <a:r>
              <a:rPr lang="zh-CN" altLang="en-US" dirty="0"/>
              <a:t>上位机程序设计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B08464-18BA-47BA-8B37-BFB292D2147E}"/>
              </a:ext>
            </a:extLst>
          </p:cNvPr>
          <p:cNvSpPr txBox="1"/>
          <p:nvPr/>
        </p:nvSpPr>
        <p:spPr>
          <a:xfrm>
            <a:off x="1159858" y="1110958"/>
            <a:ext cx="133587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练习</a:t>
            </a:r>
            <a:r>
              <a:rPr lang="en-US" altLang="zh-CN" sz="2400" dirty="0">
                <a:solidFill>
                  <a:srgbClr val="C00000"/>
                </a:solidFill>
              </a:rPr>
              <a:t>3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r>
              <a:rPr lang="en-US" altLang="zh-CN" sz="2400" dirty="0">
                <a:solidFill>
                  <a:srgbClr val="004274"/>
                </a:solidFill>
              </a:rPr>
              <a:t>       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0E0BBF-EEEC-4BD4-B3A3-676DB1E38651}"/>
              </a:ext>
            </a:extLst>
          </p:cNvPr>
          <p:cNvSpPr txBox="1"/>
          <p:nvPr/>
        </p:nvSpPr>
        <p:spPr>
          <a:xfrm>
            <a:off x="935044" y="2274762"/>
            <a:ext cx="37801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def </a:t>
            </a:r>
            <a:r>
              <a:rPr lang="en-US" altLang="zh-CN" dirty="0" err="1"/>
              <a:t>loopCheckTask</a:t>
            </a:r>
            <a:r>
              <a:rPr lang="en-US" altLang="zh-CN" dirty="0"/>
              <a:t>():</a:t>
            </a:r>
          </a:p>
          <a:p>
            <a:r>
              <a:rPr lang="en-US" altLang="zh-CN" dirty="0"/>
              <a:t>    while(1):</a:t>
            </a:r>
          </a:p>
          <a:p>
            <a:r>
              <a:rPr lang="en-US" altLang="zh-CN" dirty="0"/>
              <a:t>        data = </a:t>
            </a:r>
            <a:r>
              <a:rPr lang="en-US" altLang="zh-CN" dirty="0" err="1"/>
              <a:t>ser.readline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    now = </a:t>
            </a:r>
            <a:r>
              <a:rPr lang="en-US" altLang="zh-CN" dirty="0" err="1"/>
              <a:t>data.decode</a:t>
            </a:r>
            <a:r>
              <a:rPr lang="en-US" altLang="zh-CN" dirty="0"/>
              <a:t>().</a:t>
            </a:r>
            <a:r>
              <a:rPr lang="en-US" altLang="zh-CN" dirty="0" err="1"/>
              <a:t>rstrip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    #print(now)</a:t>
            </a:r>
          </a:p>
          <a:p>
            <a:r>
              <a:rPr lang="en-US" altLang="zh-CN" dirty="0"/>
              <a:t>        if now == 'LOW':</a:t>
            </a:r>
          </a:p>
          <a:p>
            <a:r>
              <a:rPr lang="en-US" altLang="zh-CN" dirty="0"/>
              <a:t>            print('11')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ser.write</a:t>
            </a:r>
            <a:r>
              <a:rPr lang="en-US" altLang="zh-CN" dirty="0"/>
              <a:t>("11".encode())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elif</a:t>
            </a:r>
            <a:r>
              <a:rPr lang="en-US" altLang="zh-CN" dirty="0"/>
              <a:t> now == 'HIGH':</a:t>
            </a:r>
          </a:p>
          <a:p>
            <a:r>
              <a:rPr lang="en-US" altLang="zh-CN" dirty="0"/>
              <a:t>            print("12")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ser.write</a:t>
            </a:r>
            <a:r>
              <a:rPr lang="en-US" altLang="zh-CN" dirty="0"/>
              <a:t>("12".encode())</a:t>
            </a:r>
          </a:p>
          <a:p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上位机程序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2B0F52-1591-4A11-9C74-54D35F66957E}"/>
              </a:ext>
            </a:extLst>
          </p:cNvPr>
          <p:cNvSpPr/>
          <p:nvPr/>
        </p:nvSpPr>
        <p:spPr>
          <a:xfrm>
            <a:off x="6796726" y="897011"/>
            <a:ext cx="354447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……</a:t>
            </a:r>
          </a:p>
          <a:p>
            <a:endParaRPr lang="zh-CN" altLang="en-US" dirty="0"/>
          </a:p>
          <a:p>
            <a:r>
              <a:rPr lang="zh-CN" altLang="en-US" dirty="0"/>
              <a:t>int last = HIGH;</a:t>
            </a:r>
          </a:p>
          <a:p>
            <a:r>
              <a:rPr lang="zh-CN" altLang="en-US" dirty="0"/>
              <a:t>int now = HIGH;</a:t>
            </a:r>
          </a:p>
          <a:p>
            <a:r>
              <a:rPr lang="zh-CN" altLang="en-US" dirty="0"/>
              <a:t>void loop() {</a:t>
            </a:r>
            <a:endParaRPr lang="en-US" altLang="zh-CN" dirty="0"/>
          </a:p>
          <a:p>
            <a:r>
              <a:rPr lang="zh-CN" altLang="en-US" dirty="0"/>
              <a:t>now = digitalRead(9);</a:t>
            </a:r>
          </a:p>
          <a:p>
            <a:r>
              <a:rPr lang="zh-CN" altLang="en-US" dirty="0"/>
              <a:t>  if(now != last){</a:t>
            </a:r>
          </a:p>
          <a:p>
            <a:r>
              <a:rPr lang="zh-CN" altLang="en-US" dirty="0"/>
              <a:t>      if(now == HIGH){</a:t>
            </a:r>
          </a:p>
          <a:p>
            <a:r>
              <a:rPr lang="zh-CN" altLang="en-US" dirty="0"/>
              <a:t>        Serial.println("HIGH");</a:t>
            </a:r>
          </a:p>
          <a:p>
            <a:r>
              <a:rPr lang="zh-CN" altLang="en-US" dirty="0"/>
              <a:t>      }</a:t>
            </a:r>
          </a:p>
          <a:p>
            <a:r>
              <a:rPr lang="zh-CN" altLang="en-US" dirty="0"/>
              <a:t>      if(now == LOW){</a:t>
            </a:r>
          </a:p>
          <a:p>
            <a:r>
              <a:rPr lang="zh-CN" altLang="en-US" dirty="0"/>
              <a:t>        Serial.println("LOW");</a:t>
            </a:r>
          </a:p>
          <a:p>
            <a:r>
              <a:rPr lang="zh-CN" altLang="en-US" dirty="0"/>
              <a:t>      }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  </a:t>
            </a:r>
          </a:p>
          <a:p>
            <a:r>
              <a:rPr lang="zh-CN" altLang="en-US" dirty="0"/>
              <a:t>  last = now;</a:t>
            </a:r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pPr algn="ctr"/>
            <a:r>
              <a:rPr lang="zh-CN" altLang="en-US" dirty="0"/>
              <a:t>下位机</a:t>
            </a:r>
          </a:p>
        </p:txBody>
      </p:sp>
    </p:spTree>
    <p:extLst>
      <p:ext uri="{BB962C8B-B14F-4D97-AF65-F5344CB8AC3E}">
        <p14:creationId xmlns:p14="http://schemas.microsoft.com/office/powerpoint/2010/main" val="338738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19C7E3CE-6366-4D32-A8B0-7E68F6DB4ACA}"/>
              </a:ext>
            </a:extLst>
          </p:cNvPr>
          <p:cNvSpPr/>
          <p:nvPr/>
        </p:nvSpPr>
        <p:spPr>
          <a:xfrm>
            <a:off x="494950" y="1187864"/>
            <a:ext cx="11467752" cy="536016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5D2AF2A-93AB-4925-9AEE-32EB8A889A88}"/>
              </a:ext>
            </a:extLst>
          </p:cNvPr>
          <p:cNvSpPr/>
          <p:nvPr/>
        </p:nvSpPr>
        <p:spPr>
          <a:xfrm>
            <a:off x="7568006" y="3825732"/>
            <a:ext cx="1857898" cy="7204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C8E1F2-086B-4C59-8992-71B6A443F9B6}"/>
              </a:ext>
            </a:extLst>
          </p:cNvPr>
          <p:cNvSpPr/>
          <p:nvPr/>
        </p:nvSpPr>
        <p:spPr>
          <a:xfrm>
            <a:off x="7672376" y="1924067"/>
            <a:ext cx="1506738" cy="661292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C592871-8D9A-4CAD-818F-4944B29C893A}"/>
              </a:ext>
            </a:extLst>
          </p:cNvPr>
          <p:cNvSpPr/>
          <p:nvPr/>
        </p:nvSpPr>
        <p:spPr>
          <a:xfrm>
            <a:off x="4829175" y="733511"/>
            <a:ext cx="3891832" cy="4452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实验四  解释器设计和系统集成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FFDBB74-969C-424F-90EF-1C1FFECC43E6}"/>
              </a:ext>
            </a:extLst>
          </p:cNvPr>
          <p:cNvSpPr/>
          <p:nvPr/>
        </p:nvSpPr>
        <p:spPr>
          <a:xfrm>
            <a:off x="6552286" y="2839261"/>
            <a:ext cx="3782951" cy="9162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C54558-0A05-4208-A91E-9944D627CDED}"/>
              </a:ext>
            </a:extLst>
          </p:cNvPr>
          <p:cNvSpPr/>
          <p:nvPr/>
        </p:nvSpPr>
        <p:spPr>
          <a:xfrm>
            <a:off x="7999751" y="3120901"/>
            <a:ext cx="914399" cy="372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实验二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8ADEA2-1818-4D7D-8E44-42D354BB22A8}"/>
              </a:ext>
            </a:extLst>
          </p:cNvPr>
          <p:cNvSpPr/>
          <p:nvPr/>
        </p:nvSpPr>
        <p:spPr>
          <a:xfrm>
            <a:off x="591477" y="1366185"/>
            <a:ext cx="5473559" cy="49805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1E91D1-249E-47A4-9EFD-C5EF734A8293}"/>
              </a:ext>
            </a:extLst>
          </p:cNvPr>
          <p:cNvSpPr/>
          <p:nvPr/>
        </p:nvSpPr>
        <p:spPr>
          <a:xfrm>
            <a:off x="3343317" y="1480331"/>
            <a:ext cx="914400" cy="503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实验一</a:t>
            </a:r>
          </a:p>
        </p:txBody>
      </p:sp>
      <p:pic>
        <p:nvPicPr>
          <p:cNvPr id="4" name="图片 3" descr="预览图_千图网_编号25686508"/>
          <p:cNvPicPr>
            <a:picLocks noChangeAspect="1"/>
          </p:cNvPicPr>
          <p:nvPr/>
        </p:nvPicPr>
        <p:blipFill>
          <a:blip r:embed="rId2"/>
          <a:srcRect l="-2638" t="25941" r="87414" b="59847"/>
          <a:stretch>
            <a:fillRect/>
          </a:stretch>
        </p:blipFill>
        <p:spPr>
          <a:xfrm rot="16200000">
            <a:off x="130810" y="-131445"/>
            <a:ext cx="1057275" cy="1319530"/>
          </a:xfrm>
          <a:prstGeom prst="rect">
            <a:avLst/>
          </a:prstGeom>
        </p:spPr>
      </p:pic>
      <p:sp>
        <p:nvSpPr>
          <p:cNvPr id="30" name="矩形: 圆角 29"/>
          <p:cNvSpPr/>
          <p:nvPr/>
        </p:nvSpPr>
        <p:spPr>
          <a:xfrm>
            <a:off x="1344632" y="530047"/>
            <a:ext cx="2302190" cy="45719"/>
          </a:xfrm>
          <a:prstGeom prst="roundRect">
            <a:avLst>
              <a:gd name="adj" fmla="val 50000"/>
            </a:avLst>
          </a:prstGeom>
          <a:solidFill>
            <a:srgbClr val="004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"/>
              <a:cs typeface="+mn-ea"/>
              <a:sym typeface="Noto Sans S Chinese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CBBAA-78AA-42B4-82C3-966190BCB59F}"/>
              </a:ext>
            </a:extLst>
          </p:cNvPr>
          <p:cNvGrpSpPr/>
          <p:nvPr/>
        </p:nvGrpSpPr>
        <p:grpSpPr>
          <a:xfrm>
            <a:off x="869752" y="1631765"/>
            <a:ext cx="9569311" cy="4696188"/>
            <a:chOff x="-790154" y="1644484"/>
            <a:chExt cx="9569311" cy="469618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A76ABC2-AA40-45A8-824D-512EC0D3BDBC}"/>
                </a:ext>
              </a:extLst>
            </p:cNvPr>
            <p:cNvGrpSpPr/>
            <p:nvPr/>
          </p:nvGrpSpPr>
          <p:grpSpPr>
            <a:xfrm>
              <a:off x="1400908" y="1644484"/>
              <a:ext cx="7378249" cy="4038371"/>
              <a:chOff x="1436986" y="1950715"/>
              <a:chExt cx="7522662" cy="4038371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4EAF1E14-BBC7-4451-ADAB-DB91A78364DF}"/>
                  </a:ext>
                </a:extLst>
              </p:cNvPr>
              <p:cNvGrpSpPr/>
              <p:nvPr/>
            </p:nvGrpSpPr>
            <p:grpSpPr>
              <a:xfrm>
                <a:off x="4917519" y="2198578"/>
                <a:ext cx="4042129" cy="3607049"/>
                <a:chOff x="1043608" y="3062310"/>
                <a:chExt cx="4042129" cy="3607049"/>
              </a:xfrm>
            </p:grpSpPr>
            <p:sp>
              <p:nvSpPr>
                <p:cNvPr id="35" name="AutoShape 14">
                  <a:extLst>
                    <a:ext uri="{FF2B5EF4-FFF2-40B4-BE49-F238E27FC236}">
                      <a16:creationId xmlns:a16="http://schemas.microsoft.com/office/drawing/2014/main" id="{5A083D46-E3CE-45CD-8043-76D05F333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608" y="3062310"/>
                  <a:ext cx="4042129" cy="2974536"/>
                </a:xfrm>
                <a:prstGeom prst="flowChartAlternateProcess">
                  <a:avLst/>
                </a:prstGeom>
                <a:noFill/>
                <a:ln w="38100">
                  <a:solidFill>
                    <a:srgbClr val="0000FF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utoShape 4">
                  <a:extLst>
                    <a:ext uri="{FF2B5EF4-FFF2-40B4-BE49-F238E27FC236}">
                      <a16:creationId xmlns:a16="http://schemas.microsoft.com/office/drawing/2014/main" id="{ED4F6FF7-9A2B-4D1E-B4D3-B63EDDCA1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9530" y="4174883"/>
                  <a:ext cx="1369291" cy="640278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知识库</a:t>
                  </a:r>
                </a:p>
              </p:txBody>
            </p:sp>
            <p:sp>
              <p:nvSpPr>
                <p:cNvPr id="37" name="AutoShape 5">
                  <a:extLst>
                    <a:ext uri="{FF2B5EF4-FFF2-40B4-BE49-F238E27FC236}">
                      <a16:creationId xmlns:a16="http://schemas.microsoft.com/office/drawing/2014/main" id="{09AA6386-5F12-456B-928F-BC1ED267B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1389" y="4177925"/>
                  <a:ext cx="1351698" cy="58412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数据库</a:t>
                  </a:r>
                  <a:endParaRPr lang="zh-CN" altLang="en-US" sz="2800" dirty="0"/>
                </a:p>
              </p:txBody>
            </p:sp>
            <p:sp>
              <p:nvSpPr>
                <p:cNvPr id="38" name="Line 8">
                  <a:extLst>
                    <a:ext uri="{FF2B5EF4-FFF2-40B4-BE49-F238E27FC236}">
                      <a16:creationId xmlns:a16="http://schemas.microsoft.com/office/drawing/2014/main" id="{CC3E6D68-C1B4-4E28-AFE0-EB1C17A38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7238" y="3646282"/>
                  <a:ext cx="889072" cy="53164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E01D7F05-BB41-4DDB-B04C-B051C98E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162166" y="3635952"/>
                  <a:ext cx="890581" cy="53047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Oval 12">
                  <a:extLst>
                    <a:ext uri="{FF2B5EF4-FFF2-40B4-BE49-F238E27FC236}">
                      <a16:creationId xmlns:a16="http://schemas.microsoft.com/office/drawing/2014/main" id="{3F72086F-3418-428C-89F9-4840E7180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7869" y="3181106"/>
                  <a:ext cx="1438516" cy="478051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推理机</a:t>
                  </a:r>
                  <a:endParaRPr lang="zh-CN" altLang="en-US" sz="2800" dirty="0"/>
                </a:p>
              </p:txBody>
            </p:sp>
            <p:sp>
              <p:nvSpPr>
                <p:cNvPr id="41" name="Line 8">
                  <a:extLst>
                    <a:ext uri="{FF2B5EF4-FFF2-40B4-BE49-F238E27FC236}">
                      <a16:creationId xmlns:a16="http://schemas.microsoft.com/office/drawing/2014/main" id="{FF8F1462-DF1F-40D9-A4A9-5A6E76116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10466" y="4815160"/>
                  <a:ext cx="1077732" cy="329269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8">
                  <a:extLst>
                    <a:ext uri="{FF2B5EF4-FFF2-40B4-BE49-F238E27FC236}">
                      <a16:creationId xmlns:a16="http://schemas.microsoft.com/office/drawing/2014/main" id="{787713C5-68D6-46B8-8573-5CE1B718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4054" y="4815162"/>
                  <a:ext cx="961086" cy="32926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下箭头 27">
                  <a:extLst>
                    <a:ext uri="{FF2B5EF4-FFF2-40B4-BE49-F238E27FC236}">
                      <a16:creationId xmlns:a16="http://schemas.microsoft.com/office/drawing/2014/main" id="{2EB4C496-FF2A-4AC0-9F24-655B746C3614}"/>
                    </a:ext>
                  </a:extLst>
                </p:cNvPr>
                <p:cNvSpPr/>
                <p:nvPr/>
              </p:nvSpPr>
              <p:spPr>
                <a:xfrm>
                  <a:off x="2989214" y="5651561"/>
                  <a:ext cx="240356" cy="308132"/>
                </a:xfrm>
                <a:prstGeom prst="downArrow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Oval 12">
                  <a:extLst>
                    <a:ext uri="{FF2B5EF4-FFF2-40B4-BE49-F238E27FC236}">
                      <a16:creationId xmlns:a16="http://schemas.microsoft.com/office/drawing/2014/main" id="{31F7EE7A-DBCB-4620-B7F5-C07892FD5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81" y="5129803"/>
                  <a:ext cx="1438516" cy="46817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解释器</a:t>
                  </a:r>
                  <a:endParaRPr lang="zh-CN" altLang="en-US" sz="2800" dirty="0"/>
                </a:p>
              </p:txBody>
            </p:sp>
            <p:sp>
              <p:nvSpPr>
                <p:cNvPr id="45" name="AutoShape 11">
                  <a:extLst>
                    <a:ext uri="{FF2B5EF4-FFF2-40B4-BE49-F238E27FC236}">
                      <a16:creationId xmlns:a16="http://schemas.microsoft.com/office/drawing/2014/main" id="{78E6F1C9-4520-4323-A107-51A94F079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59957" y="6189238"/>
                  <a:ext cx="1095490" cy="480121"/>
                </a:xfrm>
                <a:prstGeom prst="flowChartDocumen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2000" dirty="0"/>
                    <a:t>原因</a:t>
                  </a:r>
                  <a:endParaRPr lang="zh-CN" altLang="en-US" sz="2800" dirty="0"/>
                </a:p>
              </p:txBody>
            </p:sp>
          </p:grpSp>
          <p:sp>
            <p:nvSpPr>
              <p:cNvPr id="25" name="右大括号 24">
                <a:extLst>
                  <a:ext uri="{FF2B5EF4-FFF2-40B4-BE49-F238E27FC236}">
                    <a16:creationId xmlns:a16="http://schemas.microsoft.com/office/drawing/2014/main" id="{A84F4511-47B2-4A24-8D89-262484F5765C}"/>
                  </a:ext>
                </a:extLst>
              </p:cNvPr>
              <p:cNvSpPr/>
              <p:nvPr/>
            </p:nvSpPr>
            <p:spPr>
              <a:xfrm>
                <a:off x="1436986" y="1950715"/>
                <a:ext cx="288032" cy="403837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7" name="左右箭头 12">
                <a:extLst>
                  <a:ext uri="{FF2B5EF4-FFF2-40B4-BE49-F238E27FC236}">
                    <a16:creationId xmlns:a16="http://schemas.microsoft.com/office/drawing/2014/main" id="{0E523FF0-0324-49CE-B158-5E7C187E7608}"/>
                  </a:ext>
                </a:extLst>
              </p:cNvPr>
              <p:cNvSpPr/>
              <p:nvPr/>
            </p:nvSpPr>
            <p:spPr>
              <a:xfrm>
                <a:off x="1725018" y="3834989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左右箭头 13">
                <a:extLst>
                  <a:ext uri="{FF2B5EF4-FFF2-40B4-BE49-F238E27FC236}">
                    <a16:creationId xmlns:a16="http://schemas.microsoft.com/office/drawing/2014/main" id="{D2C04ED9-830E-4C8F-AD5E-678F107A1277}"/>
                  </a:ext>
                </a:extLst>
              </p:cNvPr>
              <p:cNvSpPr/>
              <p:nvPr/>
            </p:nvSpPr>
            <p:spPr>
              <a:xfrm>
                <a:off x="4139952" y="3834372"/>
                <a:ext cx="648072" cy="240061"/>
              </a:xfrm>
              <a:prstGeom prst="leftRightArrow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896E06D-B084-47A7-801F-DF75779B4348}"/>
                </a:ext>
              </a:extLst>
            </p:cNvPr>
            <p:cNvSpPr txBox="1"/>
            <p:nvPr/>
          </p:nvSpPr>
          <p:spPr>
            <a:xfrm>
              <a:off x="-790154" y="5879007"/>
              <a:ext cx="21091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传感器子系统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FE6FAB03-CC6D-4EE4-87A2-76C7793825EC}"/>
                </a:ext>
              </a:extLst>
            </p:cNvPr>
            <p:cNvSpPr txBox="1"/>
            <p:nvPr/>
          </p:nvSpPr>
          <p:spPr>
            <a:xfrm>
              <a:off x="2179128" y="5879007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下位机子系统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876468F-ACE9-4E1C-ABD0-15A6B276BE90}"/>
                </a:ext>
              </a:extLst>
            </p:cNvPr>
            <p:cNvSpPr txBox="1"/>
            <p:nvPr/>
          </p:nvSpPr>
          <p:spPr>
            <a:xfrm>
              <a:off x="5908099" y="5862181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上位机子系统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0A5E72DA-017A-4020-A6B0-AA1980CD7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77" y="2342603"/>
            <a:ext cx="1735478" cy="24735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1322DC2-5BA1-46AB-A54A-BDEC552CC1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" y="1469129"/>
            <a:ext cx="2167748" cy="83632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501FD19-948F-41DB-9C0B-0BB9B4F4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8" y="4838987"/>
            <a:ext cx="2317016" cy="785105"/>
          </a:xfrm>
          <a:prstGeom prst="rect">
            <a:avLst/>
          </a:prstGeom>
        </p:spPr>
      </p:pic>
      <p:sp>
        <p:nvSpPr>
          <p:cNvPr id="49" name="Rectangle 7">
            <a:extLst>
              <a:ext uri="{FF2B5EF4-FFF2-40B4-BE49-F238E27FC236}">
                <a16:creationId xmlns:a16="http://schemas.microsoft.com/office/drawing/2014/main" id="{5FAA07EF-DEEB-40C9-AEF0-48994959904F}"/>
              </a:ext>
            </a:extLst>
          </p:cNvPr>
          <p:cNvSpPr/>
          <p:nvPr/>
        </p:nvSpPr>
        <p:spPr>
          <a:xfrm>
            <a:off x="1314802" y="593348"/>
            <a:ext cx="1194558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实验简介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ED020D8-62AF-474F-84DD-D8B4E594F06B}"/>
              </a:ext>
            </a:extLst>
          </p:cNvPr>
          <p:cNvSpPr/>
          <p:nvPr/>
        </p:nvSpPr>
        <p:spPr>
          <a:xfrm>
            <a:off x="11022714" y="1924066"/>
            <a:ext cx="914400" cy="661291"/>
          </a:xfrm>
          <a:prstGeom prst="rect">
            <a:avLst/>
          </a:prstGeom>
          <a:solidFill>
            <a:srgbClr val="EDB9D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实验三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E0C90392-2CE3-48B7-92CA-2526A14C2B94}"/>
              </a:ext>
            </a:extLst>
          </p:cNvPr>
          <p:cNvCxnSpPr>
            <a:cxnSpLocks/>
          </p:cNvCxnSpPr>
          <p:nvPr/>
        </p:nvCxnSpPr>
        <p:spPr>
          <a:xfrm>
            <a:off x="9181063" y="2254712"/>
            <a:ext cx="1837764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7A5A2BC-26B5-4CB5-BE79-D5EF4B009340}"/>
              </a:ext>
            </a:extLst>
          </p:cNvPr>
          <p:cNvGrpSpPr/>
          <p:nvPr/>
        </p:nvGrpSpPr>
        <p:grpSpPr>
          <a:xfrm>
            <a:off x="1278195" y="53682"/>
            <a:ext cx="4817805" cy="522084"/>
            <a:chOff x="2266874" y="1254177"/>
            <a:chExt cx="4817805" cy="522084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A3991074-C8FC-4399-918A-EA9C6763B8C0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0670BF9-8C0F-4CB6-B657-958BF3179838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1784880-B018-4EF9-B013-CA373E867195}"/>
              </a:ext>
            </a:extLst>
          </p:cNvPr>
          <p:cNvGrpSpPr/>
          <p:nvPr/>
        </p:nvGrpSpPr>
        <p:grpSpPr>
          <a:xfrm>
            <a:off x="1278195" y="53682"/>
            <a:ext cx="6020227" cy="522084"/>
            <a:chOff x="2266874" y="1254177"/>
            <a:chExt cx="4817805" cy="522084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8B6B8C5E-3EBD-4747-A77B-562DC9E9784B}"/>
                </a:ext>
              </a:extLst>
            </p:cNvPr>
            <p:cNvSpPr/>
            <p:nvPr/>
          </p:nvSpPr>
          <p:spPr>
            <a:xfrm>
              <a:off x="2333311" y="1730542"/>
              <a:ext cx="2302190" cy="45719"/>
            </a:xfrm>
            <a:prstGeom prst="roundRect">
              <a:avLst>
                <a:gd name="adj" fmla="val 50000"/>
              </a:avLst>
            </a:prstGeom>
            <a:solidFill>
              <a:srgbClr val="0042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"/>
                <a:cs typeface="+mn-ea"/>
                <a:sym typeface="Noto Sans S Chinese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1B7BC877-D717-443A-AF85-3F594204287D}"/>
                </a:ext>
              </a:extLst>
            </p:cNvPr>
            <p:cNvSpPr txBox="1"/>
            <p:nvPr/>
          </p:nvSpPr>
          <p:spPr>
            <a:xfrm>
              <a:off x="2266874" y="1254177"/>
              <a:ext cx="4817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4E60"/>
                  </a:solidFill>
                  <a:latin typeface="Noto Sans S Chinese"/>
                  <a:cs typeface="+mn-ea"/>
                  <a:sym typeface="Noto Sans S Chinese"/>
                </a:rPr>
                <a:t>实验一</a:t>
              </a:r>
            </a:p>
          </p:txBody>
        </p:sp>
      </p:grpSp>
      <p:sp>
        <p:nvSpPr>
          <p:cNvPr id="65" name="Rectangle 7">
            <a:extLst>
              <a:ext uri="{FF2B5EF4-FFF2-40B4-BE49-F238E27FC236}">
                <a16:creationId xmlns:a16="http://schemas.microsoft.com/office/drawing/2014/main" id="{5BBC804C-7A7A-4631-9E01-EE99F2DF2674}"/>
              </a:ext>
            </a:extLst>
          </p:cNvPr>
          <p:cNvSpPr/>
          <p:nvPr/>
        </p:nvSpPr>
        <p:spPr>
          <a:xfrm>
            <a:off x="2495727" y="138433"/>
            <a:ext cx="1890261" cy="40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pc="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Noto Sans S Chinese"/>
              </a:rPr>
              <a:t>数据采集与通信</a:t>
            </a:r>
            <a:endParaRPr lang="zh-CN" altLang="en-US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Noto Sans S Chinese"/>
              <a:cs typeface="+mn-ea"/>
              <a:sym typeface="Noto Sans S Chinese"/>
            </a:endParaRPr>
          </a:p>
        </p:txBody>
      </p:sp>
    </p:spTree>
    <p:extLst>
      <p:ext uri="{BB962C8B-B14F-4D97-AF65-F5344CB8AC3E}">
        <p14:creationId xmlns:p14="http://schemas.microsoft.com/office/powerpoint/2010/main" val="139124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fgxhzakk">
      <a:majorFont>
        <a:latin typeface="Noto Sans S Chinese"/>
        <a:ea typeface="Noto Sans S Chinese"/>
        <a:cs typeface=""/>
      </a:majorFont>
      <a:minorFont>
        <a:latin typeface="Noto Sans S Chinese"/>
        <a:ea typeface="Noto Sans S Chines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1967</Words>
  <Application>Microsoft Office PowerPoint</Application>
  <PresentationFormat>宽屏</PresentationFormat>
  <Paragraphs>400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Noto Sans S Chinese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461</cp:revision>
  <dcterms:created xsi:type="dcterms:W3CDTF">2019-06-19T02:08:00Z</dcterms:created>
  <dcterms:modified xsi:type="dcterms:W3CDTF">2026-04-16T03:39:59Z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ICV">
    <vt:lpwstr>9D75B5C337F24784BCF518D84A26F703</vt:lpwstr>
  </property>
</Properties>
</file>