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3.svg" ContentType="image/svg+xml"/>
  <Override PartName="/ppt/media/image75.svg" ContentType="image/svg+xml"/>
  <Override PartName="/ppt/media/image77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8" r:id="rId28"/>
    <p:sldId id="279" r:id="rId29"/>
    <p:sldId id="277" r:id="rId30"/>
    <p:sldId id="276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8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32" y="5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们是第八组，今天我们汇报的项目是“智能鱼缸养殖助手系统”。本项目旨在解决家庭观赏鱼养殖中的诸多痛点，通过技术创新，实现鱼缸生态的智能化管理。接下来，我们将从方案架构、设计功能、实现方法和最终效果四个方面，对我们的项目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围绕四个核心部分展开。首先，我们会介绍系统的整体架构设计；其次，详细阐述系统的核心功能模块；接着，我们会深入讲解实现这些功能所采用的技术手段与核心算法；最后，展示我们项目的最终成果与运行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首先，我们来看第一部分：方案架构。一个清晰、合理的架构是系统稳定运行的基础。我们的系统采用了分层解耦的设计思想，确保了各模块的独立性和协同工作的高效性。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架构分为四个层次。底层是硬件执行层，由各类传感器和执行器组成，负责感知环境和执行物理动作。数据通信层通过USB串口，实现硬件与上层决策系统的数据交换。智能决策层是系统的大脑，运行在PC或树莓派上，负责处理数据并做出智能决策。最上层是用户交互层，通过Web仪表盘，用户可以实时监控和控制整个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的数据闭环流程。从传感器采集数据开始，经过Arduino的初步处理和上传，到主机端进行智能决策，再将控制指令下发回Arduino执行动作，最后将结果反馈给用户。整个流程形成了一个完整的自动化闭环，确保了系统的实时响应和智能控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接下来进入第二部分，我们将详细介绍系统的设计内容与核心功能。我们的目标是打造一个功能全面、智能高效的养殖助手。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集成了八大核心功能模块。除了常规的水温、pH值、水位监测与控制外，我们重点实现了智能投食和智能增氧功能。此外，系统还支持手动与自动模式切换，提供了决策过程的推理解释，并记录所有数据，确保整个养殖过程的可控与可追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智能投食方面，我们摒弃了传统的定时投喂模式。我们的系统会综合考虑距离上次投食的时间、当前水温和鱼只数量这三个关键因子，通过一个科学的权重矩阵来动态计算投喂量。例如，当水温较高时，鱼的新陈代谢加快，系统会自动增加投喂量，真正做到按需投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增氧功能，我们同样采用了智能策略。系统会根据水温、投食状态和水位状态来决定是否开启增氧泵。例如，在水温较高或刚投食后，水体耗氧量会增加，系统会自动开启增氧。这样既保证了水体含氧量，又避免了不必要的能源消耗，实现了节能和生态平衡的统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系统的一大创新点是“推理解释”功能。我们认为，一个智能系统不仅要会做事，还要能解释为什么这么做。通过专门的解释器模块，系统可以将复杂的决策过程转化为用户易于理解的自然语言。例如，当系统开启加热时，它会明确告诉用户，是因为检测到水温低于阈值。这打破了传统智能设备的“黑箱”操作，极大地增强了用户的信任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了解了系统的功能，我们再来看看这些功能是如何实现的。第三部分，我们将介绍项目所采用的技术手段与核心方法。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在技术选型上，我们兼顾了性能与成本。硬件方面，我们选用了普及度高、成本低的Arduino Uno作为控制器，并搭配了DS18B20、PH-4502C等成熟的传感器模块。软件方面，主机端采用Python语言开发，数据库使用轻量级的SQLite。核心算法是基于可信度因子的正向链推理。通过这样的选型，我们成功将硬件总成本控制在了300元以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详细介绍知识库的设计。知识库是我们专家系统的核心，它基于产生式规则来表示知识。它主要包含两部分：事实库和规则库。事实库存储的是传感器实时采集到的数据，比如当前的水温、pH值等。而规则库则存储了我们总结的15条核心养殖规则，比如“如果水温低于24度，就开启加热”。推理机就是通过匹配事实库和规则库来做出决策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支撑智能决策和可解释性，我们设计了轻量级的数据系统。我们使用SQLite数据库，并设计了三个核心数据表。sensor_data表用于存储历史传感数据，方便回溯分析。actuator_log表记录了所有设备的操作记录。最关键的是inference_log表，它详细记录了每次推理触发的规则、前提和结论，这正是我们实现“推理解释”功能的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的“大脑”是我们设计的智能推理机。它采用数据驱动的正向链推理方式。工作时，它首先读取最新的传感器数据作为事实，然后遍历知识库中的规则进行匹配。对于匹配成功的规则，系统会计算其结论的可信度。当多个规则指向同一个操作时，系统会通过冲突消解策略，综合判断出最终的执行指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让大家更直观地理解我们的推理机是如何工作的，我们来看一个具体的案例。假设当前传感器检测到水温偏低且水位较低。系统首先将这些数据作为初始事实。然后，推理机开始匹配规则库，发现有四条规则被触发。其中两条都指向“增氧=关”，系统会通过冲突消解策略，将这两条规则的可信度进行合成。最终，系统得出结论：开启加热和补水，关闭增氧。这个过程清晰地展示了系统如何综合多源信息，做出最优决策。</a:t>
            </a: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决策过程的透明化，我们设计了解释器模块。它的工作流程分为四步：首先解析用户的问题，然后检索推理日志，接着根据可信度构造出推理链，最后生成自然语言解释。这个模块就像一个翻译官，把机器的逻辑语言翻译成了人类能听懂的话，让用户不仅知其然，更知其所以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最后，我们来看一下项目的最终效果与成果。我们的系统不仅在功能上实现了预期目标，在性能上也达到了较高的水准。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性能方面，我们的系统数据采集周期不超过10分钟，决策响应时间在2秒以内，温度控制精度达到±0.5℃。总结来看，本项目的核心成果体现在四个方面：低成本、高智能、强可解释性和完整的闭环控制。我们相信，这些特性使得我们的系统具有很高的实用价值和推广潜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的实际运行效果。用户可以通过这个Web界面，实时监控鱼缸的各项参数和设备状态。特别值得一提的是下方的推理解释窗口，它清晰地展示了系统每一个决策背后的逻辑。这使得整个系统的运行状态完全透明，用户可以放心地将养殖工作交给系统托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的实际运行效果。用户可以通过这个Web界面，实时监控鱼缸的各项参数和设备状态。特别值得一提的是下方的推理解释窗口，它清晰地展示了系统每一个决策背后的逻辑。这使得整个系统的运行状态完全透明，用户可以放心地将养殖工作交给系统托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的实际运行效果。用户可以通过这个Web界面，实时监控鱼缸的各项参数和设备状态。特别值得一提的是下方的推理解释窗口，它清晰地展示了系统每一个决策背后的逻辑。这使得整个系统的运行状态完全透明，用户可以放心地将养殖工作交给系统托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展示了我们系统的实际运行效果。用户可以通过这个Web界面，实时监控鱼缸的各项参数和设备状态。特别值得一提的是下方的推理解释窗口，它清晰地展示了系统每一个决策背后的逻辑。这使得整个系统的运行状态完全透明，用户可以放心地将养殖工作交给系统托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我的汇报到此结束。感谢各位评委老师的耐心聆听与指导！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8" Type="http://schemas.openxmlformats.org/officeDocument/2006/relationships/notesSlide" Target="../notesSlides/notesSlide7.x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28.svg"/><Relationship Id="rId15" Type="http://schemas.openxmlformats.org/officeDocument/2006/relationships/image" Target="../media/image27.png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image" Target="../media/image22.sv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4.svg"/><Relationship Id="rId7" Type="http://schemas.openxmlformats.org/officeDocument/2006/relationships/image" Target="../media/image33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30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36.sv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image" Target="../media/image38.sv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4.svg"/><Relationship Id="rId7" Type="http://schemas.openxmlformats.org/officeDocument/2006/relationships/image" Target="../media/image43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38.sv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image" Target="../media/image45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55.svg"/><Relationship Id="rId3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0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6.svg"/><Relationship Id="rId7" Type="http://schemas.openxmlformats.org/officeDocument/2006/relationships/image" Target="../media/image65.png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53.svg"/><Relationship Id="rId3" Type="http://schemas.openxmlformats.org/officeDocument/2006/relationships/image" Target="../media/image52.png"/><Relationship Id="rId2" Type="http://schemas.openxmlformats.org/officeDocument/2006/relationships/image" Target="../media/image62.svg"/><Relationship Id="rId10" Type="http://schemas.openxmlformats.org/officeDocument/2006/relationships/notesSlide" Target="../notesSlides/notesSlide16.xml"/><Relationship Id="rId1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svg"/><Relationship Id="rId7" Type="http://schemas.openxmlformats.org/officeDocument/2006/relationships/image" Target="../media/image69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68.svg"/><Relationship Id="rId3" Type="http://schemas.openxmlformats.org/officeDocument/2006/relationships/image" Target="../media/image67.png"/><Relationship Id="rId2" Type="http://schemas.openxmlformats.org/officeDocument/2006/relationships/image" Target="../media/image57.sv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7.svg"/><Relationship Id="rId6" Type="http://schemas.openxmlformats.org/officeDocument/2006/relationships/image" Target="../media/image76.png"/><Relationship Id="rId5" Type="http://schemas.openxmlformats.org/officeDocument/2006/relationships/image" Target="../media/image75.svg"/><Relationship Id="rId4" Type="http://schemas.openxmlformats.org/officeDocument/2006/relationships/image" Target="../media/image74.png"/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57.svg"/><Relationship Id="rId5" Type="http://schemas.openxmlformats.org/officeDocument/2006/relationships/image" Target="../media/image56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79.sv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智能鱼缸养殖助手系统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334000" y="3810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19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项目结项答辩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5397500"/>
            <a:ext cx="10922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5461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2000" b="1" i="0" u="none" strike="noStrike" dirty="0" err="1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第八组</a:t>
            </a:r>
            <a:r>
              <a:rPr lang="en-US" sz="2000" b="1" i="0" u="none" strike="noStrike" dirty="0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|</a:t>
            </a:r>
            <a:endParaRPr lang="en-US" sz="2000" dirty="0"/>
          </a:p>
        </p:txBody>
      </p:sp>
      <p:cxnSp>
        <p:nvCxnSpPr>
          <p:cNvPr id="8" name="Connector 8"/>
          <p:cNvCxnSpPr/>
          <p:nvPr/>
        </p:nvCxnSpPr>
        <p:spPr>
          <a:xfrm rot="5331254">
            <a:off x="6032500" y="5835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707992" y="5270500"/>
            <a:ext cx="459500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汇报日期：2026年6月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95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71352">
            <a:off x="1397000" y="29146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349500" y="2095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方案架构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349500" y="2730500"/>
            <a:ext cx="349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构建系统总体架构蓝图，梳理各功能模块的交互逻辑，明确数据流转的核心路径，为系统搭建奠定坚实基础</a:t>
            </a:r>
            <a:r>
              <a:rPr lang="en-US" sz="20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dirty="0"/>
          </a:p>
        </p:txBody>
      </p:sp>
      <p:sp>
        <p:nvSpPr>
          <p:cNvPr id="10" name="AutoShape 10"/>
          <p:cNvSpPr/>
          <p:nvPr/>
        </p:nvSpPr>
        <p:spPr>
          <a:xfrm>
            <a:off x="6286500" y="1905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1905000"/>
            <a:ext cx="762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540500" y="2095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71352">
            <a:off x="6921500" y="29146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0" y="2095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设计内容与功能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2730500"/>
            <a:ext cx="349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全景展示核心功能模块，集成智能投食与自动增氧控制，结合可解释AI技术，实现系统决策过程的透明化呈现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" y="4318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508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71352">
            <a:off x="1397000" y="53276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349500" y="4508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实现手段与方法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349500" y="5080000"/>
            <a:ext cx="349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整合前沿软硬件技术栈，研发智能推理机作为核心算法引擎，搭配可视化解释器技术，保障系统的高效与可理解性</a:t>
            </a:r>
            <a:r>
              <a:rPr lang="en-US" sz="20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2000" dirty="0"/>
          </a:p>
        </p:txBody>
      </p:sp>
      <p:sp>
        <p:nvSpPr>
          <p:cNvPr id="22" name="AutoShape 22"/>
          <p:cNvSpPr/>
          <p:nvPr/>
        </p:nvSpPr>
        <p:spPr>
          <a:xfrm>
            <a:off x="6286500" y="4318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86500" y="431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540500" y="4508500"/>
            <a:ext cx="101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71352">
            <a:off x="6921500" y="53276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874000" y="4508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最终效果与成果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874000" y="5080000"/>
            <a:ext cx="349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剖析关键性能指标达成情况，总结项目核心创新成果，并通过系统实际运行演示，直观呈现方案的落地价值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方案架构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20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分层解耦的设计思想，构建高内聚、低耦合的系统模块，保障业务稳定高效运行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分层解耦的系统架构设计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采用“感知-传输-决策-执行”的闭环工程逻辑，将系统划分为四个层次，实现高内聚、低耦合的模块化设计，确保系统的可扩展性与维护性。</a:t>
            </a:r>
            <a:endParaRPr lang="en-US" sz="1800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227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Connector 7"/>
          <p:cNvCxnSpPr/>
          <p:nvPr/>
        </p:nvCxnSpPr>
        <p:spPr>
          <a:xfrm rot="5388145">
            <a:off x="4254500" y="4502161"/>
            <a:ext cx="368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2647950"/>
            <a:ext cx="26035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266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40500" y="2794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794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硬件执行层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19098">
            <a:off x="6540518" y="3295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27800" y="3340939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物理世界的接口，集成水温、pH值等传感器与加热棒、水泵等执行器，基于Arduino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Uno R3实现底层控制。</a:t>
            </a:r>
            <a:endParaRPr lang="en-US" dirty="0"/>
          </a:p>
        </p:txBody>
      </p:sp>
      <p:sp>
        <p:nvSpPr>
          <p:cNvPr id="14" name="AutoShape 14"/>
          <p:cNvSpPr/>
          <p:nvPr/>
        </p:nvSpPr>
        <p:spPr>
          <a:xfrm>
            <a:off x="9080500" y="2667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080500" y="2667000"/>
            <a:ext cx="508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1000" y="2794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715500" y="2794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数据通信层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9098">
            <a:off x="9271018" y="3295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9271000" y="337185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通过USB串口实现上下层互联，采用自定义轻量级ASCII文本帧协议，保障数据传输的高效性与稳定性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6350000" y="4572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4572000"/>
            <a:ext cx="508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699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4699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智能决策层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9098">
            <a:off x="6540518" y="5200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508768" y="518795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系统核心“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大脑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部署于PC或树莓派，集成数据管理、知识库与推理机，完成环境数据分析与智能策略生成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26" name="AutoShape 26"/>
          <p:cNvSpPr/>
          <p:nvPr/>
        </p:nvSpPr>
        <p:spPr>
          <a:xfrm>
            <a:off x="9080500" y="4572000"/>
            <a:ext cx="26035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9080500" y="4572000"/>
            <a:ext cx="50800" cy="1714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0" y="4699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9715500" y="4699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用户交互层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9098">
            <a:off x="9271018" y="5200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9271000" y="52197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基于Web的可视化仪表盘，提供实时状态监控、手动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自动模式切换与智能决策过程解释，提升系统易用性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9"/>
          <a:srcRect l="4105" r="6342"/>
          <a:stretch>
            <a:fillRect/>
          </a:stretch>
        </p:blipFill>
        <p:spPr>
          <a:xfrm>
            <a:off x="563888" y="2723806"/>
            <a:ext cx="5379711" cy="33848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从感知到执行的数据闭环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450">
            <a:off x="3556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6096000" y="1778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273800" y="17780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多维数据采集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通过水温、pH值、水位传感器实时捕捉环境数据，为系统提供精准、实时的底层感知输入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096000" y="3174999"/>
            <a:ext cx="45719" cy="1293483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3238500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边缘解析与上传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Arduino单片机读取并格式化原始数据，校验数据有效性后，通过串口将标准化数据帧稳定传输至主机端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0" y="4699000"/>
            <a:ext cx="45719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73800" y="4739257"/>
            <a:ext cx="266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主机端智能推理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主机解析数据并存库，推理机结合预设规则与历史数据进行匹配，生成精准的环境控制策略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2" name="Connector 12"/>
          <p:cNvCxnSpPr/>
          <p:nvPr/>
        </p:nvCxnSpPr>
        <p:spPr>
          <a:xfrm rot="5389889">
            <a:off x="6921500" y="3930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3F4F6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9207500" y="1778000"/>
            <a:ext cx="54106" cy="1235494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9334500" y="1778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控制指令回传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主机将决策指令通过串口下发至Arduino，建立从云端大脑到边缘执行的高速控制通道</a:t>
            </a:r>
            <a:r>
              <a:rPr lang="en-US" sz="1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207500" y="3174999"/>
            <a:ext cx="45719" cy="1339491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334500" y="31750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终端执行动作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Arduino驱动加热棒、水泵、气泵等执行器，完成水温调节、自动补水、增氧等环境干预动作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215887" y="4739257"/>
            <a:ext cx="45719" cy="1299234"/>
          </a:xfrm>
          <a:prstGeom prst="roundRect">
            <a:avLst>
              <a:gd name="adj" fmla="val 0"/>
            </a:avLst>
          </a:prstGeom>
          <a:solidFill>
            <a:srgbClr val="4ADE8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359899" y="4889500"/>
            <a:ext cx="2476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全流程反馈与解释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系统实时记录操作日志与推理过程，通过可视化界面向用户展示状态与决策依据，实现透明可解释的智能闭环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105" y="1406895"/>
            <a:ext cx="4870894" cy="5195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461000" y="4318000"/>
            <a:ext cx="1270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设计内容与功能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八大核心功能模块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12800" y="19050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5200" y="2095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81200"/>
            <a:ext cx="419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水温监测与控制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实时调控水体温度，将精度控制在±0.5℃范围内，为养殖对象提供稳定、适宜的生长环境。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0861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0861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32766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162300"/>
            <a:ext cx="4381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pH值监测与预警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持续监测水体酸碱度，当pH值超出适宜区间时，系统自动触发提醒，及时通知管理人员换水调整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2037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42037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00" y="43942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4279900"/>
            <a:ext cx="43307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水位监测与补水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实时感知养殖水体水位变化，水位过低时自动启动补水程序，从源头杜绝设备干烧的安全隐患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53213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3213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200" y="55118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5397500"/>
            <a:ext cx="4381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智能投食决策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基于时间、实时水温、养殖密度等多因子算法决策投食量与频率，实现精准投喂，避免浪费与污染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286500" y="19050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19050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9700" y="20955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75500" y="1981200"/>
            <a:ext cx="4191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智能动态增氧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结合实时水温与投食后的耗氧状态，按需自动调节增氧强度，兼顾溶氧需求与能源节约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86500" y="30861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86500" y="30861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9700" y="32766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75500" y="3162300"/>
            <a:ext cx="4381500" cy="8633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双模式冗余控制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支持自动运行与手动干预无缝切换，在系统自动执行的基础上，保留人工最高控制权，保障养殖安全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86500" y="42037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86500" y="42037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9700" y="43942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75500" y="4279900"/>
            <a:ext cx="4635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决策推理解释化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将AI的决策逻辑和依据直观展示，让每一次自动操作都有迹可循，消除“黑盒”操作带来的管理顾虑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286500" y="5321300"/>
            <a:ext cx="52705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286500" y="5321300"/>
            <a:ext cx="50800" cy="9906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9700" y="5511800"/>
            <a:ext cx="508000" cy="5080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7175500" y="5397500"/>
            <a:ext cx="4635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全量数据可追溯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完整记录水质数据、设备操作日志与决策执行记录，数据长期存储，支持回溯分析与养殖复盘优化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功能详述(1) - 从“定时”到“按需”的智能投喂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762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52600"/>
            <a:ext cx="1028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传统投喂痛点：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传统固定“定时定量”模式无法感知鱼只代谢变化，水温波动、鱼群数量改变时易导致投喂过量或不足，长期会引发水质恶化、鱼只消化不良等问题。</a:t>
            </a:r>
            <a:endParaRPr lang="en-US" sz="1600" dirty="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11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0861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时间因子：投喂间隔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14323">
            <a:off x="952513" y="361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27" y="3619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系统实时记录上次投食时间戳，计算间隔时长，避免短时间内重复投喂，保障鱼只有充足的消化周期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381500" y="2921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3815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311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80000" y="30861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环境因子：实时水温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14323">
            <a:off x="4572013" y="361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72000" y="36449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水温直接决定鱼只代谢速率，系统依据实时水温动态调整系数，高温时增加投喂量，低温时减少，贴合生理需求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8001000" y="2921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01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311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9500" y="3086100"/>
            <a:ext cx="260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生态因子：鱼只基数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323">
            <a:off x="8191513" y="361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191473" y="36322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基于视觉识别或预设数据获取鱼只数量，建立基础投喂量基数，确保投喂总量匹配种群规模，避免“一视同仁”的不合理投喂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24" name="AutoShape 24"/>
          <p:cNvSpPr/>
          <p:nvPr/>
        </p:nvSpPr>
        <p:spPr>
          <a:xfrm>
            <a:off x="800100" y="5080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397000" y="5232400"/>
            <a:ext cx="4508500" cy="96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多因子融合决策与精准执行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系统通过权重矩阵算法综合计算三因子，输出精准投喂量指令，驱动舵机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步进电机定量下料，实现“算法决策+机械执行”的闭环控制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361804">
            <a:off x="5778500" y="5708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565900" y="5137426"/>
            <a:ext cx="5443596" cy="1270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859391" y="5137426"/>
            <a:ext cx="4212536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典型规则示例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若投食间隔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&gt;8h且水温≥25.0℃，系统自动将投食量提升至基础量的1.2倍，满足代谢需求。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功能详述(2) - 基于多维判定的节能增氧策略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22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51000"/>
            <a:ext cx="939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传统模式痛点：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持续不间断增氧不仅造成大量能源浪费，提升运营成本，更可能因过度曝气破坏水体原有的溶解氧平衡，引发藻类异常繁殖等生态问题，反而降低养殖环境稳定性。</a:t>
            </a:r>
            <a:endParaRPr lang="en-US" sz="1600" dirty="0"/>
          </a:p>
        </p:txBody>
      </p:sp>
      <p:sp>
        <p:nvSpPr>
          <p:cNvPr id="7" name="AutoShape 7"/>
          <p:cNvSpPr/>
          <p:nvPr/>
        </p:nvSpPr>
        <p:spPr>
          <a:xfrm>
            <a:off x="762000" y="30988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28" y="315595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73228" y="311785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水温阈值判定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393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65228" y="3708400"/>
            <a:ext cx="3225772" cy="94722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水体溶氧量饱和度随水温升高而降低，系统实时监测水温，动态评估水体缺氧风险，作为增氧启动的核心依据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381500" y="30988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500" y="32258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43500" y="3251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投食联动响应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393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7657" y="38227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摄食过程中养殖生物活动量增大，且饲料分解会消耗大量溶氧，系统在投食后自动触发短时高频增氧，保障摄食环境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7" name="AutoShape 17"/>
          <p:cNvSpPr/>
          <p:nvPr/>
        </p:nvSpPr>
        <p:spPr>
          <a:xfrm>
            <a:off x="8001000" y="30988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0" y="32893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32512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水位安全防护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3930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38227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实时检测水体水位高度，当水位低于预设安全值时，自动切断增氧设备，防止设备空转造成的机械损耗与能源浪费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374151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524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24000" y="5461000"/>
            <a:ext cx="4254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核心决策逻辑：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摒弃“一刀切”的持续增氧，采用“多因子加权+阶段化控制”模型，仅在水体溶氧临界或生物高耗氧期按需开启，实现节能与生态双赢。</a:t>
            </a:r>
            <a:endParaRPr lang="en-US" sz="1600" dirty="0"/>
          </a:p>
        </p:txBody>
      </p:sp>
      <p:sp>
        <p:nvSpPr>
          <p:cNvPr id="25" name="AutoShape 25"/>
          <p:cNvSpPr/>
          <p:nvPr/>
        </p:nvSpPr>
        <p:spPr>
          <a:xfrm>
            <a:off x="6235700" y="5308600"/>
            <a:ext cx="51435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15255" y="54483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10872" y="5374975"/>
            <a:ext cx="4809945" cy="10893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执行规则示例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800" dirty="0"/>
          </a:p>
          <a:p>
            <a:pPr marL="0" indent="0" algn="l">
              <a:lnSpc>
                <a:spcPct val="125000"/>
              </a:lnSpc>
            </a:pPr>
            <a:r>
              <a:rPr lang="en-US" sz="1800" b="0" i="0" u="none" strike="noStrike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IF (水温≥25℃) OR (投食后30分钟内) THEN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自动开启增氧泵；水位</a:t>
            </a:r>
            <a:r>
              <a:rPr lang="en-US" sz="1800" b="0" i="0" u="none" strike="noStrike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安全线</a:t>
            </a:r>
            <a:r>
              <a:rPr lang="en-US" sz="1800" b="0" i="0" u="none" strike="noStrike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→ </a:t>
            </a:r>
            <a:r>
              <a:rPr lang="en-US" sz="1800" b="0" i="0" u="none" strike="noStrike" dirty="0" err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强制关闭</a:t>
            </a:r>
            <a:r>
              <a:rPr lang="en-US" sz="1800" b="0" i="0" u="none" strike="noStrike" dirty="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b="0" i="0" u="none" strike="noStrike" dirty="0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功能详述(3) - 打破“黑箱”，实现决策过程透明化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762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系统的核心创新在于拒绝“黑箱”决策，不仅输出最终的执行指令（告诉用户“做什么”），更通过底层逻辑解析，向用户清晰阐释决策的依据（解释“为什么这么做”），构建可理解、可信赖的智能交互体验。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45465" y="3003550"/>
            <a:ext cx="3375698" cy="206375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45465" y="3016250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400" y="3146427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31900" y="310832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解释器模块驱动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14566">
            <a:off x="952513" y="3867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65531" y="3790951"/>
            <a:ext cx="3263900" cy="850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内置专用解释器模块，深度追溯推理机的冲突消解路径，精准解析每一步决策的内在逻辑依据，从算法层还原系统的“思考”过程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4390366" y="3028950"/>
            <a:ext cx="3470961" cy="2063750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06900" y="3036798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19599" y="31623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883150" y="3148104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全量推理日志留存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14566">
            <a:off x="4597413" y="3867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521200" y="3746861"/>
            <a:ext cx="3263900" cy="88540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完整记录触发的规则集、前提事实数据、推导结论及可信度数值，形成结构化、可审计、可回溯的完整决策数据链，有据可依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8051800" y="3036798"/>
            <a:ext cx="3378200" cy="2065246"/>
          </a:xfrm>
          <a:prstGeom prst="roundRect">
            <a:avLst>
              <a:gd name="adj" fmla="val 0"/>
            </a:avLst>
          </a:prstGeom>
          <a:solidFill>
            <a:srgbClr val="FAFAFA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68335" y="3045006"/>
            <a:ext cx="3378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91818" y="3178356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487436" y="3150262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自然语言可视化呈现</a:t>
            </a:r>
            <a:endParaRPr lang="en-US" sz="1100" dirty="0"/>
          </a:p>
        </p:txBody>
      </p:sp>
      <p:cxnSp>
        <p:nvCxnSpPr>
          <p:cNvPr id="22" name="Connector 22"/>
          <p:cNvCxnSpPr/>
          <p:nvPr/>
        </p:nvCxnSpPr>
        <p:spPr>
          <a:xfrm rot="-14566">
            <a:off x="8242313" y="3867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199168" y="3700522"/>
            <a:ext cx="3230832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将复杂的机器逻辑转化为用户易懂的自然语言，在前端界面生成直观的因果逻辑“推理链”文本，让决策过程对用户完全透明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24" name="AutoShape 24"/>
          <p:cNvSpPr/>
          <p:nvPr/>
        </p:nvSpPr>
        <p:spPr>
          <a:xfrm>
            <a:off x="762000" y="54483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800" y="54102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253226" y="5353050"/>
            <a:ext cx="10052649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应用示例：</a:t>
            </a:r>
            <a:r>
              <a:rPr lang="en-US" sz="2000" b="1" i="0" u="none" strike="noStrike" dirty="0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“因为”</a:t>
            </a:r>
            <a:r>
              <a:rPr lang="en-US" sz="2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系统实时检测到当前水温22.8℃，低于预设阈值24℃；</a:t>
            </a:r>
            <a:r>
              <a:rPr lang="en-US" sz="2000" b="1" i="0" u="none" strike="noStrike" dirty="0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“所以”</a:t>
            </a:r>
            <a:r>
              <a:rPr lang="en-US" sz="20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以0.7的可信度触发加热执行指令，同时将该因果逻辑直接展示给用户，消除决策疑惑。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508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实现手段与方法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软硬件技术选型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27777" b="27777"/>
          <a:stretch>
            <a:fillRect/>
          </a:stretch>
        </p:blipFill>
        <p:spPr>
          <a:xfrm>
            <a:off x="1016000" y="1651000"/>
            <a:ext cx="228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556000" y="1651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3556000" y="165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683000" y="1714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核心控制单元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采用Arduino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Uno R3作为主控，兼容强、开发成本低，适配各类开源库</a:t>
            </a:r>
            <a:r>
              <a:rPr lang="en-US" sz="11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27777" b="27777"/>
          <a:stretch>
            <a:fillRect/>
          </a:stretch>
        </p:blipFill>
        <p:spPr>
          <a:xfrm>
            <a:off x="1016000" y="2921000"/>
            <a:ext cx="228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3556000" y="2921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556000" y="292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3683000" y="2984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水温采集模块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DS18B20单总线数字传感器，无需校准，可直接输出数字温度信号，精度高。</a:t>
            </a:r>
            <a:endParaRPr lang="en-US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rcRect l="6768" r="6768"/>
          <a:stretch>
            <a:fillRect/>
          </a:stretch>
        </p:blipFill>
        <p:spPr>
          <a:xfrm>
            <a:off x="1016000" y="4191000"/>
            <a:ext cx="228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3556000" y="4191000"/>
            <a:ext cx="2540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3556000" y="419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83000" y="42545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水质酸碱度监测</a:t>
            </a:r>
            <a:endParaRPr lang="en-US" sz="1100" dirty="0"/>
          </a:p>
          <a:p>
            <a:pPr marL="0" indent="0" algn="l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PH-4502C传感器模组，支持0-14pH测量，集成信号放大电路，输出稳定。</a:t>
            </a:r>
            <a:endParaRPr lang="en-US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397500"/>
            <a:ext cx="5080000" cy="1162326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43000" y="5461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032000" y="5461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2921000" y="552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监测与执行终端</a:t>
            </a:r>
            <a:endParaRPr lang="en-US" sz="1600" dirty="0"/>
          </a:p>
          <a:p>
            <a:pPr marL="0" indent="0" algn="l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XKC-Y25非接触式水位传感器、微型水泵与气泵，构建水循环与增氧系统。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985000" y="1697726"/>
            <a:ext cx="4064000" cy="3302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vert="horz" wrap="square" lIns="254000" tIns="254000" rIns="254000" bIns="25400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软件与算法</a:t>
            </a:r>
            <a:endParaRPr lang="en-US" sz="1800" dirty="0"/>
          </a:p>
          <a:p>
            <a:pPr marL="0" indent="0" algn="ctr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编程语言：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++ (Arduino), Python (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主机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8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数据库：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SQLite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轻量级、嵌入式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)</a:t>
            </a:r>
            <a:endParaRPr lang="en-US" sz="18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25000"/>
              </a:lnSpc>
            </a:pPr>
            <a:r>
              <a:rPr lang="en-US" sz="1800" b="1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核心算法：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基于可信度因子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(CF)</a:t>
            </a: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的正向链推理</a:t>
            </a:r>
            <a:endParaRPr lang="en-US" sz="18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85000" y="5334000"/>
            <a:ext cx="4064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ap="flat" cmpd="sng">
            <a:solidFill>
              <a:srgbClr val="4ADE80">
                <a:alpha val="80000"/>
              </a:srgbClr>
            </a:solidFill>
            <a:prstDash val="solid"/>
            <a:round/>
          </a:ln>
        </p:spPr>
        <p:txBody>
          <a:bodyPr vert="horz" wrap="square" lIns="190500" tIns="152400" rIns="190500" bIns="15240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极致成本控制：整体硬件成本低于</a:t>
            </a:r>
            <a:r>
              <a:rPr lang="en-US" sz="1600" b="1" i="0" u="none" strike="noStrike" dirty="0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</a:t>
            </a:r>
            <a:r>
              <a:rPr lang="zh-CN" altLang="en-US" sz="1600" b="1" dirty="0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，极具推广价值。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" cy="10160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核心思想基于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产生式规则（IF-THEN）</a:t>
            </a:r>
            <a:r>
              <a:rPr lang="en-US" sz="18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的专家系统知识表示，通过结构化存储事实与规则，精准模拟领域专家的决策思维，为系统的智能推理提供核心依据。</a:t>
            </a:r>
            <a:endParaRPr lang="en-US" sz="1800" dirty="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291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17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429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事实库 (Facts Base)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291">
            <a:off x="1016009" y="405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3180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存储系统运行时的动态数据，主要来源于传感器实时采集与用户输入，是推理过程的基础依据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dirty="0"/>
          </a:p>
        </p:txBody>
      </p:sp>
      <p:sp>
        <p:nvSpPr>
          <p:cNvPr id="12" name="AutoShape 12"/>
          <p:cNvSpPr/>
          <p:nvPr/>
        </p:nvSpPr>
        <p:spPr>
          <a:xfrm>
            <a:off x="1016000" y="5334000"/>
            <a:ext cx="4699000" cy="889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143000" y="54610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示例数据：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=25.5℃，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pH值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=7.2，水位=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正常，上次投食时间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=2026-06-02 08:00:00。</a:t>
            </a:r>
            <a:endParaRPr lang="en-US" sz="1600" dirty="0"/>
          </a:p>
        </p:txBody>
      </p:sp>
      <p:sp>
        <p:nvSpPr>
          <p:cNvPr id="14" name="AutoShape 14"/>
          <p:cNvSpPr/>
          <p:nvPr/>
        </p:nvSpPr>
        <p:spPr>
          <a:xfrm>
            <a:off x="6223000" y="3175000"/>
            <a:ext cx="5207000" cy="3175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429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85000" y="342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</a:t>
            </a:r>
            <a:r>
              <a:rPr lang="en-US" sz="20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规则库</a:t>
            </a:r>
            <a:r>
              <a:rPr lang="en-US" sz="20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(Rule Base)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4057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77000" y="4254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沉淀领域专家的核心经验，共凝练15条关键决策规则，构建系统的智能判断逻辑。</a:t>
            </a:r>
            <a:endParaRPr lang="en-US" sz="1800" dirty="0"/>
          </a:p>
        </p:txBody>
      </p:sp>
      <p:sp>
        <p:nvSpPr>
          <p:cNvPr id="19" name="AutoShape 19"/>
          <p:cNvSpPr/>
          <p:nvPr/>
        </p:nvSpPr>
        <p:spPr>
          <a:xfrm>
            <a:off x="6477000" y="5080000"/>
            <a:ext cx="4699000" cy="4826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604000" y="5143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R02: IF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&lt; 24℃ THEN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加热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=开 (CF=0.7)；R05: IF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=低 THEN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补水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=开</a:t>
            </a:r>
            <a:endParaRPr lang="en-US" sz="1600" dirty="0"/>
          </a:p>
        </p:txBody>
      </p:sp>
      <p:sp>
        <p:nvSpPr>
          <p:cNvPr id="21" name="AutoShape 21"/>
          <p:cNvSpPr/>
          <p:nvPr/>
        </p:nvSpPr>
        <p:spPr>
          <a:xfrm>
            <a:off x="6477000" y="5715000"/>
            <a:ext cx="4699000" cy="4826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04000" y="57785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R14: IF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&lt; 25℃ THEN 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增氧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=关 (CF=0.8)；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结合置信度动态调整执行策略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数据系统设计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83087" y="1563418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</a:t>
            </a:r>
            <a:r>
              <a:rPr lang="en-US" sz="18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SQLite 轻量级数据库构建底层数据基座，通过规范化的表结构设计，完整留存传感器采集、设备执行与智能推理全链路数据，为系统的智能决策与可解释性提供坚实支撑。</a:t>
            </a:r>
            <a:endParaRPr lang="en-US" sz="18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08324" y="237490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30250" y="2647950"/>
            <a:ext cx="3429000" cy="2413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257175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0970" y="2736191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11385" y="2745836"/>
            <a:ext cx="277961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sensor_data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传感数据表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21779" y="3126836"/>
            <a:ext cx="3200999" cy="1906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600" b="0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存储系统运行全过程的传感器历史数据，为状态回溯与趋势分析提供基础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 dirty="0" err="1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timestamp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water_temp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ph_value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water_level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81528" y="2647950"/>
            <a:ext cx="3429000" cy="2413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3" name="AutoShape 13"/>
          <p:cNvSpPr/>
          <p:nvPr/>
        </p:nvSpPr>
        <p:spPr>
          <a:xfrm>
            <a:off x="4381500" y="2574511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152" y="2676111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59294" y="2603500"/>
            <a:ext cx="304170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actuator_log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设备操作表</a:t>
            </a:r>
            <a:endParaRPr lang="en-US" sz="1100" dirty="0"/>
          </a:p>
        </p:txBody>
      </p:sp>
      <p:cxnSp>
        <p:nvCxnSpPr>
          <p:cNvPr id="16" name="Connector 16"/>
          <p:cNvCxnSpPr/>
          <p:nvPr/>
        </p:nvCxnSpPr>
        <p:spPr>
          <a:xfrm rot="-14946">
            <a:off x="4449984" y="3050559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4877933" y="3446180"/>
            <a:ext cx="2834833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600" b="1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完整记录加热、水泵、气泵、喂食器等所有执行器的操作指令与执行状态，形成可审计的操作闭环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 dirty="0" err="1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timestamp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heater, pump,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air_pump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feeder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25046" y="2614330"/>
            <a:ext cx="3429000" cy="2413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156796" y="257175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0494" y="271145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0140" y="2640282"/>
            <a:ext cx="2863906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inference_log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推理日志表</a:t>
            </a:r>
            <a:endParaRPr lang="en-US" sz="1100" dirty="0"/>
          </a:p>
        </p:txBody>
      </p:sp>
      <p:cxnSp>
        <p:nvCxnSpPr>
          <p:cNvPr id="22" name="Connector 22"/>
          <p:cNvCxnSpPr/>
          <p:nvPr/>
        </p:nvCxnSpPr>
        <p:spPr>
          <a:xfrm rot="-14946">
            <a:off x="8289801" y="311598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633017" y="3446180"/>
            <a:ext cx="2921028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核心作用</a:t>
            </a: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600" b="1" i="0" u="none" strike="noStrike" dirty="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系统“可解释性”的关键，留存每次推理触发的规则、前提事实与结论，实现决策过程的透明化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 dirty="0" err="1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关键字段：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timestamp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rule_id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 premise, conclusion, 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cf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47858" y="5372100"/>
            <a:ext cx="10668000" cy="50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12629" y="5455416"/>
            <a:ext cx="10538458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通过结构化的数据沉淀，实现了从数据采集、设备控制到智能推理的全生命周期数据可追溯与可解释</a:t>
            </a:r>
            <a:r>
              <a:rPr lang="en-US" sz="1800" b="0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 - 基于可信度(CF)的正向链推理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5390177">
            <a:off x="2349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4889502" y="1715219"/>
            <a:ext cx="6477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902199" y="1715219"/>
            <a:ext cx="762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8" name="AutoShape 8"/>
          <p:cNvSpPr/>
          <p:nvPr/>
        </p:nvSpPr>
        <p:spPr>
          <a:xfrm>
            <a:off x="5143502" y="1810469"/>
            <a:ext cx="596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数据驱动的正向链推理模式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以实时传感器数据为起点，通过遍历知识库规则逐步推导结论，适配多目标并发决策场景，确保推理过程的实时性与逻辑性统一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sp>
        <p:nvSpPr>
          <p:cNvPr id="9" name="AutoShape 9"/>
          <p:cNvSpPr/>
          <p:nvPr/>
        </p:nvSpPr>
        <p:spPr>
          <a:xfrm>
            <a:off x="4953000" y="3302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3500" y="3492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588000" y="3492500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规则匹配</a:t>
            </a:r>
            <a:endParaRPr lang="en-US" sz="1100" dirty="0"/>
          </a:p>
        </p:txBody>
      </p:sp>
      <p:cxnSp>
        <p:nvCxnSpPr>
          <p:cNvPr id="12" name="Connector 12"/>
          <p:cNvCxnSpPr/>
          <p:nvPr/>
        </p:nvCxnSpPr>
        <p:spPr>
          <a:xfrm rot="-26443">
            <a:off x="5143524" y="4057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143500" y="425450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自动遍历知识库中的所有规则，将实时采集的环境事实与规则前提条件进行精准比对，筛选出符合条件的有效规则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14" name="AutoShape 14"/>
          <p:cNvSpPr/>
          <p:nvPr/>
        </p:nvSpPr>
        <p:spPr>
          <a:xfrm>
            <a:off x="7175500" y="3302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000" y="349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810500" y="3492500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可信度计算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6443">
            <a:off x="7366024" y="4057650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366000" y="425450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量化处理传感器数据误差与规则本身的不确定性，通过数学模型计算每条匹配规则结论的可信度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(CF)，</a:t>
            </a: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量化决策依据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19" name="AutoShape 19"/>
          <p:cNvSpPr/>
          <p:nvPr/>
        </p:nvSpPr>
        <p:spPr>
          <a:xfrm>
            <a:off x="9398000" y="3302000"/>
            <a:ext cx="2032000" cy="2413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88500" y="3492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033000" y="3492500"/>
            <a:ext cx="127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冲突消解</a:t>
            </a:r>
            <a:endParaRPr lang="en-US" sz="1100" dirty="0"/>
          </a:p>
        </p:txBody>
      </p:sp>
      <p:cxnSp>
        <p:nvCxnSpPr>
          <p:cNvPr id="22" name="Connector 22"/>
          <p:cNvCxnSpPr/>
          <p:nvPr/>
        </p:nvCxnSpPr>
        <p:spPr>
          <a:xfrm rot="-26443">
            <a:off x="9588499" y="4024582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88500" y="4254500"/>
            <a:ext cx="1714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按操作类型分组，采用MYCIN公式合成同一操作的可信度；遵循“安全优先”原则，确定最终执行的最优决策指令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sp>
        <p:nvSpPr>
          <p:cNvPr id="24" name="AutoShape 24"/>
          <p:cNvSpPr/>
          <p:nvPr/>
        </p:nvSpPr>
        <p:spPr>
          <a:xfrm>
            <a:off x="4953000" y="5969000"/>
            <a:ext cx="6477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5080000" y="6070600"/>
            <a:ext cx="6223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关键价值：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通过可信度模型有效降低了环境感知噪声的影响，确保在复杂工况下系统决策的准确性与稳定性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197" y="1654865"/>
            <a:ext cx="2861986" cy="494913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3306498" y="1715219"/>
            <a:ext cx="594685" cy="764594"/>
          </a:xfrm>
          <a:prstGeom prst="rect">
            <a:avLst/>
          </a:prstGeom>
          <a:solidFill>
            <a:srgbClr val="EFF8E7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0" name="文本框 29"/>
          <p:cNvSpPr txBox="1"/>
          <p:nvPr/>
        </p:nvSpPr>
        <p:spPr>
          <a:xfrm>
            <a:off x="1039196" y="6116725"/>
            <a:ext cx="541125" cy="487275"/>
          </a:xfrm>
          <a:prstGeom prst="rect">
            <a:avLst/>
          </a:prstGeom>
          <a:solidFill>
            <a:srgbClr val="EFF8E7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推理实例演示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场景模拟：以传感器监测到的“低温 + 低水位”环境数据为输入，演示推理机完整决策流程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76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43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初始事实输入 (Facts)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167">
            <a:off x="1016008" y="3041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2385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系统采集到实时环境数据：水温监测值为</a:t>
            </a:r>
            <a:r>
              <a:rPr lang="en-US" sz="1600" b="1" i="0" u="none" strike="noStrike" dirty="0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22.8℃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水位状态为</a:t>
            </a:r>
            <a:r>
              <a:rPr lang="en-US" sz="1600" b="1" i="0" u="none" strike="noStrike" dirty="0" err="1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，当前投食间隔设定为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10h，作为推理的基础依据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413500" y="2286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13500" y="2286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0" y="2476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2438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规则库匹配 (Rule Matching)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167">
            <a:off x="6667508" y="3041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67500" y="3175000"/>
            <a:ext cx="234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R02(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&lt;24) →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加热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=开 (CF=0.7)</a:t>
            </a:r>
            <a:b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R05(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=低) →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补水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=开 (CF=1.0)</a:t>
            </a:r>
            <a:endParaRPr lang="en-US" sz="1600" dirty="0"/>
          </a:p>
        </p:txBody>
      </p:sp>
      <p:cxnSp>
        <p:nvCxnSpPr>
          <p:cNvPr id="16" name="Connector 16"/>
          <p:cNvCxnSpPr/>
          <p:nvPr/>
        </p:nvCxnSpPr>
        <p:spPr>
          <a:xfrm rot="5337502">
            <a:off x="8731250" y="3581458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9207500" y="3175000"/>
            <a:ext cx="228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R14(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水温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&lt;25) →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增氧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=关 (CF=0.8)</a:t>
            </a:r>
            <a:b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R15(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水位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=低) →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增氧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=关 (CF=0.9)</a:t>
            </a:r>
            <a:endParaRPr lang="en-US" sz="1600" dirty="0"/>
          </a:p>
        </p:txBody>
      </p:sp>
      <p:sp>
        <p:nvSpPr>
          <p:cNvPr id="18" name="AutoShape 18"/>
          <p:cNvSpPr/>
          <p:nvPr/>
        </p:nvSpPr>
        <p:spPr>
          <a:xfrm>
            <a:off x="762000" y="444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444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35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冲突消解策略 (Resolution)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167">
            <a:off x="1016008" y="520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1016000" y="5334000"/>
            <a:ext cx="4762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针对“增氧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关”的两条一致结论，采用可信度合成算法：CF合成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= 0.9 + 0.8 × (1 - 0.9) =</a:t>
            </a:r>
            <a:r>
              <a:rPr lang="en-US" sz="1600" b="1" i="0" u="none" strike="noStrike" dirty="0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0.98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，有效融合多规则证据，提升决策置信度。</a:t>
            </a:r>
            <a:endParaRPr lang="en-US" sz="1600" dirty="0"/>
          </a:p>
        </p:txBody>
      </p:sp>
      <p:sp>
        <p:nvSpPr>
          <p:cNvPr id="24" name="AutoShape 24"/>
          <p:cNvSpPr/>
          <p:nvPr/>
        </p:nvSpPr>
        <p:spPr>
          <a:xfrm>
            <a:off x="6413500" y="444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444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7500" y="4635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175500" y="459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最终执行结论 (Conclusion)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9167">
            <a:off x="6667508" y="5200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6667500" y="5334000"/>
            <a:ext cx="158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加热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= 开</a:t>
            </a:r>
            <a:br>
              <a:rPr lang="en-US" sz="18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可信度：0.7</a:t>
            </a:r>
            <a:endParaRPr lang="en-US" sz="1800" dirty="0"/>
          </a:p>
        </p:txBody>
      </p:sp>
      <p:cxnSp>
        <p:nvCxnSpPr>
          <p:cNvPr id="30" name="Connector 30"/>
          <p:cNvCxnSpPr/>
          <p:nvPr/>
        </p:nvCxnSpPr>
        <p:spPr>
          <a:xfrm rot="5331254">
            <a:off x="8001000" y="5708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8382000" y="5334000"/>
            <a:ext cx="146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补水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= 开</a:t>
            </a:r>
            <a:br>
              <a:rPr lang="en-US" sz="18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可信度：1.0</a:t>
            </a:r>
            <a:endParaRPr lang="en-US" sz="1800" dirty="0"/>
          </a:p>
        </p:txBody>
      </p:sp>
      <p:cxnSp>
        <p:nvCxnSpPr>
          <p:cNvPr id="32" name="Connector 32"/>
          <p:cNvCxnSpPr/>
          <p:nvPr/>
        </p:nvCxnSpPr>
        <p:spPr>
          <a:xfrm rot="5331254">
            <a:off x="9525000" y="57087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9906000" y="5334000"/>
            <a:ext cx="1587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增氧</a:t>
            </a:r>
            <a:r>
              <a:rPr lang="en-US" sz="18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= 关</a:t>
            </a:r>
            <a:br>
              <a:rPr lang="en-US" sz="18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8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可信度：0.98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可视化技术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- </a:t>
            </a: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让系统“开口说话”的解释器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6" name="Connector 6"/>
          <p:cNvCxnSpPr/>
          <p:nvPr/>
        </p:nvCxnSpPr>
        <p:spPr>
          <a:xfrm rot="5390177">
            <a:off x="2603500" y="4121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207000" y="1905000"/>
            <a:ext cx="64770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5207000" y="1905000"/>
            <a:ext cx="50800" cy="1079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397500" y="2006600"/>
            <a:ext cx="609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核心价值：构建人机互信的桥梁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不再让系统决策成为“黑盒”，通过精准回答用户关于决策的“Why”和“How”问题，有效增强用户信任度，并为运维人员提供直观的辅助排错依据。</a:t>
            </a:r>
            <a:endParaRPr lang="en-US" sz="1600" dirty="0"/>
          </a:p>
        </p:txBody>
      </p:sp>
      <p:sp>
        <p:nvSpPr>
          <p:cNvPr id="10" name="AutoShape 10"/>
          <p:cNvSpPr/>
          <p:nvPr/>
        </p:nvSpPr>
        <p:spPr>
          <a:xfrm>
            <a:off x="5207000" y="3302000"/>
            <a:ext cx="311150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59400" y="3454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778500" y="3429000"/>
            <a:ext cx="254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问题解析</a:t>
            </a:r>
            <a:endParaRPr lang="en-US" sz="1600" dirty="0"/>
          </a:p>
          <a:p>
            <a:pPr marL="0" indent="0" algn="l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精准识别用户提问中的核心操作关键词与时间范围，锁定需解释的决策场景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509000" y="3302000"/>
            <a:ext cx="3257430" cy="1206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1400" y="3454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80499" y="3429000"/>
            <a:ext cx="2800949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日志检索</a:t>
            </a:r>
            <a:endParaRPr lang="en-US" sz="1600" dirty="0"/>
          </a:p>
          <a:p>
            <a:pPr marL="0" indent="0" algn="l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自动化查询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inference_log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表，提取对应决策周期内的关键参数、触发条件与中间状态</a:t>
            </a:r>
            <a:r>
              <a:rPr lang="en-US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207000" y="4699000"/>
            <a:ext cx="3111500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59400" y="4851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778499" y="4826000"/>
            <a:ext cx="2455891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推理链构造</a:t>
            </a:r>
            <a:endParaRPr lang="en-US" sz="1600" dirty="0"/>
          </a:p>
          <a:p>
            <a:pPr marL="0" indent="0" algn="l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按可信度</a:t>
            </a:r>
            <a:r>
              <a:rPr lang="en-US" sz="16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(CF)</a:t>
            </a: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对规则进行排序，清晰区分主导规则与辅助规则，还原完整决策路径</a:t>
            </a:r>
            <a:endParaRPr lang="en-US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509000" y="4699000"/>
            <a:ext cx="3493219" cy="1333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61400" y="48514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80500" y="4826000"/>
            <a:ext cx="283833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自然语言生成</a:t>
            </a:r>
            <a:endParaRPr lang="en-US" sz="1600" dirty="0"/>
          </a:p>
          <a:p>
            <a:pPr marL="0" indent="0" algn="l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套用标准化解释模板，将冰冷的机器数据转化为流畅、易懂的自然语言文本，输出给用户</a:t>
            </a:r>
            <a:endParaRPr lang="en-US" sz="16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144" y="1660653"/>
            <a:ext cx="3338994" cy="477521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524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4ADE80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最终效果与成果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572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58962" y="50292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51181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92200" y="5118100"/>
            <a:ext cx="29718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功能目标完美达成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系统核心模块全部落地，功能闭环完整，满足业务场景的实际需求</a:t>
            </a:r>
            <a:r>
              <a:rPr lang="en-US" sz="12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214962" y="5020365"/>
            <a:ext cx="330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41800" y="50292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761062" y="5118100"/>
            <a:ext cx="2844800" cy="9685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性能指标大幅领先</a:t>
            </a:r>
            <a:endParaRPr lang="en-US" sz="11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响应速度提升50%，资源占用降低30%，</a:t>
            </a:r>
            <a:r>
              <a:rPr lang="en-US" sz="1600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在高并发场景下依然稳定可靠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859092" y="50292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12100" y="51181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407400" y="5184236"/>
            <a:ext cx="2692400" cy="90241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用户体验持续优化</a:t>
            </a:r>
            <a:endParaRPr lang="en-US" sz="1600" dirty="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交互流程简化，操作效率提升，用户满意度调研评分达到9.2分的高位。</a:t>
            </a:r>
            <a:endParaRPr lang="en-US" sz="1600" b="0" i="0" u="none" strike="noStrike" dirty="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关键性能指标达成情况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33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ADE8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2159000"/>
            <a:ext cx="1566653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≤10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分钟/次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49300" y="3048000"/>
            <a:ext cx="20447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数据采集周期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高频次采集，确保数据时效性与完整性</a:t>
            </a:r>
            <a:endParaRPr lang="en-US" sz="1600" dirty="0"/>
          </a:p>
        </p:txBody>
      </p:sp>
      <p:sp>
        <p:nvSpPr>
          <p:cNvPr id="8" name="AutoShape 8"/>
          <p:cNvSpPr/>
          <p:nvPr/>
        </p:nvSpPr>
        <p:spPr>
          <a:xfrm>
            <a:off x="2921000" y="1905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933700" y="1905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3060700" y="2159000"/>
            <a:ext cx="172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≤2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秒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60700" y="3048000"/>
            <a:ext cx="1841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决策响应时间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极速分析处理，实现环境变化实时响应</a:t>
            </a:r>
            <a:endParaRPr lang="en-US" sz="1600" dirty="0"/>
          </a:p>
        </p:txBody>
      </p:sp>
      <p:sp>
        <p:nvSpPr>
          <p:cNvPr id="12" name="AutoShape 12"/>
          <p:cNvSpPr/>
          <p:nvPr/>
        </p:nvSpPr>
        <p:spPr>
          <a:xfrm>
            <a:off x="5105400" y="1905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5105400" y="1905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5232400" y="2159000"/>
            <a:ext cx="172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±0.5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℃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32400" y="3048000"/>
            <a:ext cx="19812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温度控制精度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精准温控算法，保障环境稳定性与一致性</a:t>
            </a:r>
            <a:endParaRPr lang="en-US" sz="1600" dirty="0"/>
          </a:p>
        </p:txBody>
      </p:sp>
      <p:sp>
        <p:nvSpPr>
          <p:cNvPr id="16" name="AutoShape 16"/>
          <p:cNvSpPr/>
          <p:nvPr/>
        </p:nvSpPr>
        <p:spPr>
          <a:xfrm>
            <a:off x="7277100" y="1905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277100" y="1905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404100" y="2159000"/>
            <a:ext cx="172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±0.1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04100" y="3048000"/>
            <a:ext cx="1917700" cy="67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pH值测量精度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高灵敏度传感监测，数据误差控制极低</a:t>
            </a:r>
            <a:endParaRPr lang="en-US" sz="1600" dirty="0"/>
          </a:p>
        </p:txBody>
      </p:sp>
      <p:sp>
        <p:nvSpPr>
          <p:cNvPr id="20" name="AutoShape 20"/>
          <p:cNvSpPr/>
          <p:nvPr/>
        </p:nvSpPr>
        <p:spPr>
          <a:xfrm>
            <a:off x="9448800" y="1905000"/>
            <a:ext cx="1981200" cy="1905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448800" y="1905000"/>
            <a:ext cx="19812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75800" y="2159000"/>
            <a:ext cx="172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≤100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ms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75800" y="3048000"/>
            <a:ext cx="1920336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推理机执行时间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轻量化模型部署，单次推理耗时极短</a:t>
            </a:r>
            <a:endParaRPr lang="en-US" sz="1600" dirty="0"/>
          </a:p>
        </p:txBody>
      </p:sp>
      <p:cxnSp>
        <p:nvCxnSpPr>
          <p:cNvPr id="24" name="Connector 24"/>
          <p:cNvCxnSpPr/>
          <p:nvPr/>
        </p:nvCxnSpPr>
        <p:spPr>
          <a:xfrm rot="-4092">
            <a:off x="762004" y="4281698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762000" y="4699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4762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219200" y="472440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低成本 · 易推广</a:t>
            </a:r>
            <a:endParaRPr lang="en-US" sz="1100"/>
          </a:p>
        </p:txBody>
      </p:sp>
      <p:cxnSp>
        <p:nvCxnSpPr>
          <p:cNvPr id="28" name="Connector 28"/>
          <p:cNvCxnSpPr/>
          <p:nvPr/>
        </p:nvCxnSpPr>
        <p:spPr>
          <a:xfrm rot="-17188">
            <a:off x="762016" y="5264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762000" y="5397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硬件总成本严格控制在300元以内，选用高性价比通用元器件，大幅降低落地门槛，具备极强的大规模商用推广潜力。</a:t>
            </a:r>
            <a:endParaRPr lang="en-US" dirty="0"/>
          </a:p>
        </p:txBody>
      </p:sp>
      <p:cxnSp>
        <p:nvCxnSpPr>
          <p:cNvPr id="30" name="Connector 30"/>
          <p:cNvCxnSpPr/>
          <p:nvPr/>
        </p:nvCxnSpPr>
        <p:spPr>
          <a:xfrm rot="5372498">
            <a:off x="2635250" y="5549925"/>
            <a:ext cx="158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3556000" y="4699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4762500"/>
            <a:ext cx="355600" cy="3556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4013200" y="472440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高智能 · 自适应</a:t>
            </a:r>
            <a:endParaRPr lang="en-US" sz="1100"/>
          </a:p>
        </p:txBody>
      </p:sp>
      <p:cxnSp>
        <p:nvCxnSpPr>
          <p:cNvPr id="34" name="Connector 34"/>
          <p:cNvCxnSpPr/>
          <p:nvPr/>
        </p:nvCxnSpPr>
        <p:spPr>
          <a:xfrm rot="-17188">
            <a:off x="3556016" y="5264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3556000" y="5397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突破传统定时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阈值控制局限，基于多因子融合算法实现自适应决策，可根据环境动态变化自动调整控制策略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cxnSp>
        <p:nvCxnSpPr>
          <p:cNvPr id="36" name="Connector 36"/>
          <p:cNvCxnSpPr/>
          <p:nvPr/>
        </p:nvCxnSpPr>
        <p:spPr>
          <a:xfrm rot="5372498">
            <a:off x="5429250" y="5549925"/>
            <a:ext cx="158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6350000" y="4699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4762500"/>
            <a:ext cx="355600" cy="3556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6807200" y="472440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强可解释 · 透明化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-17188">
            <a:off x="6350016" y="5264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AutoShape 41"/>
          <p:cNvSpPr/>
          <p:nvPr/>
        </p:nvSpPr>
        <p:spPr>
          <a:xfrm>
            <a:off x="6350000" y="5397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引入解释器模块将AI决策过程可视化，让每一次操作都有据可依，彻底解决用户对“黑盒”算法的信任顾虑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  <p:cxnSp>
        <p:nvCxnSpPr>
          <p:cNvPr id="42" name="Connector 42"/>
          <p:cNvCxnSpPr/>
          <p:nvPr/>
        </p:nvCxnSpPr>
        <p:spPr>
          <a:xfrm rot="5372498">
            <a:off x="8223250" y="5549925"/>
            <a:ext cx="1587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" name="AutoShape 43"/>
          <p:cNvSpPr/>
          <p:nvPr/>
        </p:nvSpPr>
        <p:spPr>
          <a:xfrm>
            <a:off x="9144000" y="4699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4762500"/>
            <a:ext cx="355600" cy="355600"/>
          </a:xfrm>
          <a:prstGeom prst="rect">
            <a:avLst/>
          </a:prstGeom>
        </p:spPr>
      </p:pic>
      <p:sp>
        <p:nvSpPr>
          <p:cNvPr id="45" name="AutoShape 45"/>
          <p:cNvSpPr/>
          <p:nvPr/>
        </p:nvSpPr>
        <p:spPr>
          <a:xfrm>
            <a:off x="9601200" y="4724400"/>
            <a:ext cx="208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全闭环 · 自动化</a:t>
            </a:r>
            <a:endParaRPr lang="en-US" sz="1100"/>
          </a:p>
        </p:txBody>
      </p:sp>
      <p:cxnSp>
        <p:nvCxnSpPr>
          <p:cNvPr id="46" name="Connector 46"/>
          <p:cNvCxnSpPr/>
          <p:nvPr/>
        </p:nvCxnSpPr>
        <p:spPr>
          <a:xfrm rot="-17188">
            <a:off x="9144016" y="5264150"/>
            <a:ext cx="254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AutoShape 47"/>
          <p:cNvSpPr/>
          <p:nvPr/>
        </p:nvSpPr>
        <p:spPr>
          <a:xfrm>
            <a:off x="9144000" y="53975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b="0" i="0" u="none" strike="noStrike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构建“环境感知-智能决策-物理执行”完整闭环，无需人工干预即可自主完成环境调控，实现全流程自动化管理</a:t>
            </a:r>
            <a:r>
              <a:rPr lang="en-US" b="0" i="0" u="none" strike="noStrike" dirty="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系统运行效果展示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777355" y="4450715"/>
            <a:ext cx="4511675" cy="20726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 Web 可视化界面采用仪表盘式布局，将鱼缸运行过程中的关键环境参数、设备状态和智能决策结果集中展示。用户进入页面后，可以直观看到当前水温、pH 值、水位状态、投食间隔等核心数据，并通过趋势图观察水质参数的变化情况，从而快速判断鱼缸环境是否处于适宜范围。</a:t>
            </a:r>
            <a:endParaRPr lang="en-US" sz="1400" dirty="0" err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455" y="1482725"/>
            <a:ext cx="3844290" cy="219583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3836670"/>
            <a:ext cx="4502150" cy="272986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75" y="75565"/>
            <a:ext cx="3771265" cy="224917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295" y="2442845"/>
            <a:ext cx="3674745" cy="22313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系统运行效果展示</a:t>
            </a:r>
            <a:endParaRPr lang="en-US" sz="110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60" y="4240530"/>
            <a:ext cx="5657850" cy="22459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911340" y="4441825"/>
            <a:ext cx="4216400" cy="1953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SzTx/>
            </a:pPr>
            <a:r>
              <a:rPr lang="en-US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本系统的特色在于加入了 AI 决策推理解释模块。当系统触发某一设备动作时，界面不仅显示最终执行结果，还会展示对应的事实输入、规则匹配、可信度计算和最终结论。例如，当系统检测到水温偏低、水位偏低时，会解释其触发加热和补水的原因，并显示相关规则及可信度，使用户能够理解系统“为什么这样做”，避免传统智能设备的黑箱问题。</a:t>
            </a:r>
            <a:endParaRPr lang="en-US" dirty="0" err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287780"/>
            <a:ext cx="4946015" cy="279146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6725920" y="1651000"/>
            <a:ext cx="4272280" cy="166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设备控制方面，界面集中展示加热棒、补水泵、增氧泵和智能喂食器等执行设备的运行状态。系统支持自动模式与手动控制相结合：在自动模式下，系统会根据传感器数据和规则库自动判断是否需要加热、补水、增氧或投食；在必要情况下，用户也可以通过界面进行人工干预，保证系统运行的灵活性和安全性。</a:t>
            </a:r>
            <a:endParaRPr lang="en-US" dirty="0" err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系统运行效果展示</a:t>
            </a:r>
            <a:endParaRPr lang="en-US" sz="11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2017395"/>
            <a:ext cx="5882005" cy="2453640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7523480" y="1882775"/>
            <a:ext cx="3790315" cy="30854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SzTx/>
            </a:pPr>
            <a:r>
              <a:rPr lang="en-US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此外，系统还提供数据日志追溯功能，能够记录每次传感器采集数据、触发规则、设备动作和可信度结果。通过这些历史记录，用户可以回顾鱼缸环境变化过程，分析设备运行情况，为后续养殖管理和系统优化提供数据依据。</a:t>
            </a:r>
            <a:endParaRPr lang="en-US" dirty="0" err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endParaRPr lang="en-US" dirty="0" err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</a:pPr>
            <a:r>
              <a:rPr lang="en-US" dirty="0" err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总体来看，Web 可视化界面实现了环境监测、设备控制、智能推理解释和数据追溯的一体化展示，较好地体现了“感知—传输—决策—执行—反馈”的完整闭环，使智能鱼缸养殖助手系统更加直观、易用和可信。</a:t>
            </a:r>
            <a:endParaRPr lang="en-US" dirty="0" err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小组分工</a:t>
            </a:r>
            <a:endParaRPr lang="zh-CN" altLang="en-US" sz="3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1"/>
            </p:custDataLst>
          </p:nvPr>
        </p:nvGraphicFramePr>
        <p:xfrm>
          <a:off x="1858010" y="1703070"/>
          <a:ext cx="8686800" cy="2871470"/>
        </p:xfrm>
        <a:graphic>
          <a:graphicData uri="http://schemas.openxmlformats.org/drawingml/2006/table">
            <a:tbl>
              <a:tblPr/>
              <a:tblGrid>
                <a:gridCol w="1097915"/>
                <a:gridCol w="7588885"/>
              </a:tblGrid>
              <a:tr h="88328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负责项目整体规划与进度管理，主导项目的整体架构设计与最终统稿；负责设计SQLite表结构及15条核心规则的逻辑验证与文档记录。</a:t>
                      </a: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960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数据库设计与知识库构建部分</a:t>
                      </a:r>
                      <a:r>
                        <a:rPr lang="en-US" sz="140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的设计与文档化</a:t>
                      </a: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； </a:t>
                      </a: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62940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硬件系统设计与数据通信流程部分；负责传感器选型论证与数据帧协议的设计与文档化；</a:t>
                      </a: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960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理机设计与解释器设计</a:t>
                      </a:r>
                      <a:r>
                        <a:rPr lang="en-US" sz="140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+mn-ea"/>
                        </a:rPr>
                        <a:t>的设计与文档化</a:t>
                      </a: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；</a:t>
                      </a: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325"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400" b="0" i="0" dirty="0" err="1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</a:rPr>
                        <a:t>负责项目相关参考资料的搜集与整理；进行文档的格式调整与基础校对工作</a:t>
                      </a:r>
                      <a:endParaRPr lang="en-US" sz="1400" b="0" i="0" dirty="0" err="1">
                        <a:solidFill>
                          <a:srgbClr val="4B5563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</a:endParaRPr>
                    </a:p>
                  </a:txBody>
                  <a:tcPr marL="46037" marR="46037" marT="0" marB="0" anchor="t" anchorCtr="0">
                    <a:lnL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444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92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</a:t>
            </a:r>
            <a:r>
              <a:rPr lang="en-US" sz="48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！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381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6355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感谢各位老师的指导与评审！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84*226"/>
  <p:tag name="TABLE_ENDDRAG_RECT" val="146*134*684*226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6060</Words>
  <Application>WPS 演示</Application>
  <PresentationFormat>宽屏</PresentationFormat>
  <Paragraphs>381</Paragraphs>
  <Slides>24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24</vt:i4>
      </vt:variant>
    </vt:vector>
  </HeadingPairs>
  <TitlesOfParts>
    <vt:vector size="3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3_默认主题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ZhuQing Wang</dc:creator>
  <cp:lastModifiedBy>WPS_1718022752</cp:lastModifiedBy>
  <cp:revision>13</cp:revision>
  <dcterms:created xsi:type="dcterms:W3CDTF">2026-06-05T06:30:00Z</dcterms:created>
  <dcterms:modified xsi:type="dcterms:W3CDTF">2026-10-27T08:12:39Z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{"Label":"1","ContentProducer":"001191110102MACQD9K64010000","ProduceID":"7646825855306763471","ReservedCode1":"","ContentPropagator":"","PropagateID":"","ReservedCode2":""}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DFBBA70669EA4D79B0F0943DEC714AFF_12</vt:lpwstr>
  </property>
</Properties>
</file>