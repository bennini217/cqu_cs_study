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4.svg" ContentType="image/svg+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2"/>
  </p:notesMasterIdLst>
  <p:sldIdLst>
    <p:sldId id="256" r:id="rId3"/>
    <p:sldId id="257" r:id="rId4"/>
    <p:sldId id="281" r:id="rId5"/>
    <p:sldId id="418" r:id="rId6"/>
    <p:sldId id="282" r:id="rId7"/>
    <p:sldId id="271" r:id="rId8"/>
    <p:sldId id="283" r:id="rId9"/>
    <p:sldId id="284" r:id="rId10"/>
    <p:sldId id="285" r:id="rId11"/>
    <p:sldId id="260" r:id="rId12"/>
    <p:sldId id="279" r:id="rId13"/>
    <p:sldId id="272" r:id="rId14"/>
    <p:sldId id="273" r:id="rId15"/>
    <p:sldId id="274" r:id="rId16"/>
    <p:sldId id="275" r:id="rId17"/>
    <p:sldId id="278" r:id="rId18"/>
    <p:sldId id="258" r:id="rId19"/>
    <p:sldId id="267" r:id="rId20"/>
    <p:sldId id="263" r:id="rId21"/>
  </p:sldIdLst>
  <p:sldSz cx="12192000" cy="6858000"/>
  <p:notesSz cx="6858000" cy="9144000"/>
  <p:custDataLst>
    <p:tags r:id="rId26"/>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showAnimation="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4C9E"/>
    <a:srgbClr val="A6A6A6"/>
    <a:srgbClr val="FFFDE7"/>
    <a:srgbClr val="5B9BD5"/>
    <a:srgbClr val="E6E6E6"/>
    <a:srgbClr val="D3BA6B"/>
    <a:srgbClr val="F9FAF6"/>
    <a:srgbClr val="AEAEA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102" d="100"/>
          <a:sy n="102" d="100"/>
        </p:scale>
        <p:origin x="123" y="330"/>
      </p:cViewPr>
      <p:guideLst/>
    </p:cSldViewPr>
  </p:slideViewPr>
  <p:notesTextViewPr>
    <p:cViewPr>
      <p:scale>
        <a:sx n="1" d="1"/>
        <a:sy n="1" d="1"/>
      </p:scale>
      <p:origin x="0" y="0"/>
    </p:cViewPr>
  </p:notesTextViewPr>
  <p:sorterViewPr>
    <p:cViewPr>
      <p:scale>
        <a:sx n="200" d="100"/>
        <a:sy n="200" d="100"/>
      </p:scale>
      <p:origin x="0" y="-57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6" Type="http://schemas.openxmlformats.org/officeDocument/2006/relationships/tags" Target="tags/tag180.xml"/><Relationship Id="rId25" Type="http://schemas.openxmlformats.org/officeDocument/2006/relationships/tableStyles" Target="tableStyles.xml"/><Relationship Id="rId24" Type="http://schemas.openxmlformats.org/officeDocument/2006/relationships/viewProps" Target="viewProps.xml"/><Relationship Id="rId23" Type="http://schemas.openxmlformats.org/officeDocument/2006/relationships/presProps" Target="presProps.xml"/><Relationship Id="rId22" Type="http://schemas.openxmlformats.org/officeDocument/2006/relationships/notesMaster" Target="notesMasters/notesMaster1.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7D49082-3866-4E67-9313-E1A33A0F6CE3}"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206E2B5-19CD-4E3A-B171-64C6FE3982E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endParaRPr lang="zh-CN" altLang="en-US"/>
          </a:p>
        </p:txBody>
      </p:sp>
      <p:sp>
        <p:nvSpPr>
          <p:cNvPr id="4" name="日期占位符 3"/>
          <p:cNvSpPr>
            <a:spLocks noGrp="1"/>
          </p:cNvSpPr>
          <p:nvPr>
            <p:ph type="dt" sz="half" idx="10"/>
          </p:nvPr>
        </p:nvSpPr>
        <p:spPr/>
        <p:txBody>
          <a:bodyPr/>
          <a:lstStyle/>
          <a:p>
            <a:fld id="{855365B7-FDB0-4531-9BA8-C9E46FCB4329}"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0C40F59-DB9F-42C9-8670-FD5C2598E646}" type="slidenum">
              <a:rPr lang="zh-CN" altLang="en-US" smtClean="0"/>
            </a:fld>
            <a:endParaRPr lang="zh-CN" altLang="en-US"/>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hasCustomPrompt="1"/>
          </p:nvPr>
        </p:nvSpPr>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855365B7-FDB0-4531-9BA8-C9E46FCB4329}"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0C40F59-DB9F-42C9-8670-FD5C2598E646}" type="slidenum">
              <a:rPr lang="zh-CN" altLang="en-US" smtClean="0"/>
            </a:fld>
            <a:endParaRPr lang="zh-CN" altLang="en-US"/>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endParaRPr lang="zh-CN" altLang="en-US"/>
          </a:p>
        </p:txBody>
      </p:sp>
      <p:sp>
        <p:nvSpPr>
          <p:cNvPr id="4" name="日期占位符 3"/>
          <p:cNvSpPr>
            <a:spLocks noGrp="1"/>
          </p:cNvSpPr>
          <p:nvPr>
            <p:ph type="dt" sz="half" idx="10"/>
          </p:nvPr>
        </p:nvSpPr>
        <p:spPr/>
        <p:txBody>
          <a:bodyPr/>
          <a:lstStyle/>
          <a:p>
            <a:fld id="{855365B7-FDB0-4531-9BA8-C9E46FCB4329}"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0C40F59-DB9F-42C9-8670-FD5C2598E646}" type="slidenum">
              <a:rPr lang="zh-CN" altLang="en-US" smtClean="0"/>
            </a:fld>
            <a:endParaRPr lang="zh-CN" altLang="en-US"/>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hasCustomPrompt="1"/>
          </p:nvPr>
        </p:nvSpPr>
        <p:spPr>
          <a:xfrm>
            <a:off x="838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hasCustomPrompt="1"/>
          </p:nvPr>
        </p:nvSpPr>
        <p:spPr>
          <a:xfrm>
            <a:off x="6172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855365B7-FDB0-4531-9BA8-C9E46FCB4329}"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20C40F59-DB9F-42C9-8670-FD5C2598E646}" type="slidenum">
              <a:rPr lang="zh-CN" altLang="en-US" smtClean="0"/>
            </a:fld>
            <a:endParaRPr lang="zh-CN" altLang="en-US"/>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855365B7-FDB0-4531-9BA8-C9E46FCB4329}"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20C40F59-DB9F-42C9-8670-FD5C2598E646}" type="slidenum">
              <a:rPr lang="zh-CN" altLang="en-US" smtClean="0"/>
            </a:fld>
            <a:endParaRPr lang="zh-CN" altLang="en-US"/>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855365B7-FDB0-4531-9BA8-C9E46FCB4329}"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20C40F59-DB9F-42C9-8670-FD5C2598E646}" type="slidenum">
              <a:rPr lang="zh-CN" altLang="en-US" smtClean="0"/>
            </a:fld>
            <a:endParaRPr lang="zh-CN" altLang="en-US"/>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55365B7-FDB0-4531-9BA8-C9E46FCB4329}"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20C40F59-DB9F-42C9-8670-FD5C2598E646}" type="slidenum">
              <a:rPr lang="zh-CN" altLang="en-US" smtClean="0"/>
            </a:fld>
            <a:endParaRPr lang="zh-CN" altLang="en-US"/>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lstStyle/>
          <a:p>
            <a:fld id="{855365B7-FDB0-4531-9BA8-C9E46FCB4329}"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20C40F59-DB9F-42C9-8670-FD5C2598E646}" type="slidenum">
              <a:rPr lang="zh-CN" altLang="en-US" smtClean="0"/>
            </a:fld>
            <a:endParaRPr lang="zh-CN" altLang="en-US"/>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lstStyle/>
          <a:p>
            <a:fld id="{855365B7-FDB0-4531-9BA8-C9E46FCB4329}"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20C40F59-DB9F-42C9-8670-FD5C2598E646}" type="slidenum">
              <a:rPr lang="zh-CN" altLang="en-US" smtClean="0"/>
            </a:fld>
            <a:endParaRPr lang="zh-CN" altLang="en-US"/>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855365B7-FDB0-4531-9BA8-C9E46FCB4329}"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0C40F59-DB9F-42C9-8670-FD5C2598E646}" type="slidenum">
              <a:rPr lang="zh-CN" altLang="en-US" smtClean="0"/>
            </a:fld>
            <a:endParaRPr lang="zh-CN" altLang="en-US"/>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855365B7-FDB0-4531-9BA8-C9E46FCB4329}"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0C40F59-DB9F-42C9-8670-FD5C2598E646}" type="slidenum">
              <a:rPr lang="zh-CN" altLang="en-US" smtClean="0"/>
            </a:fld>
            <a:endParaRPr lang="zh-CN" altLang="en-US"/>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55365B7-FDB0-4531-9BA8-C9E46FCB4329}"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0C40F59-DB9F-42C9-8670-FD5C2598E64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9" Type="http://schemas.openxmlformats.org/officeDocument/2006/relationships/tags" Target="../tags/tag5.xml"/><Relationship Id="rId8" Type="http://schemas.openxmlformats.org/officeDocument/2006/relationships/image" Target="../media/image4.svg"/><Relationship Id="rId7" Type="http://schemas.openxmlformats.org/officeDocument/2006/relationships/image" Target="../media/image3.png"/><Relationship Id="rId6" Type="http://schemas.openxmlformats.org/officeDocument/2006/relationships/tags" Target="../tags/tag4.xml"/><Relationship Id="rId5" Type="http://schemas.openxmlformats.org/officeDocument/2006/relationships/tags" Target="../tags/tag3.xml"/><Relationship Id="rId4" Type="http://schemas.openxmlformats.org/officeDocument/2006/relationships/tags" Target="../tags/tag2.xml"/><Relationship Id="rId3" Type="http://schemas.openxmlformats.org/officeDocument/2006/relationships/tags" Target="../tags/tag1.xml"/><Relationship Id="rId2" Type="http://schemas.openxmlformats.org/officeDocument/2006/relationships/image" Target="../media/image2.png"/><Relationship Id="rId16" Type="http://schemas.openxmlformats.org/officeDocument/2006/relationships/slideLayout" Target="../slideLayouts/slideLayout1.xml"/><Relationship Id="rId15" Type="http://schemas.openxmlformats.org/officeDocument/2006/relationships/tags" Target="../tags/tag11.xml"/><Relationship Id="rId14" Type="http://schemas.openxmlformats.org/officeDocument/2006/relationships/tags" Target="../tags/tag10.xml"/><Relationship Id="rId13" Type="http://schemas.openxmlformats.org/officeDocument/2006/relationships/tags" Target="../tags/tag9.xml"/><Relationship Id="rId12" Type="http://schemas.openxmlformats.org/officeDocument/2006/relationships/tags" Target="../tags/tag8.xml"/><Relationship Id="rId11" Type="http://schemas.openxmlformats.org/officeDocument/2006/relationships/tags" Target="../tags/tag7.xml"/><Relationship Id="rId10" Type="http://schemas.openxmlformats.org/officeDocument/2006/relationships/tags" Target="../tags/tag6.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9" Type="http://schemas.openxmlformats.org/officeDocument/2006/relationships/tags" Target="../tags/tag19.xml"/><Relationship Id="rId8" Type="http://schemas.openxmlformats.org/officeDocument/2006/relationships/tags" Target="../tags/tag18.xml"/><Relationship Id="rId7" Type="http://schemas.openxmlformats.org/officeDocument/2006/relationships/tags" Target="../tags/tag17.xml"/><Relationship Id="rId6" Type="http://schemas.openxmlformats.org/officeDocument/2006/relationships/tags" Target="../tags/tag16.xml"/><Relationship Id="rId5" Type="http://schemas.openxmlformats.org/officeDocument/2006/relationships/tags" Target="../tags/tag15.xml"/><Relationship Id="rId4" Type="http://schemas.openxmlformats.org/officeDocument/2006/relationships/tags" Target="../tags/tag14.xml"/><Relationship Id="rId3" Type="http://schemas.openxmlformats.org/officeDocument/2006/relationships/tags" Target="../tags/tag13.xml"/><Relationship Id="rId23" Type="http://schemas.openxmlformats.org/officeDocument/2006/relationships/slideLayout" Target="../slideLayouts/slideLayout2.xml"/><Relationship Id="rId22" Type="http://schemas.openxmlformats.org/officeDocument/2006/relationships/image" Target="../media/image5.png"/><Relationship Id="rId21" Type="http://schemas.openxmlformats.org/officeDocument/2006/relationships/tags" Target="../tags/tag31.xml"/><Relationship Id="rId20" Type="http://schemas.openxmlformats.org/officeDocument/2006/relationships/tags" Target="../tags/tag30.xml"/><Relationship Id="rId2" Type="http://schemas.openxmlformats.org/officeDocument/2006/relationships/tags" Target="../tags/tag12.xml"/><Relationship Id="rId19" Type="http://schemas.openxmlformats.org/officeDocument/2006/relationships/tags" Target="../tags/tag29.xml"/><Relationship Id="rId18" Type="http://schemas.openxmlformats.org/officeDocument/2006/relationships/tags" Target="../tags/tag28.xml"/><Relationship Id="rId17" Type="http://schemas.openxmlformats.org/officeDocument/2006/relationships/tags" Target="../tags/tag27.xml"/><Relationship Id="rId16" Type="http://schemas.openxmlformats.org/officeDocument/2006/relationships/tags" Target="../tags/tag26.xml"/><Relationship Id="rId15" Type="http://schemas.openxmlformats.org/officeDocument/2006/relationships/tags" Target="../tags/tag25.xml"/><Relationship Id="rId14" Type="http://schemas.openxmlformats.org/officeDocument/2006/relationships/tags" Target="../tags/tag24.xml"/><Relationship Id="rId13" Type="http://schemas.openxmlformats.org/officeDocument/2006/relationships/tags" Target="../tags/tag23.xml"/><Relationship Id="rId12" Type="http://schemas.openxmlformats.org/officeDocument/2006/relationships/tags" Target="../tags/tag22.xml"/><Relationship Id="rId11" Type="http://schemas.openxmlformats.org/officeDocument/2006/relationships/tags" Target="../tags/tag21.xml"/><Relationship Id="rId10" Type="http://schemas.openxmlformats.org/officeDocument/2006/relationships/tags" Target="../tags/tag20.xml"/><Relationship Id="rId1" Type="http://schemas.openxmlformats.org/officeDocument/2006/relationships/image" Target="../media/image1.jpeg"/></Relationships>
</file>

<file path=ppt/slides/_rels/slide3.xml.rels><?xml version="1.0" encoding="UTF-8" standalone="yes"?>
<Relationships xmlns="http://schemas.openxmlformats.org/package/2006/relationships"><Relationship Id="rId9" Type="http://schemas.openxmlformats.org/officeDocument/2006/relationships/tags" Target="../tags/tag38.xml"/><Relationship Id="rId8" Type="http://schemas.openxmlformats.org/officeDocument/2006/relationships/tags" Target="../tags/tag37.xml"/><Relationship Id="rId7" Type="http://schemas.openxmlformats.org/officeDocument/2006/relationships/tags" Target="../tags/tag36.xml"/><Relationship Id="rId6" Type="http://schemas.openxmlformats.org/officeDocument/2006/relationships/tags" Target="../tags/tag35.xml"/><Relationship Id="rId5" Type="http://schemas.openxmlformats.org/officeDocument/2006/relationships/tags" Target="../tags/tag34.xml"/><Relationship Id="rId4" Type="http://schemas.openxmlformats.org/officeDocument/2006/relationships/tags" Target="../tags/tag33.xml"/><Relationship Id="rId3" Type="http://schemas.openxmlformats.org/officeDocument/2006/relationships/tags" Target="../tags/tag32.xml"/><Relationship Id="rId2" Type="http://schemas.openxmlformats.org/officeDocument/2006/relationships/image" Target="../media/image5.png"/><Relationship Id="rId17" Type="http://schemas.openxmlformats.org/officeDocument/2006/relationships/slideLayout" Target="../slideLayouts/slideLayout2.xml"/><Relationship Id="rId16" Type="http://schemas.openxmlformats.org/officeDocument/2006/relationships/tags" Target="../tags/tag45.xml"/><Relationship Id="rId15" Type="http://schemas.openxmlformats.org/officeDocument/2006/relationships/tags" Target="../tags/tag44.xml"/><Relationship Id="rId14" Type="http://schemas.openxmlformats.org/officeDocument/2006/relationships/tags" Target="../tags/tag43.xml"/><Relationship Id="rId13" Type="http://schemas.openxmlformats.org/officeDocument/2006/relationships/tags" Target="../tags/tag42.xml"/><Relationship Id="rId12" Type="http://schemas.openxmlformats.org/officeDocument/2006/relationships/tags" Target="../tags/tag41.xml"/><Relationship Id="rId11" Type="http://schemas.openxmlformats.org/officeDocument/2006/relationships/tags" Target="../tags/tag40.xml"/><Relationship Id="rId10" Type="http://schemas.openxmlformats.org/officeDocument/2006/relationships/tags" Target="../tags/tag39.xml"/><Relationship Id="rId1" Type="http://schemas.openxmlformats.org/officeDocument/2006/relationships/image" Target="../media/image1.jpeg"/></Relationships>
</file>

<file path=ppt/slides/_rels/slide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image" Target="../media/image1.jpeg"/></Relationships>
</file>

<file path=ppt/slides/_rels/slide5.xml.rels><?xml version="1.0" encoding="UTF-8" standalone="yes"?>
<Relationships xmlns="http://schemas.openxmlformats.org/package/2006/relationships"><Relationship Id="rId9" Type="http://schemas.openxmlformats.org/officeDocument/2006/relationships/tags" Target="../tags/tag53.xml"/><Relationship Id="rId8" Type="http://schemas.openxmlformats.org/officeDocument/2006/relationships/tags" Target="../tags/tag52.xml"/><Relationship Id="rId7" Type="http://schemas.openxmlformats.org/officeDocument/2006/relationships/tags" Target="../tags/tag51.xml"/><Relationship Id="rId6" Type="http://schemas.openxmlformats.org/officeDocument/2006/relationships/tags" Target="../tags/tag50.xml"/><Relationship Id="rId5" Type="http://schemas.openxmlformats.org/officeDocument/2006/relationships/tags" Target="../tags/tag49.xml"/><Relationship Id="rId4" Type="http://schemas.openxmlformats.org/officeDocument/2006/relationships/tags" Target="../tags/tag48.xml"/><Relationship Id="rId3" Type="http://schemas.openxmlformats.org/officeDocument/2006/relationships/tags" Target="../tags/tag47.xml"/><Relationship Id="rId2" Type="http://schemas.openxmlformats.org/officeDocument/2006/relationships/tags" Target="../tags/tag46.xml"/><Relationship Id="rId15" Type="http://schemas.openxmlformats.org/officeDocument/2006/relationships/slideLayout" Target="../slideLayouts/slideLayout2.xml"/><Relationship Id="rId14" Type="http://schemas.openxmlformats.org/officeDocument/2006/relationships/tags" Target="../tags/tag57.xml"/><Relationship Id="rId13" Type="http://schemas.openxmlformats.org/officeDocument/2006/relationships/tags" Target="../tags/tag56.xml"/><Relationship Id="rId12" Type="http://schemas.openxmlformats.org/officeDocument/2006/relationships/tags" Target="../tags/tag55.xml"/><Relationship Id="rId11" Type="http://schemas.openxmlformats.org/officeDocument/2006/relationships/tags" Target="../tags/tag54.xml"/><Relationship Id="rId10" Type="http://schemas.openxmlformats.org/officeDocument/2006/relationships/image" Target="../media/image5.png"/><Relationship Id="rId1" Type="http://schemas.openxmlformats.org/officeDocument/2006/relationships/image" Target="../media/image1.jpeg"/></Relationships>
</file>

<file path=ppt/slides/_rels/slide6.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tags" Target="../tags/tag60.xml"/><Relationship Id="rId3" Type="http://schemas.openxmlformats.org/officeDocument/2006/relationships/tags" Target="../tags/tag59.xml"/><Relationship Id="rId2" Type="http://schemas.openxmlformats.org/officeDocument/2006/relationships/tags" Target="../tags/tag58.xml"/><Relationship Id="rId1" Type="http://schemas.openxmlformats.org/officeDocument/2006/relationships/image" Target="../media/image1.jpeg"/></Relationships>
</file>

<file path=ppt/slides/_rels/slide7.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image" Target="../media/image5.png"/><Relationship Id="rId6" Type="http://schemas.openxmlformats.org/officeDocument/2006/relationships/tags" Target="../tags/tag65.xml"/><Relationship Id="rId5" Type="http://schemas.openxmlformats.org/officeDocument/2006/relationships/tags" Target="../tags/tag64.xml"/><Relationship Id="rId4" Type="http://schemas.openxmlformats.org/officeDocument/2006/relationships/tags" Target="../tags/tag63.xml"/><Relationship Id="rId3" Type="http://schemas.openxmlformats.org/officeDocument/2006/relationships/tags" Target="../tags/tag62.xml"/><Relationship Id="rId2" Type="http://schemas.openxmlformats.org/officeDocument/2006/relationships/tags" Target="../tags/tag61.xml"/><Relationship Id="rId1" Type="http://schemas.openxmlformats.org/officeDocument/2006/relationships/image" Target="../media/image1.jpeg"/></Relationships>
</file>

<file path=ppt/slides/_rels/slide8.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image" Target="../media/image5.png"/><Relationship Id="rId6" Type="http://schemas.openxmlformats.org/officeDocument/2006/relationships/tags" Target="../tags/tag70.xml"/><Relationship Id="rId5" Type="http://schemas.openxmlformats.org/officeDocument/2006/relationships/tags" Target="../tags/tag69.xml"/><Relationship Id="rId4" Type="http://schemas.openxmlformats.org/officeDocument/2006/relationships/tags" Target="../tags/tag68.xml"/><Relationship Id="rId3" Type="http://schemas.openxmlformats.org/officeDocument/2006/relationships/tags" Target="../tags/tag67.xml"/><Relationship Id="rId2" Type="http://schemas.openxmlformats.org/officeDocument/2006/relationships/tags" Target="../tags/tag66.xml"/><Relationship Id="rId1" Type="http://schemas.openxmlformats.org/officeDocument/2006/relationships/image" Target="../media/image1.jpeg"/></Relationships>
</file>

<file path=ppt/slides/_rels/slide9.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image" Target="../media/image5.png"/><Relationship Id="rId6" Type="http://schemas.openxmlformats.org/officeDocument/2006/relationships/tags" Target="../tags/tag75.xml"/><Relationship Id="rId5" Type="http://schemas.openxmlformats.org/officeDocument/2006/relationships/tags" Target="../tags/tag74.xml"/><Relationship Id="rId4" Type="http://schemas.openxmlformats.org/officeDocument/2006/relationships/tags" Target="../tags/tag73.xml"/><Relationship Id="rId3" Type="http://schemas.openxmlformats.org/officeDocument/2006/relationships/tags" Target="../tags/tag72.xml"/><Relationship Id="rId2" Type="http://schemas.openxmlformats.org/officeDocument/2006/relationships/tags" Target="../tags/tag71.xml"/><Relationship Id="rId1" Type="http://schemas.openxmlformats.org/officeDocument/2006/relationships/image" Target="../media/image1.jpeg"/></Relationships>
</file>

<file path=ppt/slides/_rels/slide10.xml.rels><?xml version="1.0" encoding="UTF-8" standalone="yes"?>
<Relationships xmlns="http://schemas.openxmlformats.org/package/2006/relationships"><Relationship Id="rId9" Type="http://schemas.openxmlformats.org/officeDocument/2006/relationships/tags" Target="../tags/tag83.xml"/><Relationship Id="rId8" Type="http://schemas.openxmlformats.org/officeDocument/2006/relationships/tags" Target="../tags/tag82.xml"/><Relationship Id="rId7" Type="http://schemas.openxmlformats.org/officeDocument/2006/relationships/tags" Target="../tags/tag81.xml"/><Relationship Id="rId6" Type="http://schemas.openxmlformats.org/officeDocument/2006/relationships/tags" Target="../tags/tag80.xml"/><Relationship Id="rId5" Type="http://schemas.openxmlformats.org/officeDocument/2006/relationships/tags" Target="../tags/tag79.xml"/><Relationship Id="rId4" Type="http://schemas.openxmlformats.org/officeDocument/2006/relationships/tags" Target="../tags/tag78.xml"/><Relationship Id="rId3" Type="http://schemas.openxmlformats.org/officeDocument/2006/relationships/tags" Target="../tags/tag77.xml"/><Relationship Id="rId2" Type="http://schemas.openxmlformats.org/officeDocument/2006/relationships/tags" Target="../tags/tag76.xml"/><Relationship Id="rId13" Type="http://schemas.openxmlformats.org/officeDocument/2006/relationships/slideLayout" Target="../slideLayouts/slideLayout2.xml"/><Relationship Id="rId12" Type="http://schemas.openxmlformats.org/officeDocument/2006/relationships/image" Target="../media/image5.png"/><Relationship Id="rId11" Type="http://schemas.openxmlformats.org/officeDocument/2006/relationships/tags" Target="../tags/tag85.xml"/><Relationship Id="rId10" Type="http://schemas.openxmlformats.org/officeDocument/2006/relationships/tags" Target="../tags/tag84.xml"/><Relationship Id="rId1" Type="http://schemas.openxmlformats.org/officeDocument/2006/relationships/image" Target="../media/image1.jpeg"/></Relationships>
</file>

<file path=ppt/slides/_rels/slide11.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tags" Target="../tags/tag91.xml"/><Relationship Id="rId7" Type="http://schemas.openxmlformats.org/officeDocument/2006/relationships/tags" Target="../tags/tag90.xml"/><Relationship Id="rId6" Type="http://schemas.openxmlformats.org/officeDocument/2006/relationships/tags" Target="../tags/tag89.xml"/><Relationship Id="rId5" Type="http://schemas.openxmlformats.org/officeDocument/2006/relationships/tags" Target="../tags/tag88.xml"/><Relationship Id="rId4" Type="http://schemas.openxmlformats.org/officeDocument/2006/relationships/tags" Target="../tags/tag87.xml"/><Relationship Id="rId3" Type="http://schemas.openxmlformats.org/officeDocument/2006/relationships/tags" Target="../tags/tag86.xml"/><Relationship Id="rId2" Type="http://schemas.openxmlformats.org/officeDocument/2006/relationships/image" Target="../media/image5.png"/><Relationship Id="rId1" Type="http://schemas.openxmlformats.org/officeDocument/2006/relationships/image" Target="../media/image1.jpeg"/></Relationships>
</file>

<file path=ppt/slides/_rels/slide12.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tags" Target="../tags/tag95.xml"/><Relationship Id="rId5" Type="http://schemas.openxmlformats.org/officeDocument/2006/relationships/tags" Target="../tags/tag94.xml"/><Relationship Id="rId4" Type="http://schemas.openxmlformats.org/officeDocument/2006/relationships/tags" Target="../tags/tag93.xml"/><Relationship Id="rId3" Type="http://schemas.openxmlformats.org/officeDocument/2006/relationships/tags" Target="../tags/tag92.xml"/><Relationship Id="rId2" Type="http://schemas.openxmlformats.org/officeDocument/2006/relationships/image" Target="../media/image5.png"/><Relationship Id="rId1" Type="http://schemas.openxmlformats.org/officeDocument/2006/relationships/image" Target="../media/image1.jpeg"/></Relationships>
</file>

<file path=ppt/slides/_rels/slide13.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tags" Target="../tags/tag99.xml"/><Relationship Id="rId5" Type="http://schemas.openxmlformats.org/officeDocument/2006/relationships/tags" Target="../tags/tag98.xml"/><Relationship Id="rId4" Type="http://schemas.openxmlformats.org/officeDocument/2006/relationships/tags" Target="../tags/tag97.xml"/><Relationship Id="rId3" Type="http://schemas.openxmlformats.org/officeDocument/2006/relationships/tags" Target="../tags/tag96.xml"/><Relationship Id="rId2" Type="http://schemas.openxmlformats.org/officeDocument/2006/relationships/image" Target="../media/image5.png"/><Relationship Id="rId1" Type="http://schemas.openxmlformats.org/officeDocument/2006/relationships/image" Target="../media/image1.jpeg"/></Relationships>
</file>

<file path=ppt/slides/_rels/slide14.xml.rels><?xml version="1.0" encoding="UTF-8" standalone="yes"?>
<Relationships xmlns="http://schemas.openxmlformats.org/package/2006/relationships"><Relationship Id="rId9" Type="http://schemas.openxmlformats.org/officeDocument/2006/relationships/tags" Target="../tags/tag106.xml"/><Relationship Id="rId8" Type="http://schemas.openxmlformats.org/officeDocument/2006/relationships/tags" Target="../tags/tag105.xml"/><Relationship Id="rId7" Type="http://schemas.openxmlformats.org/officeDocument/2006/relationships/tags" Target="../tags/tag104.xml"/><Relationship Id="rId6" Type="http://schemas.openxmlformats.org/officeDocument/2006/relationships/tags" Target="../tags/tag103.xml"/><Relationship Id="rId5" Type="http://schemas.openxmlformats.org/officeDocument/2006/relationships/tags" Target="../tags/tag102.xml"/><Relationship Id="rId4" Type="http://schemas.openxmlformats.org/officeDocument/2006/relationships/tags" Target="../tags/tag101.xml"/><Relationship Id="rId3" Type="http://schemas.openxmlformats.org/officeDocument/2006/relationships/tags" Target="../tags/tag100.xml"/><Relationship Id="rId2" Type="http://schemas.openxmlformats.org/officeDocument/2006/relationships/image" Target="../media/image5.png"/><Relationship Id="rId18" Type="http://schemas.openxmlformats.org/officeDocument/2006/relationships/slideLayout" Target="../slideLayouts/slideLayout2.xml"/><Relationship Id="rId17" Type="http://schemas.openxmlformats.org/officeDocument/2006/relationships/tags" Target="../tags/tag114.xml"/><Relationship Id="rId16" Type="http://schemas.openxmlformats.org/officeDocument/2006/relationships/tags" Target="../tags/tag113.xml"/><Relationship Id="rId15" Type="http://schemas.openxmlformats.org/officeDocument/2006/relationships/tags" Target="../tags/tag112.xml"/><Relationship Id="rId14" Type="http://schemas.openxmlformats.org/officeDocument/2006/relationships/tags" Target="../tags/tag111.xml"/><Relationship Id="rId13" Type="http://schemas.openxmlformats.org/officeDocument/2006/relationships/tags" Target="../tags/tag110.xml"/><Relationship Id="rId12" Type="http://schemas.openxmlformats.org/officeDocument/2006/relationships/tags" Target="../tags/tag109.xml"/><Relationship Id="rId11" Type="http://schemas.openxmlformats.org/officeDocument/2006/relationships/tags" Target="../tags/tag108.xml"/><Relationship Id="rId10" Type="http://schemas.openxmlformats.org/officeDocument/2006/relationships/tags" Target="../tags/tag107.xml"/><Relationship Id="rId1" Type="http://schemas.openxmlformats.org/officeDocument/2006/relationships/image" Target="../media/image1.jpeg"/></Relationships>
</file>

<file path=ppt/slides/_rels/slide15.xml.rels><?xml version="1.0" encoding="UTF-8" standalone="yes"?>
<Relationships xmlns="http://schemas.openxmlformats.org/package/2006/relationships"><Relationship Id="rId9" Type="http://schemas.openxmlformats.org/officeDocument/2006/relationships/tags" Target="../tags/tag121.xml"/><Relationship Id="rId8" Type="http://schemas.openxmlformats.org/officeDocument/2006/relationships/tags" Target="../tags/tag120.xml"/><Relationship Id="rId7" Type="http://schemas.openxmlformats.org/officeDocument/2006/relationships/tags" Target="../tags/tag119.xml"/><Relationship Id="rId6" Type="http://schemas.openxmlformats.org/officeDocument/2006/relationships/tags" Target="../tags/tag118.xml"/><Relationship Id="rId5" Type="http://schemas.openxmlformats.org/officeDocument/2006/relationships/tags" Target="../tags/tag117.xml"/><Relationship Id="rId4" Type="http://schemas.openxmlformats.org/officeDocument/2006/relationships/tags" Target="../tags/tag116.xml"/><Relationship Id="rId3" Type="http://schemas.openxmlformats.org/officeDocument/2006/relationships/tags" Target="../tags/tag115.xml"/><Relationship Id="rId2" Type="http://schemas.openxmlformats.org/officeDocument/2006/relationships/image" Target="../media/image5.png"/><Relationship Id="rId18" Type="http://schemas.openxmlformats.org/officeDocument/2006/relationships/slideLayout" Target="../slideLayouts/slideLayout2.xml"/><Relationship Id="rId17" Type="http://schemas.openxmlformats.org/officeDocument/2006/relationships/tags" Target="../tags/tag129.xml"/><Relationship Id="rId16" Type="http://schemas.openxmlformats.org/officeDocument/2006/relationships/tags" Target="../tags/tag128.xml"/><Relationship Id="rId15" Type="http://schemas.openxmlformats.org/officeDocument/2006/relationships/tags" Target="../tags/tag127.xml"/><Relationship Id="rId14" Type="http://schemas.openxmlformats.org/officeDocument/2006/relationships/tags" Target="../tags/tag126.xml"/><Relationship Id="rId13" Type="http://schemas.openxmlformats.org/officeDocument/2006/relationships/tags" Target="../tags/tag125.xml"/><Relationship Id="rId12" Type="http://schemas.openxmlformats.org/officeDocument/2006/relationships/tags" Target="../tags/tag124.xml"/><Relationship Id="rId11" Type="http://schemas.openxmlformats.org/officeDocument/2006/relationships/tags" Target="../tags/tag123.xml"/><Relationship Id="rId10" Type="http://schemas.openxmlformats.org/officeDocument/2006/relationships/tags" Target="../tags/tag122.xml"/><Relationship Id="rId1" Type="http://schemas.openxmlformats.org/officeDocument/2006/relationships/image" Target="../media/image1.jpeg"/></Relationships>
</file>

<file path=ppt/slides/_rels/slide16.xml.rels><?xml version="1.0" encoding="UTF-8" standalone="yes"?>
<Relationships xmlns="http://schemas.openxmlformats.org/package/2006/relationships"><Relationship Id="rId9" Type="http://schemas.openxmlformats.org/officeDocument/2006/relationships/tags" Target="../tags/tag137.xml"/><Relationship Id="rId8" Type="http://schemas.openxmlformats.org/officeDocument/2006/relationships/tags" Target="../tags/tag136.xml"/><Relationship Id="rId7" Type="http://schemas.openxmlformats.org/officeDocument/2006/relationships/tags" Target="../tags/tag135.xml"/><Relationship Id="rId6" Type="http://schemas.openxmlformats.org/officeDocument/2006/relationships/tags" Target="../tags/tag134.xml"/><Relationship Id="rId5" Type="http://schemas.openxmlformats.org/officeDocument/2006/relationships/tags" Target="../tags/tag133.xml"/><Relationship Id="rId42" Type="http://schemas.openxmlformats.org/officeDocument/2006/relationships/slideLayout" Target="../slideLayouts/slideLayout2.xml"/><Relationship Id="rId41" Type="http://schemas.openxmlformats.org/officeDocument/2006/relationships/image" Target="../media/image5.png"/><Relationship Id="rId40" Type="http://schemas.openxmlformats.org/officeDocument/2006/relationships/tags" Target="../tags/tag168.xml"/><Relationship Id="rId4" Type="http://schemas.openxmlformats.org/officeDocument/2006/relationships/tags" Target="../tags/tag132.xml"/><Relationship Id="rId39" Type="http://schemas.openxmlformats.org/officeDocument/2006/relationships/tags" Target="../tags/tag167.xml"/><Relationship Id="rId38" Type="http://schemas.openxmlformats.org/officeDocument/2006/relationships/tags" Target="../tags/tag166.xml"/><Relationship Id="rId37" Type="http://schemas.openxmlformats.org/officeDocument/2006/relationships/tags" Target="../tags/tag165.xml"/><Relationship Id="rId36" Type="http://schemas.openxmlformats.org/officeDocument/2006/relationships/tags" Target="../tags/tag164.xml"/><Relationship Id="rId35" Type="http://schemas.openxmlformats.org/officeDocument/2006/relationships/tags" Target="../tags/tag163.xml"/><Relationship Id="rId34" Type="http://schemas.openxmlformats.org/officeDocument/2006/relationships/tags" Target="../tags/tag162.xml"/><Relationship Id="rId33" Type="http://schemas.openxmlformats.org/officeDocument/2006/relationships/tags" Target="../tags/tag161.xml"/><Relationship Id="rId32" Type="http://schemas.openxmlformats.org/officeDocument/2006/relationships/tags" Target="../tags/tag160.xml"/><Relationship Id="rId31" Type="http://schemas.openxmlformats.org/officeDocument/2006/relationships/tags" Target="../tags/tag159.xml"/><Relationship Id="rId30" Type="http://schemas.openxmlformats.org/officeDocument/2006/relationships/tags" Target="../tags/tag158.xml"/><Relationship Id="rId3" Type="http://schemas.openxmlformats.org/officeDocument/2006/relationships/tags" Target="../tags/tag131.xml"/><Relationship Id="rId29" Type="http://schemas.openxmlformats.org/officeDocument/2006/relationships/tags" Target="../tags/tag157.xml"/><Relationship Id="rId28" Type="http://schemas.openxmlformats.org/officeDocument/2006/relationships/tags" Target="../tags/tag156.xml"/><Relationship Id="rId27" Type="http://schemas.openxmlformats.org/officeDocument/2006/relationships/tags" Target="../tags/tag155.xml"/><Relationship Id="rId26" Type="http://schemas.openxmlformats.org/officeDocument/2006/relationships/tags" Target="../tags/tag154.xml"/><Relationship Id="rId25" Type="http://schemas.openxmlformats.org/officeDocument/2006/relationships/tags" Target="../tags/tag153.xml"/><Relationship Id="rId24" Type="http://schemas.openxmlformats.org/officeDocument/2006/relationships/tags" Target="../tags/tag152.xml"/><Relationship Id="rId23" Type="http://schemas.openxmlformats.org/officeDocument/2006/relationships/tags" Target="../tags/tag151.xml"/><Relationship Id="rId22" Type="http://schemas.openxmlformats.org/officeDocument/2006/relationships/tags" Target="../tags/tag150.xml"/><Relationship Id="rId21" Type="http://schemas.openxmlformats.org/officeDocument/2006/relationships/tags" Target="../tags/tag149.xml"/><Relationship Id="rId20" Type="http://schemas.openxmlformats.org/officeDocument/2006/relationships/tags" Target="../tags/tag148.xml"/><Relationship Id="rId2" Type="http://schemas.openxmlformats.org/officeDocument/2006/relationships/tags" Target="../tags/tag130.xml"/><Relationship Id="rId19" Type="http://schemas.openxmlformats.org/officeDocument/2006/relationships/tags" Target="../tags/tag147.xml"/><Relationship Id="rId18" Type="http://schemas.openxmlformats.org/officeDocument/2006/relationships/tags" Target="../tags/tag146.xml"/><Relationship Id="rId17" Type="http://schemas.openxmlformats.org/officeDocument/2006/relationships/tags" Target="../tags/tag145.xml"/><Relationship Id="rId16" Type="http://schemas.openxmlformats.org/officeDocument/2006/relationships/tags" Target="../tags/tag144.xml"/><Relationship Id="rId15" Type="http://schemas.openxmlformats.org/officeDocument/2006/relationships/tags" Target="../tags/tag143.xml"/><Relationship Id="rId14" Type="http://schemas.openxmlformats.org/officeDocument/2006/relationships/tags" Target="../tags/tag142.xml"/><Relationship Id="rId13" Type="http://schemas.openxmlformats.org/officeDocument/2006/relationships/tags" Target="../tags/tag141.xml"/><Relationship Id="rId12" Type="http://schemas.openxmlformats.org/officeDocument/2006/relationships/tags" Target="../tags/tag140.xml"/><Relationship Id="rId11" Type="http://schemas.openxmlformats.org/officeDocument/2006/relationships/tags" Target="../tags/tag139.xml"/><Relationship Id="rId10" Type="http://schemas.openxmlformats.org/officeDocument/2006/relationships/tags" Target="../tags/tag138.xml"/><Relationship Id="rId1" Type="http://schemas.openxmlformats.org/officeDocument/2006/relationships/image" Target="../media/image1.jpeg"/></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5.png"/><Relationship Id="rId1" Type="http://schemas.openxmlformats.org/officeDocument/2006/relationships/image" Target="../media/image1.jpeg"/></Relationships>
</file>

<file path=ppt/slides/_rels/slide18.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7.png"/><Relationship Id="rId2" Type="http://schemas.openxmlformats.org/officeDocument/2006/relationships/image" Target="../media/image5.png"/><Relationship Id="rId1" Type="http://schemas.openxmlformats.org/officeDocument/2006/relationships/image" Target="../media/image1.jpeg"/></Relationships>
</file>

<file path=ppt/slides/_rels/slide19.xml.rels><?xml version="1.0" encoding="UTF-8" standalone="yes"?>
<Relationships xmlns="http://schemas.openxmlformats.org/package/2006/relationships"><Relationship Id="rId9" Type="http://schemas.openxmlformats.org/officeDocument/2006/relationships/tags" Target="../tags/tag173.xml"/><Relationship Id="rId8" Type="http://schemas.openxmlformats.org/officeDocument/2006/relationships/image" Target="../media/image4.svg"/><Relationship Id="rId7" Type="http://schemas.openxmlformats.org/officeDocument/2006/relationships/image" Target="../media/image3.png"/><Relationship Id="rId6" Type="http://schemas.openxmlformats.org/officeDocument/2006/relationships/tags" Target="../tags/tag172.xml"/><Relationship Id="rId5" Type="http://schemas.openxmlformats.org/officeDocument/2006/relationships/tags" Target="../tags/tag171.xml"/><Relationship Id="rId4" Type="http://schemas.openxmlformats.org/officeDocument/2006/relationships/tags" Target="../tags/tag170.xml"/><Relationship Id="rId3" Type="http://schemas.openxmlformats.org/officeDocument/2006/relationships/tags" Target="../tags/tag169.xml"/><Relationship Id="rId2" Type="http://schemas.openxmlformats.org/officeDocument/2006/relationships/image" Target="../media/image2.png"/><Relationship Id="rId16" Type="http://schemas.openxmlformats.org/officeDocument/2006/relationships/slideLayout" Target="../slideLayouts/slideLayout1.xml"/><Relationship Id="rId15" Type="http://schemas.openxmlformats.org/officeDocument/2006/relationships/tags" Target="../tags/tag179.xml"/><Relationship Id="rId14" Type="http://schemas.openxmlformats.org/officeDocument/2006/relationships/tags" Target="../tags/tag178.xml"/><Relationship Id="rId13" Type="http://schemas.openxmlformats.org/officeDocument/2006/relationships/tags" Target="../tags/tag177.xml"/><Relationship Id="rId12" Type="http://schemas.openxmlformats.org/officeDocument/2006/relationships/tags" Target="../tags/tag176.xml"/><Relationship Id="rId11" Type="http://schemas.openxmlformats.org/officeDocument/2006/relationships/tags" Target="../tags/tag175.xml"/><Relationship Id="rId10" Type="http://schemas.openxmlformats.org/officeDocument/2006/relationships/tags" Target="../tags/tag174.xml"/><Relationship Id="rId1" Type="http://schemas.openxmlformats.org/officeDocument/2006/relationships/image" Target="../media/image1.jpe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4" name="组合 3"/>
          <p:cNvGrpSpPr/>
          <p:nvPr/>
        </p:nvGrpSpPr>
        <p:grpSpPr>
          <a:xfrm>
            <a:off x="0" y="0"/>
            <a:ext cx="12192000" cy="6858000"/>
            <a:chOff x="0" y="0"/>
            <a:chExt cx="12192000" cy="6858000"/>
          </a:xfrm>
        </p:grpSpPr>
        <p:sp>
          <p:nvSpPr>
            <p:cNvPr id="5" name="直角三角形 4"/>
            <p:cNvSpPr/>
            <p:nvPr userDrawn="1"/>
          </p:nvSpPr>
          <p:spPr>
            <a:xfrm>
              <a:off x="0" y="3165895"/>
              <a:ext cx="3692105" cy="3692105"/>
            </a:xfrm>
            <a:prstGeom prst="rtTriangle">
              <a:avLst/>
            </a:prstGeom>
            <a:solidFill>
              <a:srgbClr val="004C9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04B9D"/>
                </a:solidFill>
              </a:endParaRPr>
            </a:p>
          </p:txBody>
        </p:sp>
        <p:sp>
          <p:nvSpPr>
            <p:cNvPr id="6" name="直角三角形 5"/>
            <p:cNvSpPr/>
            <p:nvPr userDrawn="1"/>
          </p:nvSpPr>
          <p:spPr>
            <a:xfrm rot="10800000">
              <a:off x="8499895" y="0"/>
              <a:ext cx="3692105" cy="3692105"/>
            </a:xfrm>
            <a:prstGeom prst="rtTriangle">
              <a:avLst/>
            </a:prstGeom>
            <a:solidFill>
              <a:srgbClr val="004B9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7" name="组合 6"/>
            <p:cNvGrpSpPr/>
            <p:nvPr userDrawn="1"/>
          </p:nvGrpSpPr>
          <p:grpSpPr>
            <a:xfrm>
              <a:off x="490484" y="441960"/>
              <a:ext cx="11211033" cy="6019801"/>
              <a:chOff x="490484" y="441960"/>
              <a:chExt cx="11211033" cy="6019801"/>
            </a:xfrm>
          </p:grpSpPr>
          <p:pic>
            <p:nvPicPr>
              <p:cNvPr id="8" name="图片 7"/>
              <p:cNvPicPr>
                <a:picLocks noChangeAspect="1"/>
              </p:cNvPicPr>
              <p:nvPr userDrawn="1"/>
            </p:nvPicPr>
            <p:blipFill rotWithShape="1">
              <a:blip r:embed="rId1">
                <a:extLst>
                  <a:ext uri="{28A0092B-C50C-407E-A947-70E740481C1C}">
                    <a14:useLocalDpi xmlns:a14="http://schemas.microsoft.com/office/drawing/2010/main" val="0"/>
                  </a:ext>
                </a:extLst>
              </a:blip>
              <a:srcRect l="1515" t="4277" r="530" b="14319"/>
              <a:stretch>
                <a:fillRect/>
              </a:stretch>
            </p:blipFill>
            <p:spPr>
              <a:xfrm>
                <a:off x="490484" y="441960"/>
                <a:ext cx="11211033" cy="6019801"/>
              </a:xfrm>
              <a:prstGeom prst="rect">
                <a:avLst/>
              </a:prstGeom>
              <a:effectLst>
                <a:outerShdw blurRad="355600" dist="139700" dir="2700000" algn="tl" rotWithShape="0">
                  <a:prstClr val="black">
                    <a:alpha val="61000"/>
                  </a:prstClr>
                </a:outerShdw>
              </a:effectLst>
            </p:spPr>
          </p:pic>
          <p:sp>
            <p:nvSpPr>
              <p:cNvPr id="9" name="矩形 8"/>
              <p:cNvSpPr/>
              <p:nvPr userDrawn="1"/>
            </p:nvSpPr>
            <p:spPr>
              <a:xfrm>
                <a:off x="490484" y="441960"/>
                <a:ext cx="11211032" cy="6019801"/>
              </a:xfrm>
              <a:prstGeom prst="rect">
                <a:avLst/>
              </a:prstGeom>
              <a:solidFill>
                <a:srgbClr val="FFFEF7">
                  <a:alpha val="82745"/>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400" b="1" dirty="0">
                  <a:solidFill>
                    <a:srgbClr val="004C9E"/>
                  </a:solidFill>
                  <a:latin typeface="微软雅黑" panose="020B0503020204020204" pitchFamily="34" charset="-122"/>
                  <a:ea typeface="微软雅黑" panose="020B0503020204020204" pitchFamily="34" charset="-122"/>
                </a:endParaRPr>
              </a:p>
            </p:txBody>
          </p:sp>
        </p:grpSp>
      </p:grpSp>
      <p:pic>
        <p:nvPicPr>
          <p:cNvPr id="10" name="图片 9"/>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636590" y="1328448"/>
            <a:ext cx="2917715" cy="920774"/>
          </a:xfrm>
          <a:prstGeom prst="rect">
            <a:avLst/>
          </a:prstGeom>
        </p:spPr>
      </p:pic>
      <p:sp>
        <p:nvSpPr>
          <p:cNvPr id="11" name="文本框 10"/>
          <p:cNvSpPr txBox="1"/>
          <p:nvPr/>
        </p:nvSpPr>
        <p:spPr>
          <a:xfrm>
            <a:off x="2286000" y="2838212"/>
            <a:ext cx="7620000" cy="768350"/>
          </a:xfrm>
          <a:prstGeom prst="rect">
            <a:avLst/>
          </a:prstGeom>
          <a:noFill/>
        </p:spPr>
        <p:txBody>
          <a:bodyPr wrap="square" rtlCol="0">
            <a:spAutoFit/>
          </a:bodyPr>
          <a:lstStyle/>
          <a:p>
            <a:pPr algn="ctr"/>
            <a:r>
              <a:rPr lang="zh-CN" altLang="en-US" sz="4400" b="1" dirty="0">
                <a:solidFill>
                  <a:srgbClr val="004C9E"/>
                </a:solidFill>
                <a:latin typeface="微软雅黑" panose="020B0503020204020204" pitchFamily="34" charset="-122"/>
                <a:ea typeface="微软雅黑" panose="020B0503020204020204" pitchFamily="34" charset="-122"/>
              </a:rPr>
              <a:t>智能鱼缸养殖助手</a:t>
            </a:r>
            <a:endParaRPr lang="zh-CN" altLang="en-US" sz="4400" b="1" dirty="0">
              <a:solidFill>
                <a:srgbClr val="004C9E"/>
              </a:solidFill>
              <a:latin typeface="微软雅黑" panose="020B0503020204020204" pitchFamily="34" charset="-122"/>
              <a:ea typeface="微软雅黑" panose="020B0503020204020204" pitchFamily="34" charset="-122"/>
            </a:endParaRPr>
          </a:p>
        </p:txBody>
      </p:sp>
      <p:sp>
        <p:nvSpPr>
          <p:cNvPr id="12" name="图形"/>
          <p:cNvSpPr txBox="1"/>
          <p:nvPr>
            <p:custDataLst>
              <p:tags r:id="rId3"/>
            </p:custDataLst>
          </p:nvPr>
        </p:nvSpPr>
        <p:spPr>
          <a:xfrm>
            <a:off x="3885013" y="4523064"/>
            <a:ext cx="2052640" cy="368300"/>
          </a:xfrm>
          <a:prstGeom prst="rect">
            <a:avLst/>
          </a:prstGeom>
          <a:noFill/>
        </p:spPr>
        <p:txBody>
          <a:bodyPr wrap="square" rtlCol="0" anchor="t">
            <a:spAutoFit/>
          </a:bodyPr>
          <a:lstStyle/>
          <a:p>
            <a:pPr lvl="0" algn="l">
              <a:buClrTx/>
              <a:buSzTx/>
              <a:buFontTx/>
            </a:pPr>
            <a:r>
              <a:rPr lang="zh-CN" altLang="en-US" sz="1800" b="1" dirty="0">
                <a:solidFill>
                  <a:schemeClr val="tx1">
                    <a:lumMod val="85000"/>
                    <a:lumOff val="15000"/>
                  </a:schemeClr>
                </a:solidFill>
                <a:latin typeface="微软雅黑" panose="020B0503020204020204" pitchFamily="34" charset="-122"/>
                <a:ea typeface="微软雅黑" panose="020B0503020204020204" pitchFamily="34" charset="-122"/>
                <a:cs typeface="包图粗黑体" panose="02000800000000000000" charset="-122"/>
                <a:sym typeface="Arial" panose="020B0604020202020204" pitchFamily="34" charset="0"/>
              </a:rPr>
              <a:t>汇报人：</a:t>
            </a:r>
            <a:endParaRPr lang="zh-CN" altLang="en-US" sz="1800" b="1" dirty="0">
              <a:solidFill>
                <a:schemeClr val="tx1">
                  <a:lumMod val="85000"/>
                  <a:lumOff val="15000"/>
                </a:schemeClr>
              </a:solidFill>
              <a:latin typeface="微软雅黑" panose="020B0503020204020204" pitchFamily="34" charset="-122"/>
              <a:ea typeface="微软雅黑" panose="020B0503020204020204" pitchFamily="34" charset="-122"/>
              <a:cs typeface="包图粗黑体" panose="02000800000000000000" charset="-122"/>
              <a:sym typeface="Arial" panose="020B0604020202020204" pitchFamily="34" charset="0"/>
            </a:endParaRPr>
          </a:p>
        </p:txBody>
      </p:sp>
      <p:sp>
        <p:nvSpPr>
          <p:cNvPr id="13" name="图形"/>
          <p:cNvSpPr txBox="1"/>
          <p:nvPr>
            <p:custDataLst>
              <p:tags r:id="rId4"/>
            </p:custDataLst>
          </p:nvPr>
        </p:nvSpPr>
        <p:spPr>
          <a:xfrm>
            <a:off x="6592570" y="4538345"/>
            <a:ext cx="3331845" cy="368300"/>
          </a:xfrm>
          <a:prstGeom prst="rect">
            <a:avLst/>
          </a:prstGeom>
          <a:noFill/>
        </p:spPr>
        <p:txBody>
          <a:bodyPr wrap="square" rtlCol="0" anchor="t">
            <a:spAutoFit/>
          </a:bodyPr>
          <a:lstStyle/>
          <a:p>
            <a:pPr lvl="0" algn="l">
              <a:buClrTx/>
              <a:buSzTx/>
              <a:buFontTx/>
            </a:pPr>
            <a:r>
              <a:rPr lang="zh-CN" altLang="en-US" b="1" dirty="0">
                <a:solidFill>
                  <a:schemeClr val="tx1">
                    <a:lumMod val="85000"/>
                    <a:lumOff val="15000"/>
                  </a:schemeClr>
                </a:solidFill>
                <a:latin typeface="微软雅黑" panose="020B0503020204020204" pitchFamily="34" charset="-122"/>
                <a:ea typeface="微软雅黑" panose="020B0503020204020204" pitchFamily="34" charset="-122"/>
                <a:cs typeface="包图粗黑体" panose="02000800000000000000" charset="-122"/>
                <a:sym typeface="Arial" panose="020B0604020202020204" pitchFamily="34" charset="0"/>
              </a:rPr>
              <a:t>汇报时间：</a:t>
            </a:r>
            <a:r>
              <a:rPr lang="en-US" altLang="zh-CN" b="1" dirty="0">
                <a:solidFill>
                  <a:schemeClr val="tx1">
                    <a:lumMod val="85000"/>
                    <a:lumOff val="15000"/>
                  </a:schemeClr>
                </a:solidFill>
                <a:latin typeface="微软雅黑" panose="020B0503020204020204" pitchFamily="34" charset="-122"/>
                <a:ea typeface="微软雅黑" panose="020B0503020204020204" pitchFamily="34" charset="-122"/>
                <a:cs typeface="包图粗黑体" panose="02000800000000000000" charset="-122"/>
                <a:sym typeface="Arial" panose="020B0604020202020204" pitchFamily="34" charset="0"/>
              </a:rPr>
              <a:t>2026</a:t>
            </a:r>
            <a:r>
              <a:rPr lang="zh-CN" altLang="en-US" b="1" dirty="0">
                <a:solidFill>
                  <a:schemeClr val="tx1">
                    <a:lumMod val="85000"/>
                    <a:lumOff val="15000"/>
                  </a:schemeClr>
                </a:solidFill>
                <a:latin typeface="微软雅黑" panose="020B0503020204020204" pitchFamily="34" charset="-122"/>
                <a:ea typeface="微软雅黑" panose="020B0503020204020204" pitchFamily="34" charset="-122"/>
                <a:cs typeface="包图粗黑体" panose="02000800000000000000" charset="-122"/>
                <a:sym typeface="Arial" panose="020B0604020202020204" pitchFamily="34" charset="0"/>
              </a:rPr>
              <a:t>年</a:t>
            </a:r>
            <a:r>
              <a:rPr lang="en-US" altLang="zh-CN" b="1" dirty="0">
                <a:solidFill>
                  <a:schemeClr val="tx1">
                    <a:lumMod val="85000"/>
                    <a:lumOff val="15000"/>
                  </a:schemeClr>
                </a:solidFill>
                <a:latin typeface="微软雅黑" panose="020B0503020204020204" pitchFamily="34" charset="-122"/>
                <a:ea typeface="微软雅黑" panose="020B0503020204020204" pitchFamily="34" charset="-122"/>
                <a:cs typeface="包图粗黑体" panose="02000800000000000000" charset="-122"/>
                <a:sym typeface="Arial" panose="020B0604020202020204" pitchFamily="34" charset="0"/>
              </a:rPr>
              <a:t>4</a:t>
            </a:r>
            <a:r>
              <a:rPr lang="zh-CN" altLang="en-US" b="1" dirty="0">
                <a:solidFill>
                  <a:schemeClr val="tx1">
                    <a:lumMod val="85000"/>
                    <a:lumOff val="15000"/>
                  </a:schemeClr>
                </a:solidFill>
                <a:latin typeface="微软雅黑" panose="020B0503020204020204" pitchFamily="34" charset="-122"/>
                <a:ea typeface="微软雅黑" panose="020B0503020204020204" pitchFamily="34" charset="-122"/>
                <a:cs typeface="包图粗黑体" panose="02000800000000000000" charset="-122"/>
                <a:sym typeface="Arial" panose="020B0604020202020204" pitchFamily="34" charset="0"/>
              </a:rPr>
              <a:t>月</a:t>
            </a:r>
            <a:r>
              <a:rPr lang="en-US" altLang="zh-CN" b="1" dirty="0">
                <a:solidFill>
                  <a:schemeClr val="tx1">
                    <a:lumMod val="85000"/>
                    <a:lumOff val="15000"/>
                  </a:schemeClr>
                </a:solidFill>
                <a:latin typeface="微软雅黑" panose="020B0503020204020204" pitchFamily="34" charset="-122"/>
                <a:ea typeface="微软雅黑" panose="020B0503020204020204" pitchFamily="34" charset="-122"/>
                <a:cs typeface="包图粗黑体" panose="02000800000000000000" charset="-122"/>
                <a:sym typeface="Arial" panose="020B0604020202020204" pitchFamily="34" charset="0"/>
              </a:rPr>
              <a:t>24</a:t>
            </a:r>
            <a:r>
              <a:rPr lang="zh-CN" altLang="en-US" b="1" dirty="0">
                <a:solidFill>
                  <a:schemeClr val="tx1">
                    <a:lumMod val="85000"/>
                    <a:lumOff val="15000"/>
                  </a:schemeClr>
                </a:solidFill>
                <a:latin typeface="微软雅黑" panose="020B0503020204020204" pitchFamily="34" charset="-122"/>
                <a:ea typeface="微软雅黑" panose="020B0503020204020204" pitchFamily="34" charset="-122"/>
                <a:cs typeface="包图粗黑体" panose="02000800000000000000" charset="-122"/>
                <a:sym typeface="Arial" panose="020B0604020202020204" pitchFamily="34" charset="0"/>
              </a:rPr>
              <a:t>日</a:t>
            </a:r>
            <a:endParaRPr lang="en-US" altLang="zh-CN" b="1" dirty="0">
              <a:solidFill>
                <a:schemeClr val="tx1">
                  <a:lumMod val="85000"/>
                  <a:lumOff val="15000"/>
                </a:schemeClr>
              </a:solidFill>
              <a:latin typeface="微软雅黑" panose="020B0503020204020204" pitchFamily="34" charset="-122"/>
              <a:ea typeface="微软雅黑" panose="020B0503020204020204" pitchFamily="34" charset="-122"/>
              <a:cs typeface="包图粗黑体" panose="02000800000000000000" charset="-122"/>
              <a:sym typeface="Arial" panose="020B0604020202020204" pitchFamily="34" charset="0"/>
            </a:endParaRPr>
          </a:p>
        </p:txBody>
      </p:sp>
      <p:sp>
        <p:nvSpPr>
          <p:cNvPr id="14" name="图形"/>
          <p:cNvSpPr/>
          <p:nvPr>
            <p:custDataLst>
              <p:tags r:id="rId5"/>
            </p:custDataLst>
          </p:nvPr>
        </p:nvSpPr>
        <p:spPr>
          <a:xfrm>
            <a:off x="3330155" y="4459891"/>
            <a:ext cx="510566" cy="510566"/>
          </a:xfrm>
          <a:prstGeom prst="ellipse">
            <a:avLst/>
          </a:prstGeom>
          <a:solidFill>
            <a:srgbClr val="004C9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gradFill>
                <a:gsLst>
                  <a:gs pos="0">
                    <a:srgbClr val="FFEBC4"/>
                  </a:gs>
                  <a:gs pos="100000">
                    <a:srgbClr val="FEDA90"/>
                  </a:gs>
                </a:gsLst>
                <a:lin ang="2700000" scaled="0"/>
              </a:gradFill>
              <a:latin typeface="Arial" panose="020B0604020202020204" pitchFamily="34" charset="0"/>
              <a:ea typeface="微软雅黑" panose="020B0503020204020204" pitchFamily="34" charset="-122"/>
              <a:cs typeface="思源黑体旧字形 Light" panose="020B0300000000000000" charset="-128"/>
              <a:sym typeface="Arial" panose="020B0604020202020204" pitchFamily="34" charset="0"/>
            </a:endParaRPr>
          </a:p>
        </p:txBody>
      </p:sp>
      <p:pic>
        <p:nvPicPr>
          <p:cNvPr id="15" name="图形" descr="303b32313533373635313bbbe3b1a8d5df"/>
          <p:cNvPicPr>
            <a:picLocks noChangeAspect="1"/>
          </p:cNvPicPr>
          <p:nvPr>
            <p:custDataLst>
              <p:tags r:id="rId6"/>
            </p:custDataLst>
          </p:nvPr>
        </p:nvPicPr>
        <p:blipFill>
          <a:blip r:embed="rId7">
            <a:extLst>
              <a:ext uri="{96DAC541-7B7A-43D3-8B79-37D633B846F1}">
                <asvg:svgBlip xmlns:asvg="http://schemas.microsoft.com/office/drawing/2016/SVG/main" r:embed="rId8"/>
              </a:ext>
            </a:extLst>
          </a:blip>
          <a:stretch>
            <a:fillRect/>
          </a:stretch>
        </p:blipFill>
        <p:spPr>
          <a:xfrm>
            <a:off x="3411144" y="4531913"/>
            <a:ext cx="352294" cy="352294"/>
          </a:xfrm>
          <a:prstGeom prst="rect">
            <a:avLst/>
          </a:prstGeom>
        </p:spPr>
      </p:pic>
      <p:sp>
        <p:nvSpPr>
          <p:cNvPr id="16" name="图形"/>
          <p:cNvSpPr/>
          <p:nvPr>
            <p:custDataLst>
              <p:tags r:id="rId9"/>
            </p:custDataLst>
          </p:nvPr>
        </p:nvSpPr>
        <p:spPr>
          <a:xfrm>
            <a:off x="6014936" y="4459891"/>
            <a:ext cx="510566" cy="510566"/>
          </a:xfrm>
          <a:prstGeom prst="ellipse">
            <a:avLst/>
          </a:prstGeom>
          <a:solidFill>
            <a:srgbClr val="004C9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gradFill>
                <a:gsLst>
                  <a:gs pos="0">
                    <a:srgbClr val="FFEBC4"/>
                  </a:gs>
                  <a:gs pos="100000">
                    <a:srgbClr val="FEDA90"/>
                  </a:gs>
                </a:gsLst>
                <a:lin ang="2700000" scaled="0"/>
              </a:gradFill>
              <a:latin typeface="Arial" panose="020B0604020202020204" pitchFamily="34" charset="0"/>
              <a:ea typeface="微软雅黑" panose="020B0503020204020204" pitchFamily="34" charset="-122"/>
              <a:cs typeface="思源黑体旧字形 Light" panose="020B0300000000000000" charset="-128"/>
              <a:sym typeface="Arial" panose="020B0604020202020204" pitchFamily="34" charset="0"/>
            </a:endParaRPr>
          </a:p>
        </p:txBody>
      </p:sp>
      <p:grpSp>
        <p:nvGrpSpPr>
          <p:cNvPr id="17" name="组合 16"/>
          <p:cNvGrpSpPr/>
          <p:nvPr/>
        </p:nvGrpSpPr>
        <p:grpSpPr>
          <a:xfrm>
            <a:off x="6087914" y="4586448"/>
            <a:ext cx="351985" cy="257452"/>
            <a:chOff x="2751138" y="4071938"/>
            <a:chExt cx="1558925" cy="1158875"/>
          </a:xfrm>
          <a:solidFill>
            <a:srgbClr val="0A0301"/>
          </a:solidFill>
        </p:grpSpPr>
        <p:sp>
          <p:nvSpPr>
            <p:cNvPr id="18" name="图形"/>
            <p:cNvSpPr/>
            <p:nvPr>
              <p:custDataLst>
                <p:tags r:id="rId10"/>
              </p:custDataLst>
            </p:nvPr>
          </p:nvSpPr>
          <p:spPr bwMode="auto">
            <a:xfrm>
              <a:off x="3770313" y="4562475"/>
              <a:ext cx="539750" cy="477838"/>
            </a:xfrm>
            <a:custGeom>
              <a:avLst/>
              <a:gdLst>
                <a:gd name="T0" fmla="*/ 255 w 340"/>
                <a:gd name="T1" fmla="*/ 0 h 301"/>
                <a:gd name="T2" fmla="*/ 136 w 340"/>
                <a:gd name="T3" fmla="*/ 99 h 301"/>
                <a:gd name="T4" fmla="*/ 28 w 340"/>
                <a:gd name="T5" fmla="*/ 8 h 301"/>
                <a:gd name="T6" fmla="*/ 28 w 340"/>
                <a:gd name="T7" fmla="*/ 8 h 301"/>
                <a:gd name="T8" fmla="*/ 14 w 340"/>
                <a:gd name="T9" fmla="*/ 31 h 301"/>
                <a:gd name="T10" fmla="*/ 0 w 340"/>
                <a:gd name="T11" fmla="*/ 50 h 301"/>
                <a:gd name="T12" fmla="*/ 0 w 340"/>
                <a:gd name="T13" fmla="*/ 50 h 301"/>
                <a:gd name="T14" fmla="*/ 24 w 340"/>
                <a:gd name="T15" fmla="*/ 70 h 301"/>
                <a:gd name="T16" fmla="*/ 47 w 340"/>
                <a:gd name="T17" fmla="*/ 95 h 301"/>
                <a:gd name="T18" fmla="*/ 68 w 340"/>
                <a:gd name="T19" fmla="*/ 122 h 301"/>
                <a:gd name="T20" fmla="*/ 84 w 340"/>
                <a:gd name="T21" fmla="*/ 149 h 301"/>
                <a:gd name="T22" fmla="*/ 99 w 340"/>
                <a:gd name="T23" fmla="*/ 180 h 301"/>
                <a:gd name="T24" fmla="*/ 109 w 340"/>
                <a:gd name="T25" fmla="*/ 213 h 301"/>
                <a:gd name="T26" fmla="*/ 115 w 340"/>
                <a:gd name="T27" fmla="*/ 248 h 301"/>
                <a:gd name="T28" fmla="*/ 117 w 340"/>
                <a:gd name="T29" fmla="*/ 283 h 301"/>
                <a:gd name="T30" fmla="*/ 117 w 340"/>
                <a:gd name="T31" fmla="*/ 283 h 301"/>
                <a:gd name="T32" fmla="*/ 115 w 340"/>
                <a:gd name="T33" fmla="*/ 301 h 301"/>
                <a:gd name="T34" fmla="*/ 115 w 340"/>
                <a:gd name="T35" fmla="*/ 301 h 301"/>
                <a:gd name="T36" fmla="*/ 136 w 340"/>
                <a:gd name="T37" fmla="*/ 301 h 301"/>
                <a:gd name="T38" fmla="*/ 136 w 340"/>
                <a:gd name="T39" fmla="*/ 301 h 301"/>
                <a:gd name="T40" fmla="*/ 167 w 340"/>
                <a:gd name="T41" fmla="*/ 299 h 301"/>
                <a:gd name="T42" fmla="*/ 200 w 340"/>
                <a:gd name="T43" fmla="*/ 293 h 301"/>
                <a:gd name="T44" fmla="*/ 233 w 340"/>
                <a:gd name="T45" fmla="*/ 285 h 301"/>
                <a:gd name="T46" fmla="*/ 266 w 340"/>
                <a:gd name="T47" fmla="*/ 270 h 301"/>
                <a:gd name="T48" fmla="*/ 282 w 340"/>
                <a:gd name="T49" fmla="*/ 262 h 301"/>
                <a:gd name="T50" fmla="*/ 295 w 340"/>
                <a:gd name="T51" fmla="*/ 252 h 301"/>
                <a:gd name="T52" fmla="*/ 307 w 340"/>
                <a:gd name="T53" fmla="*/ 242 h 301"/>
                <a:gd name="T54" fmla="*/ 319 w 340"/>
                <a:gd name="T55" fmla="*/ 229 h 301"/>
                <a:gd name="T56" fmla="*/ 328 w 340"/>
                <a:gd name="T57" fmla="*/ 217 h 301"/>
                <a:gd name="T58" fmla="*/ 334 w 340"/>
                <a:gd name="T59" fmla="*/ 204 h 301"/>
                <a:gd name="T60" fmla="*/ 338 w 340"/>
                <a:gd name="T61" fmla="*/ 190 h 301"/>
                <a:gd name="T62" fmla="*/ 340 w 340"/>
                <a:gd name="T63" fmla="*/ 176 h 301"/>
                <a:gd name="T64" fmla="*/ 340 w 340"/>
                <a:gd name="T65" fmla="*/ 176 h 301"/>
                <a:gd name="T66" fmla="*/ 338 w 340"/>
                <a:gd name="T67" fmla="*/ 149 h 301"/>
                <a:gd name="T68" fmla="*/ 334 w 340"/>
                <a:gd name="T69" fmla="*/ 122 h 301"/>
                <a:gd name="T70" fmla="*/ 328 w 340"/>
                <a:gd name="T71" fmla="*/ 97 h 301"/>
                <a:gd name="T72" fmla="*/ 317 w 340"/>
                <a:gd name="T73" fmla="*/ 74 h 301"/>
                <a:gd name="T74" fmla="*/ 305 w 340"/>
                <a:gd name="T75" fmla="*/ 54 h 301"/>
                <a:gd name="T76" fmla="*/ 290 w 340"/>
                <a:gd name="T77" fmla="*/ 33 h 301"/>
                <a:gd name="T78" fmla="*/ 274 w 340"/>
                <a:gd name="T79" fmla="*/ 15 h 301"/>
                <a:gd name="T80" fmla="*/ 255 w 340"/>
                <a:gd name="T81" fmla="*/ 0 h 301"/>
                <a:gd name="T82" fmla="*/ 255 w 340"/>
                <a:gd name="T83" fmla="*/ 0 h 3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340" h="301">
                  <a:moveTo>
                    <a:pt x="255" y="0"/>
                  </a:moveTo>
                  <a:lnTo>
                    <a:pt x="136" y="99"/>
                  </a:lnTo>
                  <a:lnTo>
                    <a:pt x="28" y="8"/>
                  </a:lnTo>
                  <a:lnTo>
                    <a:pt x="28" y="8"/>
                  </a:lnTo>
                  <a:lnTo>
                    <a:pt x="14" y="31"/>
                  </a:lnTo>
                  <a:lnTo>
                    <a:pt x="0" y="50"/>
                  </a:lnTo>
                  <a:lnTo>
                    <a:pt x="0" y="50"/>
                  </a:lnTo>
                  <a:lnTo>
                    <a:pt x="24" y="70"/>
                  </a:lnTo>
                  <a:lnTo>
                    <a:pt x="47" y="95"/>
                  </a:lnTo>
                  <a:lnTo>
                    <a:pt x="68" y="122"/>
                  </a:lnTo>
                  <a:lnTo>
                    <a:pt x="84" y="149"/>
                  </a:lnTo>
                  <a:lnTo>
                    <a:pt x="99" y="180"/>
                  </a:lnTo>
                  <a:lnTo>
                    <a:pt x="109" y="213"/>
                  </a:lnTo>
                  <a:lnTo>
                    <a:pt x="115" y="248"/>
                  </a:lnTo>
                  <a:lnTo>
                    <a:pt x="117" y="283"/>
                  </a:lnTo>
                  <a:lnTo>
                    <a:pt x="117" y="283"/>
                  </a:lnTo>
                  <a:lnTo>
                    <a:pt x="115" y="301"/>
                  </a:lnTo>
                  <a:lnTo>
                    <a:pt x="115" y="301"/>
                  </a:lnTo>
                  <a:lnTo>
                    <a:pt x="136" y="301"/>
                  </a:lnTo>
                  <a:lnTo>
                    <a:pt x="136" y="301"/>
                  </a:lnTo>
                  <a:lnTo>
                    <a:pt x="167" y="299"/>
                  </a:lnTo>
                  <a:lnTo>
                    <a:pt x="200" y="293"/>
                  </a:lnTo>
                  <a:lnTo>
                    <a:pt x="233" y="285"/>
                  </a:lnTo>
                  <a:lnTo>
                    <a:pt x="266" y="270"/>
                  </a:lnTo>
                  <a:lnTo>
                    <a:pt x="282" y="262"/>
                  </a:lnTo>
                  <a:lnTo>
                    <a:pt x="295" y="252"/>
                  </a:lnTo>
                  <a:lnTo>
                    <a:pt x="307" y="242"/>
                  </a:lnTo>
                  <a:lnTo>
                    <a:pt x="319" y="229"/>
                  </a:lnTo>
                  <a:lnTo>
                    <a:pt x="328" y="217"/>
                  </a:lnTo>
                  <a:lnTo>
                    <a:pt x="334" y="204"/>
                  </a:lnTo>
                  <a:lnTo>
                    <a:pt x="338" y="190"/>
                  </a:lnTo>
                  <a:lnTo>
                    <a:pt x="340" y="176"/>
                  </a:lnTo>
                  <a:lnTo>
                    <a:pt x="340" y="176"/>
                  </a:lnTo>
                  <a:lnTo>
                    <a:pt x="338" y="149"/>
                  </a:lnTo>
                  <a:lnTo>
                    <a:pt x="334" y="122"/>
                  </a:lnTo>
                  <a:lnTo>
                    <a:pt x="328" y="97"/>
                  </a:lnTo>
                  <a:lnTo>
                    <a:pt x="317" y="74"/>
                  </a:lnTo>
                  <a:lnTo>
                    <a:pt x="305" y="54"/>
                  </a:lnTo>
                  <a:lnTo>
                    <a:pt x="290" y="33"/>
                  </a:lnTo>
                  <a:lnTo>
                    <a:pt x="274" y="15"/>
                  </a:lnTo>
                  <a:lnTo>
                    <a:pt x="255" y="0"/>
                  </a:lnTo>
                  <a:lnTo>
                    <a:pt x="255" y="0"/>
                  </a:ln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gradFill>
                  <a:gsLst>
                    <a:gs pos="0">
                      <a:srgbClr val="FFEBC4"/>
                    </a:gs>
                    <a:gs pos="100000">
                      <a:srgbClr val="FEDA90"/>
                    </a:gs>
                  </a:gsLst>
                  <a:lin ang="2700000" scaled="0"/>
                </a:gradFill>
                <a:latin typeface="Arial" panose="020B0604020202020204" pitchFamily="34" charset="0"/>
                <a:ea typeface="微软雅黑" panose="020B0503020204020204" pitchFamily="34" charset="-122"/>
                <a:cs typeface="思源黑体旧字形 Light" panose="020B0300000000000000" charset="-128"/>
                <a:sym typeface="Arial" panose="020B0604020202020204" pitchFamily="34" charset="0"/>
              </a:endParaRPr>
            </a:p>
          </p:txBody>
        </p:sp>
        <p:sp>
          <p:nvSpPr>
            <p:cNvPr id="19" name="图形"/>
            <p:cNvSpPr/>
            <p:nvPr>
              <p:custDataLst>
                <p:tags r:id="rId11"/>
              </p:custDataLst>
            </p:nvPr>
          </p:nvSpPr>
          <p:spPr bwMode="auto">
            <a:xfrm>
              <a:off x="3773488" y="4071938"/>
              <a:ext cx="441325" cy="450850"/>
            </a:xfrm>
            <a:custGeom>
              <a:avLst/>
              <a:gdLst>
                <a:gd name="T0" fmla="*/ 49 w 278"/>
                <a:gd name="T1" fmla="*/ 225 h 284"/>
                <a:gd name="T2" fmla="*/ 49 w 278"/>
                <a:gd name="T3" fmla="*/ 225 h 284"/>
                <a:gd name="T4" fmla="*/ 49 w 278"/>
                <a:gd name="T5" fmla="*/ 239 h 284"/>
                <a:gd name="T6" fmla="*/ 47 w 278"/>
                <a:gd name="T7" fmla="*/ 255 h 284"/>
                <a:gd name="T8" fmla="*/ 47 w 278"/>
                <a:gd name="T9" fmla="*/ 255 h 284"/>
                <a:gd name="T10" fmla="*/ 66 w 278"/>
                <a:gd name="T11" fmla="*/ 268 h 284"/>
                <a:gd name="T12" fmla="*/ 88 w 278"/>
                <a:gd name="T13" fmla="*/ 276 h 284"/>
                <a:gd name="T14" fmla="*/ 111 w 278"/>
                <a:gd name="T15" fmla="*/ 282 h 284"/>
                <a:gd name="T16" fmla="*/ 134 w 278"/>
                <a:gd name="T17" fmla="*/ 284 h 284"/>
                <a:gd name="T18" fmla="*/ 134 w 278"/>
                <a:gd name="T19" fmla="*/ 284 h 284"/>
                <a:gd name="T20" fmla="*/ 148 w 278"/>
                <a:gd name="T21" fmla="*/ 284 h 284"/>
                <a:gd name="T22" fmla="*/ 163 w 278"/>
                <a:gd name="T23" fmla="*/ 282 h 284"/>
                <a:gd name="T24" fmla="*/ 177 w 278"/>
                <a:gd name="T25" fmla="*/ 278 h 284"/>
                <a:gd name="T26" fmla="*/ 189 w 278"/>
                <a:gd name="T27" fmla="*/ 274 h 284"/>
                <a:gd name="T28" fmla="*/ 202 w 278"/>
                <a:gd name="T29" fmla="*/ 268 h 284"/>
                <a:gd name="T30" fmla="*/ 214 w 278"/>
                <a:gd name="T31" fmla="*/ 260 h 284"/>
                <a:gd name="T32" fmla="*/ 224 w 278"/>
                <a:gd name="T33" fmla="*/ 251 h 284"/>
                <a:gd name="T34" fmla="*/ 235 w 278"/>
                <a:gd name="T35" fmla="*/ 243 h 284"/>
                <a:gd name="T36" fmla="*/ 245 w 278"/>
                <a:gd name="T37" fmla="*/ 233 h 284"/>
                <a:gd name="T38" fmla="*/ 253 w 278"/>
                <a:gd name="T39" fmla="*/ 222 h 284"/>
                <a:gd name="T40" fmla="*/ 260 w 278"/>
                <a:gd name="T41" fmla="*/ 210 h 284"/>
                <a:gd name="T42" fmla="*/ 266 w 278"/>
                <a:gd name="T43" fmla="*/ 198 h 284"/>
                <a:gd name="T44" fmla="*/ 272 w 278"/>
                <a:gd name="T45" fmla="*/ 185 h 284"/>
                <a:gd name="T46" fmla="*/ 274 w 278"/>
                <a:gd name="T47" fmla="*/ 171 h 284"/>
                <a:gd name="T48" fmla="*/ 276 w 278"/>
                <a:gd name="T49" fmla="*/ 156 h 284"/>
                <a:gd name="T50" fmla="*/ 278 w 278"/>
                <a:gd name="T51" fmla="*/ 142 h 284"/>
                <a:gd name="T52" fmla="*/ 278 w 278"/>
                <a:gd name="T53" fmla="*/ 142 h 284"/>
                <a:gd name="T54" fmla="*/ 276 w 278"/>
                <a:gd name="T55" fmla="*/ 128 h 284"/>
                <a:gd name="T56" fmla="*/ 274 w 278"/>
                <a:gd name="T57" fmla="*/ 113 h 284"/>
                <a:gd name="T58" fmla="*/ 272 w 278"/>
                <a:gd name="T59" fmla="*/ 99 h 284"/>
                <a:gd name="T60" fmla="*/ 266 w 278"/>
                <a:gd name="T61" fmla="*/ 86 h 284"/>
                <a:gd name="T62" fmla="*/ 260 w 278"/>
                <a:gd name="T63" fmla="*/ 74 h 284"/>
                <a:gd name="T64" fmla="*/ 253 w 278"/>
                <a:gd name="T65" fmla="*/ 62 h 284"/>
                <a:gd name="T66" fmla="*/ 245 w 278"/>
                <a:gd name="T67" fmla="*/ 51 h 284"/>
                <a:gd name="T68" fmla="*/ 235 w 278"/>
                <a:gd name="T69" fmla="*/ 41 h 284"/>
                <a:gd name="T70" fmla="*/ 224 w 278"/>
                <a:gd name="T71" fmla="*/ 31 h 284"/>
                <a:gd name="T72" fmla="*/ 214 w 278"/>
                <a:gd name="T73" fmla="*/ 22 h 284"/>
                <a:gd name="T74" fmla="*/ 202 w 278"/>
                <a:gd name="T75" fmla="*/ 16 h 284"/>
                <a:gd name="T76" fmla="*/ 189 w 278"/>
                <a:gd name="T77" fmla="*/ 10 h 284"/>
                <a:gd name="T78" fmla="*/ 177 w 278"/>
                <a:gd name="T79" fmla="*/ 6 h 284"/>
                <a:gd name="T80" fmla="*/ 163 w 278"/>
                <a:gd name="T81" fmla="*/ 2 h 284"/>
                <a:gd name="T82" fmla="*/ 148 w 278"/>
                <a:gd name="T83" fmla="*/ 0 h 284"/>
                <a:gd name="T84" fmla="*/ 134 w 278"/>
                <a:gd name="T85" fmla="*/ 0 h 284"/>
                <a:gd name="T86" fmla="*/ 134 w 278"/>
                <a:gd name="T87" fmla="*/ 0 h 284"/>
                <a:gd name="T88" fmla="*/ 111 w 278"/>
                <a:gd name="T89" fmla="*/ 0 h 284"/>
                <a:gd name="T90" fmla="*/ 90 w 278"/>
                <a:gd name="T91" fmla="*/ 6 h 284"/>
                <a:gd name="T92" fmla="*/ 70 w 278"/>
                <a:gd name="T93" fmla="*/ 14 h 284"/>
                <a:gd name="T94" fmla="*/ 51 w 278"/>
                <a:gd name="T95" fmla="*/ 24 h 284"/>
                <a:gd name="T96" fmla="*/ 35 w 278"/>
                <a:gd name="T97" fmla="*/ 39 h 284"/>
                <a:gd name="T98" fmla="*/ 20 w 278"/>
                <a:gd name="T99" fmla="*/ 55 h 284"/>
                <a:gd name="T100" fmla="*/ 10 w 278"/>
                <a:gd name="T101" fmla="*/ 72 h 284"/>
                <a:gd name="T102" fmla="*/ 0 w 278"/>
                <a:gd name="T103" fmla="*/ 92 h 284"/>
                <a:gd name="T104" fmla="*/ 0 w 278"/>
                <a:gd name="T105" fmla="*/ 92 h 284"/>
                <a:gd name="T106" fmla="*/ 12 w 278"/>
                <a:gd name="T107" fmla="*/ 107 h 284"/>
                <a:gd name="T108" fmla="*/ 20 w 278"/>
                <a:gd name="T109" fmla="*/ 121 h 284"/>
                <a:gd name="T110" fmla="*/ 28 w 278"/>
                <a:gd name="T111" fmla="*/ 136 h 284"/>
                <a:gd name="T112" fmla="*/ 37 w 278"/>
                <a:gd name="T113" fmla="*/ 152 h 284"/>
                <a:gd name="T114" fmla="*/ 43 w 278"/>
                <a:gd name="T115" fmla="*/ 169 h 284"/>
                <a:gd name="T116" fmla="*/ 47 w 278"/>
                <a:gd name="T117" fmla="*/ 187 h 284"/>
                <a:gd name="T118" fmla="*/ 49 w 278"/>
                <a:gd name="T119" fmla="*/ 206 h 284"/>
                <a:gd name="T120" fmla="*/ 49 w 278"/>
                <a:gd name="T121" fmla="*/ 225 h 284"/>
                <a:gd name="T122" fmla="*/ 49 w 278"/>
                <a:gd name="T123" fmla="*/ 225 h 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78" h="284">
                  <a:moveTo>
                    <a:pt x="49" y="225"/>
                  </a:moveTo>
                  <a:lnTo>
                    <a:pt x="49" y="225"/>
                  </a:lnTo>
                  <a:lnTo>
                    <a:pt x="49" y="239"/>
                  </a:lnTo>
                  <a:lnTo>
                    <a:pt x="47" y="255"/>
                  </a:lnTo>
                  <a:lnTo>
                    <a:pt x="47" y="255"/>
                  </a:lnTo>
                  <a:lnTo>
                    <a:pt x="66" y="268"/>
                  </a:lnTo>
                  <a:lnTo>
                    <a:pt x="88" y="276"/>
                  </a:lnTo>
                  <a:lnTo>
                    <a:pt x="111" y="282"/>
                  </a:lnTo>
                  <a:lnTo>
                    <a:pt x="134" y="284"/>
                  </a:lnTo>
                  <a:lnTo>
                    <a:pt x="134" y="284"/>
                  </a:lnTo>
                  <a:lnTo>
                    <a:pt x="148" y="284"/>
                  </a:lnTo>
                  <a:lnTo>
                    <a:pt x="163" y="282"/>
                  </a:lnTo>
                  <a:lnTo>
                    <a:pt x="177" y="278"/>
                  </a:lnTo>
                  <a:lnTo>
                    <a:pt x="189" y="274"/>
                  </a:lnTo>
                  <a:lnTo>
                    <a:pt x="202" y="268"/>
                  </a:lnTo>
                  <a:lnTo>
                    <a:pt x="214" y="260"/>
                  </a:lnTo>
                  <a:lnTo>
                    <a:pt x="224" y="251"/>
                  </a:lnTo>
                  <a:lnTo>
                    <a:pt x="235" y="243"/>
                  </a:lnTo>
                  <a:lnTo>
                    <a:pt x="245" y="233"/>
                  </a:lnTo>
                  <a:lnTo>
                    <a:pt x="253" y="222"/>
                  </a:lnTo>
                  <a:lnTo>
                    <a:pt x="260" y="210"/>
                  </a:lnTo>
                  <a:lnTo>
                    <a:pt x="266" y="198"/>
                  </a:lnTo>
                  <a:lnTo>
                    <a:pt x="272" y="185"/>
                  </a:lnTo>
                  <a:lnTo>
                    <a:pt x="274" y="171"/>
                  </a:lnTo>
                  <a:lnTo>
                    <a:pt x="276" y="156"/>
                  </a:lnTo>
                  <a:lnTo>
                    <a:pt x="278" y="142"/>
                  </a:lnTo>
                  <a:lnTo>
                    <a:pt x="278" y="142"/>
                  </a:lnTo>
                  <a:lnTo>
                    <a:pt x="276" y="128"/>
                  </a:lnTo>
                  <a:lnTo>
                    <a:pt x="274" y="113"/>
                  </a:lnTo>
                  <a:lnTo>
                    <a:pt x="272" y="99"/>
                  </a:lnTo>
                  <a:lnTo>
                    <a:pt x="266" y="86"/>
                  </a:lnTo>
                  <a:lnTo>
                    <a:pt x="260" y="74"/>
                  </a:lnTo>
                  <a:lnTo>
                    <a:pt x="253" y="62"/>
                  </a:lnTo>
                  <a:lnTo>
                    <a:pt x="245" y="51"/>
                  </a:lnTo>
                  <a:lnTo>
                    <a:pt x="235" y="41"/>
                  </a:lnTo>
                  <a:lnTo>
                    <a:pt x="224" y="31"/>
                  </a:lnTo>
                  <a:lnTo>
                    <a:pt x="214" y="22"/>
                  </a:lnTo>
                  <a:lnTo>
                    <a:pt x="202" y="16"/>
                  </a:lnTo>
                  <a:lnTo>
                    <a:pt x="189" y="10"/>
                  </a:lnTo>
                  <a:lnTo>
                    <a:pt x="177" y="6"/>
                  </a:lnTo>
                  <a:lnTo>
                    <a:pt x="163" y="2"/>
                  </a:lnTo>
                  <a:lnTo>
                    <a:pt x="148" y="0"/>
                  </a:lnTo>
                  <a:lnTo>
                    <a:pt x="134" y="0"/>
                  </a:lnTo>
                  <a:lnTo>
                    <a:pt x="134" y="0"/>
                  </a:lnTo>
                  <a:lnTo>
                    <a:pt x="111" y="0"/>
                  </a:lnTo>
                  <a:lnTo>
                    <a:pt x="90" y="6"/>
                  </a:lnTo>
                  <a:lnTo>
                    <a:pt x="70" y="14"/>
                  </a:lnTo>
                  <a:lnTo>
                    <a:pt x="51" y="24"/>
                  </a:lnTo>
                  <a:lnTo>
                    <a:pt x="35" y="39"/>
                  </a:lnTo>
                  <a:lnTo>
                    <a:pt x="20" y="55"/>
                  </a:lnTo>
                  <a:lnTo>
                    <a:pt x="10" y="72"/>
                  </a:lnTo>
                  <a:lnTo>
                    <a:pt x="0" y="92"/>
                  </a:lnTo>
                  <a:lnTo>
                    <a:pt x="0" y="92"/>
                  </a:lnTo>
                  <a:lnTo>
                    <a:pt x="12" y="107"/>
                  </a:lnTo>
                  <a:lnTo>
                    <a:pt x="20" y="121"/>
                  </a:lnTo>
                  <a:lnTo>
                    <a:pt x="28" y="136"/>
                  </a:lnTo>
                  <a:lnTo>
                    <a:pt x="37" y="152"/>
                  </a:lnTo>
                  <a:lnTo>
                    <a:pt x="43" y="169"/>
                  </a:lnTo>
                  <a:lnTo>
                    <a:pt x="47" y="187"/>
                  </a:lnTo>
                  <a:lnTo>
                    <a:pt x="49" y="206"/>
                  </a:lnTo>
                  <a:lnTo>
                    <a:pt x="49" y="225"/>
                  </a:lnTo>
                  <a:lnTo>
                    <a:pt x="49" y="225"/>
                  </a:ln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gradFill>
                  <a:gsLst>
                    <a:gs pos="0">
                      <a:srgbClr val="FFEBC4"/>
                    </a:gs>
                    <a:gs pos="100000">
                      <a:srgbClr val="FEDA90"/>
                    </a:gs>
                  </a:gsLst>
                  <a:lin ang="2700000" scaled="0"/>
                </a:gradFill>
                <a:latin typeface="Arial" panose="020B0604020202020204" pitchFamily="34" charset="0"/>
                <a:ea typeface="微软雅黑" panose="020B0503020204020204" pitchFamily="34" charset="-122"/>
                <a:cs typeface="思源黑体旧字形 Light" panose="020B0300000000000000" charset="-128"/>
                <a:sym typeface="Arial" panose="020B0604020202020204" pitchFamily="34" charset="0"/>
              </a:endParaRPr>
            </a:p>
          </p:txBody>
        </p:sp>
        <p:sp>
          <p:nvSpPr>
            <p:cNvPr id="20" name="图形"/>
            <p:cNvSpPr/>
            <p:nvPr>
              <p:custDataLst>
                <p:tags r:id="rId12"/>
              </p:custDataLst>
            </p:nvPr>
          </p:nvSpPr>
          <p:spPr bwMode="auto">
            <a:xfrm>
              <a:off x="2751138" y="4562475"/>
              <a:ext cx="542925" cy="477838"/>
            </a:xfrm>
            <a:custGeom>
              <a:avLst/>
              <a:gdLst>
                <a:gd name="T0" fmla="*/ 204 w 342"/>
                <a:gd name="T1" fmla="*/ 301 h 301"/>
                <a:gd name="T2" fmla="*/ 204 w 342"/>
                <a:gd name="T3" fmla="*/ 301 h 301"/>
                <a:gd name="T4" fmla="*/ 225 w 342"/>
                <a:gd name="T5" fmla="*/ 301 h 301"/>
                <a:gd name="T6" fmla="*/ 225 w 342"/>
                <a:gd name="T7" fmla="*/ 301 h 301"/>
                <a:gd name="T8" fmla="*/ 225 w 342"/>
                <a:gd name="T9" fmla="*/ 283 h 301"/>
                <a:gd name="T10" fmla="*/ 225 w 342"/>
                <a:gd name="T11" fmla="*/ 283 h 301"/>
                <a:gd name="T12" fmla="*/ 227 w 342"/>
                <a:gd name="T13" fmla="*/ 248 h 301"/>
                <a:gd name="T14" fmla="*/ 233 w 342"/>
                <a:gd name="T15" fmla="*/ 213 h 301"/>
                <a:gd name="T16" fmla="*/ 243 w 342"/>
                <a:gd name="T17" fmla="*/ 180 h 301"/>
                <a:gd name="T18" fmla="*/ 256 w 342"/>
                <a:gd name="T19" fmla="*/ 149 h 301"/>
                <a:gd name="T20" fmla="*/ 272 w 342"/>
                <a:gd name="T21" fmla="*/ 122 h 301"/>
                <a:gd name="T22" fmla="*/ 293 w 342"/>
                <a:gd name="T23" fmla="*/ 95 h 301"/>
                <a:gd name="T24" fmla="*/ 316 w 342"/>
                <a:gd name="T25" fmla="*/ 70 h 301"/>
                <a:gd name="T26" fmla="*/ 342 w 342"/>
                <a:gd name="T27" fmla="*/ 50 h 301"/>
                <a:gd name="T28" fmla="*/ 342 w 342"/>
                <a:gd name="T29" fmla="*/ 50 h 301"/>
                <a:gd name="T30" fmla="*/ 326 w 342"/>
                <a:gd name="T31" fmla="*/ 31 h 301"/>
                <a:gd name="T32" fmla="*/ 313 w 342"/>
                <a:gd name="T33" fmla="*/ 8 h 301"/>
                <a:gd name="T34" fmla="*/ 204 w 342"/>
                <a:gd name="T35" fmla="*/ 99 h 301"/>
                <a:gd name="T36" fmla="*/ 84 w 342"/>
                <a:gd name="T37" fmla="*/ 0 h 301"/>
                <a:gd name="T38" fmla="*/ 84 w 342"/>
                <a:gd name="T39" fmla="*/ 0 h 301"/>
                <a:gd name="T40" fmla="*/ 66 w 342"/>
                <a:gd name="T41" fmla="*/ 15 h 301"/>
                <a:gd name="T42" fmla="*/ 49 w 342"/>
                <a:gd name="T43" fmla="*/ 33 h 301"/>
                <a:gd name="T44" fmla="*/ 35 w 342"/>
                <a:gd name="T45" fmla="*/ 54 h 301"/>
                <a:gd name="T46" fmla="*/ 23 w 342"/>
                <a:gd name="T47" fmla="*/ 74 h 301"/>
                <a:gd name="T48" fmla="*/ 14 w 342"/>
                <a:gd name="T49" fmla="*/ 97 h 301"/>
                <a:gd name="T50" fmla="*/ 6 w 342"/>
                <a:gd name="T51" fmla="*/ 122 h 301"/>
                <a:gd name="T52" fmla="*/ 2 w 342"/>
                <a:gd name="T53" fmla="*/ 149 h 301"/>
                <a:gd name="T54" fmla="*/ 0 w 342"/>
                <a:gd name="T55" fmla="*/ 176 h 301"/>
                <a:gd name="T56" fmla="*/ 0 w 342"/>
                <a:gd name="T57" fmla="*/ 176 h 301"/>
                <a:gd name="T58" fmla="*/ 2 w 342"/>
                <a:gd name="T59" fmla="*/ 190 h 301"/>
                <a:gd name="T60" fmla="*/ 6 w 342"/>
                <a:gd name="T61" fmla="*/ 204 h 301"/>
                <a:gd name="T62" fmla="*/ 12 w 342"/>
                <a:gd name="T63" fmla="*/ 217 h 301"/>
                <a:gd name="T64" fmla="*/ 23 w 342"/>
                <a:gd name="T65" fmla="*/ 229 h 301"/>
                <a:gd name="T66" fmla="*/ 33 w 342"/>
                <a:gd name="T67" fmla="*/ 242 h 301"/>
                <a:gd name="T68" fmla="*/ 45 w 342"/>
                <a:gd name="T69" fmla="*/ 252 h 301"/>
                <a:gd name="T70" fmla="*/ 60 w 342"/>
                <a:gd name="T71" fmla="*/ 262 h 301"/>
                <a:gd name="T72" fmla="*/ 74 w 342"/>
                <a:gd name="T73" fmla="*/ 270 h 301"/>
                <a:gd name="T74" fmla="*/ 107 w 342"/>
                <a:gd name="T75" fmla="*/ 285 h 301"/>
                <a:gd name="T76" fmla="*/ 140 w 342"/>
                <a:gd name="T77" fmla="*/ 293 h 301"/>
                <a:gd name="T78" fmla="*/ 173 w 342"/>
                <a:gd name="T79" fmla="*/ 299 h 301"/>
                <a:gd name="T80" fmla="*/ 204 w 342"/>
                <a:gd name="T81" fmla="*/ 301 h 301"/>
                <a:gd name="T82" fmla="*/ 204 w 342"/>
                <a:gd name="T83" fmla="*/ 301 h 3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342" h="301">
                  <a:moveTo>
                    <a:pt x="204" y="301"/>
                  </a:moveTo>
                  <a:lnTo>
                    <a:pt x="204" y="301"/>
                  </a:lnTo>
                  <a:lnTo>
                    <a:pt x="225" y="301"/>
                  </a:lnTo>
                  <a:lnTo>
                    <a:pt x="225" y="301"/>
                  </a:lnTo>
                  <a:lnTo>
                    <a:pt x="225" y="283"/>
                  </a:lnTo>
                  <a:lnTo>
                    <a:pt x="225" y="283"/>
                  </a:lnTo>
                  <a:lnTo>
                    <a:pt x="227" y="248"/>
                  </a:lnTo>
                  <a:lnTo>
                    <a:pt x="233" y="213"/>
                  </a:lnTo>
                  <a:lnTo>
                    <a:pt x="243" y="180"/>
                  </a:lnTo>
                  <a:lnTo>
                    <a:pt x="256" y="149"/>
                  </a:lnTo>
                  <a:lnTo>
                    <a:pt x="272" y="122"/>
                  </a:lnTo>
                  <a:lnTo>
                    <a:pt x="293" y="95"/>
                  </a:lnTo>
                  <a:lnTo>
                    <a:pt x="316" y="70"/>
                  </a:lnTo>
                  <a:lnTo>
                    <a:pt x="342" y="50"/>
                  </a:lnTo>
                  <a:lnTo>
                    <a:pt x="342" y="50"/>
                  </a:lnTo>
                  <a:lnTo>
                    <a:pt x="326" y="31"/>
                  </a:lnTo>
                  <a:lnTo>
                    <a:pt x="313" y="8"/>
                  </a:lnTo>
                  <a:lnTo>
                    <a:pt x="204" y="99"/>
                  </a:lnTo>
                  <a:lnTo>
                    <a:pt x="84" y="0"/>
                  </a:lnTo>
                  <a:lnTo>
                    <a:pt x="84" y="0"/>
                  </a:lnTo>
                  <a:lnTo>
                    <a:pt x="66" y="15"/>
                  </a:lnTo>
                  <a:lnTo>
                    <a:pt x="49" y="33"/>
                  </a:lnTo>
                  <a:lnTo>
                    <a:pt x="35" y="54"/>
                  </a:lnTo>
                  <a:lnTo>
                    <a:pt x="23" y="74"/>
                  </a:lnTo>
                  <a:lnTo>
                    <a:pt x="14" y="97"/>
                  </a:lnTo>
                  <a:lnTo>
                    <a:pt x="6" y="122"/>
                  </a:lnTo>
                  <a:lnTo>
                    <a:pt x="2" y="149"/>
                  </a:lnTo>
                  <a:lnTo>
                    <a:pt x="0" y="176"/>
                  </a:lnTo>
                  <a:lnTo>
                    <a:pt x="0" y="176"/>
                  </a:lnTo>
                  <a:lnTo>
                    <a:pt x="2" y="190"/>
                  </a:lnTo>
                  <a:lnTo>
                    <a:pt x="6" y="204"/>
                  </a:lnTo>
                  <a:lnTo>
                    <a:pt x="12" y="217"/>
                  </a:lnTo>
                  <a:lnTo>
                    <a:pt x="23" y="229"/>
                  </a:lnTo>
                  <a:lnTo>
                    <a:pt x="33" y="242"/>
                  </a:lnTo>
                  <a:lnTo>
                    <a:pt x="45" y="252"/>
                  </a:lnTo>
                  <a:lnTo>
                    <a:pt x="60" y="262"/>
                  </a:lnTo>
                  <a:lnTo>
                    <a:pt x="74" y="270"/>
                  </a:lnTo>
                  <a:lnTo>
                    <a:pt x="107" y="285"/>
                  </a:lnTo>
                  <a:lnTo>
                    <a:pt x="140" y="293"/>
                  </a:lnTo>
                  <a:lnTo>
                    <a:pt x="173" y="299"/>
                  </a:lnTo>
                  <a:lnTo>
                    <a:pt x="204" y="301"/>
                  </a:lnTo>
                  <a:lnTo>
                    <a:pt x="204" y="301"/>
                  </a:ln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gradFill>
                  <a:gsLst>
                    <a:gs pos="0">
                      <a:srgbClr val="FFEBC4"/>
                    </a:gs>
                    <a:gs pos="100000">
                      <a:srgbClr val="FEDA90"/>
                    </a:gs>
                  </a:gsLst>
                  <a:lin ang="2700000" scaled="0"/>
                </a:gradFill>
                <a:latin typeface="Arial" panose="020B0604020202020204" pitchFamily="34" charset="0"/>
                <a:ea typeface="微软雅黑" panose="020B0503020204020204" pitchFamily="34" charset="-122"/>
                <a:cs typeface="思源黑体旧字形 Light" panose="020B0300000000000000" charset="-128"/>
                <a:sym typeface="Arial" panose="020B0604020202020204" pitchFamily="34" charset="0"/>
              </a:endParaRPr>
            </a:p>
          </p:txBody>
        </p:sp>
        <p:sp>
          <p:nvSpPr>
            <p:cNvPr id="21" name="图形"/>
            <p:cNvSpPr/>
            <p:nvPr>
              <p:custDataLst>
                <p:tags r:id="rId13"/>
              </p:custDataLst>
            </p:nvPr>
          </p:nvSpPr>
          <p:spPr bwMode="auto">
            <a:xfrm>
              <a:off x="2849563" y="4071938"/>
              <a:ext cx="438150" cy="450850"/>
            </a:xfrm>
            <a:custGeom>
              <a:avLst/>
              <a:gdLst>
                <a:gd name="T0" fmla="*/ 142 w 276"/>
                <a:gd name="T1" fmla="*/ 284 h 284"/>
                <a:gd name="T2" fmla="*/ 142 w 276"/>
                <a:gd name="T3" fmla="*/ 284 h 284"/>
                <a:gd name="T4" fmla="*/ 167 w 276"/>
                <a:gd name="T5" fmla="*/ 282 h 284"/>
                <a:gd name="T6" fmla="*/ 190 w 276"/>
                <a:gd name="T7" fmla="*/ 276 h 284"/>
                <a:gd name="T8" fmla="*/ 210 w 276"/>
                <a:gd name="T9" fmla="*/ 268 h 284"/>
                <a:gd name="T10" fmla="*/ 229 w 276"/>
                <a:gd name="T11" fmla="*/ 255 h 284"/>
                <a:gd name="T12" fmla="*/ 229 w 276"/>
                <a:gd name="T13" fmla="*/ 255 h 284"/>
                <a:gd name="T14" fmla="*/ 229 w 276"/>
                <a:gd name="T15" fmla="*/ 239 h 284"/>
                <a:gd name="T16" fmla="*/ 227 w 276"/>
                <a:gd name="T17" fmla="*/ 225 h 284"/>
                <a:gd name="T18" fmla="*/ 227 w 276"/>
                <a:gd name="T19" fmla="*/ 225 h 284"/>
                <a:gd name="T20" fmla="*/ 229 w 276"/>
                <a:gd name="T21" fmla="*/ 206 h 284"/>
                <a:gd name="T22" fmla="*/ 231 w 276"/>
                <a:gd name="T23" fmla="*/ 187 h 284"/>
                <a:gd name="T24" fmla="*/ 235 w 276"/>
                <a:gd name="T25" fmla="*/ 169 h 284"/>
                <a:gd name="T26" fmla="*/ 241 w 276"/>
                <a:gd name="T27" fmla="*/ 152 h 284"/>
                <a:gd name="T28" fmla="*/ 247 w 276"/>
                <a:gd name="T29" fmla="*/ 136 h 284"/>
                <a:gd name="T30" fmla="*/ 256 w 276"/>
                <a:gd name="T31" fmla="*/ 121 h 284"/>
                <a:gd name="T32" fmla="*/ 266 w 276"/>
                <a:gd name="T33" fmla="*/ 107 h 284"/>
                <a:gd name="T34" fmla="*/ 276 w 276"/>
                <a:gd name="T35" fmla="*/ 92 h 284"/>
                <a:gd name="T36" fmla="*/ 276 w 276"/>
                <a:gd name="T37" fmla="*/ 92 h 284"/>
                <a:gd name="T38" fmla="*/ 268 w 276"/>
                <a:gd name="T39" fmla="*/ 72 h 284"/>
                <a:gd name="T40" fmla="*/ 256 w 276"/>
                <a:gd name="T41" fmla="*/ 55 h 284"/>
                <a:gd name="T42" fmla="*/ 241 w 276"/>
                <a:gd name="T43" fmla="*/ 39 h 284"/>
                <a:gd name="T44" fmla="*/ 225 w 276"/>
                <a:gd name="T45" fmla="*/ 24 h 284"/>
                <a:gd name="T46" fmla="*/ 206 w 276"/>
                <a:gd name="T47" fmla="*/ 14 h 284"/>
                <a:gd name="T48" fmla="*/ 185 w 276"/>
                <a:gd name="T49" fmla="*/ 6 h 284"/>
                <a:gd name="T50" fmla="*/ 165 w 276"/>
                <a:gd name="T51" fmla="*/ 0 h 284"/>
                <a:gd name="T52" fmla="*/ 142 w 276"/>
                <a:gd name="T53" fmla="*/ 0 h 284"/>
                <a:gd name="T54" fmla="*/ 142 w 276"/>
                <a:gd name="T55" fmla="*/ 0 h 284"/>
                <a:gd name="T56" fmla="*/ 128 w 276"/>
                <a:gd name="T57" fmla="*/ 0 h 284"/>
                <a:gd name="T58" fmla="*/ 113 w 276"/>
                <a:gd name="T59" fmla="*/ 2 h 284"/>
                <a:gd name="T60" fmla="*/ 99 w 276"/>
                <a:gd name="T61" fmla="*/ 6 h 284"/>
                <a:gd name="T62" fmla="*/ 86 w 276"/>
                <a:gd name="T63" fmla="*/ 10 h 284"/>
                <a:gd name="T64" fmla="*/ 74 w 276"/>
                <a:gd name="T65" fmla="*/ 16 h 284"/>
                <a:gd name="T66" fmla="*/ 62 w 276"/>
                <a:gd name="T67" fmla="*/ 22 h 284"/>
                <a:gd name="T68" fmla="*/ 51 w 276"/>
                <a:gd name="T69" fmla="*/ 31 h 284"/>
                <a:gd name="T70" fmla="*/ 41 w 276"/>
                <a:gd name="T71" fmla="*/ 41 h 284"/>
                <a:gd name="T72" fmla="*/ 31 w 276"/>
                <a:gd name="T73" fmla="*/ 51 h 284"/>
                <a:gd name="T74" fmla="*/ 22 w 276"/>
                <a:gd name="T75" fmla="*/ 62 h 284"/>
                <a:gd name="T76" fmla="*/ 16 w 276"/>
                <a:gd name="T77" fmla="*/ 74 h 284"/>
                <a:gd name="T78" fmla="*/ 10 w 276"/>
                <a:gd name="T79" fmla="*/ 86 h 284"/>
                <a:gd name="T80" fmla="*/ 6 w 276"/>
                <a:gd name="T81" fmla="*/ 99 h 284"/>
                <a:gd name="T82" fmla="*/ 2 w 276"/>
                <a:gd name="T83" fmla="*/ 113 h 284"/>
                <a:gd name="T84" fmla="*/ 0 w 276"/>
                <a:gd name="T85" fmla="*/ 128 h 284"/>
                <a:gd name="T86" fmla="*/ 0 w 276"/>
                <a:gd name="T87" fmla="*/ 142 h 284"/>
                <a:gd name="T88" fmla="*/ 0 w 276"/>
                <a:gd name="T89" fmla="*/ 142 h 284"/>
                <a:gd name="T90" fmla="*/ 0 w 276"/>
                <a:gd name="T91" fmla="*/ 156 h 284"/>
                <a:gd name="T92" fmla="*/ 2 w 276"/>
                <a:gd name="T93" fmla="*/ 171 h 284"/>
                <a:gd name="T94" fmla="*/ 6 w 276"/>
                <a:gd name="T95" fmla="*/ 185 h 284"/>
                <a:gd name="T96" fmla="*/ 10 w 276"/>
                <a:gd name="T97" fmla="*/ 198 h 284"/>
                <a:gd name="T98" fmla="*/ 16 w 276"/>
                <a:gd name="T99" fmla="*/ 210 h 284"/>
                <a:gd name="T100" fmla="*/ 22 w 276"/>
                <a:gd name="T101" fmla="*/ 222 h 284"/>
                <a:gd name="T102" fmla="*/ 31 w 276"/>
                <a:gd name="T103" fmla="*/ 233 h 284"/>
                <a:gd name="T104" fmla="*/ 41 w 276"/>
                <a:gd name="T105" fmla="*/ 243 h 284"/>
                <a:gd name="T106" fmla="*/ 51 w 276"/>
                <a:gd name="T107" fmla="*/ 251 h 284"/>
                <a:gd name="T108" fmla="*/ 62 w 276"/>
                <a:gd name="T109" fmla="*/ 260 h 284"/>
                <a:gd name="T110" fmla="*/ 74 w 276"/>
                <a:gd name="T111" fmla="*/ 268 h 284"/>
                <a:gd name="T112" fmla="*/ 86 w 276"/>
                <a:gd name="T113" fmla="*/ 274 h 284"/>
                <a:gd name="T114" fmla="*/ 99 w 276"/>
                <a:gd name="T115" fmla="*/ 278 h 284"/>
                <a:gd name="T116" fmla="*/ 113 w 276"/>
                <a:gd name="T117" fmla="*/ 282 h 284"/>
                <a:gd name="T118" fmla="*/ 128 w 276"/>
                <a:gd name="T119" fmla="*/ 284 h 284"/>
                <a:gd name="T120" fmla="*/ 142 w 276"/>
                <a:gd name="T121" fmla="*/ 284 h 284"/>
                <a:gd name="T122" fmla="*/ 142 w 276"/>
                <a:gd name="T123" fmla="*/ 284 h 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76" h="284">
                  <a:moveTo>
                    <a:pt x="142" y="284"/>
                  </a:moveTo>
                  <a:lnTo>
                    <a:pt x="142" y="284"/>
                  </a:lnTo>
                  <a:lnTo>
                    <a:pt x="167" y="282"/>
                  </a:lnTo>
                  <a:lnTo>
                    <a:pt x="190" y="276"/>
                  </a:lnTo>
                  <a:lnTo>
                    <a:pt x="210" y="268"/>
                  </a:lnTo>
                  <a:lnTo>
                    <a:pt x="229" y="255"/>
                  </a:lnTo>
                  <a:lnTo>
                    <a:pt x="229" y="255"/>
                  </a:lnTo>
                  <a:lnTo>
                    <a:pt x="229" y="239"/>
                  </a:lnTo>
                  <a:lnTo>
                    <a:pt x="227" y="225"/>
                  </a:lnTo>
                  <a:lnTo>
                    <a:pt x="227" y="225"/>
                  </a:lnTo>
                  <a:lnTo>
                    <a:pt x="229" y="206"/>
                  </a:lnTo>
                  <a:lnTo>
                    <a:pt x="231" y="187"/>
                  </a:lnTo>
                  <a:lnTo>
                    <a:pt x="235" y="169"/>
                  </a:lnTo>
                  <a:lnTo>
                    <a:pt x="241" y="152"/>
                  </a:lnTo>
                  <a:lnTo>
                    <a:pt x="247" y="136"/>
                  </a:lnTo>
                  <a:lnTo>
                    <a:pt x="256" y="121"/>
                  </a:lnTo>
                  <a:lnTo>
                    <a:pt x="266" y="107"/>
                  </a:lnTo>
                  <a:lnTo>
                    <a:pt x="276" y="92"/>
                  </a:lnTo>
                  <a:lnTo>
                    <a:pt x="276" y="92"/>
                  </a:lnTo>
                  <a:lnTo>
                    <a:pt x="268" y="72"/>
                  </a:lnTo>
                  <a:lnTo>
                    <a:pt x="256" y="55"/>
                  </a:lnTo>
                  <a:lnTo>
                    <a:pt x="241" y="39"/>
                  </a:lnTo>
                  <a:lnTo>
                    <a:pt x="225" y="24"/>
                  </a:lnTo>
                  <a:lnTo>
                    <a:pt x="206" y="14"/>
                  </a:lnTo>
                  <a:lnTo>
                    <a:pt x="185" y="6"/>
                  </a:lnTo>
                  <a:lnTo>
                    <a:pt x="165" y="0"/>
                  </a:lnTo>
                  <a:lnTo>
                    <a:pt x="142" y="0"/>
                  </a:lnTo>
                  <a:lnTo>
                    <a:pt x="142" y="0"/>
                  </a:lnTo>
                  <a:lnTo>
                    <a:pt x="128" y="0"/>
                  </a:lnTo>
                  <a:lnTo>
                    <a:pt x="113" y="2"/>
                  </a:lnTo>
                  <a:lnTo>
                    <a:pt x="99" y="6"/>
                  </a:lnTo>
                  <a:lnTo>
                    <a:pt x="86" y="10"/>
                  </a:lnTo>
                  <a:lnTo>
                    <a:pt x="74" y="16"/>
                  </a:lnTo>
                  <a:lnTo>
                    <a:pt x="62" y="22"/>
                  </a:lnTo>
                  <a:lnTo>
                    <a:pt x="51" y="31"/>
                  </a:lnTo>
                  <a:lnTo>
                    <a:pt x="41" y="41"/>
                  </a:lnTo>
                  <a:lnTo>
                    <a:pt x="31" y="51"/>
                  </a:lnTo>
                  <a:lnTo>
                    <a:pt x="22" y="62"/>
                  </a:lnTo>
                  <a:lnTo>
                    <a:pt x="16" y="74"/>
                  </a:lnTo>
                  <a:lnTo>
                    <a:pt x="10" y="86"/>
                  </a:lnTo>
                  <a:lnTo>
                    <a:pt x="6" y="99"/>
                  </a:lnTo>
                  <a:lnTo>
                    <a:pt x="2" y="113"/>
                  </a:lnTo>
                  <a:lnTo>
                    <a:pt x="0" y="128"/>
                  </a:lnTo>
                  <a:lnTo>
                    <a:pt x="0" y="142"/>
                  </a:lnTo>
                  <a:lnTo>
                    <a:pt x="0" y="142"/>
                  </a:lnTo>
                  <a:lnTo>
                    <a:pt x="0" y="156"/>
                  </a:lnTo>
                  <a:lnTo>
                    <a:pt x="2" y="171"/>
                  </a:lnTo>
                  <a:lnTo>
                    <a:pt x="6" y="185"/>
                  </a:lnTo>
                  <a:lnTo>
                    <a:pt x="10" y="198"/>
                  </a:lnTo>
                  <a:lnTo>
                    <a:pt x="16" y="210"/>
                  </a:lnTo>
                  <a:lnTo>
                    <a:pt x="22" y="222"/>
                  </a:lnTo>
                  <a:lnTo>
                    <a:pt x="31" y="233"/>
                  </a:lnTo>
                  <a:lnTo>
                    <a:pt x="41" y="243"/>
                  </a:lnTo>
                  <a:lnTo>
                    <a:pt x="51" y="251"/>
                  </a:lnTo>
                  <a:lnTo>
                    <a:pt x="62" y="260"/>
                  </a:lnTo>
                  <a:lnTo>
                    <a:pt x="74" y="268"/>
                  </a:lnTo>
                  <a:lnTo>
                    <a:pt x="86" y="274"/>
                  </a:lnTo>
                  <a:lnTo>
                    <a:pt x="99" y="278"/>
                  </a:lnTo>
                  <a:lnTo>
                    <a:pt x="113" y="282"/>
                  </a:lnTo>
                  <a:lnTo>
                    <a:pt x="128" y="284"/>
                  </a:lnTo>
                  <a:lnTo>
                    <a:pt x="142" y="284"/>
                  </a:lnTo>
                  <a:lnTo>
                    <a:pt x="142" y="284"/>
                  </a:ln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gradFill>
                  <a:gsLst>
                    <a:gs pos="0">
                      <a:srgbClr val="FFEBC4"/>
                    </a:gs>
                    <a:gs pos="100000">
                      <a:srgbClr val="FEDA90"/>
                    </a:gs>
                  </a:gsLst>
                  <a:lin ang="2700000" scaled="0"/>
                </a:gradFill>
                <a:latin typeface="Arial" panose="020B0604020202020204" pitchFamily="34" charset="0"/>
                <a:ea typeface="微软雅黑" panose="020B0503020204020204" pitchFamily="34" charset="-122"/>
                <a:cs typeface="思源黑体旧字形 Light" panose="020B0300000000000000" charset="-128"/>
                <a:sym typeface="Arial" panose="020B0604020202020204" pitchFamily="34" charset="0"/>
              </a:endParaRPr>
            </a:p>
          </p:txBody>
        </p:sp>
        <p:sp>
          <p:nvSpPr>
            <p:cNvPr id="22" name="图形"/>
            <p:cNvSpPr/>
            <p:nvPr>
              <p:custDataLst>
                <p:tags r:id="rId14"/>
              </p:custDataLst>
            </p:nvPr>
          </p:nvSpPr>
          <p:spPr bwMode="auto">
            <a:xfrm>
              <a:off x="3182938" y="4710113"/>
              <a:ext cx="698500" cy="520700"/>
            </a:xfrm>
            <a:custGeom>
              <a:avLst/>
              <a:gdLst>
                <a:gd name="T0" fmla="*/ 440 w 440"/>
                <a:gd name="T1" fmla="*/ 190 h 328"/>
                <a:gd name="T2" fmla="*/ 440 w 440"/>
                <a:gd name="T3" fmla="*/ 190 h 328"/>
                <a:gd name="T4" fmla="*/ 438 w 440"/>
                <a:gd name="T5" fmla="*/ 161 h 328"/>
                <a:gd name="T6" fmla="*/ 431 w 440"/>
                <a:gd name="T7" fmla="*/ 134 h 328"/>
                <a:gd name="T8" fmla="*/ 425 w 440"/>
                <a:gd name="T9" fmla="*/ 107 h 328"/>
                <a:gd name="T10" fmla="*/ 413 w 440"/>
                <a:gd name="T11" fmla="*/ 83 h 328"/>
                <a:gd name="T12" fmla="*/ 400 w 440"/>
                <a:gd name="T13" fmla="*/ 58 h 328"/>
                <a:gd name="T14" fmla="*/ 384 w 440"/>
                <a:gd name="T15" fmla="*/ 37 h 328"/>
                <a:gd name="T16" fmla="*/ 365 w 440"/>
                <a:gd name="T17" fmla="*/ 16 h 328"/>
                <a:gd name="T18" fmla="*/ 347 w 440"/>
                <a:gd name="T19" fmla="*/ 0 h 328"/>
                <a:gd name="T20" fmla="*/ 219 w 440"/>
                <a:gd name="T21" fmla="*/ 105 h 328"/>
                <a:gd name="T22" fmla="*/ 93 w 440"/>
                <a:gd name="T23" fmla="*/ 0 h 328"/>
                <a:gd name="T24" fmla="*/ 93 w 440"/>
                <a:gd name="T25" fmla="*/ 0 h 328"/>
                <a:gd name="T26" fmla="*/ 72 w 440"/>
                <a:gd name="T27" fmla="*/ 16 h 328"/>
                <a:gd name="T28" fmla="*/ 54 w 440"/>
                <a:gd name="T29" fmla="*/ 37 h 328"/>
                <a:gd name="T30" fmla="*/ 39 w 440"/>
                <a:gd name="T31" fmla="*/ 58 h 328"/>
                <a:gd name="T32" fmla="*/ 25 w 440"/>
                <a:gd name="T33" fmla="*/ 83 h 328"/>
                <a:gd name="T34" fmla="*/ 15 w 440"/>
                <a:gd name="T35" fmla="*/ 107 h 328"/>
                <a:gd name="T36" fmla="*/ 6 w 440"/>
                <a:gd name="T37" fmla="*/ 134 h 328"/>
                <a:gd name="T38" fmla="*/ 2 w 440"/>
                <a:gd name="T39" fmla="*/ 161 h 328"/>
                <a:gd name="T40" fmla="*/ 0 w 440"/>
                <a:gd name="T41" fmla="*/ 190 h 328"/>
                <a:gd name="T42" fmla="*/ 0 w 440"/>
                <a:gd name="T43" fmla="*/ 190 h 328"/>
                <a:gd name="T44" fmla="*/ 0 w 440"/>
                <a:gd name="T45" fmla="*/ 206 h 328"/>
                <a:gd name="T46" fmla="*/ 6 w 440"/>
                <a:gd name="T47" fmla="*/ 223 h 328"/>
                <a:gd name="T48" fmla="*/ 13 w 440"/>
                <a:gd name="T49" fmla="*/ 237 h 328"/>
                <a:gd name="T50" fmla="*/ 23 w 440"/>
                <a:gd name="T51" fmla="*/ 250 h 328"/>
                <a:gd name="T52" fmla="*/ 35 w 440"/>
                <a:gd name="T53" fmla="*/ 262 h 328"/>
                <a:gd name="T54" fmla="*/ 48 w 440"/>
                <a:gd name="T55" fmla="*/ 274 h 328"/>
                <a:gd name="T56" fmla="*/ 64 w 440"/>
                <a:gd name="T57" fmla="*/ 285 h 328"/>
                <a:gd name="T58" fmla="*/ 79 w 440"/>
                <a:gd name="T59" fmla="*/ 293 h 328"/>
                <a:gd name="T60" fmla="*/ 97 w 440"/>
                <a:gd name="T61" fmla="*/ 301 h 328"/>
                <a:gd name="T62" fmla="*/ 116 w 440"/>
                <a:gd name="T63" fmla="*/ 309 h 328"/>
                <a:gd name="T64" fmla="*/ 151 w 440"/>
                <a:gd name="T65" fmla="*/ 320 h 328"/>
                <a:gd name="T66" fmla="*/ 188 w 440"/>
                <a:gd name="T67" fmla="*/ 326 h 328"/>
                <a:gd name="T68" fmla="*/ 219 w 440"/>
                <a:gd name="T69" fmla="*/ 328 h 328"/>
                <a:gd name="T70" fmla="*/ 219 w 440"/>
                <a:gd name="T71" fmla="*/ 328 h 328"/>
                <a:gd name="T72" fmla="*/ 252 w 440"/>
                <a:gd name="T73" fmla="*/ 326 h 328"/>
                <a:gd name="T74" fmla="*/ 287 w 440"/>
                <a:gd name="T75" fmla="*/ 320 h 328"/>
                <a:gd name="T76" fmla="*/ 324 w 440"/>
                <a:gd name="T77" fmla="*/ 309 h 328"/>
                <a:gd name="T78" fmla="*/ 343 w 440"/>
                <a:gd name="T79" fmla="*/ 301 h 328"/>
                <a:gd name="T80" fmla="*/ 359 w 440"/>
                <a:gd name="T81" fmla="*/ 293 h 328"/>
                <a:gd name="T82" fmla="*/ 376 w 440"/>
                <a:gd name="T83" fmla="*/ 285 h 328"/>
                <a:gd name="T84" fmla="*/ 390 w 440"/>
                <a:gd name="T85" fmla="*/ 274 h 328"/>
                <a:gd name="T86" fmla="*/ 405 w 440"/>
                <a:gd name="T87" fmla="*/ 262 h 328"/>
                <a:gd name="T88" fmla="*/ 415 w 440"/>
                <a:gd name="T89" fmla="*/ 250 h 328"/>
                <a:gd name="T90" fmla="*/ 425 w 440"/>
                <a:gd name="T91" fmla="*/ 237 h 328"/>
                <a:gd name="T92" fmla="*/ 433 w 440"/>
                <a:gd name="T93" fmla="*/ 223 h 328"/>
                <a:gd name="T94" fmla="*/ 438 w 440"/>
                <a:gd name="T95" fmla="*/ 206 h 328"/>
                <a:gd name="T96" fmla="*/ 440 w 440"/>
                <a:gd name="T97" fmla="*/ 190 h 328"/>
                <a:gd name="T98" fmla="*/ 440 w 440"/>
                <a:gd name="T99" fmla="*/ 190 h 3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440" h="328">
                  <a:moveTo>
                    <a:pt x="440" y="190"/>
                  </a:moveTo>
                  <a:lnTo>
                    <a:pt x="440" y="190"/>
                  </a:lnTo>
                  <a:lnTo>
                    <a:pt x="438" y="161"/>
                  </a:lnTo>
                  <a:lnTo>
                    <a:pt x="431" y="134"/>
                  </a:lnTo>
                  <a:lnTo>
                    <a:pt x="425" y="107"/>
                  </a:lnTo>
                  <a:lnTo>
                    <a:pt x="413" y="83"/>
                  </a:lnTo>
                  <a:lnTo>
                    <a:pt x="400" y="58"/>
                  </a:lnTo>
                  <a:lnTo>
                    <a:pt x="384" y="37"/>
                  </a:lnTo>
                  <a:lnTo>
                    <a:pt x="365" y="16"/>
                  </a:lnTo>
                  <a:lnTo>
                    <a:pt x="347" y="0"/>
                  </a:lnTo>
                  <a:lnTo>
                    <a:pt x="219" y="105"/>
                  </a:lnTo>
                  <a:lnTo>
                    <a:pt x="93" y="0"/>
                  </a:lnTo>
                  <a:lnTo>
                    <a:pt x="93" y="0"/>
                  </a:lnTo>
                  <a:lnTo>
                    <a:pt x="72" y="16"/>
                  </a:lnTo>
                  <a:lnTo>
                    <a:pt x="54" y="37"/>
                  </a:lnTo>
                  <a:lnTo>
                    <a:pt x="39" y="58"/>
                  </a:lnTo>
                  <a:lnTo>
                    <a:pt x="25" y="83"/>
                  </a:lnTo>
                  <a:lnTo>
                    <a:pt x="15" y="107"/>
                  </a:lnTo>
                  <a:lnTo>
                    <a:pt x="6" y="134"/>
                  </a:lnTo>
                  <a:lnTo>
                    <a:pt x="2" y="161"/>
                  </a:lnTo>
                  <a:lnTo>
                    <a:pt x="0" y="190"/>
                  </a:lnTo>
                  <a:lnTo>
                    <a:pt x="0" y="190"/>
                  </a:lnTo>
                  <a:lnTo>
                    <a:pt x="0" y="206"/>
                  </a:lnTo>
                  <a:lnTo>
                    <a:pt x="6" y="223"/>
                  </a:lnTo>
                  <a:lnTo>
                    <a:pt x="13" y="237"/>
                  </a:lnTo>
                  <a:lnTo>
                    <a:pt x="23" y="250"/>
                  </a:lnTo>
                  <a:lnTo>
                    <a:pt x="35" y="262"/>
                  </a:lnTo>
                  <a:lnTo>
                    <a:pt x="48" y="274"/>
                  </a:lnTo>
                  <a:lnTo>
                    <a:pt x="64" y="285"/>
                  </a:lnTo>
                  <a:lnTo>
                    <a:pt x="79" y="293"/>
                  </a:lnTo>
                  <a:lnTo>
                    <a:pt x="97" y="301"/>
                  </a:lnTo>
                  <a:lnTo>
                    <a:pt x="116" y="309"/>
                  </a:lnTo>
                  <a:lnTo>
                    <a:pt x="151" y="320"/>
                  </a:lnTo>
                  <a:lnTo>
                    <a:pt x="188" y="326"/>
                  </a:lnTo>
                  <a:lnTo>
                    <a:pt x="219" y="328"/>
                  </a:lnTo>
                  <a:lnTo>
                    <a:pt x="219" y="328"/>
                  </a:lnTo>
                  <a:lnTo>
                    <a:pt x="252" y="326"/>
                  </a:lnTo>
                  <a:lnTo>
                    <a:pt x="287" y="320"/>
                  </a:lnTo>
                  <a:lnTo>
                    <a:pt x="324" y="309"/>
                  </a:lnTo>
                  <a:lnTo>
                    <a:pt x="343" y="301"/>
                  </a:lnTo>
                  <a:lnTo>
                    <a:pt x="359" y="293"/>
                  </a:lnTo>
                  <a:lnTo>
                    <a:pt x="376" y="285"/>
                  </a:lnTo>
                  <a:lnTo>
                    <a:pt x="390" y="274"/>
                  </a:lnTo>
                  <a:lnTo>
                    <a:pt x="405" y="262"/>
                  </a:lnTo>
                  <a:lnTo>
                    <a:pt x="415" y="250"/>
                  </a:lnTo>
                  <a:lnTo>
                    <a:pt x="425" y="237"/>
                  </a:lnTo>
                  <a:lnTo>
                    <a:pt x="433" y="223"/>
                  </a:lnTo>
                  <a:lnTo>
                    <a:pt x="438" y="206"/>
                  </a:lnTo>
                  <a:lnTo>
                    <a:pt x="440" y="190"/>
                  </a:lnTo>
                  <a:lnTo>
                    <a:pt x="440" y="190"/>
                  </a:ln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gradFill>
                  <a:gsLst>
                    <a:gs pos="0">
                      <a:srgbClr val="FFEBC4"/>
                    </a:gs>
                    <a:gs pos="100000">
                      <a:srgbClr val="FEDA90"/>
                    </a:gs>
                  </a:gsLst>
                  <a:lin ang="2700000" scaled="0"/>
                </a:gradFill>
                <a:latin typeface="Arial" panose="020B0604020202020204" pitchFamily="34" charset="0"/>
                <a:ea typeface="微软雅黑" panose="020B0503020204020204" pitchFamily="34" charset="-122"/>
                <a:cs typeface="思源黑体旧字形 Light" panose="020B0300000000000000" charset="-128"/>
                <a:sym typeface="Arial" panose="020B0604020202020204" pitchFamily="34" charset="0"/>
              </a:endParaRPr>
            </a:p>
          </p:txBody>
        </p:sp>
        <p:sp>
          <p:nvSpPr>
            <p:cNvPr id="23" name="图形"/>
            <p:cNvSpPr/>
            <p:nvPr>
              <p:custDataLst>
                <p:tags r:id="rId15"/>
              </p:custDataLst>
            </p:nvPr>
          </p:nvSpPr>
          <p:spPr bwMode="auto">
            <a:xfrm>
              <a:off x="3284538" y="4183063"/>
              <a:ext cx="492125" cy="487363"/>
            </a:xfrm>
            <a:custGeom>
              <a:avLst/>
              <a:gdLst>
                <a:gd name="T0" fmla="*/ 155 w 310"/>
                <a:gd name="T1" fmla="*/ 0 h 307"/>
                <a:gd name="T2" fmla="*/ 124 w 310"/>
                <a:gd name="T3" fmla="*/ 2 h 307"/>
                <a:gd name="T4" fmla="*/ 95 w 310"/>
                <a:gd name="T5" fmla="*/ 12 h 307"/>
                <a:gd name="T6" fmla="*/ 68 w 310"/>
                <a:gd name="T7" fmla="*/ 27 h 307"/>
                <a:gd name="T8" fmla="*/ 46 w 310"/>
                <a:gd name="T9" fmla="*/ 45 h 307"/>
                <a:gd name="T10" fmla="*/ 27 w 310"/>
                <a:gd name="T11" fmla="*/ 68 h 307"/>
                <a:gd name="T12" fmla="*/ 13 w 310"/>
                <a:gd name="T13" fmla="*/ 95 h 307"/>
                <a:gd name="T14" fmla="*/ 4 w 310"/>
                <a:gd name="T15" fmla="*/ 124 h 307"/>
                <a:gd name="T16" fmla="*/ 0 w 310"/>
                <a:gd name="T17" fmla="*/ 155 h 307"/>
                <a:gd name="T18" fmla="*/ 2 w 310"/>
                <a:gd name="T19" fmla="*/ 169 h 307"/>
                <a:gd name="T20" fmla="*/ 8 w 310"/>
                <a:gd name="T21" fmla="*/ 200 h 307"/>
                <a:gd name="T22" fmla="*/ 19 w 310"/>
                <a:gd name="T23" fmla="*/ 227 h 307"/>
                <a:gd name="T24" fmla="*/ 35 w 310"/>
                <a:gd name="T25" fmla="*/ 252 h 307"/>
                <a:gd name="T26" fmla="*/ 58 w 310"/>
                <a:gd name="T27" fmla="*/ 272 h 307"/>
                <a:gd name="T28" fmla="*/ 83 w 310"/>
                <a:gd name="T29" fmla="*/ 289 h 307"/>
                <a:gd name="T30" fmla="*/ 109 w 310"/>
                <a:gd name="T31" fmla="*/ 301 h 307"/>
                <a:gd name="T32" fmla="*/ 140 w 310"/>
                <a:gd name="T33" fmla="*/ 307 h 307"/>
                <a:gd name="T34" fmla="*/ 155 w 310"/>
                <a:gd name="T35" fmla="*/ 307 h 307"/>
                <a:gd name="T36" fmla="*/ 186 w 310"/>
                <a:gd name="T37" fmla="*/ 305 h 307"/>
                <a:gd name="T38" fmla="*/ 215 w 310"/>
                <a:gd name="T39" fmla="*/ 297 h 307"/>
                <a:gd name="T40" fmla="*/ 242 w 310"/>
                <a:gd name="T41" fmla="*/ 282 h 307"/>
                <a:gd name="T42" fmla="*/ 264 w 310"/>
                <a:gd name="T43" fmla="*/ 264 h 307"/>
                <a:gd name="T44" fmla="*/ 283 w 310"/>
                <a:gd name="T45" fmla="*/ 241 h 307"/>
                <a:gd name="T46" fmla="*/ 297 w 310"/>
                <a:gd name="T47" fmla="*/ 214 h 307"/>
                <a:gd name="T48" fmla="*/ 306 w 310"/>
                <a:gd name="T49" fmla="*/ 185 h 307"/>
                <a:gd name="T50" fmla="*/ 310 w 310"/>
                <a:gd name="T51" fmla="*/ 155 h 307"/>
                <a:gd name="T52" fmla="*/ 310 w 310"/>
                <a:gd name="T53" fmla="*/ 138 h 307"/>
                <a:gd name="T54" fmla="*/ 303 w 310"/>
                <a:gd name="T55" fmla="*/ 107 h 307"/>
                <a:gd name="T56" fmla="*/ 291 w 310"/>
                <a:gd name="T57" fmla="*/ 80 h 307"/>
                <a:gd name="T58" fmla="*/ 275 w 310"/>
                <a:gd name="T59" fmla="*/ 56 h 307"/>
                <a:gd name="T60" fmla="*/ 254 w 310"/>
                <a:gd name="T61" fmla="*/ 35 h 307"/>
                <a:gd name="T62" fmla="*/ 229 w 310"/>
                <a:gd name="T63" fmla="*/ 18 h 307"/>
                <a:gd name="T64" fmla="*/ 200 w 310"/>
                <a:gd name="T65" fmla="*/ 6 h 307"/>
                <a:gd name="T66" fmla="*/ 171 w 310"/>
                <a:gd name="T67" fmla="*/ 0 h 307"/>
                <a:gd name="T68" fmla="*/ 155 w 310"/>
                <a:gd name="T69" fmla="*/ 0 h 3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10" h="307">
                  <a:moveTo>
                    <a:pt x="155" y="0"/>
                  </a:moveTo>
                  <a:lnTo>
                    <a:pt x="155" y="0"/>
                  </a:lnTo>
                  <a:lnTo>
                    <a:pt x="140" y="0"/>
                  </a:lnTo>
                  <a:lnTo>
                    <a:pt x="124" y="2"/>
                  </a:lnTo>
                  <a:lnTo>
                    <a:pt x="109" y="6"/>
                  </a:lnTo>
                  <a:lnTo>
                    <a:pt x="95" y="12"/>
                  </a:lnTo>
                  <a:lnTo>
                    <a:pt x="83" y="18"/>
                  </a:lnTo>
                  <a:lnTo>
                    <a:pt x="68" y="27"/>
                  </a:lnTo>
                  <a:lnTo>
                    <a:pt x="58" y="35"/>
                  </a:lnTo>
                  <a:lnTo>
                    <a:pt x="46" y="45"/>
                  </a:lnTo>
                  <a:lnTo>
                    <a:pt x="35" y="56"/>
                  </a:lnTo>
                  <a:lnTo>
                    <a:pt x="27" y="68"/>
                  </a:lnTo>
                  <a:lnTo>
                    <a:pt x="19" y="80"/>
                  </a:lnTo>
                  <a:lnTo>
                    <a:pt x="13" y="95"/>
                  </a:lnTo>
                  <a:lnTo>
                    <a:pt x="8" y="107"/>
                  </a:lnTo>
                  <a:lnTo>
                    <a:pt x="4" y="124"/>
                  </a:lnTo>
                  <a:lnTo>
                    <a:pt x="2" y="138"/>
                  </a:lnTo>
                  <a:lnTo>
                    <a:pt x="0" y="155"/>
                  </a:lnTo>
                  <a:lnTo>
                    <a:pt x="0" y="155"/>
                  </a:lnTo>
                  <a:lnTo>
                    <a:pt x="2" y="169"/>
                  </a:lnTo>
                  <a:lnTo>
                    <a:pt x="4" y="185"/>
                  </a:lnTo>
                  <a:lnTo>
                    <a:pt x="8" y="200"/>
                  </a:lnTo>
                  <a:lnTo>
                    <a:pt x="13" y="214"/>
                  </a:lnTo>
                  <a:lnTo>
                    <a:pt x="19" y="227"/>
                  </a:lnTo>
                  <a:lnTo>
                    <a:pt x="27" y="241"/>
                  </a:lnTo>
                  <a:lnTo>
                    <a:pt x="35" y="252"/>
                  </a:lnTo>
                  <a:lnTo>
                    <a:pt x="46" y="264"/>
                  </a:lnTo>
                  <a:lnTo>
                    <a:pt x="58" y="272"/>
                  </a:lnTo>
                  <a:lnTo>
                    <a:pt x="68" y="282"/>
                  </a:lnTo>
                  <a:lnTo>
                    <a:pt x="83" y="289"/>
                  </a:lnTo>
                  <a:lnTo>
                    <a:pt x="95" y="297"/>
                  </a:lnTo>
                  <a:lnTo>
                    <a:pt x="109" y="301"/>
                  </a:lnTo>
                  <a:lnTo>
                    <a:pt x="124" y="305"/>
                  </a:lnTo>
                  <a:lnTo>
                    <a:pt x="140" y="307"/>
                  </a:lnTo>
                  <a:lnTo>
                    <a:pt x="155" y="307"/>
                  </a:lnTo>
                  <a:lnTo>
                    <a:pt x="155" y="307"/>
                  </a:lnTo>
                  <a:lnTo>
                    <a:pt x="171" y="307"/>
                  </a:lnTo>
                  <a:lnTo>
                    <a:pt x="186" y="305"/>
                  </a:lnTo>
                  <a:lnTo>
                    <a:pt x="200" y="301"/>
                  </a:lnTo>
                  <a:lnTo>
                    <a:pt x="215" y="297"/>
                  </a:lnTo>
                  <a:lnTo>
                    <a:pt x="229" y="289"/>
                  </a:lnTo>
                  <a:lnTo>
                    <a:pt x="242" y="282"/>
                  </a:lnTo>
                  <a:lnTo>
                    <a:pt x="254" y="272"/>
                  </a:lnTo>
                  <a:lnTo>
                    <a:pt x="264" y="264"/>
                  </a:lnTo>
                  <a:lnTo>
                    <a:pt x="275" y="252"/>
                  </a:lnTo>
                  <a:lnTo>
                    <a:pt x="283" y="241"/>
                  </a:lnTo>
                  <a:lnTo>
                    <a:pt x="291" y="227"/>
                  </a:lnTo>
                  <a:lnTo>
                    <a:pt x="297" y="214"/>
                  </a:lnTo>
                  <a:lnTo>
                    <a:pt x="303" y="200"/>
                  </a:lnTo>
                  <a:lnTo>
                    <a:pt x="306" y="185"/>
                  </a:lnTo>
                  <a:lnTo>
                    <a:pt x="310" y="169"/>
                  </a:lnTo>
                  <a:lnTo>
                    <a:pt x="310" y="155"/>
                  </a:lnTo>
                  <a:lnTo>
                    <a:pt x="310" y="155"/>
                  </a:lnTo>
                  <a:lnTo>
                    <a:pt x="310" y="138"/>
                  </a:lnTo>
                  <a:lnTo>
                    <a:pt x="306" y="124"/>
                  </a:lnTo>
                  <a:lnTo>
                    <a:pt x="303" y="107"/>
                  </a:lnTo>
                  <a:lnTo>
                    <a:pt x="297" y="95"/>
                  </a:lnTo>
                  <a:lnTo>
                    <a:pt x="291" y="80"/>
                  </a:lnTo>
                  <a:lnTo>
                    <a:pt x="283" y="68"/>
                  </a:lnTo>
                  <a:lnTo>
                    <a:pt x="275" y="56"/>
                  </a:lnTo>
                  <a:lnTo>
                    <a:pt x="264" y="45"/>
                  </a:lnTo>
                  <a:lnTo>
                    <a:pt x="254" y="35"/>
                  </a:lnTo>
                  <a:lnTo>
                    <a:pt x="242" y="27"/>
                  </a:lnTo>
                  <a:lnTo>
                    <a:pt x="229" y="18"/>
                  </a:lnTo>
                  <a:lnTo>
                    <a:pt x="215" y="12"/>
                  </a:lnTo>
                  <a:lnTo>
                    <a:pt x="200" y="6"/>
                  </a:lnTo>
                  <a:lnTo>
                    <a:pt x="186" y="2"/>
                  </a:lnTo>
                  <a:lnTo>
                    <a:pt x="171" y="0"/>
                  </a:lnTo>
                  <a:lnTo>
                    <a:pt x="155" y="0"/>
                  </a:lnTo>
                  <a:lnTo>
                    <a:pt x="155" y="0"/>
                  </a:ln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gradFill>
                  <a:gsLst>
                    <a:gs pos="0">
                      <a:srgbClr val="FFEBC4"/>
                    </a:gs>
                    <a:gs pos="100000">
                      <a:srgbClr val="FEDA90"/>
                    </a:gs>
                  </a:gsLst>
                  <a:lin ang="2700000" scaled="0"/>
                </a:gradFill>
                <a:latin typeface="Arial" panose="020B0604020202020204" pitchFamily="34" charset="0"/>
                <a:ea typeface="微软雅黑" panose="020B0503020204020204" pitchFamily="34" charset="-122"/>
                <a:cs typeface="思源黑体旧字形 Light" panose="020B0300000000000000" charset="-128"/>
                <a:sym typeface="Arial" panose="020B0604020202020204" pitchFamily="34" charset="0"/>
              </a:endParaRPr>
            </a:p>
          </p:txBody>
        </p:sp>
      </p:grpSp>
      <p:sp>
        <p:nvSpPr>
          <p:cNvPr id="2" name="文本框 1"/>
          <p:cNvSpPr txBox="1"/>
          <p:nvPr/>
        </p:nvSpPr>
        <p:spPr>
          <a:xfrm>
            <a:off x="4154778" y="60056"/>
            <a:ext cx="3882444" cy="337185"/>
          </a:xfrm>
          <a:prstGeom prst="rect">
            <a:avLst/>
          </a:prstGeom>
          <a:noFill/>
          <a:effectLst>
            <a:reflection endPos="0" dir="5400000" sy="-100000" algn="bl" rotWithShape="0"/>
          </a:effectLst>
        </p:spPr>
        <p:txBody>
          <a:bodyPr wrap="square" rtlCol="0">
            <a:spAutoFit/>
          </a:bodyPr>
          <a:lstStyle/>
          <a:p>
            <a:pPr algn="ctr"/>
            <a:r>
              <a:rPr lang="zh-CN" altLang="en-US" sz="1600" b="1" dirty="0">
                <a:solidFill>
                  <a:srgbClr val="004C9E"/>
                </a:solidFill>
                <a:latin typeface="微软雅黑" panose="020B0503020204020204" pitchFamily="34" charset="-122"/>
                <a:ea typeface="微软雅黑" panose="020B0503020204020204" pitchFamily="34" charset="-122"/>
                <a:sym typeface="思源黑体 CN Normal" panose="020B0400000000000000" pitchFamily="34" charset="-122"/>
              </a:rPr>
              <a:t>重庆大学研究生网络文化工作室  出品</a:t>
            </a:r>
            <a:endParaRPr lang="zh-CN" altLang="en-US" sz="1600" b="1" dirty="0">
              <a:solidFill>
                <a:srgbClr val="004C9E"/>
              </a:solidFill>
              <a:latin typeface="微软雅黑" panose="020B0503020204020204" pitchFamily="34" charset="-122"/>
              <a:ea typeface="微软雅黑" panose="020B0503020204020204" pitchFamily="34" charset="-122"/>
              <a:sym typeface="思源黑体 CN Normal" panose="020B0400000000000000"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4" name="组合 3"/>
          <p:cNvGrpSpPr/>
          <p:nvPr/>
        </p:nvGrpSpPr>
        <p:grpSpPr>
          <a:xfrm>
            <a:off x="226194" y="48128"/>
            <a:ext cx="12192000" cy="6858000"/>
            <a:chOff x="0" y="0"/>
            <a:chExt cx="12192000" cy="6858000"/>
          </a:xfrm>
        </p:grpSpPr>
        <p:sp>
          <p:nvSpPr>
            <p:cNvPr id="5" name="直角三角形 4"/>
            <p:cNvSpPr/>
            <p:nvPr userDrawn="1"/>
          </p:nvSpPr>
          <p:spPr>
            <a:xfrm>
              <a:off x="0" y="3165895"/>
              <a:ext cx="3692105" cy="3692105"/>
            </a:xfrm>
            <a:prstGeom prst="rtTriangle">
              <a:avLst/>
            </a:prstGeom>
            <a:solidFill>
              <a:srgbClr val="004C9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04B9D"/>
                </a:solidFill>
              </a:endParaRPr>
            </a:p>
          </p:txBody>
        </p:sp>
        <p:sp>
          <p:nvSpPr>
            <p:cNvPr id="6" name="直角三角形 5"/>
            <p:cNvSpPr/>
            <p:nvPr userDrawn="1"/>
          </p:nvSpPr>
          <p:spPr>
            <a:xfrm rot="10800000">
              <a:off x="8499895" y="0"/>
              <a:ext cx="3692105" cy="3692105"/>
            </a:xfrm>
            <a:prstGeom prst="rtTriangle">
              <a:avLst/>
            </a:prstGeom>
            <a:solidFill>
              <a:srgbClr val="004B9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7" name="组合 6"/>
            <p:cNvGrpSpPr/>
            <p:nvPr/>
          </p:nvGrpSpPr>
          <p:grpSpPr>
            <a:xfrm>
              <a:off x="456796" y="419687"/>
              <a:ext cx="11244721" cy="6042074"/>
              <a:chOff x="456796" y="419687"/>
              <a:chExt cx="11244721" cy="6042074"/>
            </a:xfrm>
          </p:grpSpPr>
          <p:pic>
            <p:nvPicPr>
              <p:cNvPr id="8" name="图片 7"/>
              <p:cNvPicPr>
                <a:picLocks noChangeAspect="1"/>
              </p:cNvPicPr>
              <p:nvPr userDrawn="1"/>
            </p:nvPicPr>
            <p:blipFill rotWithShape="1">
              <a:blip r:embed="rId1">
                <a:extLst>
                  <a:ext uri="{28A0092B-C50C-407E-A947-70E740481C1C}">
                    <a14:useLocalDpi xmlns:a14="http://schemas.microsoft.com/office/drawing/2010/main" val="0"/>
                  </a:ext>
                </a:extLst>
              </a:blip>
              <a:srcRect l="1515" t="4277" r="530" b="14319"/>
              <a:stretch>
                <a:fillRect/>
              </a:stretch>
            </p:blipFill>
            <p:spPr>
              <a:xfrm>
                <a:off x="490484" y="441960"/>
                <a:ext cx="11211033" cy="6019801"/>
              </a:xfrm>
              <a:prstGeom prst="rect">
                <a:avLst/>
              </a:prstGeom>
              <a:effectLst>
                <a:outerShdw blurRad="355600" dist="139700" dir="2700000" algn="tl" rotWithShape="0">
                  <a:prstClr val="black">
                    <a:alpha val="61000"/>
                  </a:prstClr>
                </a:outerShdw>
              </a:effectLst>
            </p:spPr>
          </p:pic>
          <p:sp>
            <p:nvSpPr>
              <p:cNvPr id="9" name="矩形 8"/>
              <p:cNvSpPr/>
              <p:nvPr/>
            </p:nvSpPr>
            <p:spPr>
              <a:xfrm>
                <a:off x="456796" y="419687"/>
                <a:ext cx="11211032" cy="6019801"/>
              </a:xfrm>
              <a:prstGeom prst="rect">
                <a:avLst/>
              </a:prstGeom>
              <a:solidFill>
                <a:srgbClr val="FFFEF7">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400" b="1" dirty="0">
                  <a:solidFill>
                    <a:srgbClr val="004C9E"/>
                  </a:solidFill>
                  <a:latin typeface="微软雅黑" panose="020B0503020204020204" pitchFamily="34" charset="-122"/>
                  <a:ea typeface="微软雅黑" panose="020B0503020204020204" pitchFamily="34" charset="-122"/>
                </a:endParaRPr>
              </a:p>
            </p:txBody>
          </p:sp>
        </p:grpSp>
      </p:grpSp>
      <p:sp>
        <p:nvSpPr>
          <p:cNvPr id="10" name="文本框 9"/>
          <p:cNvSpPr txBox="1"/>
          <p:nvPr/>
        </p:nvSpPr>
        <p:spPr>
          <a:xfrm>
            <a:off x="1307093" y="639606"/>
            <a:ext cx="1767840" cy="769441"/>
          </a:xfrm>
          <a:prstGeom prst="rect">
            <a:avLst/>
          </a:prstGeom>
          <a:noFill/>
        </p:spPr>
        <p:txBody>
          <a:bodyPr wrap="square" rtlCol="0">
            <a:spAutoFit/>
          </a:bodyPr>
          <a:lstStyle/>
          <a:p>
            <a:pPr algn="ctr"/>
            <a:r>
              <a:rPr lang="zh-CN" altLang="en-US" sz="4400" b="1" dirty="0">
                <a:solidFill>
                  <a:srgbClr val="004C9E"/>
                </a:solidFill>
                <a:latin typeface="微软雅黑" panose="020B0503020204020204" pitchFamily="34" charset="-122"/>
                <a:ea typeface="微软雅黑" panose="020B0503020204020204" pitchFamily="34" charset="-122"/>
              </a:rPr>
              <a:t>目录</a:t>
            </a:r>
            <a:endParaRPr lang="zh-CN" altLang="en-US" sz="4400" b="1" dirty="0">
              <a:solidFill>
                <a:srgbClr val="004C9E"/>
              </a:solidFill>
              <a:latin typeface="微软雅黑" panose="020B0503020204020204" pitchFamily="34" charset="-122"/>
              <a:ea typeface="微软雅黑" panose="020B0503020204020204" pitchFamily="34" charset="-122"/>
            </a:endParaRPr>
          </a:p>
        </p:txBody>
      </p:sp>
      <p:cxnSp>
        <p:nvCxnSpPr>
          <p:cNvPr id="12" name="直接连接符 11"/>
          <p:cNvCxnSpPr/>
          <p:nvPr/>
        </p:nvCxnSpPr>
        <p:spPr>
          <a:xfrm>
            <a:off x="3204425" y="1081270"/>
            <a:ext cx="8012215" cy="13829"/>
          </a:xfrm>
          <a:prstGeom prst="line">
            <a:avLst/>
          </a:prstGeom>
        </p:spPr>
        <p:style>
          <a:lnRef idx="1">
            <a:schemeClr val="accent1"/>
          </a:lnRef>
          <a:fillRef idx="0">
            <a:schemeClr val="accent1"/>
          </a:fillRef>
          <a:effectRef idx="0">
            <a:schemeClr val="accent1"/>
          </a:effectRef>
          <a:fontRef idx="minor">
            <a:schemeClr val="tx1"/>
          </a:fontRef>
        </p:style>
      </p:cxnSp>
      <p:grpSp>
        <p:nvGrpSpPr>
          <p:cNvPr id="3" name="组合 2"/>
          <p:cNvGrpSpPr/>
          <p:nvPr/>
        </p:nvGrpSpPr>
        <p:grpSpPr>
          <a:xfrm>
            <a:off x="4957140" y="1482798"/>
            <a:ext cx="3830320" cy="689610"/>
            <a:chOff x="1674914" y="2108993"/>
            <a:chExt cx="3830320" cy="689610"/>
          </a:xfrm>
        </p:grpSpPr>
        <p:grpSp>
          <p:nvGrpSpPr>
            <p:cNvPr id="15" name="组合 14"/>
            <p:cNvGrpSpPr/>
            <p:nvPr>
              <p:custDataLst>
                <p:tags r:id="rId2"/>
              </p:custDataLst>
            </p:nvPr>
          </p:nvGrpSpPr>
          <p:grpSpPr>
            <a:xfrm>
              <a:off x="1674914" y="2108993"/>
              <a:ext cx="3830320" cy="689610"/>
              <a:chOff x="1846052" y="3107690"/>
              <a:chExt cx="3830320" cy="689610"/>
            </a:xfrm>
          </p:grpSpPr>
          <p:sp>
            <p:nvSpPr>
              <p:cNvPr id="16" name="矩形 15"/>
              <p:cNvSpPr/>
              <p:nvPr userDrawn="1">
                <p:custDataLst>
                  <p:tags r:id="rId3"/>
                </p:custDataLst>
              </p:nvPr>
            </p:nvSpPr>
            <p:spPr>
              <a:xfrm>
                <a:off x="1846052" y="3107690"/>
                <a:ext cx="3830320" cy="688340"/>
              </a:xfrm>
              <a:prstGeom prst="rect">
                <a:avLst/>
              </a:prstGeom>
              <a:noFill/>
              <a:ln>
                <a:solidFill>
                  <a:srgbClr val="004C9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a:p>
            </p:txBody>
          </p:sp>
          <p:sp>
            <p:nvSpPr>
              <p:cNvPr id="17" name="矩形 16"/>
              <p:cNvSpPr/>
              <p:nvPr userDrawn="1">
                <p:custDataLst>
                  <p:tags r:id="rId4"/>
                </p:custDataLst>
              </p:nvPr>
            </p:nvSpPr>
            <p:spPr>
              <a:xfrm>
                <a:off x="1849862" y="3107690"/>
                <a:ext cx="688340" cy="689610"/>
              </a:xfrm>
              <a:prstGeom prst="rect">
                <a:avLst/>
              </a:prstGeom>
              <a:solidFill>
                <a:srgbClr val="004C9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800" b="1" dirty="0">
                    <a:latin typeface="微软雅黑" panose="020B0503020204020204" pitchFamily="34" charset="-122"/>
                    <a:ea typeface="微软雅黑" panose="020B0503020204020204" pitchFamily="34" charset="-122"/>
                  </a:rPr>
                  <a:t>01</a:t>
                </a:r>
                <a:endParaRPr lang="zh-CN" altLang="en-US" sz="2800" b="1" dirty="0">
                  <a:latin typeface="微软雅黑" panose="020B0503020204020204" pitchFamily="34" charset="-122"/>
                  <a:ea typeface="微软雅黑" panose="020B0503020204020204" pitchFamily="34" charset="-122"/>
                </a:endParaRPr>
              </a:p>
            </p:txBody>
          </p:sp>
        </p:grpSp>
        <p:sp>
          <p:nvSpPr>
            <p:cNvPr id="30" name="文本框 29"/>
            <p:cNvSpPr txBox="1"/>
            <p:nvPr>
              <p:custDataLst>
                <p:tags r:id="rId5"/>
              </p:custDataLst>
            </p:nvPr>
          </p:nvSpPr>
          <p:spPr>
            <a:xfrm>
              <a:off x="2676072" y="2232333"/>
              <a:ext cx="2451183" cy="461665"/>
            </a:xfrm>
            <a:prstGeom prst="rect">
              <a:avLst/>
            </a:prstGeom>
            <a:noFill/>
          </p:spPr>
          <p:txBody>
            <a:bodyPr wrap="square" rtlCol="0">
              <a:spAutoFit/>
            </a:bodyPr>
            <a:lstStyle/>
            <a:p>
              <a:r>
                <a:rPr lang="zh-CN" altLang="en-US" sz="2400" dirty="0">
                  <a:solidFill>
                    <a:srgbClr val="004C9E"/>
                  </a:solidFill>
                  <a:latin typeface="微软雅黑" panose="020B0503020204020204" pitchFamily="34" charset="-122"/>
                  <a:ea typeface="微软雅黑" panose="020B0503020204020204" pitchFamily="34" charset="-122"/>
                </a:rPr>
                <a:t>立项背景及意义</a:t>
              </a:r>
              <a:endParaRPr lang="zh-CN" altLang="en-US" sz="2400" dirty="0">
                <a:solidFill>
                  <a:srgbClr val="004C9E"/>
                </a:solidFill>
                <a:latin typeface="微软雅黑" panose="020B0503020204020204" pitchFamily="34" charset="-122"/>
                <a:ea typeface="微软雅黑" panose="020B0503020204020204" pitchFamily="34" charset="-122"/>
              </a:endParaRPr>
            </a:p>
          </p:txBody>
        </p:sp>
      </p:grpSp>
      <p:grpSp>
        <p:nvGrpSpPr>
          <p:cNvPr id="13" name="组合 12"/>
          <p:cNvGrpSpPr/>
          <p:nvPr/>
        </p:nvGrpSpPr>
        <p:grpSpPr>
          <a:xfrm>
            <a:off x="4957140" y="2368596"/>
            <a:ext cx="3830320" cy="688340"/>
            <a:chOff x="1674914" y="3237560"/>
            <a:chExt cx="3830320" cy="688340"/>
          </a:xfrm>
        </p:grpSpPr>
        <p:grpSp>
          <p:nvGrpSpPr>
            <p:cNvPr id="18" name="组合 17"/>
            <p:cNvGrpSpPr/>
            <p:nvPr>
              <p:custDataLst>
                <p:tags r:id="rId6"/>
              </p:custDataLst>
            </p:nvPr>
          </p:nvGrpSpPr>
          <p:grpSpPr>
            <a:xfrm>
              <a:off x="1674914" y="3237560"/>
              <a:ext cx="3830320" cy="688340"/>
              <a:chOff x="1846052" y="3107690"/>
              <a:chExt cx="3830320" cy="688340"/>
            </a:xfrm>
          </p:grpSpPr>
          <p:sp>
            <p:nvSpPr>
              <p:cNvPr id="19" name="矩形 18"/>
              <p:cNvSpPr/>
              <p:nvPr userDrawn="1">
                <p:custDataLst>
                  <p:tags r:id="rId7"/>
                </p:custDataLst>
              </p:nvPr>
            </p:nvSpPr>
            <p:spPr>
              <a:xfrm>
                <a:off x="1846052" y="3107690"/>
                <a:ext cx="3830320" cy="688340"/>
              </a:xfrm>
              <a:prstGeom prst="rect">
                <a:avLst/>
              </a:prstGeom>
              <a:noFill/>
              <a:ln>
                <a:solidFill>
                  <a:srgbClr val="004C9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a:p>
            </p:txBody>
          </p:sp>
          <p:sp>
            <p:nvSpPr>
              <p:cNvPr id="20" name="矩形 19"/>
              <p:cNvSpPr/>
              <p:nvPr userDrawn="1">
                <p:custDataLst>
                  <p:tags r:id="rId8"/>
                </p:custDataLst>
              </p:nvPr>
            </p:nvSpPr>
            <p:spPr>
              <a:xfrm>
                <a:off x="1846052" y="3107690"/>
                <a:ext cx="688340" cy="688340"/>
              </a:xfrm>
              <a:prstGeom prst="rect">
                <a:avLst/>
              </a:prstGeom>
              <a:solidFill>
                <a:srgbClr val="004C9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defTabSz="914400" rtl="0" eaLnBrk="1" latinLnBrk="0" hangingPunct="1"/>
                <a:r>
                  <a:rPr lang="en-US" altLang="zh-CN" sz="2800" b="1" kern="1200" dirty="0">
                    <a:solidFill>
                      <a:schemeClr val="lt1"/>
                    </a:solidFill>
                    <a:latin typeface="微软雅黑" panose="020B0503020204020204" pitchFamily="34" charset="-122"/>
                    <a:ea typeface="微软雅黑" panose="020B0503020204020204" pitchFamily="34" charset="-122"/>
                    <a:cs typeface="+mn-cs"/>
                  </a:rPr>
                  <a:t>02</a:t>
                </a:r>
                <a:endParaRPr lang="zh-CN" altLang="en-US" sz="2800" b="1" kern="1200" dirty="0">
                  <a:solidFill>
                    <a:schemeClr val="lt1"/>
                  </a:solidFill>
                  <a:latin typeface="微软雅黑" panose="020B0503020204020204" pitchFamily="34" charset="-122"/>
                  <a:ea typeface="微软雅黑" panose="020B0503020204020204" pitchFamily="34" charset="-122"/>
                  <a:cs typeface="+mn-cs"/>
                </a:endParaRPr>
              </a:p>
            </p:txBody>
          </p:sp>
        </p:grpSp>
        <p:sp>
          <p:nvSpPr>
            <p:cNvPr id="32" name="文本框 31"/>
            <p:cNvSpPr txBox="1"/>
            <p:nvPr>
              <p:custDataLst>
                <p:tags r:id="rId9"/>
              </p:custDataLst>
            </p:nvPr>
          </p:nvSpPr>
          <p:spPr>
            <a:xfrm>
              <a:off x="2724875" y="3378728"/>
              <a:ext cx="2676014" cy="461665"/>
            </a:xfrm>
            <a:prstGeom prst="rect">
              <a:avLst/>
            </a:prstGeom>
            <a:noFill/>
          </p:spPr>
          <p:txBody>
            <a:bodyPr wrap="square" rtlCol="0">
              <a:spAutoFit/>
            </a:bodyPr>
            <a:lstStyle/>
            <a:p>
              <a:r>
                <a:rPr lang="zh-CN" altLang="en-US" sz="2400" dirty="0">
                  <a:solidFill>
                    <a:srgbClr val="004C9E"/>
                  </a:solidFill>
                  <a:latin typeface="微软雅黑" panose="020B0503020204020204" pitchFamily="34" charset="-122"/>
                  <a:ea typeface="微软雅黑" panose="020B0503020204020204" pitchFamily="34" charset="-122"/>
                </a:rPr>
                <a:t>研究内容</a:t>
              </a:r>
              <a:endParaRPr lang="zh-CN" altLang="en-US" sz="2400" dirty="0">
                <a:solidFill>
                  <a:srgbClr val="004C9E"/>
                </a:solidFill>
                <a:latin typeface="微软雅黑" panose="020B0503020204020204" pitchFamily="34" charset="-122"/>
                <a:ea typeface="微软雅黑" panose="020B0503020204020204" pitchFamily="34" charset="-122"/>
              </a:endParaRPr>
            </a:p>
          </p:txBody>
        </p:sp>
      </p:grpSp>
      <p:grpSp>
        <p:nvGrpSpPr>
          <p:cNvPr id="14" name="组合 13"/>
          <p:cNvGrpSpPr/>
          <p:nvPr/>
        </p:nvGrpSpPr>
        <p:grpSpPr>
          <a:xfrm>
            <a:off x="4957140" y="3216403"/>
            <a:ext cx="3830320" cy="688340"/>
            <a:chOff x="1674914" y="4481784"/>
            <a:chExt cx="3830320" cy="688340"/>
          </a:xfrm>
        </p:grpSpPr>
        <p:grpSp>
          <p:nvGrpSpPr>
            <p:cNvPr id="21" name="组合 20"/>
            <p:cNvGrpSpPr/>
            <p:nvPr>
              <p:custDataLst>
                <p:tags r:id="rId10"/>
              </p:custDataLst>
            </p:nvPr>
          </p:nvGrpSpPr>
          <p:grpSpPr>
            <a:xfrm>
              <a:off x="1674914" y="4481784"/>
              <a:ext cx="3830320" cy="688340"/>
              <a:chOff x="1846052" y="3107690"/>
              <a:chExt cx="3830320" cy="688340"/>
            </a:xfrm>
          </p:grpSpPr>
          <p:sp>
            <p:nvSpPr>
              <p:cNvPr id="22" name="矩形 21"/>
              <p:cNvSpPr/>
              <p:nvPr userDrawn="1">
                <p:custDataLst>
                  <p:tags r:id="rId11"/>
                </p:custDataLst>
              </p:nvPr>
            </p:nvSpPr>
            <p:spPr>
              <a:xfrm>
                <a:off x="1846052" y="3107690"/>
                <a:ext cx="3830320" cy="688340"/>
              </a:xfrm>
              <a:prstGeom prst="rect">
                <a:avLst/>
              </a:prstGeom>
              <a:noFill/>
              <a:ln>
                <a:solidFill>
                  <a:srgbClr val="004C9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a:p>
            </p:txBody>
          </p:sp>
          <p:sp>
            <p:nvSpPr>
              <p:cNvPr id="23" name="矩形 22"/>
              <p:cNvSpPr/>
              <p:nvPr userDrawn="1">
                <p:custDataLst>
                  <p:tags r:id="rId12"/>
                </p:custDataLst>
              </p:nvPr>
            </p:nvSpPr>
            <p:spPr>
              <a:xfrm>
                <a:off x="1846052" y="3107690"/>
                <a:ext cx="688340" cy="688340"/>
              </a:xfrm>
              <a:prstGeom prst="rect">
                <a:avLst/>
              </a:prstGeom>
              <a:solidFill>
                <a:srgbClr val="004C9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defTabSz="914400" rtl="0" eaLnBrk="1" latinLnBrk="0" hangingPunct="1"/>
                <a:r>
                  <a:rPr lang="en-US" altLang="zh-CN" sz="2800" b="1" kern="1200" dirty="0">
                    <a:solidFill>
                      <a:schemeClr val="lt1"/>
                    </a:solidFill>
                    <a:latin typeface="微软雅黑" panose="020B0503020204020204" pitchFamily="34" charset="-122"/>
                    <a:ea typeface="微软雅黑" panose="020B0503020204020204" pitchFamily="34" charset="-122"/>
                    <a:cs typeface="+mn-cs"/>
                  </a:rPr>
                  <a:t>03</a:t>
                </a:r>
                <a:endParaRPr lang="zh-CN" altLang="en-US" sz="2800" b="1" kern="1200" dirty="0">
                  <a:solidFill>
                    <a:schemeClr val="lt1"/>
                  </a:solidFill>
                  <a:latin typeface="微软雅黑" panose="020B0503020204020204" pitchFamily="34" charset="-122"/>
                  <a:ea typeface="微软雅黑" panose="020B0503020204020204" pitchFamily="34" charset="-122"/>
                  <a:cs typeface="+mn-cs"/>
                </a:endParaRPr>
              </a:p>
            </p:txBody>
          </p:sp>
        </p:grpSp>
        <p:sp>
          <p:nvSpPr>
            <p:cNvPr id="33" name="文本框 32"/>
            <p:cNvSpPr txBox="1"/>
            <p:nvPr>
              <p:custDataLst>
                <p:tags r:id="rId13"/>
              </p:custDataLst>
            </p:nvPr>
          </p:nvSpPr>
          <p:spPr>
            <a:xfrm>
              <a:off x="2724875" y="4595121"/>
              <a:ext cx="2676014" cy="461665"/>
            </a:xfrm>
            <a:prstGeom prst="rect">
              <a:avLst/>
            </a:prstGeom>
            <a:noFill/>
          </p:spPr>
          <p:txBody>
            <a:bodyPr wrap="square" rtlCol="0">
              <a:spAutoFit/>
            </a:bodyPr>
            <a:lstStyle/>
            <a:p>
              <a:r>
                <a:rPr lang="zh-CN" altLang="en-US" sz="2400" dirty="0">
                  <a:solidFill>
                    <a:srgbClr val="004C9E"/>
                  </a:solidFill>
                  <a:latin typeface="微软雅黑" panose="020B0503020204020204" pitchFamily="34" charset="-122"/>
                  <a:ea typeface="微软雅黑" panose="020B0503020204020204" pitchFamily="34" charset="-122"/>
                </a:rPr>
                <a:t>拟采用技术</a:t>
              </a:r>
              <a:endParaRPr lang="zh-CN" altLang="en-US" sz="2400" dirty="0">
                <a:solidFill>
                  <a:srgbClr val="004C9E"/>
                </a:solidFill>
                <a:latin typeface="微软雅黑" panose="020B0503020204020204" pitchFamily="34" charset="-122"/>
                <a:ea typeface="微软雅黑" panose="020B0503020204020204" pitchFamily="34" charset="-122"/>
              </a:endParaRPr>
            </a:p>
          </p:txBody>
        </p:sp>
      </p:grpSp>
      <p:grpSp>
        <p:nvGrpSpPr>
          <p:cNvPr id="31" name="组合 30"/>
          <p:cNvGrpSpPr/>
          <p:nvPr/>
        </p:nvGrpSpPr>
        <p:grpSpPr>
          <a:xfrm>
            <a:off x="4957140" y="4087424"/>
            <a:ext cx="3830320" cy="688340"/>
            <a:chOff x="6515627" y="2553924"/>
            <a:chExt cx="3830320" cy="688340"/>
          </a:xfrm>
        </p:grpSpPr>
        <p:grpSp>
          <p:nvGrpSpPr>
            <p:cNvPr id="24" name="组合 23"/>
            <p:cNvGrpSpPr/>
            <p:nvPr>
              <p:custDataLst>
                <p:tags r:id="rId14"/>
              </p:custDataLst>
            </p:nvPr>
          </p:nvGrpSpPr>
          <p:grpSpPr>
            <a:xfrm>
              <a:off x="6515627" y="2553924"/>
              <a:ext cx="3830320" cy="688340"/>
              <a:chOff x="1846052" y="3107690"/>
              <a:chExt cx="3830320" cy="688340"/>
            </a:xfrm>
          </p:grpSpPr>
          <p:sp>
            <p:nvSpPr>
              <p:cNvPr id="25" name="矩形 24"/>
              <p:cNvSpPr/>
              <p:nvPr userDrawn="1">
                <p:custDataLst>
                  <p:tags r:id="rId15"/>
                </p:custDataLst>
              </p:nvPr>
            </p:nvSpPr>
            <p:spPr>
              <a:xfrm>
                <a:off x="1846052" y="3107690"/>
                <a:ext cx="3830320" cy="688340"/>
              </a:xfrm>
              <a:prstGeom prst="rect">
                <a:avLst/>
              </a:prstGeom>
              <a:noFill/>
              <a:ln>
                <a:solidFill>
                  <a:srgbClr val="004C9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a:p>
            </p:txBody>
          </p:sp>
          <p:sp>
            <p:nvSpPr>
              <p:cNvPr id="26" name="矩形 25"/>
              <p:cNvSpPr/>
              <p:nvPr userDrawn="1">
                <p:custDataLst>
                  <p:tags r:id="rId16"/>
                </p:custDataLst>
              </p:nvPr>
            </p:nvSpPr>
            <p:spPr>
              <a:xfrm>
                <a:off x="1846052" y="3107690"/>
                <a:ext cx="688340" cy="688340"/>
              </a:xfrm>
              <a:prstGeom prst="rect">
                <a:avLst/>
              </a:prstGeom>
              <a:solidFill>
                <a:srgbClr val="004C9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defTabSz="914400" rtl="0" eaLnBrk="1" latinLnBrk="0" hangingPunct="1"/>
                <a:r>
                  <a:rPr lang="en-US" altLang="zh-CN" sz="2800" b="1" kern="1200" dirty="0">
                    <a:solidFill>
                      <a:schemeClr val="lt1"/>
                    </a:solidFill>
                    <a:latin typeface="微软雅黑" panose="020B0503020204020204" pitchFamily="34" charset="-122"/>
                    <a:ea typeface="微软雅黑" panose="020B0503020204020204" pitchFamily="34" charset="-122"/>
                    <a:cs typeface="+mn-cs"/>
                  </a:rPr>
                  <a:t>04</a:t>
                </a:r>
                <a:endParaRPr lang="zh-CN" altLang="en-US" sz="2800" b="1" kern="1200" dirty="0">
                  <a:solidFill>
                    <a:schemeClr val="lt1"/>
                  </a:solidFill>
                  <a:latin typeface="微软雅黑" panose="020B0503020204020204" pitchFamily="34" charset="-122"/>
                  <a:ea typeface="微软雅黑" panose="020B0503020204020204" pitchFamily="34" charset="-122"/>
                  <a:cs typeface="+mn-cs"/>
                </a:endParaRPr>
              </a:p>
            </p:txBody>
          </p:sp>
        </p:grpSp>
        <p:sp>
          <p:nvSpPr>
            <p:cNvPr id="38" name="文本框 37"/>
            <p:cNvSpPr txBox="1"/>
            <p:nvPr>
              <p:custDataLst>
                <p:tags r:id="rId17"/>
              </p:custDataLst>
            </p:nvPr>
          </p:nvSpPr>
          <p:spPr>
            <a:xfrm>
              <a:off x="7565588" y="2699866"/>
              <a:ext cx="2676014" cy="461665"/>
            </a:xfrm>
            <a:prstGeom prst="rect">
              <a:avLst/>
            </a:prstGeom>
            <a:noFill/>
          </p:spPr>
          <p:txBody>
            <a:bodyPr wrap="square" rtlCol="0">
              <a:spAutoFit/>
            </a:bodyPr>
            <a:lstStyle/>
            <a:p>
              <a:r>
                <a:rPr lang="zh-CN" altLang="en-US" sz="2400" dirty="0">
                  <a:solidFill>
                    <a:srgbClr val="004C9E"/>
                  </a:solidFill>
                  <a:latin typeface="微软雅黑" panose="020B0503020204020204" pitchFamily="34" charset="-122"/>
                  <a:ea typeface="微软雅黑" panose="020B0503020204020204" pitchFamily="34" charset="-122"/>
                </a:rPr>
                <a:t>创新与特点</a:t>
              </a:r>
              <a:endParaRPr lang="zh-CN" altLang="en-US" sz="2400" dirty="0">
                <a:solidFill>
                  <a:srgbClr val="004C9E"/>
                </a:solidFill>
                <a:latin typeface="微软雅黑" panose="020B0503020204020204" pitchFamily="34" charset="-122"/>
                <a:ea typeface="微软雅黑" panose="020B0503020204020204" pitchFamily="34" charset="-122"/>
              </a:endParaRPr>
            </a:p>
          </p:txBody>
        </p:sp>
      </p:grpSp>
      <p:grpSp>
        <p:nvGrpSpPr>
          <p:cNvPr id="34" name="组合 33"/>
          <p:cNvGrpSpPr/>
          <p:nvPr/>
        </p:nvGrpSpPr>
        <p:grpSpPr>
          <a:xfrm>
            <a:off x="4957140" y="5018773"/>
            <a:ext cx="3830320" cy="688340"/>
            <a:chOff x="6515627" y="3796331"/>
            <a:chExt cx="3830320" cy="688340"/>
          </a:xfrm>
        </p:grpSpPr>
        <p:grpSp>
          <p:nvGrpSpPr>
            <p:cNvPr id="27" name="组合 26"/>
            <p:cNvGrpSpPr/>
            <p:nvPr>
              <p:custDataLst>
                <p:tags r:id="rId18"/>
              </p:custDataLst>
            </p:nvPr>
          </p:nvGrpSpPr>
          <p:grpSpPr>
            <a:xfrm>
              <a:off x="6515627" y="3796331"/>
              <a:ext cx="3830320" cy="688340"/>
              <a:chOff x="1846052" y="3107690"/>
              <a:chExt cx="3830320" cy="688340"/>
            </a:xfrm>
          </p:grpSpPr>
          <p:sp>
            <p:nvSpPr>
              <p:cNvPr id="28" name="矩形 27"/>
              <p:cNvSpPr/>
              <p:nvPr userDrawn="1">
                <p:custDataLst>
                  <p:tags r:id="rId19"/>
                </p:custDataLst>
              </p:nvPr>
            </p:nvSpPr>
            <p:spPr>
              <a:xfrm>
                <a:off x="1846052" y="3107690"/>
                <a:ext cx="3830320" cy="688340"/>
              </a:xfrm>
              <a:prstGeom prst="rect">
                <a:avLst/>
              </a:prstGeom>
              <a:noFill/>
              <a:ln>
                <a:solidFill>
                  <a:srgbClr val="004C9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a:p>
            </p:txBody>
          </p:sp>
          <p:sp>
            <p:nvSpPr>
              <p:cNvPr id="29" name="矩形 28"/>
              <p:cNvSpPr/>
              <p:nvPr userDrawn="1">
                <p:custDataLst>
                  <p:tags r:id="rId20"/>
                </p:custDataLst>
              </p:nvPr>
            </p:nvSpPr>
            <p:spPr>
              <a:xfrm>
                <a:off x="1846052" y="3107690"/>
                <a:ext cx="688340" cy="688340"/>
              </a:xfrm>
              <a:prstGeom prst="rect">
                <a:avLst/>
              </a:prstGeom>
              <a:solidFill>
                <a:srgbClr val="004C9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800" b="1" dirty="0">
                    <a:latin typeface="微软雅黑" panose="020B0503020204020204" pitchFamily="34" charset="-122"/>
                    <a:ea typeface="微软雅黑" panose="020B0503020204020204" pitchFamily="34" charset="-122"/>
                  </a:rPr>
                  <a:t>05</a:t>
                </a:r>
                <a:endParaRPr lang="zh-CN" altLang="en-US" sz="2800" b="1" dirty="0">
                  <a:latin typeface="微软雅黑" panose="020B0503020204020204" pitchFamily="34" charset="-122"/>
                  <a:ea typeface="微软雅黑" panose="020B0503020204020204" pitchFamily="34" charset="-122"/>
                </a:endParaRPr>
              </a:p>
            </p:txBody>
          </p:sp>
        </p:grpSp>
        <p:sp>
          <p:nvSpPr>
            <p:cNvPr id="39" name="文本框 38"/>
            <p:cNvSpPr txBox="1"/>
            <p:nvPr>
              <p:custDataLst>
                <p:tags r:id="rId21"/>
              </p:custDataLst>
            </p:nvPr>
          </p:nvSpPr>
          <p:spPr>
            <a:xfrm>
              <a:off x="7608562" y="3959510"/>
              <a:ext cx="2676014" cy="461665"/>
            </a:xfrm>
            <a:prstGeom prst="rect">
              <a:avLst/>
            </a:prstGeom>
            <a:noFill/>
          </p:spPr>
          <p:txBody>
            <a:bodyPr wrap="square" rtlCol="0">
              <a:spAutoFit/>
            </a:bodyPr>
            <a:lstStyle/>
            <a:p>
              <a:r>
                <a:rPr lang="zh-CN" altLang="en-US" sz="2400" dirty="0">
                  <a:solidFill>
                    <a:srgbClr val="004C9E"/>
                  </a:solidFill>
                  <a:latin typeface="微软雅黑" panose="020B0503020204020204" pitchFamily="34" charset="-122"/>
                  <a:ea typeface="微软雅黑" panose="020B0503020204020204" pitchFamily="34" charset="-122"/>
                </a:rPr>
                <a:t>时间安排计划</a:t>
              </a:r>
              <a:endParaRPr lang="zh-CN" altLang="en-US" sz="2400" dirty="0">
                <a:solidFill>
                  <a:srgbClr val="004C9E"/>
                </a:solidFill>
                <a:latin typeface="微软雅黑" panose="020B0503020204020204" pitchFamily="34" charset="-122"/>
                <a:ea typeface="微软雅黑" panose="020B0503020204020204" pitchFamily="34" charset="-122"/>
              </a:endParaRPr>
            </a:p>
          </p:txBody>
        </p:sp>
      </p:grpSp>
      <p:cxnSp>
        <p:nvCxnSpPr>
          <p:cNvPr id="40" name="直接连接符 39"/>
          <p:cNvCxnSpPr/>
          <p:nvPr/>
        </p:nvCxnSpPr>
        <p:spPr>
          <a:xfrm>
            <a:off x="899088" y="6096082"/>
            <a:ext cx="9058311" cy="4300"/>
          </a:xfrm>
          <a:prstGeom prst="line">
            <a:avLst/>
          </a:prstGeom>
        </p:spPr>
        <p:style>
          <a:lnRef idx="1">
            <a:schemeClr val="accent1"/>
          </a:lnRef>
          <a:fillRef idx="0">
            <a:schemeClr val="accent1"/>
          </a:fillRef>
          <a:effectRef idx="0">
            <a:schemeClr val="accent1"/>
          </a:effectRef>
          <a:fontRef idx="minor">
            <a:schemeClr val="tx1"/>
          </a:fontRef>
        </p:style>
      </p:cxnSp>
      <p:sp>
        <p:nvSpPr>
          <p:cNvPr id="2" name="文本框 1"/>
          <p:cNvSpPr txBox="1"/>
          <p:nvPr/>
        </p:nvSpPr>
        <p:spPr>
          <a:xfrm>
            <a:off x="919480" y="6113780"/>
            <a:ext cx="2541905" cy="275590"/>
          </a:xfrm>
          <a:prstGeom prst="rect">
            <a:avLst/>
          </a:prstGeom>
          <a:noFill/>
        </p:spPr>
        <p:txBody>
          <a:bodyPr wrap="square" rtlCol="0">
            <a:spAutoFit/>
          </a:bodyPr>
          <a:lstStyle/>
          <a:p>
            <a:r>
              <a:rPr lang="zh-CN" altLang="en-US" sz="1200" b="1">
                <a:solidFill>
                  <a:srgbClr val="004C9E"/>
                </a:solidFill>
                <a:latin typeface="微软雅黑" panose="020B0503020204020204" pitchFamily="34" charset="-122"/>
                <a:ea typeface="微软雅黑" panose="020B0503020204020204" pitchFamily="34" charset="-122"/>
                <a:cs typeface="微软雅黑" panose="020B0503020204020204" pitchFamily="34" charset="-122"/>
              </a:rPr>
              <a:t>耐劳苦</a:t>
            </a:r>
            <a:r>
              <a:rPr lang="en-US" altLang="zh-CN" sz="1200" b="1">
                <a:solidFill>
                  <a:srgbClr val="004C9E"/>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200" b="1">
                <a:solidFill>
                  <a:srgbClr val="004C9E"/>
                </a:solidFill>
                <a:latin typeface="微软雅黑" panose="020B0503020204020204" pitchFamily="34" charset="-122"/>
                <a:ea typeface="微软雅黑" panose="020B0503020204020204" pitchFamily="34" charset="-122"/>
                <a:cs typeface="微软雅黑" panose="020B0503020204020204" pitchFamily="34" charset="-122"/>
              </a:rPr>
              <a:t>尚俭朴</a:t>
            </a:r>
            <a:r>
              <a:rPr lang="en-US" altLang="zh-CN" sz="1200" b="1">
                <a:solidFill>
                  <a:srgbClr val="004C9E"/>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200" b="1">
                <a:solidFill>
                  <a:srgbClr val="004C9E"/>
                </a:solidFill>
                <a:latin typeface="微软雅黑" panose="020B0503020204020204" pitchFamily="34" charset="-122"/>
                <a:ea typeface="微软雅黑" panose="020B0503020204020204" pitchFamily="34" charset="-122"/>
                <a:cs typeface="微软雅黑" panose="020B0503020204020204" pitchFamily="34" charset="-122"/>
              </a:rPr>
              <a:t>勤学业</a:t>
            </a:r>
            <a:r>
              <a:rPr lang="en-US" altLang="zh-CN" sz="1200" b="1">
                <a:solidFill>
                  <a:srgbClr val="004C9E"/>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200" b="1">
                <a:solidFill>
                  <a:srgbClr val="004C9E"/>
                </a:solidFill>
                <a:latin typeface="微软雅黑" panose="020B0503020204020204" pitchFamily="34" charset="-122"/>
                <a:ea typeface="微软雅黑" panose="020B0503020204020204" pitchFamily="34" charset="-122"/>
                <a:cs typeface="微软雅黑" panose="020B0503020204020204" pitchFamily="34" charset="-122"/>
              </a:rPr>
              <a:t>爱国家</a:t>
            </a:r>
            <a:endParaRPr lang="zh-CN" altLang="en-US" sz="1200" b="1">
              <a:solidFill>
                <a:srgbClr val="004C9E"/>
              </a:solidFill>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11" name="图片 10" descr="校徽"/>
          <p:cNvPicPr>
            <a:picLocks noChangeAspect="1"/>
          </p:cNvPicPr>
          <p:nvPr/>
        </p:nvPicPr>
        <p:blipFill>
          <a:blip r:embed="rId22"/>
          <a:stretch>
            <a:fillRect/>
          </a:stretch>
        </p:blipFill>
        <p:spPr>
          <a:xfrm>
            <a:off x="10127615" y="5844540"/>
            <a:ext cx="1259840" cy="39751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par>
                                <p:cTn id="8" presetID="22" presetClass="entr" presetSubtype="8" fill="hold"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wipe(left)">
                                      <p:cBhvr>
                                        <p:cTn id="10" dur="500"/>
                                        <p:tgtEl>
                                          <p:spTgt spid="13"/>
                                        </p:tgtEl>
                                      </p:cBhvr>
                                    </p:animEffect>
                                  </p:childTnLst>
                                </p:cTn>
                              </p:par>
                              <p:par>
                                <p:cTn id="11" presetID="22" presetClass="entr" presetSubtype="8" fill="hold" nodeType="with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wipe(left)">
                                      <p:cBhvr>
                                        <p:cTn id="13" dur="500"/>
                                        <p:tgtEl>
                                          <p:spTgt spid="14"/>
                                        </p:tgtEl>
                                      </p:cBhvr>
                                    </p:animEffect>
                                  </p:childTnLst>
                                </p:cTn>
                              </p:par>
                              <p:par>
                                <p:cTn id="14" presetID="22" presetClass="entr" presetSubtype="8" fill="hold" nodeType="withEffect">
                                  <p:stCondLst>
                                    <p:cond delay="0"/>
                                  </p:stCondLst>
                                  <p:childTnLst>
                                    <p:set>
                                      <p:cBhvr>
                                        <p:cTn id="15" dur="1" fill="hold">
                                          <p:stCondLst>
                                            <p:cond delay="0"/>
                                          </p:stCondLst>
                                        </p:cTn>
                                        <p:tgtEl>
                                          <p:spTgt spid="31"/>
                                        </p:tgtEl>
                                        <p:attrNameLst>
                                          <p:attrName>style.visibility</p:attrName>
                                        </p:attrNameLst>
                                      </p:cBhvr>
                                      <p:to>
                                        <p:strVal val="visible"/>
                                      </p:to>
                                    </p:set>
                                    <p:animEffect transition="in" filter="wipe(left)">
                                      <p:cBhvr>
                                        <p:cTn id="16" dur="500"/>
                                        <p:tgtEl>
                                          <p:spTgt spid="31"/>
                                        </p:tgtEl>
                                      </p:cBhvr>
                                    </p:animEffect>
                                  </p:childTnLst>
                                </p:cTn>
                              </p:par>
                              <p:par>
                                <p:cTn id="17" presetID="22" presetClass="entr" presetSubtype="8" fill="hold" nodeType="withEffect">
                                  <p:stCondLst>
                                    <p:cond delay="0"/>
                                  </p:stCondLst>
                                  <p:childTnLst>
                                    <p:set>
                                      <p:cBhvr>
                                        <p:cTn id="18" dur="1" fill="hold">
                                          <p:stCondLst>
                                            <p:cond delay="0"/>
                                          </p:stCondLst>
                                        </p:cTn>
                                        <p:tgtEl>
                                          <p:spTgt spid="34"/>
                                        </p:tgtEl>
                                        <p:attrNameLst>
                                          <p:attrName>style.visibility</p:attrName>
                                        </p:attrNameLst>
                                      </p:cBhvr>
                                      <p:to>
                                        <p:strVal val="visible"/>
                                      </p:to>
                                    </p:set>
                                    <p:animEffect transition="in" filter="wipe(left)">
                                      <p:cBhvr>
                                        <p:cTn id="19"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7" name="剪去单角的矩形 226"/>
          <p:cNvSpPr/>
          <p:nvPr/>
        </p:nvSpPr>
        <p:spPr>
          <a:xfrm rot="16200000">
            <a:off x="4702439" y="-631561"/>
            <a:ext cx="6858000" cy="8121122"/>
          </a:xfrm>
          <a:prstGeom prst="snip1Rect">
            <a:avLst>
              <a:gd name="adj" fmla="val 50000"/>
            </a:avLst>
          </a:prstGeom>
          <a:solidFill>
            <a:srgbClr val="004C9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7" name="组合 6"/>
          <p:cNvGrpSpPr/>
          <p:nvPr/>
        </p:nvGrpSpPr>
        <p:grpSpPr>
          <a:xfrm>
            <a:off x="442333" y="566483"/>
            <a:ext cx="11210925" cy="6019800"/>
            <a:chOff x="490484" y="441960"/>
            <a:chExt cx="11211033" cy="6019801"/>
          </a:xfrm>
        </p:grpSpPr>
        <p:pic>
          <p:nvPicPr>
            <p:cNvPr id="8" name="图片 7"/>
            <p:cNvPicPr>
              <a:picLocks noChangeAspect="1"/>
            </p:cNvPicPr>
            <p:nvPr userDrawn="1"/>
          </p:nvPicPr>
          <p:blipFill rotWithShape="1">
            <a:blip r:embed="rId1">
              <a:extLst>
                <a:ext uri="{28A0092B-C50C-407E-A947-70E740481C1C}">
                  <a14:useLocalDpi xmlns:a14="http://schemas.microsoft.com/office/drawing/2010/main" val="0"/>
                </a:ext>
              </a:extLst>
            </a:blip>
            <a:srcRect l="1515" t="4277" r="530" b="14319"/>
            <a:stretch>
              <a:fillRect/>
            </a:stretch>
          </p:blipFill>
          <p:spPr>
            <a:xfrm>
              <a:off x="490484" y="441960"/>
              <a:ext cx="11211033" cy="6019801"/>
            </a:xfrm>
            <a:prstGeom prst="rect">
              <a:avLst/>
            </a:prstGeom>
            <a:effectLst>
              <a:outerShdw blurRad="355600" dist="139700" dir="2700000" algn="tl" rotWithShape="0">
                <a:prstClr val="black">
                  <a:alpha val="61000"/>
                </a:prstClr>
              </a:outerShdw>
            </a:effectLst>
          </p:spPr>
        </p:pic>
        <p:sp>
          <p:nvSpPr>
            <p:cNvPr id="9" name="矩形 8"/>
            <p:cNvSpPr/>
            <p:nvPr/>
          </p:nvSpPr>
          <p:spPr>
            <a:xfrm>
              <a:off x="490484" y="441960"/>
              <a:ext cx="11211032" cy="6019801"/>
            </a:xfrm>
            <a:prstGeom prst="rect">
              <a:avLst/>
            </a:prstGeom>
            <a:solidFill>
              <a:srgbClr val="FFFEF7">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400" b="1" dirty="0">
                <a:solidFill>
                  <a:srgbClr val="004C9E"/>
                </a:solidFill>
                <a:latin typeface="微软雅黑" panose="020B0503020204020204" pitchFamily="34" charset="-122"/>
                <a:ea typeface="微软雅黑" panose="020B0503020204020204" pitchFamily="34" charset="-122"/>
              </a:endParaRPr>
            </a:p>
          </p:txBody>
        </p:sp>
      </p:grpSp>
      <p:sp>
        <p:nvSpPr>
          <p:cNvPr id="10" name="文本框 9"/>
          <p:cNvSpPr txBox="1"/>
          <p:nvPr/>
        </p:nvSpPr>
        <p:spPr>
          <a:xfrm>
            <a:off x="659016" y="566483"/>
            <a:ext cx="2001520" cy="398780"/>
          </a:xfrm>
          <a:prstGeom prst="rect">
            <a:avLst/>
          </a:prstGeom>
          <a:noFill/>
        </p:spPr>
        <p:txBody>
          <a:bodyPr wrap="square" rtlCol="0">
            <a:spAutoFit/>
          </a:bodyPr>
          <a:lstStyle/>
          <a:p>
            <a:pPr algn="ctr"/>
            <a:r>
              <a:rPr lang="zh-CN" altLang="en-US" sz="2000" b="1" dirty="0">
                <a:solidFill>
                  <a:srgbClr val="004C9E"/>
                </a:solidFill>
                <a:latin typeface="微软雅黑" panose="020B0503020204020204" pitchFamily="34" charset="-122"/>
                <a:ea typeface="微软雅黑" panose="020B0503020204020204" pitchFamily="34" charset="-122"/>
              </a:rPr>
              <a:t>立项背景及意义</a:t>
            </a:r>
            <a:endParaRPr lang="zh-CN" altLang="en-US" sz="2000" b="1" dirty="0">
              <a:solidFill>
                <a:srgbClr val="004C9E"/>
              </a:solidFill>
              <a:latin typeface="微软雅黑" panose="020B0503020204020204" pitchFamily="34" charset="-122"/>
              <a:ea typeface="微软雅黑" panose="020B0503020204020204" pitchFamily="34" charset="-122"/>
            </a:endParaRPr>
          </a:p>
        </p:txBody>
      </p:sp>
      <p:cxnSp>
        <p:nvCxnSpPr>
          <p:cNvPr id="43" name="直接连接符 42"/>
          <p:cNvCxnSpPr/>
          <p:nvPr/>
        </p:nvCxnSpPr>
        <p:spPr>
          <a:xfrm>
            <a:off x="899088" y="6096082"/>
            <a:ext cx="9058311" cy="4300"/>
          </a:xfrm>
          <a:prstGeom prst="line">
            <a:avLst/>
          </a:prstGeom>
        </p:spPr>
        <p:style>
          <a:lnRef idx="1">
            <a:schemeClr val="accent1"/>
          </a:lnRef>
          <a:fillRef idx="0">
            <a:schemeClr val="accent1"/>
          </a:fillRef>
          <a:effectRef idx="0">
            <a:schemeClr val="accent1"/>
          </a:effectRef>
          <a:fontRef idx="minor">
            <a:schemeClr val="tx1"/>
          </a:fontRef>
        </p:style>
      </p:cxnSp>
      <p:sp>
        <p:nvSpPr>
          <p:cNvPr id="14" name="文本框 13"/>
          <p:cNvSpPr txBox="1"/>
          <p:nvPr/>
        </p:nvSpPr>
        <p:spPr>
          <a:xfrm>
            <a:off x="2445681" y="553085"/>
            <a:ext cx="2001520" cy="398780"/>
          </a:xfrm>
          <a:prstGeom prst="rect">
            <a:avLst/>
          </a:prstGeom>
          <a:noFill/>
        </p:spPr>
        <p:txBody>
          <a:bodyPr wrap="square" rtlCol="0">
            <a:spAutoFit/>
          </a:bodyPr>
          <a:lstStyle/>
          <a:p>
            <a:pPr algn="ctr"/>
            <a:r>
              <a:rPr lang="zh-CN" altLang="en-US" sz="2000" b="1" dirty="0">
                <a:solidFill>
                  <a:schemeClr val="bg1">
                    <a:lumMod val="65000"/>
                  </a:schemeClr>
                </a:solidFill>
                <a:latin typeface="微软雅黑" panose="020B0503020204020204" pitchFamily="34" charset="-122"/>
                <a:ea typeface="微软雅黑" panose="020B0503020204020204" pitchFamily="34" charset="-122"/>
              </a:rPr>
              <a:t>研究内容</a:t>
            </a:r>
            <a:endParaRPr lang="zh-CN" altLang="en-US" sz="2000" b="1" dirty="0">
              <a:solidFill>
                <a:schemeClr val="bg1">
                  <a:lumMod val="65000"/>
                </a:schemeClr>
              </a:solidFill>
              <a:latin typeface="微软雅黑" panose="020B0503020204020204" pitchFamily="34" charset="-122"/>
              <a:ea typeface="微软雅黑" panose="020B0503020204020204" pitchFamily="34" charset="-122"/>
            </a:endParaRPr>
          </a:p>
        </p:txBody>
      </p:sp>
      <p:sp>
        <p:nvSpPr>
          <p:cNvPr id="15" name="文本框 14"/>
          <p:cNvSpPr txBox="1"/>
          <p:nvPr/>
        </p:nvSpPr>
        <p:spPr>
          <a:xfrm>
            <a:off x="4543231" y="553085"/>
            <a:ext cx="2001520" cy="398780"/>
          </a:xfrm>
          <a:prstGeom prst="rect">
            <a:avLst/>
          </a:prstGeom>
          <a:noFill/>
        </p:spPr>
        <p:txBody>
          <a:bodyPr wrap="square" rtlCol="0">
            <a:spAutoFit/>
          </a:bodyPr>
          <a:lstStyle/>
          <a:p>
            <a:pPr algn="ctr"/>
            <a:r>
              <a:rPr lang="zh-CN" altLang="en-US" sz="2000" b="1" dirty="0">
                <a:solidFill>
                  <a:srgbClr val="A6A6A6"/>
                </a:solidFill>
                <a:latin typeface="微软雅黑" panose="020B0503020204020204" pitchFamily="34" charset="-122"/>
                <a:ea typeface="微软雅黑" panose="020B0503020204020204" pitchFamily="34" charset="-122"/>
              </a:rPr>
              <a:t>拟采用技术路线</a:t>
            </a:r>
            <a:endParaRPr lang="zh-CN" altLang="en-US" sz="2000" b="1" dirty="0">
              <a:solidFill>
                <a:srgbClr val="A6A6A6"/>
              </a:solidFill>
              <a:latin typeface="微软雅黑" panose="020B0503020204020204" pitchFamily="34" charset="-122"/>
              <a:ea typeface="微软雅黑" panose="020B0503020204020204" pitchFamily="34" charset="-122"/>
            </a:endParaRPr>
          </a:p>
        </p:txBody>
      </p:sp>
      <p:sp>
        <p:nvSpPr>
          <p:cNvPr id="16" name="文本框 15"/>
          <p:cNvSpPr txBox="1"/>
          <p:nvPr/>
        </p:nvSpPr>
        <p:spPr>
          <a:xfrm>
            <a:off x="6485324" y="553085"/>
            <a:ext cx="2755901" cy="398780"/>
          </a:xfrm>
          <a:prstGeom prst="rect">
            <a:avLst/>
          </a:prstGeom>
          <a:noFill/>
        </p:spPr>
        <p:txBody>
          <a:bodyPr wrap="square" rtlCol="0">
            <a:spAutoFit/>
          </a:bodyPr>
          <a:lstStyle/>
          <a:p>
            <a:pPr algn="ctr"/>
            <a:r>
              <a:rPr lang="zh-CN" altLang="en-US" sz="2000" b="1" dirty="0">
                <a:solidFill>
                  <a:schemeClr val="bg1">
                    <a:lumMod val="65000"/>
                  </a:schemeClr>
                </a:solidFill>
                <a:latin typeface="微软雅黑" panose="020B0503020204020204" pitchFamily="34" charset="-122"/>
                <a:ea typeface="微软雅黑" panose="020B0503020204020204" pitchFamily="34" charset="-122"/>
              </a:rPr>
              <a:t>创新与特点</a:t>
            </a:r>
            <a:endParaRPr lang="zh-CN" altLang="en-US" sz="2000" b="1" dirty="0">
              <a:solidFill>
                <a:schemeClr val="bg1">
                  <a:lumMod val="65000"/>
                </a:schemeClr>
              </a:solidFill>
              <a:latin typeface="微软雅黑" panose="020B0503020204020204" pitchFamily="34" charset="-122"/>
              <a:ea typeface="微软雅黑" panose="020B0503020204020204" pitchFamily="34" charset="-122"/>
            </a:endParaRPr>
          </a:p>
        </p:txBody>
      </p:sp>
      <p:sp>
        <p:nvSpPr>
          <p:cNvPr id="17" name="文本框 16"/>
          <p:cNvSpPr txBox="1"/>
          <p:nvPr/>
        </p:nvSpPr>
        <p:spPr>
          <a:xfrm>
            <a:off x="9102720" y="553085"/>
            <a:ext cx="2755901" cy="398780"/>
          </a:xfrm>
          <a:prstGeom prst="rect">
            <a:avLst/>
          </a:prstGeom>
          <a:noFill/>
        </p:spPr>
        <p:txBody>
          <a:bodyPr wrap="square" rtlCol="0">
            <a:spAutoFit/>
          </a:bodyPr>
          <a:lstStyle/>
          <a:p>
            <a:pPr algn="ctr"/>
            <a:r>
              <a:rPr lang="zh-CN" altLang="en-US" sz="2000" b="1" dirty="0">
                <a:solidFill>
                  <a:schemeClr val="bg1">
                    <a:lumMod val="65000"/>
                  </a:schemeClr>
                </a:solidFill>
                <a:latin typeface="微软雅黑" panose="020B0503020204020204" pitchFamily="34" charset="-122"/>
                <a:ea typeface="微软雅黑" panose="020B0503020204020204" pitchFamily="34" charset="-122"/>
              </a:rPr>
              <a:t>时间安排计划</a:t>
            </a:r>
            <a:endParaRPr lang="zh-CN" altLang="en-US" sz="2000" b="1" dirty="0">
              <a:solidFill>
                <a:schemeClr val="bg1">
                  <a:lumMod val="65000"/>
                </a:schemeClr>
              </a:solidFill>
              <a:latin typeface="微软雅黑" panose="020B0503020204020204" pitchFamily="34" charset="-122"/>
              <a:ea typeface="微软雅黑" panose="020B0503020204020204" pitchFamily="34" charset="-122"/>
            </a:endParaRPr>
          </a:p>
        </p:txBody>
      </p:sp>
      <p:sp>
        <p:nvSpPr>
          <p:cNvPr id="18" name="等腰三角形 17"/>
          <p:cNvSpPr/>
          <p:nvPr/>
        </p:nvSpPr>
        <p:spPr>
          <a:xfrm rot="5400000">
            <a:off x="525436" y="676009"/>
            <a:ext cx="192943" cy="166330"/>
          </a:xfrm>
          <a:prstGeom prst="triangle">
            <a:avLst/>
          </a:prstGeom>
          <a:solidFill>
            <a:srgbClr val="004C9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nvSpPr>
        <p:spPr>
          <a:xfrm>
            <a:off x="919480" y="6113780"/>
            <a:ext cx="2541905" cy="275590"/>
          </a:xfrm>
          <a:prstGeom prst="rect">
            <a:avLst/>
          </a:prstGeom>
          <a:noFill/>
        </p:spPr>
        <p:txBody>
          <a:bodyPr wrap="square" rtlCol="0">
            <a:spAutoFit/>
          </a:bodyPr>
          <a:lstStyle/>
          <a:p>
            <a:r>
              <a:rPr lang="zh-CN" altLang="en-US" sz="1200" b="1">
                <a:solidFill>
                  <a:srgbClr val="004C9E"/>
                </a:solidFill>
                <a:latin typeface="微软雅黑" panose="020B0503020204020204" pitchFamily="34" charset="-122"/>
                <a:ea typeface="微软雅黑" panose="020B0503020204020204" pitchFamily="34" charset="-122"/>
                <a:cs typeface="微软雅黑" panose="020B0503020204020204" pitchFamily="34" charset="-122"/>
              </a:rPr>
              <a:t>耐劳苦</a:t>
            </a:r>
            <a:r>
              <a:rPr lang="en-US" altLang="zh-CN" sz="1200" b="1">
                <a:solidFill>
                  <a:srgbClr val="004C9E"/>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200" b="1">
                <a:solidFill>
                  <a:srgbClr val="004C9E"/>
                </a:solidFill>
                <a:latin typeface="微软雅黑" panose="020B0503020204020204" pitchFamily="34" charset="-122"/>
                <a:ea typeface="微软雅黑" panose="020B0503020204020204" pitchFamily="34" charset="-122"/>
                <a:cs typeface="微软雅黑" panose="020B0503020204020204" pitchFamily="34" charset="-122"/>
              </a:rPr>
              <a:t>尚俭朴</a:t>
            </a:r>
            <a:r>
              <a:rPr lang="en-US" altLang="zh-CN" sz="1200" b="1">
                <a:solidFill>
                  <a:srgbClr val="004C9E"/>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200" b="1">
                <a:solidFill>
                  <a:srgbClr val="004C9E"/>
                </a:solidFill>
                <a:latin typeface="微软雅黑" panose="020B0503020204020204" pitchFamily="34" charset="-122"/>
                <a:ea typeface="微软雅黑" panose="020B0503020204020204" pitchFamily="34" charset="-122"/>
                <a:cs typeface="微软雅黑" panose="020B0503020204020204" pitchFamily="34" charset="-122"/>
              </a:rPr>
              <a:t>勤学业</a:t>
            </a:r>
            <a:r>
              <a:rPr lang="en-US" altLang="zh-CN" sz="1200" b="1">
                <a:solidFill>
                  <a:srgbClr val="004C9E"/>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200" b="1">
                <a:solidFill>
                  <a:srgbClr val="004C9E"/>
                </a:solidFill>
                <a:latin typeface="微软雅黑" panose="020B0503020204020204" pitchFamily="34" charset="-122"/>
                <a:ea typeface="微软雅黑" panose="020B0503020204020204" pitchFamily="34" charset="-122"/>
                <a:cs typeface="微软雅黑" panose="020B0503020204020204" pitchFamily="34" charset="-122"/>
              </a:rPr>
              <a:t>爱国家</a:t>
            </a:r>
            <a:endParaRPr lang="zh-CN" altLang="en-US" sz="1200" b="1">
              <a:solidFill>
                <a:srgbClr val="004C9E"/>
              </a:solidFill>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11" name="图片 10" descr="校徽"/>
          <p:cNvPicPr>
            <a:picLocks noChangeAspect="1"/>
          </p:cNvPicPr>
          <p:nvPr/>
        </p:nvPicPr>
        <p:blipFill>
          <a:blip r:embed="rId2"/>
          <a:stretch>
            <a:fillRect/>
          </a:stretch>
        </p:blipFill>
        <p:spPr>
          <a:xfrm>
            <a:off x="10127615" y="5844540"/>
            <a:ext cx="1259840" cy="397510"/>
          </a:xfrm>
          <a:prstGeom prst="rect">
            <a:avLst/>
          </a:prstGeom>
        </p:spPr>
      </p:pic>
      <p:sp>
        <p:nvSpPr>
          <p:cNvPr id="3" name="文本框 2"/>
          <p:cNvSpPr txBox="1"/>
          <p:nvPr/>
        </p:nvSpPr>
        <p:spPr>
          <a:xfrm>
            <a:off x="432228" y="1432623"/>
            <a:ext cx="10652351" cy="562783"/>
          </a:xfrm>
          <a:prstGeom prst="rect">
            <a:avLst/>
          </a:prstGeom>
          <a:noFill/>
        </p:spPr>
        <p:txBody>
          <a:bodyPr wrap="square" rtlCol="0">
            <a:spAutoFit/>
          </a:bodyPr>
          <a:lstStyle/>
          <a:p>
            <a:pPr>
              <a:lnSpc>
                <a:spcPct val="200000"/>
              </a:lnSpc>
            </a:pPr>
            <a:r>
              <a:rPr lang="zh-CN" altLang="en-US" dirty="0">
                <a:latin typeface="微软雅黑" panose="020B0503020204020204" pitchFamily="34" charset="-122"/>
                <a:ea typeface="微软雅黑" panose="020B0503020204020204" pitchFamily="34" charset="-122"/>
              </a:rPr>
              <a:t>。</a:t>
            </a:r>
            <a:endParaRPr lang="zh-CN" altLang="en-US" dirty="0">
              <a:latin typeface="微软雅黑" panose="020B0503020204020204" pitchFamily="34" charset="-122"/>
              <a:ea typeface="微软雅黑" panose="020B0503020204020204" pitchFamily="34" charset="-122"/>
            </a:endParaRPr>
          </a:p>
        </p:txBody>
      </p:sp>
      <p:grpSp>
        <p:nvGrpSpPr>
          <p:cNvPr id="4" name="图形"/>
          <p:cNvGrpSpPr/>
          <p:nvPr/>
        </p:nvGrpSpPr>
        <p:grpSpPr>
          <a:xfrm>
            <a:off x="599757" y="1057854"/>
            <a:ext cx="10892790" cy="3903345"/>
            <a:chOff x="846" y="-1257"/>
            <a:chExt cx="17154" cy="6147"/>
          </a:xfrm>
        </p:grpSpPr>
        <p:sp>
          <p:nvSpPr>
            <p:cNvPr id="6" name="图形"/>
            <p:cNvSpPr/>
            <p:nvPr>
              <p:custDataLst>
                <p:tags r:id="rId3"/>
              </p:custDataLst>
            </p:nvPr>
          </p:nvSpPr>
          <p:spPr>
            <a:xfrm>
              <a:off x="846" y="1499"/>
              <a:ext cx="5065" cy="3391"/>
            </a:xfrm>
            <a:prstGeom prst="rect">
              <a:avLst/>
            </a:prstGeom>
            <a:solidFill>
              <a:srgbClr val="004C9E"/>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a:solidFill>
                  <a:schemeClr val="bg1"/>
                </a:solidFill>
                <a:latin typeface="Arial" panose="020B0604020202020204" pitchFamily="34" charset="0"/>
                <a:ea typeface="微软雅黑" panose="020B0503020204020204" pitchFamily="34" charset="-122"/>
                <a:cs typeface="思源黑体旧字形 Light" panose="020B0300000000000000" charset="-128"/>
                <a:sym typeface="Arial" panose="020B0604020202020204" pitchFamily="34" charset="0"/>
              </a:endParaRPr>
            </a:p>
          </p:txBody>
        </p:sp>
        <p:sp>
          <p:nvSpPr>
            <p:cNvPr id="12" name="图形"/>
            <p:cNvSpPr/>
            <p:nvPr>
              <p:custDataLst>
                <p:tags r:id="rId4"/>
              </p:custDataLst>
            </p:nvPr>
          </p:nvSpPr>
          <p:spPr>
            <a:xfrm>
              <a:off x="13165" y="1380"/>
              <a:ext cx="4835" cy="3391"/>
            </a:xfrm>
            <a:prstGeom prst="rect">
              <a:avLst/>
            </a:prstGeom>
            <a:solidFill>
              <a:srgbClr val="004C9E"/>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dirty="0">
                <a:solidFill>
                  <a:schemeClr val="bg1"/>
                </a:solidFill>
                <a:latin typeface="Arial" panose="020B0604020202020204" pitchFamily="34" charset="0"/>
                <a:ea typeface="微软雅黑" panose="020B0503020204020204" pitchFamily="34" charset="-122"/>
                <a:cs typeface="思源黑体旧字形 Light" panose="020B0300000000000000" charset="-128"/>
                <a:sym typeface="Arial" panose="020B0604020202020204" pitchFamily="34" charset="0"/>
              </a:endParaRPr>
            </a:p>
          </p:txBody>
        </p:sp>
        <p:sp>
          <p:nvSpPr>
            <p:cNvPr id="13" name="图形"/>
            <p:cNvSpPr/>
            <p:nvPr>
              <p:custDataLst>
                <p:tags r:id="rId5"/>
              </p:custDataLst>
            </p:nvPr>
          </p:nvSpPr>
          <p:spPr>
            <a:xfrm>
              <a:off x="5911" y="2608"/>
              <a:ext cx="820" cy="820"/>
            </a:xfrm>
            <a:prstGeom prst="ellipse">
              <a:avLst/>
            </a:prstGeom>
            <a:solidFill>
              <a:srgbClr val="004C9E"/>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dirty="0">
                <a:solidFill>
                  <a:schemeClr val="bg1"/>
                </a:solidFill>
                <a:latin typeface="Arial" panose="020B0604020202020204" pitchFamily="34" charset="0"/>
                <a:ea typeface="微软雅黑" panose="020B0503020204020204" pitchFamily="34" charset="-122"/>
                <a:cs typeface="思源黑体旧字形 Light" panose="020B0300000000000000" charset="-128"/>
                <a:sym typeface="Arial" panose="020B0604020202020204" pitchFamily="34" charset="0"/>
              </a:endParaRPr>
            </a:p>
          </p:txBody>
        </p:sp>
        <p:sp>
          <p:nvSpPr>
            <p:cNvPr id="20" name="图形"/>
            <p:cNvSpPr/>
            <p:nvPr>
              <p:custDataLst>
                <p:tags r:id="rId6"/>
              </p:custDataLst>
            </p:nvPr>
          </p:nvSpPr>
          <p:spPr>
            <a:xfrm rot="10800000" flipH="1">
              <a:off x="6103" y="2866"/>
              <a:ext cx="414" cy="360"/>
            </a:xfrm>
            <a:prstGeom prst="rightArrow">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fontScale="25000" lnSpcReduction="20000"/>
            </a:bodyPr>
            <a:lstStyle/>
            <a:p>
              <a:pPr algn="ctr"/>
              <a:endParaRPr dirty="0">
                <a:solidFill>
                  <a:schemeClr val="bg1"/>
                </a:solidFill>
                <a:latin typeface="Arial" panose="020B0604020202020204" pitchFamily="34" charset="0"/>
                <a:ea typeface="微软雅黑" panose="020B0503020204020204" pitchFamily="34" charset="-122"/>
                <a:cs typeface="思源黑体旧字形 Light" panose="020B0300000000000000" charset="-128"/>
                <a:sym typeface="Arial" panose="020B0604020202020204" pitchFamily="34" charset="0"/>
              </a:endParaRPr>
            </a:p>
          </p:txBody>
        </p:sp>
        <p:sp>
          <p:nvSpPr>
            <p:cNvPr id="21" name="图形"/>
            <p:cNvSpPr/>
            <p:nvPr>
              <p:custDataLst>
                <p:tags r:id="rId7"/>
              </p:custDataLst>
            </p:nvPr>
          </p:nvSpPr>
          <p:spPr>
            <a:xfrm flipH="1">
              <a:off x="12176" y="2636"/>
              <a:ext cx="820" cy="820"/>
            </a:xfrm>
            <a:prstGeom prst="ellipse">
              <a:avLst/>
            </a:prstGeom>
            <a:solidFill>
              <a:srgbClr val="004C9E"/>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solidFill>
                  <a:schemeClr val="bg1"/>
                </a:solidFill>
                <a:latin typeface="Arial" panose="020B0604020202020204" pitchFamily="34" charset="0"/>
                <a:ea typeface="微软雅黑" panose="020B0503020204020204" pitchFamily="34" charset="-122"/>
                <a:cs typeface="思源黑体旧字形 Light" panose="020B0300000000000000" charset="-128"/>
                <a:sym typeface="Arial" panose="020B0604020202020204" pitchFamily="34" charset="0"/>
              </a:endParaRPr>
            </a:p>
          </p:txBody>
        </p:sp>
        <p:sp>
          <p:nvSpPr>
            <p:cNvPr id="22" name="图形"/>
            <p:cNvSpPr/>
            <p:nvPr>
              <p:custDataLst>
                <p:tags r:id="rId8"/>
              </p:custDataLst>
            </p:nvPr>
          </p:nvSpPr>
          <p:spPr>
            <a:xfrm>
              <a:off x="12415" y="2866"/>
              <a:ext cx="414" cy="360"/>
            </a:xfrm>
            <a:prstGeom prst="rightArrow">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fontScale="25000" lnSpcReduction="20000"/>
            </a:bodyPr>
            <a:lstStyle/>
            <a:p>
              <a:pPr algn="ctr"/>
              <a:endParaRPr dirty="0">
                <a:solidFill>
                  <a:schemeClr val="bg1"/>
                </a:solidFill>
                <a:latin typeface="Arial" panose="020B0604020202020204" pitchFamily="34" charset="0"/>
                <a:ea typeface="微软雅黑" panose="020B0503020204020204" pitchFamily="34" charset="-122"/>
                <a:cs typeface="思源黑体旧字形 Light" panose="020B0300000000000000" charset="-128"/>
                <a:sym typeface="Arial" panose="020B0604020202020204" pitchFamily="34" charset="0"/>
              </a:endParaRPr>
            </a:p>
          </p:txBody>
        </p:sp>
        <p:sp>
          <p:nvSpPr>
            <p:cNvPr id="23" name="图形"/>
            <p:cNvSpPr/>
            <p:nvPr>
              <p:custDataLst>
                <p:tags r:id="rId9"/>
              </p:custDataLst>
            </p:nvPr>
          </p:nvSpPr>
          <p:spPr>
            <a:xfrm>
              <a:off x="1083" y="-1257"/>
              <a:ext cx="16054" cy="2240"/>
            </a:xfrm>
            <a:prstGeom prst="rect">
              <a:avLst/>
            </a:prstGeom>
          </p:spPr>
          <p:txBody>
            <a:bodyPr wrap="square">
              <a:spAutoFit/>
            </a:bodyPr>
            <a:lstStyle/>
            <a:p>
              <a:pPr>
                <a:lnSpc>
                  <a:spcPct val="150000"/>
                </a:lnSpc>
              </a:pPr>
              <a:r>
                <a:rPr lang="zh-CN" altLang="en-US" dirty="0">
                  <a:latin typeface="微软雅黑" panose="020B0503020204020204" pitchFamily="34" charset="-122"/>
                  <a:ea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rPr>
                <a:t>近年来，随着人们生活水平的提高和居家审美需求的增长，家庭观赏鱼养殖越来越普及。然而，鱼缸水质管理涉及水温、溶氧量等多个复杂参数，需要养殖者</a:t>
              </a:r>
              <a:r>
                <a:rPr lang="zh-CN" altLang="en-US" sz="2000" b="1" dirty="0">
                  <a:latin typeface="微软雅黑" panose="020B0503020204020204" pitchFamily="34" charset="-122"/>
                  <a:ea typeface="微软雅黑" panose="020B0503020204020204" pitchFamily="34" charset="-122"/>
                </a:rPr>
                <a:t>具备一定的专业知识和持续的时间投入</a:t>
              </a:r>
              <a:r>
                <a:rPr lang="zh-CN" altLang="en-US" sz="2000" dirty="0">
                  <a:latin typeface="微软雅黑" panose="020B0503020204020204" pitchFamily="34" charset="-122"/>
                  <a:ea typeface="微软雅黑" panose="020B0503020204020204" pitchFamily="34" charset="-122"/>
                </a:rPr>
                <a:t>。当前家庭鱼缸养殖主要</a:t>
              </a:r>
              <a:r>
                <a:rPr lang="zh-CN" altLang="en-US" sz="2000" b="1" dirty="0">
                  <a:latin typeface="微软雅黑" panose="020B0503020204020204" pitchFamily="34" charset="-122"/>
                  <a:ea typeface="微软雅黑" panose="020B0503020204020204" pitchFamily="34" charset="-122"/>
                </a:rPr>
                <a:t>面临以下问题</a:t>
              </a:r>
              <a:r>
                <a:rPr lang="zh-CN" altLang="en-US" sz="2000" dirty="0">
                  <a:latin typeface="微软雅黑" panose="020B0503020204020204" pitchFamily="34" charset="-122"/>
                  <a:ea typeface="微软雅黑" panose="020B0503020204020204" pitchFamily="34" charset="-122"/>
                </a:rPr>
                <a:t>：</a:t>
              </a:r>
              <a:endParaRPr lang="zh-CN" altLang="en-US" sz="2000" dirty="0">
                <a:solidFill>
                  <a:schemeClr val="tx1">
                    <a:lumMod val="50000"/>
                    <a:lumOff val="50000"/>
                  </a:schemeClr>
                </a:solidFill>
                <a:latin typeface="Arial" panose="020B0604020202020204" pitchFamily="34" charset="0"/>
                <a:ea typeface="微软雅黑" panose="020B0503020204020204" pitchFamily="34" charset="-122"/>
                <a:cs typeface="思源黑体旧字形 Light" panose="020B0300000000000000" charset="-128"/>
                <a:sym typeface="Arial" panose="020B0604020202020204" pitchFamily="34" charset="0"/>
              </a:endParaRPr>
            </a:p>
          </p:txBody>
        </p:sp>
        <p:sp>
          <p:nvSpPr>
            <p:cNvPr id="24" name="图形"/>
            <p:cNvSpPr txBox="1"/>
            <p:nvPr>
              <p:custDataLst>
                <p:tags r:id="rId10"/>
              </p:custDataLst>
            </p:nvPr>
          </p:nvSpPr>
          <p:spPr>
            <a:xfrm>
              <a:off x="1570" y="1672"/>
              <a:ext cx="2968" cy="630"/>
            </a:xfrm>
            <a:prstGeom prst="rect">
              <a:avLst/>
            </a:prstGeom>
            <a:noFill/>
            <a:extLst>
              <a:ext uri="{909E8E84-426E-40DD-AFC4-6F175D3DCCD1}">
                <a14:hiddenFill xmlns:a14="http://schemas.microsoft.com/office/drawing/2010/main">
                  <a:solidFill>
                    <a:srgbClr val="4E5E68"/>
                  </a:solidFill>
                </a14:hiddenFill>
              </a:ext>
            </a:extLst>
          </p:spPr>
          <p:txBody>
            <a:bodyPr wrap="square" rtlCol="0">
              <a:spAutoFit/>
            </a:bodyPr>
            <a:lstStyle/>
            <a:p>
              <a:pPr marL="0" marR="0" lvl="0" indent="0" algn="ctr" defTabSz="914400" rtl="0" eaLnBrk="1" fontAlgn="base" latinLnBrk="0" hangingPunct="1">
                <a:spcBef>
                  <a:spcPct val="0"/>
                </a:spcBef>
                <a:spcAft>
                  <a:spcPct val="0"/>
                </a:spcAft>
                <a:buClrTx/>
                <a:buSzTx/>
                <a:buFontTx/>
                <a:buNone/>
                <a:defRPr/>
              </a:pPr>
              <a:r>
                <a:rPr lang="zh-CN" altLang="en-US" sz="2000" b="1" kern="0" dirty="0">
                  <a:solidFill>
                    <a:schemeClr val="bg1"/>
                  </a:solidFill>
                  <a:latin typeface="Arial" panose="020B0604020202020204" pitchFamily="34" charset="0"/>
                  <a:ea typeface="微软雅黑" panose="020B0503020204020204" pitchFamily="34" charset="-122"/>
                  <a:cs typeface="思源黑体旧字形 Light" panose="020B0300000000000000" charset="-128"/>
                  <a:sym typeface="Arial" panose="020B0604020202020204" pitchFamily="34" charset="0"/>
                </a:rPr>
                <a:t>用户层面</a:t>
              </a:r>
              <a:endParaRPr lang="zh-CN" altLang="en-US" sz="2000" b="1" kern="0" noProof="0" dirty="0">
                <a:ln>
                  <a:noFill/>
                </a:ln>
                <a:solidFill>
                  <a:schemeClr val="bg1"/>
                </a:solidFill>
                <a:effectLst/>
                <a:uLnTx/>
                <a:uFillTx/>
                <a:latin typeface="Arial" panose="020B0604020202020204" pitchFamily="34" charset="0"/>
                <a:ea typeface="微软雅黑" panose="020B0503020204020204" pitchFamily="34" charset="-122"/>
                <a:cs typeface="思源黑体旧字形 Light" panose="020B0300000000000000" charset="-128"/>
                <a:sym typeface="Arial" panose="020B0604020202020204" pitchFamily="34" charset="0"/>
              </a:endParaRPr>
            </a:p>
          </p:txBody>
        </p:sp>
        <p:sp>
          <p:nvSpPr>
            <p:cNvPr id="25" name="图形"/>
            <p:cNvSpPr txBox="1"/>
            <p:nvPr>
              <p:custDataLst>
                <p:tags r:id="rId11"/>
              </p:custDataLst>
            </p:nvPr>
          </p:nvSpPr>
          <p:spPr>
            <a:xfrm>
              <a:off x="1544" y="2475"/>
              <a:ext cx="3741" cy="1612"/>
            </a:xfrm>
            <a:prstGeom prst="rect">
              <a:avLst/>
            </a:prstGeom>
            <a:noFill/>
            <a:extLst>
              <a:ext uri="{909E8E84-426E-40DD-AFC4-6F175D3DCCD1}">
                <a14:hiddenFill xmlns:a14="http://schemas.microsoft.com/office/drawing/2010/main">
                  <a:solidFill>
                    <a:srgbClr val="4E5E68"/>
                  </a:solidFill>
                </a14:hiddenFill>
              </a:ext>
            </a:extLst>
          </p:spPr>
          <p:txBody>
            <a:bodyPr wrap="square" rtlCol="0">
              <a:spAutoFit/>
            </a:bodyPr>
            <a:lstStyle/>
            <a:p>
              <a:pPr>
                <a:lnSpc>
                  <a:spcPct val="150000"/>
                </a:lnSpc>
              </a:pPr>
              <a:r>
                <a:rPr lang="zh-CN" altLang="en-US" sz="1400" dirty="0">
                  <a:solidFill>
                    <a:schemeClr val="bg1"/>
                  </a:solidFill>
                  <a:latin typeface="Arial" panose="020B0604020202020204" pitchFamily="34" charset="0"/>
                  <a:ea typeface="微软雅黑" panose="020B0503020204020204" pitchFamily="34" charset="-122"/>
                  <a:cs typeface="思源黑体旧字形 Light" panose="020B0300000000000000" charset="-128"/>
                  <a:sym typeface="Arial" panose="020B0604020202020204" pitchFamily="34" charset="0"/>
                </a:rPr>
                <a:t>新手养鱼死亡率高，根源在于投食、换水、温度控制缺乏专业指导</a:t>
              </a:r>
              <a:endParaRPr lang="zh-CN" altLang="en-US" sz="1400" dirty="0">
                <a:solidFill>
                  <a:schemeClr val="bg1"/>
                </a:solidFill>
                <a:latin typeface="Arial" panose="020B0604020202020204" pitchFamily="34" charset="0"/>
                <a:ea typeface="微软雅黑" panose="020B0503020204020204" pitchFamily="34" charset="-122"/>
                <a:cs typeface="思源黑体旧字形 Light" panose="020B0300000000000000" charset="-128"/>
                <a:sym typeface="Arial" panose="020B0604020202020204" pitchFamily="34" charset="0"/>
              </a:endParaRPr>
            </a:p>
          </p:txBody>
        </p:sp>
        <p:sp>
          <p:nvSpPr>
            <p:cNvPr id="26" name="图形"/>
            <p:cNvSpPr txBox="1"/>
            <p:nvPr>
              <p:custDataLst>
                <p:tags r:id="rId12"/>
              </p:custDataLst>
            </p:nvPr>
          </p:nvSpPr>
          <p:spPr>
            <a:xfrm>
              <a:off x="14236" y="1646"/>
              <a:ext cx="2968" cy="630"/>
            </a:xfrm>
            <a:prstGeom prst="rect">
              <a:avLst/>
            </a:prstGeom>
            <a:noFill/>
            <a:extLst>
              <a:ext uri="{909E8E84-426E-40DD-AFC4-6F175D3DCCD1}">
                <a14:hiddenFill xmlns:a14="http://schemas.microsoft.com/office/drawing/2010/main">
                  <a:solidFill>
                    <a:srgbClr val="4E5E68"/>
                  </a:solidFill>
                </a14:hiddenFill>
              </a:ext>
            </a:extLst>
          </p:spPr>
          <p:txBody>
            <a:bodyPr wrap="square" rtlCol="0">
              <a:spAutoFit/>
            </a:bodyPr>
            <a:lstStyle/>
            <a:p>
              <a:pPr marL="0" marR="0" lvl="0" indent="0" algn="ctr" defTabSz="914400" rtl="0" eaLnBrk="1" fontAlgn="base" latinLnBrk="0" hangingPunct="1">
                <a:spcBef>
                  <a:spcPct val="0"/>
                </a:spcBef>
                <a:spcAft>
                  <a:spcPct val="0"/>
                </a:spcAft>
                <a:buClrTx/>
                <a:buSzTx/>
                <a:buFontTx/>
                <a:buNone/>
                <a:defRPr/>
              </a:pPr>
              <a:r>
                <a:rPr lang="zh-CN" altLang="en-US" sz="2000" b="1" kern="0" dirty="0">
                  <a:solidFill>
                    <a:schemeClr val="bg1"/>
                  </a:solidFill>
                  <a:latin typeface="Arial" panose="020B0604020202020204" pitchFamily="34" charset="0"/>
                  <a:ea typeface="微软雅黑" panose="020B0503020204020204" pitchFamily="34" charset="-122"/>
                  <a:cs typeface="思源黑体旧字形 Light" panose="020B0300000000000000" charset="-128"/>
                  <a:sym typeface="Arial" panose="020B0604020202020204" pitchFamily="34" charset="0"/>
                </a:rPr>
                <a:t>体验层面</a:t>
              </a:r>
              <a:endParaRPr lang="zh-CN" altLang="en-US" sz="2000" b="1" kern="0" noProof="0" dirty="0">
                <a:ln>
                  <a:noFill/>
                </a:ln>
                <a:solidFill>
                  <a:schemeClr val="bg1"/>
                </a:solidFill>
                <a:effectLst/>
                <a:uLnTx/>
                <a:uFillTx/>
                <a:latin typeface="Arial" panose="020B0604020202020204" pitchFamily="34" charset="0"/>
                <a:ea typeface="微软雅黑" panose="020B0503020204020204" pitchFamily="34" charset="-122"/>
                <a:cs typeface="思源黑体旧字形 Light" panose="020B0300000000000000" charset="-128"/>
                <a:sym typeface="Arial" panose="020B0604020202020204" pitchFamily="34" charset="0"/>
              </a:endParaRPr>
            </a:p>
          </p:txBody>
        </p:sp>
        <p:sp>
          <p:nvSpPr>
            <p:cNvPr id="27" name="图形"/>
            <p:cNvSpPr txBox="1"/>
            <p:nvPr>
              <p:custDataLst>
                <p:tags r:id="rId13"/>
              </p:custDataLst>
            </p:nvPr>
          </p:nvSpPr>
          <p:spPr>
            <a:xfrm>
              <a:off x="14048" y="2338"/>
              <a:ext cx="3776" cy="1103"/>
            </a:xfrm>
            <a:prstGeom prst="rect">
              <a:avLst/>
            </a:prstGeom>
            <a:noFill/>
            <a:extLst>
              <a:ext uri="{909E8E84-426E-40DD-AFC4-6F175D3DCCD1}">
                <a14:hiddenFill xmlns:a14="http://schemas.microsoft.com/office/drawing/2010/main">
                  <a:solidFill>
                    <a:srgbClr val="4E5E68"/>
                  </a:solidFill>
                </a14:hiddenFill>
              </a:ext>
            </a:extLst>
          </p:spPr>
          <p:txBody>
            <a:bodyPr wrap="square" rtlCol="0">
              <a:spAutoFit/>
            </a:bodyPr>
            <a:lstStyle/>
            <a:p>
              <a:pPr>
                <a:lnSpc>
                  <a:spcPct val="150000"/>
                </a:lnSpc>
              </a:pPr>
              <a:r>
                <a:rPr lang="zh-CN" altLang="en-US" sz="1400" dirty="0">
                  <a:solidFill>
                    <a:schemeClr val="bg1"/>
                  </a:solidFill>
                  <a:latin typeface="Arial" panose="020B0604020202020204" pitchFamily="34" charset="0"/>
                  <a:ea typeface="微软雅黑" panose="020B0503020204020204" pitchFamily="34" charset="-122"/>
                  <a:cs typeface="思源黑体旧字形 Light" panose="020B0300000000000000" charset="-128"/>
                  <a:sym typeface="Arial" panose="020B0604020202020204" pitchFamily="34" charset="0"/>
                </a:rPr>
                <a:t>高价产品决策逻辑黑箱化，</a:t>
              </a:r>
              <a:endParaRPr lang="en-US" altLang="zh-CN" sz="1400" dirty="0">
                <a:solidFill>
                  <a:schemeClr val="bg1"/>
                </a:solidFill>
                <a:latin typeface="Arial" panose="020B0604020202020204" pitchFamily="34" charset="0"/>
                <a:ea typeface="微软雅黑" panose="020B0503020204020204" pitchFamily="34" charset="-122"/>
                <a:cs typeface="思源黑体旧字形 Light" panose="020B0300000000000000" charset="-128"/>
                <a:sym typeface="Arial" panose="020B0604020202020204" pitchFamily="34" charset="0"/>
              </a:endParaRPr>
            </a:p>
            <a:p>
              <a:pPr>
                <a:lnSpc>
                  <a:spcPct val="150000"/>
                </a:lnSpc>
              </a:pPr>
              <a:r>
                <a:rPr lang="zh-CN" altLang="en-US" sz="1400" dirty="0">
                  <a:solidFill>
                    <a:schemeClr val="bg1"/>
                  </a:solidFill>
                  <a:latin typeface="Arial" panose="020B0604020202020204" pitchFamily="34" charset="0"/>
                  <a:ea typeface="微软雅黑" panose="020B0503020204020204" pitchFamily="34" charset="-122"/>
                  <a:cs typeface="思源黑体旧字形 Light" panose="020B0300000000000000" charset="-128"/>
                  <a:sym typeface="Arial" panose="020B0604020202020204" pitchFamily="34" charset="0"/>
                </a:rPr>
                <a:t>用户只知结果，不知原因</a:t>
              </a:r>
              <a:endParaRPr lang="zh-CN" altLang="en-US" sz="1400" dirty="0">
                <a:solidFill>
                  <a:schemeClr val="bg1"/>
                </a:solidFill>
                <a:latin typeface="Arial" panose="020B0604020202020204" pitchFamily="34" charset="0"/>
                <a:ea typeface="微软雅黑" panose="020B0503020204020204" pitchFamily="34" charset="-122"/>
                <a:cs typeface="思源黑体旧字形 Light" panose="020B0300000000000000" charset="-128"/>
                <a:sym typeface="Arial" panose="020B0604020202020204" pitchFamily="34" charset="0"/>
              </a:endParaRPr>
            </a:p>
          </p:txBody>
        </p:sp>
      </p:grpSp>
      <p:sp>
        <p:nvSpPr>
          <p:cNvPr id="28" name="图形"/>
          <p:cNvSpPr/>
          <p:nvPr>
            <p:custDataLst>
              <p:tags r:id="rId14"/>
            </p:custDataLst>
          </p:nvPr>
        </p:nvSpPr>
        <p:spPr>
          <a:xfrm>
            <a:off x="4439657" y="2773751"/>
            <a:ext cx="3216275" cy="2153285"/>
          </a:xfrm>
          <a:prstGeom prst="rect">
            <a:avLst/>
          </a:prstGeom>
          <a:solidFill>
            <a:srgbClr val="004C9E"/>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dirty="0">
              <a:solidFill>
                <a:schemeClr val="bg1"/>
              </a:solidFill>
              <a:latin typeface="Arial" panose="020B0604020202020204" pitchFamily="34" charset="0"/>
              <a:ea typeface="微软雅黑" panose="020B0503020204020204" pitchFamily="34" charset="-122"/>
              <a:cs typeface="思源黑体旧字形 Light" panose="020B0300000000000000" charset="-128"/>
              <a:sym typeface="Arial" panose="020B0604020202020204" pitchFamily="34" charset="0"/>
            </a:endParaRPr>
          </a:p>
        </p:txBody>
      </p:sp>
      <p:sp>
        <p:nvSpPr>
          <p:cNvPr id="29" name="图形"/>
          <p:cNvSpPr txBox="1"/>
          <p:nvPr>
            <p:custDataLst>
              <p:tags r:id="rId15"/>
            </p:custDataLst>
          </p:nvPr>
        </p:nvSpPr>
        <p:spPr>
          <a:xfrm>
            <a:off x="5105455" y="2917651"/>
            <a:ext cx="1884680" cy="400050"/>
          </a:xfrm>
          <a:prstGeom prst="rect">
            <a:avLst/>
          </a:prstGeom>
          <a:noFill/>
          <a:extLst>
            <a:ext uri="{909E8E84-426E-40DD-AFC4-6F175D3DCCD1}">
              <a14:hiddenFill xmlns:a14="http://schemas.microsoft.com/office/drawing/2010/main">
                <a:solidFill>
                  <a:srgbClr val="4E5E68"/>
                </a:solidFill>
              </a14:hiddenFill>
            </a:ext>
          </a:extLst>
        </p:spPr>
        <p:txBody>
          <a:bodyPr wrap="square" rtlCol="0">
            <a:spAutoFit/>
          </a:bodyPr>
          <a:lstStyle/>
          <a:p>
            <a:pPr marL="0" marR="0" lvl="0" indent="0" algn="ctr" defTabSz="914400" rtl="0" eaLnBrk="1" fontAlgn="base" latinLnBrk="0" hangingPunct="1">
              <a:spcBef>
                <a:spcPct val="0"/>
              </a:spcBef>
              <a:spcAft>
                <a:spcPct val="0"/>
              </a:spcAft>
              <a:buClrTx/>
              <a:buSzTx/>
              <a:buFontTx/>
              <a:buNone/>
              <a:defRPr/>
            </a:pPr>
            <a:r>
              <a:rPr lang="zh-CN" altLang="en-US" sz="2000" b="1" kern="0" dirty="0">
                <a:solidFill>
                  <a:schemeClr val="bg1"/>
                </a:solidFill>
                <a:latin typeface="Arial" panose="020B0604020202020204" pitchFamily="34" charset="0"/>
                <a:ea typeface="微软雅黑" panose="020B0503020204020204" pitchFamily="34" charset="-122"/>
                <a:cs typeface="思源黑体旧字形 Light" panose="020B0300000000000000" charset="-128"/>
                <a:sym typeface="Arial" panose="020B0604020202020204" pitchFamily="34" charset="0"/>
              </a:rPr>
              <a:t>产品层面</a:t>
            </a:r>
            <a:endParaRPr lang="zh-CN" altLang="en-US" sz="2000" b="1" kern="0" noProof="0" dirty="0">
              <a:ln>
                <a:noFill/>
              </a:ln>
              <a:solidFill>
                <a:schemeClr val="bg1"/>
              </a:solidFill>
              <a:effectLst/>
              <a:uLnTx/>
              <a:uFillTx/>
              <a:latin typeface="Arial" panose="020B0604020202020204" pitchFamily="34" charset="0"/>
              <a:ea typeface="微软雅黑" panose="020B0503020204020204" pitchFamily="34" charset="-122"/>
              <a:cs typeface="思源黑体旧字形 Light" panose="020B0300000000000000" charset="-128"/>
              <a:sym typeface="Arial" panose="020B0604020202020204" pitchFamily="34" charset="0"/>
            </a:endParaRPr>
          </a:p>
        </p:txBody>
      </p:sp>
      <p:sp>
        <p:nvSpPr>
          <p:cNvPr id="30" name="图形"/>
          <p:cNvSpPr txBox="1"/>
          <p:nvPr>
            <p:custDataLst>
              <p:tags r:id="rId16"/>
            </p:custDataLst>
          </p:nvPr>
        </p:nvSpPr>
        <p:spPr>
          <a:xfrm>
            <a:off x="4569087" y="3287792"/>
            <a:ext cx="3096949" cy="1346835"/>
          </a:xfrm>
          <a:prstGeom prst="rect">
            <a:avLst/>
          </a:prstGeom>
          <a:noFill/>
          <a:extLst>
            <a:ext uri="{909E8E84-426E-40DD-AFC4-6F175D3DCCD1}">
              <a14:hiddenFill xmlns:a14="http://schemas.microsoft.com/office/drawing/2010/main">
                <a:solidFill>
                  <a:srgbClr val="4E5E68"/>
                </a:solidFill>
              </a14:hiddenFill>
            </a:ext>
          </a:extLst>
        </p:spPr>
        <p:txBody>
          <a:bodyPr wrap="square" rtlCol="0">
            <a:spAutoFit/>
          </a:bodyPr>
          <a:lstStyle/>
          <a:p>
            <a:pPr algn="ctr">
              <a:lnSpc>
                <a:spcPct val="150000"/>
              </a:lnSpc>
            </a:pPr>
            <a:r>
              <a:rPr lang="zh-CN" altLang="en-US" sz="1400" dirty="0">
                <a:solidFill>
                  <a:schemeClr val="bg1"/>
                </a:solidFill>
                <a:latin typeface="Arial" panose="020B0604020202020204" pitchFamily="34" charset="0"/>
                <a:ea typeface="微软雅黑" panose="020B0503020204020204" pitchFamily="34" charset="-122"/>
                <a:cs typeface="思源黑体旧字形 Light" panose="020B0300000000000000" charset="-128"/>
                <a:sym typeface="Arial" panose="020B0604020202020204" pitchFamily="34" charset="0"/>
              </a:rPr>
              <a:t>市售“智能鱼缸”多停留于定时投喂和恒温控制，本质是“定时器”而非“智能决策系统”，无法根据水质动态调整</a:t>
            </a:r>
            <a:endParaRPr lang="zh-CN" altLang="en-US" sz="1400" dirty="0">
              <a:solidFill>
                <a:schemeClr val="bg1"/>
              </a:solidFill>
              <a:latin typeface="Arial" panose="020B0604020202020204" pitchFamily="34" charset="0"/>
              <a:ea typeface="微软雅黑" panose="020B0503020204020204" pitchFamily="34" charset="-122"/>
              <a:cs typeface="思源黑体旧字形 Light" panose="020B0300000000000000" charset="-128"/>
              <a:sym typeface="Arial" panose="020B0604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7" name="剪去单角的矩形 226"/>
          <p:cNvSpPr/>
          <p:nvPr/>
        </p:nvSpPr>
        <p:spPr>
          <a:xfrm rot="16200000">
            <a:off x="4702439" y="-631561"/>
            <a:ext cx="6858000" cy="8121122"/>
          </a:xfrm>
          <a:prstGeom prst="snip1Rect">
            <a:avLst>
              <a:gd name="adj" fmla="val 50000"/>
            </a:avLst>
          </a:prstGeom>
          <a:solidFill>
            <a:srgbClr val="004C9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7" name="组合 6"/>
          <p:cNvGrpSpPr/>
          <p:nvPr/>
        </p:nvGrpSpPr>
        <p:grpSpPr>
          <a:xfrm>
            <a:off x="442333" y="566483"/>
            <a:ext cx="11210925" cy="6019800"/>
            <a:chOff x="490484" y="441960"/>
            <a:chExt cx="11211033" cy="6019801"/>
          </a:xfrm>
        </p:grpSpPr>
        <p:pic>
          <p:nvPicPr>
            <p:cNvPr id="8" name="图片 7"/>
            <p:cNvPicPr>
              <a:picLocks noChangeAspect="1"/>
            </p:cNvPicPr>
            <p:nvPr userDrawn="1"/>
          </p:nvPicPr>
          <p:blipFill rotWithShape="1">
            <a:blip r:embed="rId1">
              <a:extLst>
                <a:ext uri="{28A0092B-C50C-407E-A947-70E740481C1C}">
                  <a14:useLocalDpi xmlns:a14="http://schemas.microsoft.com/office/drawing/2010/main" val="0"/>
                </a:ext>
              </a:extLst>
            </a:blip>
            <a:srcRect l="1515" t="4277" r="530" b="14319"/>
            <a:stretch>
              <a:fillRect/>
            </a:stretch>
          </p:blipFill>
          <p:spPr>
            <a:xfrm>
              <a:off x="490484" y="441960"/>
              <a:ext cx="11211033" cy="6019801"/>
            </a:xfrm>
            <a:prstGeom prst="rect">
              <a:avLst/>
            </a:prstGeom>
            <a:effectLst>
              <a:outerShdw blurRad="355600" dist="139700" dir="2700000" algn="tl" rotWithShape="0">
                <a:prstClr val="black">
                  <a:alpha val="61000"/>
                </a:prstClr>
              </a:outerShdw>
            </a:effectLst>
          </p:spPr>
        </p:pic>
        <p:sp>
          <p:nvSpPr>
            <p:cNvPr id="9" name="矩形 8"/>
            <p:cNvSpPr/>
            <p:nvPr/>
          </p:nvSpPr>
          <p:spPr>
            <a:xfrm>
              <a:off x="490484" y="441960"/>
              <a:ext cx="11211032" cy="6019801"/>
            </a:xfrm>
            <a:prstGeom prst="rect">
              <a:avLst/>
            </a:prstGeom>
            <a:solidFill>
              <a:srgbClr val="FFFEF7">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400" b="1" dirty="0">
                <a:solidFill>
                  <a:srgbClr val="004C9E"/>
                </a:solidFill>
                <a:latin typeface="微软雅黑" panose="020B0503020204020204" pitchFamily="34" charset="-122"/>
                <a:ea typeface="微软雅黑" panose="020B0503020204020204" pitchFamily="34" charset="-122"/>
              </a:endParaRPr>
            </a:p>
          </p:txBody>
        </p:sp>
      </p:grpSp>
      <p:sp>
        <p:nvSpPr>
          <p:cNvPr id="10" name="文本框 9"/>
          <p:cNvSpPr txBox="1"/>
          <p:nvPr/>
        </p:nvSpPr>
        <p:spPr>
          <a:xfrm>
            <a:off x="659016" y="566483"/>
            <a:ext cx="2001520" cy="398780"/>
          </a:xfrm>
          <a:prstGeom prst="rect">
            <a:avLst/>
          </a:prstGeom>
          <a:noFill/>
        </p:spPr>
        <p:txBody>
          <a:bodyPr wrap="square" rtlCol="0">
            <a:spAutoFit/>
          </a:bodyPr>
          <a:lstStyle/>
          <a:p>
            <a:pPr algn="ctr"/>
            <a:r>
              <a:rPr lang="zh-CN" altLang="en-US" sz="2000" b="1" dirty="0">
                <a:solidFill>
                  <a:srgbClr val="004C9E"/>
                </a:solidFill>
                <a:latin typeface="微软雅黑" panose="020B0503020204020204" pitchFamily="34" charset="-122"/>
                <a:ea typeface="微软雅黑" panose="020B0503020204020204" pitchFamily="34" charset="-122"/>
              </a:rPr>
              <a:t>立项背景及意义</a:t>
            </a:r>
            <a:endParaRPr lang="zh-CN" altLang="en-US" sz="2000" b="1" dirty="0">
              <a:solidFill>
                <a:srgbClr val="004C9E"/>
              </a:solidFill>
              <a:latin typeface="微软雅黑" panose="020B0503020204020204" pitchFamily="34" charset="-122"/>
              <a:ea typeface="微软雅黑" panose="020B0503020204020204" pitchFamily="34" charset="-122"/>
            </a:endParaRPr>
          </a:p>
        </p:txBody>
      </p:sp>
      <p:cxnSp>
        <p:nvCxnSpPr>
          <p:cNvPr id="43" name="直接连接符 42"/>
          <p:cNvCxnSpPr/>
          <p:nvPr/>
        </p:nvCxnSpPr>
        <p:spPr>
          <a:xfrm>
            <a:off x="899088" y="6096082"/>
            <a:ext cx="9058311" cy="4300"/>
          </a:xfrm>
          <a:prstGeom prst="line">
            <a:avLst/>
          </a:prstGeom>
        </p:spPr>
        <p:style>
          <a:lnRef idx="1">
            <a:schemeClr val="accent1"/>
          </a:lnRef>
          <a:fillRef idx="0">
            <a:schemeClr val="accent1"/>
          </a:fillRef>
          <a:effectRef idx="0">
            <a:schemeClr val="accent1"/>
          </a:effectRef>
          <a:fontRef idx="minor">
            <a:schemeClr val="tx1"/>
          </a:fontRef>
        </p:style>
      </p:cxnSp>
      <p:sp>
        <p:nvSpPr>
          <p:cNvPr id="14" name="文本框 13"/>
          <p:cNvSpPr txBox="1"/>
          <p:nvPr/>
        </p:nvSpPr>
        <p:spPr>
          <a:xfrm>
            <a:off x="2445681" y="553085"/>
            <a:ext cx="2001520" cy="398780"/>
          </a:xfrm>
          <a:prstGeom prst="rect">
            <a:avLst/>
          </a:prstGeom>
          <a:noFill/>
        </p:spPr>
        <p:txBody>
          <a:bodyPr wrap="square" rtlCol="0">
            <a:spAutoFit/>
          </a:bodyPr>
          <a:lstStyle/>
          <a:p>
            <a:pPr algn="ctr"/>
            <a:r>
              <a:rPr lang="zh-CN" altLang="en-US" sz="2000" b="1" dirty="0">
                <a:solidFill>
                  <a:schemeClr val="bg1">
                    <a:lumMod val="65000"/>
                  </a:schemeClr>
                </a:solidFill>
                <a:latin typeface="微软雅黑" panose="020B0503020204020204" pitchFamily="34" charset="-122"/>
                <a:ea typeface="微软雅黑" panose="020B0503020204020204" pitchFamily="34" charset="-122"/>
              </a:rPr>
              <a:t>研究内容</a:t>
            </a:r>
            <a:endParaRPr lang="zh-CN" altLang="en-US" sz="2000" b="1" dirty="0">
              <a:solidFill>
                <a:schemeClr val="bg1">
                  <a:lumMod val="65000"/>
                </a:schemeClr>
              </a:solidFill>
              <a:latin typeface="微软雅黑" panose="020B0503020204020204" pitchFamily="34" charset="-122"/>
              <a:ea typeface="微软雅黑" panose="020B0503020204020204" pitchFamily="34" charset="-122"/>
            </a:endParaRPr>
          </a:p>
        </p:txBody>
      </p:sp>
      <p:sp>
        <p:nvSpPr>
          <p:cNvPr id="15" name="文本框 14"/>
          <p:cNvSpPr txBox="1"/>
          <p:nvPr/>
        </p:nvSpPr>
        <p:spPr>
          <a:xfrm>
            <a:off x="4543231" y="553085"/>
            <a:ext cx="2001520" cy="398780"/>
          </a:xfrm>
          <a:prstGeom prst="rect">
            <a:avLst/>
          </a:prstGeom>
          <a:noFill/>
        </p:spPr>
        <p:txBody>
          <a:bodyPr wrap="square" rtlCol="0">
            <a:spAutoFit/>
          </a:bodyPr>
          <a:lstStyle/>
          <a:p>
            <a:pPr algn="ctr"/>
            <a:r>
              <a:rPr lang="zh-CN" altLang="en-US" sz="2000" b="1" dirty="0">
                <a:solidFill>
                  <a:srgbClr val="A6A6A6"/>
                </a:solidFill>
                <a:latin typeface="微软雅黑" panose="020B0503020204020204" pitchFamily="34" charset="-122"/>
                <a:ea typeface="微软雅黑" panose="020B0503020204020204" pitchFamily="34" charset="-122"/>
              </a:rPr>
              <a:t>拟采用技术路线</a:t>
            </a:r>
            <a:endParaRPr lang="zh-CN" altLang="en-US" sz="2000" b="1" dirty="0">
              <a:solidFill>
                <a:srgbClr val="A6A6A6"/>
              </a:solidFill>
              <a:latin typeface="微软雅黑" panose="020B0503020204020204" pitchFamily="34" charset="-122"/>
              <a:ea typeface="微软雅黑" panose="020B0503020204020204" pitchFamily="34" charset="-122"/>
            </a:endParaRPr>
          </a:p>
        </p:txBody>
      </p:sp>
      <p:sp>
        <p:nvSpPr>
          <p:cNvPr id="16" name="文本框 15"/>
          <p:cNvSpPr txBox="1"/>
          <p:nvPr/>
        </p:nvSpPr>
        <p:spPr>
          <a:xfrm>
            <a:off x="6485324" y="553085"/>
            <a:ext cx="2755901" cy="398780"/>
          </a:xfrm>
          <a:prstGeom prst="rect">
            <a:avLst/>
          </a:prstGeom>
          <a:noFill/>
        </p:spPr>
        <p:txBody>
          <a:bodyPr wrap="square" rtlCol="0">
            <a:spAutoFit/>
          </a:bodyPr>
          <a:lstStyle/>
          <a:p>
            <a:pPr algn="ctr"/>
            <a:r>
              <a:rPr lang="zh-CN" altLang="en-US" sz="2000" b="1" dirty="0">
                <a:solidFill>
                  <a:schemeClr val="bg1">
                    <a:lumMod val="65000"/>
                  </a:schemeClr>
                </a:solidFill>
                <a:latin typeface="微软雅黑" panose="020B0503020204020204" pitchFamily="34" charset="-122"/>
                <a:ea typeface="微软雅黑" panose="020B0503020204020204" pitchFamily="34" charset="-122"/>
              </a:rPr>
              <a:t>创新与特点</a:t>
            </a:r>
            <a:endParaRPr lang="zh-CN" altLang="en-US" sz="2000" b="1" dirty="0">
              <a:solidFill>
                <a:schemeClr val="bg1">
                  <a:lumMod val="65000"/>
                </a:schemeClr>
              </a:solidFill>
              <a:latin typeface="微软雅黑" panose="020B0503020204020204" pitchFamily="34" charset="-122"/>
              <a:ea typeface="微软雅黑" panose="020B0503020204020204" pitchFamily="34" charset="-122"/>
            </a:endParaRPr>
          </a:p>
        </p:txBody>
      </p:sp>
      <p:sp>
        <p:nvSpPr>
          <p:cNvPr id="17" name="文本框 16"/>
          <p:cNvSpPr txBox="1"/>
          <p:nvPr/>
        </p:nvSpPr>
        <p:spPr>
          <a:xfrm>
            <a:off x="9102720" y="553085"/>
            <a:ext cx="2755901" cy="398780"/>
          </a:xfrm>
          <a:prstGeom prst="rect">
            <a:avLst/>
          </a:prstGeom>
          <a:noFill/>
        </p:spPr>
        <p:txBody>
          <a:bodyPr wrap="square" rtlCol="0">
            <a:spAutoFit/>
          </a:bodyPr>
          <a:lstStyle/>
          <a:p>
            <a:pPr algn="ctr"/>
            <a:r>
              <a:rPr lang="zh-CN" altLang="en-US" sz="2000" b="1" dirty="0">
                <a:solidFill>
                  <a:schemeClr val="bg1">
                    <a:lumMod val="65000"/>
                  </a:schemeClr>
                </a:solidFill>
                <a:latin typeface="微软雅黑" panose="020B0503020204020204" pitchFamily="34" charset="-122"/>
                <a:ea typeface="微软雅黑" panose="020B0503020204020204" pitchFamily="34" charset="-122"/>
              </a:rPr>
              <a:t>时间安排计划</a:t>
            </a:r>
            <a:endParaRPr lang="zh-CN" altLang="en-US" sz="2000" b="1" dirty="0">
              <a:solidFill>
                <a:schemeClr val="bg1">
                  <a:lumMod val="65000"/>
                </a:schemeClr>
              </a:solidFill>
              <a:latin typeface="微软雅黑" panose="020B0503020204020204" pitchFamily="34" charset="-122"/>
              <a:ea typeface="微软雅黑" panose="020B0503020204020204" pitchFamily="34" charset="-122"/>
            </a:endParaRPr>
          </a:p>
        </p:txBody>
      </p:sp>
      <p:sp>
        <p:nvSpPr>
          <p:cNvPr id="18" name="等腰三角形 17"/>
          <p:cNvSpPr/>
          <p:nvPr/>
        </p:nvSpPr>
        <p:spPr>
          <a:xfrm rot="5400000">
            <a:off x="525436" y="676009"/>
            <a:ext cx="192943" cy="166330"/>
          </a:xfrm>
          <a:prstGeom prst="triangle">
            <a:avLst/>
          </a:prstGeom>
          <a:solidFill>
            <a:srgbClr val="004C9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nvSpPr>
        <p:spPr>
          <a:xfrm>
            <a:off x="919480" y="6113780"/>
            <a:ext cx="2541905" cy="275590"/>
          </a:xfrm>
          <a:prstGeom prst="rect">
            <a:avLst/>
          </a:prstGeom>
          <a:noFill/>
        </p:spPr>
        <p:txBody>
          <a:bodyPr wrap="square" rtlCol="0">
            <a:spAutoFit/>
          </a:bodyPr>
          <a:lstStyle/>
          <a:p>
            <a:r>
              <a:rPr lang="zh-CN" altLang="en-US" sz="1200" b="1">
                <a:solidFill>
                  <a:srgbClr val="004C9E"/>
                </a:solidFill>
                <a:latin typeface="微软雅黑" panose="020B0503020204020204" pitchFamily="34" charset="-122"/>
                <a:ea typeface="微软雅黑" panose="020B0503020204020204" pitchFamily="34" charset="-122"/>
                <a:cs typeface="微软雅黑" panose="020B0503020204020204" pitchFamily="34" charset="-122"/>
              </a:rPr>
              <a:t>耐劳苦</a:t>
            </a:r>
            <a:r>
              <a:rPr lang="en-US" altLang="zh-CN" sz="1200" b="1">
                <a:solidFill>
                  <a:srgbClr val="004C9E"/>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200" b="1">
                <a:solidFill>
                  <a:srgbClr val="004C9E"/>
                </a:solidFill>
                <a:latin typeface="微软雅黑" panose="020B0503020204020204" pitchFamily="34" charset="-122"/>
                <a:ea typeface="微软雅黑" panose="020B0503020204020204" pitchFamily="34" charset="-122"/>
                <a:cs typeface="微软雅黑" panose="020B0503020204020204" pitchFamily="34" charset="-122"/>
              </a:rPr>
              <a:t>尚俭朴</a:t>
            </a:r>
            <a:r>
              <a:rPr lang="en-US" altLang="zh-CN" sz="1200" b="1">
                <a:solidFill>
                  <a:srgbClr val="004C9E"/>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200" b="1">
                <a:solidFill>
                  <a:srgbClr val="004C9E"/>
                </a:solidFill>
                <a:latin typeface="微软雅黑" panose="020B0503020204020204" pitchFamily="34" charset="-122"/>
                <a:ea typeface="微软雅黑" panose="020B0503020204020204" pitchFamily="34" charset="-122"/>
                <a:cs typeface="微软雅黑" panose="020B0503020204020204" pitchFamily="34" charset="-122"/>
              </a:rPr>
              <a:t>勤学业</a:t>
            </a:r>
            <a:r>
              <a:rPr lang="en-US" altLang="zh-CN" sz="1200" b="1">
                <a:solidFill>
                  <a:srgbClr val="004C9E"/>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200" b="1">
                <a:solidFill>
                  <a:srgbClr val="004C9E"/>
                </a:solidFill>
                <a:latin typeface="微软雅黑" panose="020B0503020204020204" pitchFamily="34" charset="-122"/>
                <a:ea typeface="微软雅黑" panose="020B0503020204020204" pitchFamily="34" charset="-122"/>
                <a:cs typeface="微软雅黑" panose="020B0503020204020204" pitchFamily="34" charset="-122"/>
              </a:rPr>
              <a:t>爱国家</a:t>
            </a:r>
            <a:endParaRPr lang="zh-CN" altLang="en-US" sz="1200" b="1">
              <a:solidFill>
                <a:srgbClr val="004C9E"/>
              </a:solidFill>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11" name="图片 10" descr="校徽"/>
          <p:cNvPicPr>
            <a:picLocks noChangeAspect="1"/>
          </p:cNvPicPr>
          <p:nvPr/>
        </p:nvPicPr>
        <p:blipFill>
          <a:blip r:embed="rId2"/>
          <a:stretch>
            <a:fillRect/>
          </a:stretch>
        </p:blipFill>
        <p:spPr>
          <a:xfrm>
            <a:off x="10127615" y="5844540"/>
            <a:ext cx="1259840" cy="397510"/>
          </a:xfrm>
          <a:prstGeom prst="rect">
            <a:avLst/>
          </a:prstGeom>
        </p:spPr>
      </p:pic>
      <p:sp>
        <p:nvSpPr>
          <p:cNvPr id="4" name="椭圆 3"/>
          <p:cNvSpPr/>
          <p:nvPr/>
        </p:nvSpPr>
        <p:spPr>
          <a:xfrm>
            <a:off x="5376296" y="2187934"/>
            <a:ext cx="2218055" cy="2192655"/>
          </a:xfrm>
          <a:prstGeom prst="ellipse">
            <a:avLst/>
          </a:prstGeom>
          <a:solidFill>
            <a:srgbClr val="004B9D">
              <a:alpha val="2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a:latin typeface="微软雅黑" panose="020B0503020204020204" pitchFamily="34" charset="-122"/>
              <a:ea typeface="微软雅黑" panose="020B0503020204020204" pitchFamily="34" charset="-122"/>
            </a:endParaRPr>
          </a:p>
        </p:txBody>
      </p:sp>
      <p:pic>
        <p:nvPicPr>
          <p:cNvPr id="5" name="图片 4"/>
          <p:cNvPicPr>
            <a:picLocks noChangeAspect="1"/>
          </p:cNvPicPr>
          <p:nvPr/>
        </p:nvPicPr>
        <p:blipFill>
          <a:blip r:embed="rId3">
            <a:lum bright="12000" contrast="6000"/>
          </a:blip>
          <a:srcRect l="6175" t="3502" r="5418"/>
          <a:stretch>
            <a:fillRect/>
          </a:stretch>
        </p:blipFill>
        <p:spPr>
          <a:xfrm>
            <a:off x="5428243" y="2304456"/>
            <a:ext cx="2033270" cy="1959610"/>
          </a:xfrm>
          <a:prstGeom prst="ellipse">
            <a:avLst/>
          </a:prstGeom>
        </p:spPr>
      </p:pic>
      <p:sp>
        <p:nvSpPr>
          <p:cNvPr id="6" name="弧形 5"/>
          <p:cNvSpPr/>
          <p:nvPr/>
        </p:nvSpPr>
        <p:spPr>
          <a:xfrm>
            <a:off x="5125208" y="1874244"/>
            <a:ext cx="2839085" cy="2816225"/>
          </a:xfrm>
          <a:prstGeom prst="arc">
            <a:avLst>
              <a:gd name="adj1" fmla="val 21192328"/>
              <a:gd name="adj2" fmla="val 13412766"/>
            </a:avLst>
          </a:prstGeom>
          <a:ln w="25400">
            <a:gradFill flip="none" rotWithShape="1">
              <a:gsLst>
                <a:gs pos="46000">
                  <a:srgbClr val="004B9D"/>
                </a:gs>
                <a:gs pos="99000">
                  <a:schemeClr val="accent1">
                    <a:alpha val="0"/>
                  </a:schemeClr>
                </a:gs>
              </a:gsLst>
              <a:lin ang="0" scaled="1"/>
            </a:gradFill>
          </a:ln>
          <a:effectLst>
            <a:outerShdw blurRad="63500" algn="ctr" rotWithShape="0">
              <a:schemeClr val="accent1">
                <a:alpha val="50000"/>
              </a:schemeClr>
            </a:outerShdw>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355">
              <a:latin typeface="微软雅黑" panose="020B0503020204020204" pitchFamily="34" charset="-122"/>
              <a:ea typeface="微软雅黑" panose="020B0503020204020204" pitchFamily="34" charset="-122"/>
            </a:endParaRPr>
          </a:p>
        </p:txBody>
      </p:sp>
      <p:sp>
        <p:nvSpPr>
          <p:cNvPr id="12" name="弧形 11"/>
          <p:cNvSpPr/>
          <p:nvPr/>
        </p:nvSpPr>
        <p:spPr>
          <a:xfrm>
            <a:off x="5125208" y="1882744"/>
            <a:ext cx="2839085" cy="2816225"/>
          </a:xfrm>
          <a:prstGeom prst="arc">
            <a:avLst>
              <a:gd name="adj1" fmla="val 21192328"/>
              <a:gd name="adj2" fmla="val 13412766"/>
            </a:avLst>
          </a:prstGeom>
          <a:ln w="25400">
            <a:gradFill flip="none" rotWithShape="1">
              <a:gsLst>
                <a:gs pos="46000">
                  <a:srgbClr val="004B9D"/>
                </a:gs>
                <a:gs pos="99000">
                  <a:schemeClr val="accent1">
                    <a:alpha val="0"/>
                  </a:schemeClr>
                </a:gs>
              </a:gsLst>
              <a:lin ang="0" scaled="1"/>
            </a:gradFill>
          </a:ln>
          <a:effectLst>
            <a:outerShdw blurRad="63500" algn="ctr" rotWithShape="0">
              <a:schemeClr val="accent1">
                <a:alpha val="50000"/>
              </a:schemeClr>
            </a:outerShdw>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355">
              <a:latin typeface="微软雅黑" panose="020B0503020204020204" pitchFamily="34" charset="-122"/>
              <a:ea typeface="微软雅黑" panose="020B0503020204020204" pitchFamily="34" charset="-122"/>
            </a:endParaRPr>
          </a:p>
        </p:txBody>
      </p:sp>
      <p:sp>
        <p:nvSpPr>
          <p:cNvPr id="13" name="椭圆 12"/>
          <p:cNvSpPr/>
          <p:nvPr/>
        </p:nvSpPr>
        <p:spPr>
          <a:xfrm rot="11460000">
            <a:off x="4368272" y="450132"/>
            <a:ext cx="4940300" cy="5049520"/>
          </a:xfrm>
          <a:prstGeom prst="ellipse">
            <a:avLst/>
          </a:prstGeom>
          <a:noFill/>
          <a:ln w="12700" cap="rnd">
            <a:gradFill>
              <a:gsLst>
                <a:gs pos="0">
                  <a:srgbClr val="004B9D"/>
                </a:gs>
                <a:gs pos="65000">
                  <a:srgbClr val="004B9D">
                    <a:alpha val="0"/>
                  </a:srgbClr>
                </a:gs>
              </a:gsLst>
              <a:lin ang="5400000" scaled="1"/>
            </a:grad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solidFill>
                <a:prstClr val="white"/>
              </a:solidFill>
              <a:latin typeface="微软雅黑" panose="020B0503020204020204" pitchFamily="34" charset="-122"/>
              <a:ea typeface="微软雅黑" panose="020B0503020204020204" pitchFamily="34" charset="-122"/>
            </a:endParaRPr>
          </a:p>
        </p:txBody>
      </p:sp>
      <p:sp>
        <p:nvSpPr>
          <p:cNvPr id="19" name="文本框 6"/>
          <p:cNvSpPr txBox="1">
            <a:spLocks noChangeArrowheads="1"/>
          </p:cNvSpPr>
          <p:nvPr/>
        </p:nvSpPr>
        <p:spPr bwMode="auto">
          <a:xfrm flipH="1">
            <a:off x="2906211" y="2160616"/>
            <a:ext cx="1640668" cy="368300"/>
          </a:xfrm>
          <a:prstGeom prst="rect">
            <a:avLst/>
          </a:prstGeom>
        </p:spPr>
        <p:txBody>
          <a:bodyPr wrap="square">
            <a:spAutoFit/>
          </a:bodyPr>
          <a:lstStyle>
            <a:defPPr>
              <a:defRPr lang="zh-CN"/>
            </a:defPPr>
            <a:lvl1pPr marR="0" lvl="0" indent="0" defTabSz="914400" fontAlgn="auto">
              <a:lnSpc>
                <a:spcPct val="100000"/>
              </a:lnSpc>
              <a:spcBef>
                <a:spcPct val="0"/>
              </a:spcBef>
              <a:spcAft>
                <a:spcPct val="0"/>
              </a:spcAft>
              <a:buClrTx/>
              <a:buSzTx/>
              <a:buFontTx/>
              <a:buNone/>
              <a:defRPr kumimoji="0" sz="2400" b="1" i="0" u="none" strike="noStrike" cap="none" spc="0" normalizeH="0" baseline="0">
                <a:ln>
                  <a:noFill/>
                </a:ln>
                <a:solidFill>
                  <a:prstClr val="white"/>
                </a:solidFill>
                <a:effectLst/>
                <a:uLnTx/>
                <a:uFillTx/>
                <a:latin typeface="微软雅黑" panose="020B0503020204020204" pitchFamily="34" charset="-122"/>
                <a:ea typeface="微软雅黑" panose="020B0503020204020204" pitchFamily="34" charset="-122"/>
              </a:defRPr>
            </a:lvl1pPr>
          </a:lstStyle>
          <a:p>
            <a:pPr algn="r"/>
            <a:r>
              <a:rPr lang="zh-CN" altLang="en-US" sz="1800" dirty="0">
                <a:solidFill>
                  <a:srgbClr val="004B9D"/>
                </a:solidFill>
              </a:rPr>
              <a:t>用户价值</a:t>
            </a:r>
            <a:endParaRPr lang="en-US" altLang="zh-CN" sz="1800" dirty="0">
              <a:solidFill>
                <a:srgbClr val="004B9D"/>
              </a:solidFill>
            </a:endParaRPr>
          </a:p>
        </p:txBody>
      </p:sp>
      <p:sp>
        <p:nvSpPr>
          <p:cNvPr id="20" name="文本框 6"/>
          <p:cNvSpPr txBox="1">
            <a:spLocks noChangeArrowheads="1"/>
          </p:cNvSpPr>
          <p:nvPr/>
        </p:nvSpPr>
        <p:spPr bwMode="auto">
          <a:xfrm flipH="1">
            <a:off x="3042089" y="3791069"/>
            <a:ext cx="1640668" cy="368300"/>
          </a:xfrm>
          <a:prstGeom prst="rect">
            <a:avLst/>
          </a:prstGeom>
        </p:spPr>
        <p:txBody>
          <a:bodyPr wrap="square">
            <a:spAutoFit/>
          </a:bodyPr>
          <a:lstStyle>
            <a:defPPr>
              <a:defRPr lang="zh-CN"/>
            </a:defPPr>
            <a:lvl1pPr marR="0" lvl="0" indent="0" defTabSz="914400" fontAlgn="auto">
              <a:lnSpc>
                <a:spcPct val="100000"/>
              </a:lnSpc>
              <a:spcBef>
                <a:spcPct val="0"/>
              </a:spcBef>
              <a:spcAft>
                <a:spcPct val="0"/>
              </a:spcAft>
              <a:buClrTx/>
              <a:buSzTx/>
              <a:buFontTx/>
              <a:buNone/>
              <a:defRPr kumimoji="0" sz="2400" b="1" i="0" u="none" strike="noStrike" cap="none" spc="0" normalizeH="0" baseline="0">
                <a:ln>
                  <a:noFill/>
                </a:ln>
                <a:solidFill>
                  <a:prstClr val="white"/>
                </a:solidFill>
                <a:effectLst/>
                <a:uLnTx/>
                <a:uFillTx/>
                <a:latin typeface="微软雅黑" panose="020B0503020204020204" pitchFamily="34" charset="-122"/>
                <a:ea typeface="微软雅黑" panose="020B0503020204020204" pitchFamily="34" charset="-122"/>
              </a:defRPr>
            </a:lvl1pPr>
          </a:lstStyle>
          <a:p>
            <a:pPr algn="r"/>
            <a:r>
              <a:rPr lang="zh-CN" altLang="en-US" sz="1800" dirty="0">
                <a:solidFill>
                  <a:srgbClr val="004B9D"/>
                </a:solidFill>
              </a:rPr>
              <a:t>经济价值</a:t>
            </a:r>
            <a:endParaRPr lang="en-US" altLang="zh-CN" sz="1800" dirty="0">
              <a:solidFill>
                <a:srgbClr val="004B9D"/>
              </a:solidFill>
            </a:endParaRPr>
          </a:p>
        </p:txBody>
      </p:sp>
      <p:sp>
        <p:nvSpPr>
          <p:cNvPr id="21" name="文本框 6"/>
          <p:cNvSpPr txBox="1">
            <a:spLocks noChangeArrowheads="1"/>
          </p:cNvSpPr>
          <p:nvPr/>
        </p:nvSpPr>
        <p:spPr bwMode="auto">
          <a:xfrm flipH="1">
            <a:off x="7582359" y="2142967"/>
            <a:ext cx="1640668" cy="368300"/>
          </a:xfrm>
          <a:prstGeom prst="rect">
            <a:avLst/>
          </a:prstGeom>
        </p:spPr>
        <p:txBody>
          <a:bodyPr wrap="square">
            <a:spAutoFit/>
          </a:bodyPr>
          <a:lstStyle>
            <a:defPPr>
              <a:defRPr lang="zh-CN"/>
            </a:defPPr>
            <a:lvl1pPr marR="0" lvl="0" indent="0" defTabSz="914400" fontAlgn="auto">
              <a:lnSpc>
                <a:spcPct val="100000"/>
              </a:lnSpc>
              <a:spcBef>
                <a:spcPct val="0"/>
              </a:spcBef>
              <a:spcAft>
                <a:spcPct val="0"/>
              </a:spcAft>
              <a:buClrTx/>
              <a:buSzTx/>
              <a:buFontTx/>
              <a:buNone/>
              <a:defRPr kumimoji="0" sz="2400" b="1" i="0" u="none" strike="noStrike" cap="none" spc="0" normalizeH="0" baseline="0">
                <a:ln>
                  <a:noFill/>
                </a:ln>
                <a:solidFill>
                  <a:prstClr val="white"/>
                </a:solidFill>
                <a:effectLst/>
                <a:uLnTx/>
                <a:uFillTx/>
                <a:latin typeface="微软雅黑" panose="020B0503020204020204" pitchFamily="34" charset="-122"/>
                <a:ea typeface="微软雅黑" panose="020B0503020204020204" pitchFamily="34" charset="-122"/>
              </a:defRPr>
            </a:lvl1pPr>
          </a:lstStyle>
          <a:p>
            <a:pPr algn="r"/>
            <a:r>
              <a:rPr lang="zh-CN" altLang="en-US" sz="1800" dirty="0">
                <a:solidFill>
                  <a:srgbClr val="004B9D"/>
                </a:solidFill>
              </a:rPr>
              <a:t>技术价值</a:t>
            </a:r>
            <a:endParaRPr lang="en-US" altLang="zh-CN" sz="1800" dirty="0">
              <a:solidFill>
                <a:srgbClr val="004B9D"/>
              </a:solidFill>
            </a:endParaRPr>
          </a:p>
        </p:txBody>
      </p:sp>
      <p:sp>
        <p:nvSpPr>
          <p:cNvPr id="22" name="文本框 6"/>
          <p:cNvSpPr txBox="1">
            <a:spLocks noChangeArrowheads="1"/>
          </p:cNvSpPr>
          <p:nvPr/>
        </p:nvSpPr>
        <p:spPr bwMode="auto">
          <a:xfrm flipH="1">
            <a:off x="7507811" y="3830222"/>
            <a:ext cx="1640668" cy="368300"/>
          </a:xfrm>
          <a:prstGeom prst="rect">
            <a:avLst/>
          </a:prstGeom>
        </p:spPr>
        <p:txBody>
          <a:bodyPr wrap="square">
            <a:spAutoFit/>
          </a:bodyPr>
          <a:lstStyle>
            <a:defPPr>
              <a:defRPr lang="zh-CN"/>
            </a:defPPr>
            <a:lvl1pPr marR="0" lvl="0" indent="0" defTabSz="914400" fontAlgn="auto">
              <a:lnSpc>
                <a:spcPct val="100000"/>
              </a:lnSpc>
              <a:spcBef>
                <a:spcPct val="0"/>
              </a:spcBef>
              <a:spcAft>
                <a:spcPct val="0"/>
              </a:spcAft>
              <a:buClrTx/>
              <a:buSzTx/>
              <a:buFontTx/>
              <a:buNone/>
              <a:defRPr kumimoji="0" sz="2400" b="1" i="0" u="none" strike="noStrike" cap="none" spc="0" normalizeH="0" baseline="0">
                <a:ln>
                  <a:noFill/>
                </a:ln>
                <a:solidFill>
                  <a:prstClr val="white"/>
                </a:solidFill>
                <a:effectLst/>
                <a:uLnTx/>
                <a:uFillTx/>
                <a:latin typeface="微软雅黑" panose="020B0503020204020204" pitchFamily="34" charset="-122"/>
                <a:ea typeface="微软雅黑" panose="020B0503020204020204" pitchFamily="34" charset="-122"/>
              </a:defRPr>
            </a:lvl1pPr>
          </a:lstStyle>
          <a:p>
            <a:pPr algn="r"/>
            <a:r>
              <a:rPr lang="zh-CN" altLang="en-US" sz="1800" dirty="0">
                <a:solidFill>
                  <a:srgbClr val="004B9D"/>
                </a:solidFill>
              </a:rPr>
              <a:t>社会价值</a:t>
            </a:r>
            <a:endParaRPr lang="en-US" altLang="zh-CN" sz="1800" dirty="0">
              <a:solidFill>
                <a:srgbClr val="004B9D"/>
              </a:solidFill>
            </a:endParaRPr>
          </a:p>
        </p:txBody>
      </p:sp>
      <p:sp>
        <p:nvSpPr>
          <p:cNvPr id="31" name="文本框 30"/>
          <p:cNvSpPr txBox="1"/>
          <p:nvPr/>
        </p:nvSpPr>
        <p:spPr>
          <a:xfrm>
            <a:off x="1209479" y="4220437"/>
            <a:ext cx="3721908" cy="646331"/>
          </a:xfrm>
          <a:prstGeom prst="rect">
            <a:avLst/>
          </a:prstGeom>
          <a:noFill/>
          <a:ln w="38100">
            <a:solidFill>
              <a:srgbClr val="0070C0"/>
            </a:solidFill>
            <a:prstDash val="sysDot"/>
          </a:ln>
        </p:spPr>
        <p:txBody>
          <a:bodyPr wrap="square" rtlCol="0">
            <a:spAutoFit/>
          </a:bodyPr>
          <a:lstStyle/>
          <a:p>
            <a:r>
              <a:rPr lang="zh-CN" altLang="en-US" dirty="0"/>
              <a:t>硬件＜</a:t>
            </a:r>
            <a:r>
              <a:rPr lang="en-US" altLang="zh-CN" dirty="0"/>
              <a:t>300</a:t>
            </a:r>
            <a:r>
              <a:rPr lang="zh-CN" altLang="en-US" dirty="0"/>
              <a:t>元，按需投食</a:t>
            </a:r>
            <a:r>
              <a:rPr lang="en-US" altLang="zh-CN" dirty="0"/>
              <a:t>+</a:t>
            </a:r>
            <a:r>
              <a:rPr lang="zh-CN" altLang="en-US" dirty="0"/>
              <a:t>精准增氧，省料省电，性价比高</a:t>
            </a:r>
            <a:endParaRPr lang="zh-CN" altLang="en-US" dirty="0"/>
          </a:p>
        </p:txBody>
      </p:sp>
      <p:sp>
        <p:nvSpPr>
          <p:cNvPr id="32" name="矩形 31"/>
          <p:cNvSpPr/>
          <p:nvPr/>
        </p:nvSpPr>
        <p:spPr>
          <a:xfrm>
            <a:off x="2906211" y="3673421"/>
            <a:ext cx="45719" cy="4571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文本框 32"/>
          <p:cNvSpPr txBox="1"/>
          <p:nvPr/>
        </p:nvSpPr>
        <p:spPr>
          <a:xfrm>
            <a:off x="7863274" y="4270981"/>
            <a:ext cx="3721908" cy="646331"/>
          </a:xfrm>
          <a:prstGeom prst="rect">
            <a:avLst/>
          </a:prstGeom>
          <a:noFill/>
          <a:ln w="38100">
            <a:solidFill>
              <a:srgbClr val="0070C0"/>
            </a:solidFill>
            <a:prstDash val="sysDot"/>
          </a:ln>
        </p:spPr>
        <p:txBody>
          <a:bodyPr wrap="square" rtlCol="0">
            <a:spAutoFit/>
          </a:bodyPr>
          <a:lstStyle/>
          <a:p>
            <a:r>
              <a:rPr lang="zh-CN" altLang="en-US" dirty="0"/>
              <a:t>可迁移至智能蜂箱、水培等小型农业养殖场景</a:t>
            </a:r>
            <a:endParaRPr lang="zh-CN" altLang="en-US" dirty="0"/>
          </a:p>
        </p:txBody>
      </p:sp>
      <p:sp>
        <p:nvSpPr>
          <p:cNvPr id="34" name="文本框 33"/>
          <p:cNvSpPr txBox="1"/>
          <p:nvPr/>
        </p:nvSpPr>
        <p:spPr>
          <a:xfrm>
            <a:off x="7905388" y="2511267"/>
            <a:ext cx="3721908" cy="923330"/>
          </a:xfrm>
          <a:prstGeom prst="rect">
            <a:avLst/>
          </a:prstGeom>
          <a:noFill/>
          <a:ln w="38100">
            <a:solidFill>
              <a:srgbClr val="0070C0"/>
            </a:solidFill>
            <a:prstDash val="sysDot"/>
          </a:ln>
        </p:spPr>
        <p:txBody>
          <a:bodyPr wrap="square" rtlCol="0">
            <a:spAutoFit/>
          </a:bodyPr>
          <a:lstStyle/>
          <a:p>
            <a:r>
              <a:rPr lang="zh-CN" altLang="en-US" dirty="0">
                <a:solidFill>
                  <a:srgbClr val="0F1115"/>
                </a:solidFill>
                <a:latin typeface="quote-cjk-patch"/>
              </a:rPr>
              <a:t>系统完整覆盖了智能系统的六大核心模块（传感器、数据采集、知识库、推理机、解释器、执行器）</a:t>
            </a:r>
            <a:endParaRPr lang="zh-CN" altLang="en-US" dirty="0">
              <a:solidFill>
                <a:srgbClr val="0F1115"/>
              </a:solidFill>
              <a:latin typeface="quote-cjk-patch"/>
            </a:endParaRPr>
          </a:p>
        </p:txBody>
      </p:sp>
      <p:sp>
        <p:nvSpPr>
          <p:cNvPr id="35" name="文本框 34"/>
          <p:cNvSpPr txBox="1"/>
          <p:nvPr/>
        </p:nvSpPr>
        <p:spPr>
          <a:xfrm>
            <a:off x="1139672" y="2595716"/>
            <a:ext cx="3721908" cy="923330"/>
          </a:xfrm>
          <a:prstGeom prst="rect">
            <a:avLst/>
          </a:prstGeom>
          <a:noFill/>
          <a:ln w="38100">
            <a:solidFill>
              <a:srgbClr val="0070C0"/>
            </a:solidFill>
            <a:prstDash val="sysDot"/>
          </a:ln>
        </p:spPr>
        <p:txBody>
          <a:bodyPr wrap="square" rtlCol="0">
            <a:spAutoFit/>
          </a:bodyPr>
          <a:lstStyle/>
          <a:p>
            <a:r>
              <a:rPr lang="zh-CN" altLang="en-US" dirty="0">
                <a:solidFill>
                  <a:srgbClr val="0F1115"/>
                </a:solidFill>
                <a:latin typeface="quote-cjk-patch"/>
              </a:rPr>
              <a:t>实时监测</a:t>
            </a:r>
            <a:r>
              <a:rPr lang="en-US" altLang="zh-CN" dirty="0">
                <a:solidFill>
                  <a:srgbClr val="0F1115"/>
                </a:solidFill>
                <a:latin typeface="quote-cjk-patch"/>
              </a:rPr>
              <a:t>+</a:t>
            </a:r>
            <a:r>
              <a:rPr lang="zh-CN" altLang="en-US" dirty="0">
                <a:solidFill>
                  <a:srgbClr val="0F1115"/>
                </a:solidFill>
                <a:latin typeface="quote-cjk-patch"/>
              </a:rPr>
              <a:t>屏幕可视化</a:t>
            </a:r>
            <a:r>
              <a:rPr lang="en-US" altLang="zh-CN" dirty="0">
                <a:solidFill>
                  <a:srgbClr val="0F1115"/>
                </a:solidFill>
                <a:latin typeface="quote-cjk-patch"/>
              </a:rPr>
              <a:t>+</a:t>
            </a:r>
            <a:r>
              <a:rPr lang="zh-CN" altLang="en-US" dirty="0">
                <a:solidFill>
                  <a:srgbClr val="0F1115"/>
                </a:solidFill>
                <a:latin typeface="quote-cjk-patch"/>
              </a:rPr>
              <a:t>智能决策</a:t>
            </a:r>
            <a:r>
              <a:rPr lang="en-US" altLang="zh-CN" dirty="0">
                <a:solidFill>
                  <a:srgbClr val="0F1115"/>
                </a:solidFill>
                <a:latin typeface="quote-cjk-patch"/>
              </a:rPr>
              <a:t>+</a:t>
            </a:r>
            <a:r>
              <a:rPr lang="zh-CN" altLang="en-US" dirty="0">
                <a:solidFill>
                  <a:srgbClr val="0F1115"/>
                </a:solidFill>
                <a:latin typeface="quote-cjk-patch"/>
              </a:rPr>
              <a:t>推理解释，大幅降低养鱼的专业门槛，提升新手养鱼成功率</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剪去单角的矩形 3"/>
          <p:cNvSpPr/>
          <p:nvPr/>
        </p:nvSpPr>
        <p:spPr>
          <a:xfrm>
            <a:off x="-28188" y="0"/>
            <a:ext cx="6572939" cy="6858000"/>
          </a:xfrm>
          <a:prstGeom prst="snip1Rect">
            <a:avLst>
              <a:gd name="adj" fmla="val 50000"/>
            </a:avLst>
          </a:prstGeom>
          <a:solidFill>
            <a:srgbClr val="004C9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7" name="组合 6"/>
          <p:cNvGrpSpPr/>
          <p:nvPr userDrawn="1"/>
        </p:nvGrpSpPr>
        <p:grpSpPr>
          <a:xfrm>
            <a:off x="490537" y="472440"/>
            <a:ext cx="11210925" cy="6019800"/>
            <a:chOff x="490484" y="441960"/>
            <a:chExt cx="11211033" cy="6019801"/>
          </a:xfrm>
        </p:grpSpPr>
        <p:pic>
          <p:nvPicPr>
            <p:cNvPr id="8" name="图片 7"/>
            <p:cNvPicPr>
              <a:picLocks noChangeAspect="1"/>
            </p:cNvPicPr>
            <p:nvPr userDrawn="1"/>
          </p:nvPicPr>
          <p:blipFill rotWithShape="1">
            <a:blip r:embed="rId1">
              <a:extLst>
                <a:ext uri="{28A0092B-C50C-407E-A947-70E740481C1C}">
                  <a14:useLocalDpi xmlns:a14="http://schemas.microsoft.com/office/drawing/2010/main" val="0"/>
                </a:ext>
              </a:extLst>
            </a:blip>
            <a:srcRect l="1515" t="4277" r="530" b="14319"/>
            <a:stretch>
              <a:fillRect/>
            </a:stretch>
          </p:blipFill>
          <p:spPr>
            <a:xfrm>
              <a:off x="490484" y="441960"/>
              <a:ext cx="11211033" cy="6019801"/>
            </a:xfrm>
            <a:prstGeom prst="rect">
              <a:avLst/>
            </a:prstGeom>
            <a:effectLst>
              <a:outerShdw blurRad="355600" dist="139700" dir="2700000" algn="tl" rotWithShape="0">
                <a:prstClr val="black">
                  <a:alpha val="61000"/>
                </a:prstClr>
              </a:outerShdw>
            </a:effectLst>
          </p:spPr>
        </p:pic>
        <p:sp>
          <p:nvSpPr>
            <p:cNvPr id="9" name="矩形 8"/>
            <p:cNvSpPr/>
            <p:nvPr userDrawn="1"/>
          </p:nvSpPr>
          <p:spPr>
            <a:xfrm>
              <a:off x="490484" y="441960"/>
              <a:ext cx="11211032" cy="6019801"/>
            </a:xfrm>
            <a:prstGeom prst="rect">
              <a:avLst/>
            </a:prstGeom>
            <a:solidFill>
              <a:srgbClr val="FFFEF7">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400" b="1" dirty="0">
                <a:solidFill>
                  <a:srgbClr val="004C9E"/>
                </a:solidFill>
                <a:latin typeface="微软雅黑" panose="020B0503020204020204" pitchFamily="34" charset="-122"/>
                <a:ea typeface="微软雅黑" panose="020B0503020204020204" pitchFamily="34" charset="-122"/>
              </a:endParaRPr>
            </a:p>
          </p:txBody>
        </p:sp>
      </p:grpSp>
      <p:cxnSp>
        <p:nvCxnSpPr>
          <p:cNvPr id="43" name="直接连接符 42"/>
          <p:cNvCxnSpPr/>
          <p:nvPr/>
        </p:nvCxnSpPr>
        <p:spPr>
          <a:xfrm>
            <a:off x="899088" y="6096082"/>
            <a:ext cx="9058311" cy="4300"/>
          </a:xfrm>
          <a:prstGeom prst="line">
            <a:avLst/>
          </a:prstGeom>
        </p:spPr>
        <p:style>
          <a:lnRef idx="1">
            <a:schemeClr val="accent1"/>
          </a:lnRef>
          <a:fillRef idx="0">
            <a:schemeClr val="accent1"/>
          </a:fillRef>
          <a:effectRef idx="0">
            <a:schemeClr val="accent1"/>
          </a:effectRef>
          <a:fontRef idx="minor">
            <a:schemeClr val="tx1"/>
          </a:fontRef>
        </p:style>
      </p:cxnSp>
      <p:grpSp>
        <p:nvGrpSpPr>
          <p:cNvPr id="3" name="组合 2"/>
          <p:cNvGrpSpPr/>
          <p:nvPr/>
        </p:nvGrpSpPr>
        <p:grpSpPr>
          <a:xfrm>
            <a:off x="1216148" y="3293353"/>
            <a:ext cx="8387008" cy="1151674"/>
            <a:chOff x="1216148" y="3293353"/>
            <a:chExt cx="8387008" cy="1151674"/>
          </a:xfrm>
        </p:grpSpPr>
        <p:sp>
          <p:nvSpPr>
            <p:cNvPr id="55" name="PA-矩形 4"/>
            <p:cNvSpPr>
              <a:spLocks noChangeArrowheads="1"/>
            </p:cNvSpPr>
            <p:nvPr>
              <p:custDataLst>
                <p:tags r:id="rId2"/>
              </p:custDataLst>
            </p:nvPr>
          </p:nvSpPr>
          <p:spPr bwMode="auto">
            <a:xfrm>
              <a:off x="2761221" y="3495109"/>
              <a:ext cx="2835791"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000" b="1" dirty="0">
                  <a:solidFill>
                    <a:schemeClr val="bg1"/>
                  </a:solidFill>
                  <a:latin typeface="微软雅黑" panose="020B0503020204020204" pitchFamily="34" charset="-122"/>
                  <a:ea typeface="微软雅黑" panose="020B0503020204020204" pitchFamily="34" charset="-122"/>
                  <a:cs typeface="阿里巴巴普惠体 H" panose="00020600040101010101" pitchFamily="18" charset="-122"/>
                  <a:sym typeface="+mn-lt"/>
                </a:rPr>
                <a:t>输入标题</a:t>
              </a:r>
              <a:endParaRPr lang="zh-CN" altLang="en-US" sz="2000" b="1" dirty="0">
                <a:solidFill>
                  <a:schemeClr val="bg1"/>
                </a:solidFill>
                <a:latin typeface="微软雅黑" panose="020B0503020204020204" pitchFamily="34" charset="-122"/>
                <a:ea typeface="微软雅黑" panose="020B0503020204020204" pitchFamily="34" charset="-122"/>
                <a:cs typeface="阿里巴巴普惠体 H" panose="00020600040101010101" pitchFamily="18" charset="-122"/>
                <a:sym typeface="+mn-lt"/>
              </a:endParaRPr>
            </a:p>
          </p:txBody>
        </p:sp>
        <p:sp>
          <p:nvSpPr>
            <p:cNvPr id="56" name="PA-矩形 4"/>
            <p:cNvSpPr>
              <a:spLocks noChangeArrowheads="1"/>
            </p:cNvSpPr>
            <p:nvPr>
              <p:custDataLst>
                <p:tags r:id="rId3"/>
              </p:custDataLst>
            </p:nvPr>
          </p:nvSpPr>
          <p:spPr bwMode="auto">
            <a:xfrm>
              <a:off x="4018521" y="3293353"/>
              <a:ext cx="4829354" cy="6082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pPr>
              <a:r>
                <a:rPr lang="zh-CN" altLang="en-US" sz="1400" dirty="0">
                  <a:solidFill>
                    <a:schemeClr val="bg1"/>
                  </a:solidFill>
                  <a:ea typeface="微软雅黑" panose="020B0503020204020204" pitchFamily="34" charset="-122"/>
                  <a:cs typeface="思源黑体旧字形 Light" panose="020B0300000000000000" charset="-128"/>
                  <a:sym typeface="Arial" panose="020B0604020202020204" pitchFamily="34" charset="0"/>
                </a:rPr>
                <a:t>在此处添加您的文本内容在此处添加您的文本内容在此处添加您的文本内容</a:t>
              </a:r>
              <a:endParaRPr lang="zh-CN" altLang="en-US" sz="1400" dirty="0">
                <a:solidFill>
                  <a:schemeClr val="bg1"/>
                </a:solidFill>
                <a:latin typeface="微软雅黑" panose="020B0503020204020204" pitchFamily="34" charset="-122"/>
                <a:ea typeface="微软雅黑" panose="020B0503020204020204" pitchFamily="34" charset="-122"/>
                <a:cs typeface="OPPOSans M" panose="00020600040101010101" pitchFamily="18" charset="-122"/>
                <a:sym typeface="+mn-lt"/>
              </a:endParaRPr>
            </a:p>
          </p:txBody>
        </p:sp>
        <p:sp>
          <p:nvSpPr>
            <p:cNvPr id="36" name="PA-任意多边形 10"/>
            <p:cNvSpPr/>
            <p:nvPr>
              <p:custDataLst>
                <p:tags r:id="rId4"/>
              </p:custDataLst>
            </p:nvPr>
          </p:nvSpPr>
          <p:spPr>
            <a:xfrm>
              <a:off x="2346576" y="3380201"/>
              <a:ext cx="6756144" cy="1064826"/>
            </a:xfrm>
            <a:custGeom>
              <a:avLst/>
              <a:gdLst>
                <a:gd name="connsiteX0" fmla="*/ 377357 w 5739194"/>
                <a:gd name="connsiteY0" fmla="*/ 0 h 904546"/>
                <a:gd name="connsiteX1" fmla="*/ 5484456 w 5739194"/>
                <a:gd name="connsiteY1" fmla="*/ 0 h 904546"/>
                <a:gd name="connsiteX2" fmla="*/ 5739194 w 5739194"/>
                <a:gd name="connsiteY2" fmla="*/ 254738 h 904546"/>
                <a:gd name="connsiteX3" fmla="*/ 5739194 w 5739194"/>
                <a:gd name="connsiteY3" fmla="*/ 649808 h 904546"/>
                <a:gd name="connsiteX4" fmla="*/ 5484456 w 5739194"/>
                <a:gd name="connsiteY4" fmla="*/ 904546 h 904546"/>
                <a:gd name="connsiteX5" fmla="*/ 377357 w 5739194"/>
                <a:gd name="connsiteY5" fmla="*/ 904546 h 904546"/>
                <a:gd name="connsiteX6" fmla="*/ 122619 w 5739194"/>
                <a:gd name="connsiteY6" fmla="*/ 649808 h 904546"/>
                <a:gd name="connsiteX7" fmla="*/ 122619 w 5739194"/>
                <a:gd name="connsiteY7" fmla="*/ 523392 h 904546"/>
                <a:gd name="connsiteX8" fmla="*/ 0 w 5739194"/>
                <a:gd name="connsiteY8" fmla="*/ 452272 h 904546"/>
                <a:gd name="connsiteX9" fmla="*/ 122619 w 5739194"/>
                <a:gd name="connsiteY9" fmla="*/ 381153 h 904546"/>
                <a:gd name="connsiteX10" fmla="*/ 122619 w 5739194"/>
                <a:gd name="connsiteY10" fmla="*/ 254738 h 904546"/>
                <a:gd name="connsiteX11" fmla="*/ 377357 w 5739194"/>
                <a:gd name="connsiteY11" fmla="*/ 0 h 9045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739194" h="904546">
                  <a:moveTo>
                    <a:pt x="377357" y="0"/>
                  </a:moveTo>
                  <a:lnTo>
                    <a:pt x="5484456" y="0"/>
                  </a:lnTo>
                  <a:cubicBezTo>
                    <a:pt x="5625144" y="0"/>
                    <a:pt x="5739194" y="114050"/>
                    <a:pt x="5739194" y="254738"/>
                  </a:cubicBezTo>
                  <a:lnTo>
                    <a:pt x="5739194" y="649808"/>
                  </a:lnTo>
                  <a:cubicBezTo>
                    <a:pt x="5739194" y="790496"/>
                    <a:pt x="5625144" y="904546"/>
                    <a:pt x="5484456" y="904546"/>
                  </a:cubicBezTo>
                  <a:lnTo>
                    <a:pt x="377357" y="904546"/>
                  </a:lnTo>
                  <a:cubicBezTo>
                    <a:pt x="236669" y="904546"/>
                    <a:pt x="122619" y="790496"/>
                    <a:pt x="122619" y="649808"/>
                  </a:cubicBezTo>
                  <a:lnTo>
                    <a:pt x="122619" y="523392"/>
                  </a:lnTo>
                  <a:lnTo>
                    <a:pt x="0" y="452272"/>
                  </a:lnTo>
                  <a:lnTo>
                    <a:pt x="122619" y="381153"/>
                  </a:lnTo>
                  <a:lnTo>
                    <a:pt x="122619" y="254738"/>
                  </a:lnTo>
                  <a:cubicBezTo>
                    <a:pt x="122619" y="114050"/>
                    <a:pt x="236669" y="0"/>
                    <a:pt x="377357" y="0"/>
                  </a:cubicBezTo>
                  <a:close/>
                </a:path>
              </a:pathLst>
            </a:custGeom>
            <a:solidFill>
              <a:srgbClr val="5B9BD5"/>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latin typeface="微软雅黑" panose="020B0503020204020204" pitchFamily="34" charset="-122"/>
                <a:ea typeface="微软雅黑" panose="020B0503020204020204" pitchFamily="34" charset="-122"/>
              </a:endParaRPr>
            </a:p>
          </p:txBody>
        </p:sp>
        <p:sp>
          <p:nvSpPr>
            <p:cNvPr id="37" name="椭圆 36"/>
            <p:cNvSpPr/>
            <p:nvPr/>
          </p:nvSpPr>
          <p:spPr>
            <a:xfrm>
              <a:off x="1216148" y="3480814"/>
              <a:ext cx="863600" cy="863600"/>
            </a:xfrm>
            <a:prstGeom prst="ellipse">
              <a:avLst/>
            </a:prstGeom>
            <a:solidFill>
              <a:srgbClr val="004C9E"/>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altLang="zh-CN" b="1" dirty="0">
                  <a:latin typeface="微软雅黑" panose="020B0503020204020204" pitchFamily="34" charset="-122"/>
                  <a:ea typeface="微软雅黑" panose="020B0503020204020204" pitchFamily="34" charset="-122"/>
                </a:rPr>
                <a:t>02</a:t>
              </a:r>
              <a:endParaRPr lang="zh-CN" altLang="en-US" b="1" dirty="0">
                <a:latin typeface="微软雅黑" panose="020B0503020204020204" pitchFamily="34" charset="-122"/>
                <a:ea typeface="微软雅黑" panose="020B0503020204020204" pitchFamily="34" charset="-122"/>
              </a:endParaRPr>
            </a:p>
          </p:txBody>
        </p:sp>
        <p:sp>
          <p:nvSpPr>
            <p:cNvPr id="38" name="PA-矩形 4"/>
            <p:cNvSpPr>
              <a:spLocks noChangeArrowheads="1"/>
            </p:cNvSpPr>
            <p:nvPr>
              <p:custDataLst>
                <p:tags r:id="rId5"/>
              </p:custDataLst>
            </p:nvPr>
          </p:nvSpPr>
          <p:spPr bwMode="auto">
            <a:xfrm>
              <a:off x="2786661" y="3735845"/>
              <a:ext cx="2835791"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000" b="1" dirty="0">
                  <a:solidFill>
                    <a:schemeClr val="bg1"/>
                  </a:solidFill>
                  <a:latin typeface="微软雅黑" panose="020B0503020204020204" pitchFamily="34" charset="-122"/>
                  <a:ea typeface="微软雅黑" panose="020B0503020204020204" pitchFamily="34" charset="-122"/>
                  <a:cs typeface="阿里巴巴普惠体 H" panose="00020600040101010101" pitchFamily="18" charset="-122"/>
                  <a:sym typeface="+mn-lt"/>
                </a:rPr>
                <a:t>云端智能决策层</a:t>
              </a:r>
              <a:endParaRPr lang="zh-CN" altLang="en-US" sz="2000" b="1" dirty="0">
                <a:solidFill>
                  <a:schemeClr val="bg1"/>
                </a:solidFill>
                <a:latin typeface="微软雅黑" panose="020B0503020204020204" pitchFamily="34" charset="-122"/>
                <a:ea typeface="微软雅黑" panose="020B0503020204020204" pitchFamily="34" charset="-122"/>
                <a:cs typeface="阿里巴巴普惠体 H" panose="00020600040101010101" pitchFamily="18" charset="-122"/>
                <a:sym typeface="+mn-lt"/>
              </a:endParaRPr>
            </a:p>
          </p:txBody>
        </p:sp>
        <p:sp>
          <p:nvSpPr>
            <p:cNvPr id="39" name="PA-矩形 4"/>
            <p:cNvSpPr>
              <a:spLocks noChangeArrowheads="1"/>
            </p:cNvSpPr>
            <p:nvPr>
              <p:custDataLst>
                <p:tags r:id="rId6"/>
              </p:custDataLst>
            </p:nvPr>
          </p:nvSpPr>
          <p:spPr bwMode="auto">
            <a:xfrm>
              <a:off x="4773802" y="3608492"/>
              <a:ext cx="4829354" cy="6082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pPr>
              <a:r>
                <a:rPr lang="en-US" altLang="zh-CN" sz="1400" dirty="0">
                  <a:solidFill>
                    <a:schemeClr val="bg1"/>
                  </a:solidFill>
                  <a:ea typeface="微软雅黑" panose="020B0503020204020204" pitchFamily="34" charset="-122"/>
                  <a:cs typeface="思源黑体旧字形 Light" panose="020B0300000000000000" charset="-128"/>
                  <a:sym typeface="Arial" panose="020B0604020202020204" pitchFamily="34" charset="0"/>
                </a:rPr>
                <a:t>3. </a:t>
              </a:r>
              <a:r>
                <a:rPr lang="zh-CN" altLang="en-US" sz="1400" dirty="0">
                  <a:solidFill>
                    <a:schemeClr val="bg1"/>
                  </a:solidFill>
                  <a:ea typeface="微软雅黑" panose="020B0503020204020204" pitchFamily="34" charset="-122"/>
                  <a:cs typeface="思源黑体旧字形 Light" panose="020B0300000000000000" charset="-128"/>
                  <a:sym typeface="Arial" panose="020B0604020202020204" pitchFamily="34" charset="0"/>
                </a:rPr>
                <a:t>基于</a:t>
              </a:r>
              <a:r>
                <a:rPr lang="en-US" altLang="zh-CN" sz="1400" dirty="0">
                  <a:solidFill>
                    <a:schemeClr val="bg1"/>
                  </a:solidFill>
                  <a:ea typeface="微软雅黑" panose="020B0503020204020204" pitchFamily="34" charset="-122"/>
                  <a:cs typeface="思源黑体旧字形 Light" panose="020B0300000000000000" charset="-128"/>
                  <a:sym typeface="Arial" panose="020B0604020202020204" pitchFamily="34" charset="0"/>
                </a:rPr>
                <a:t>LLM</a:t>
              </a:r>
              <a:r>
                <a:rPr lang="zh-CN" altLang="en-US" sz="1400" dirty="0">
                  <a:solidFill>
                    <a:schemeClr val="bg1"/>
                  </a:solidFill>
                  <a:ea typeface="微软雅黑" panose="020B0503020204020204" pitchFamily="34" charset="-122"/>
                  <a:cs typeface="思源黑体旧字形 Light" panose="020B0300000000000000" charset="-128"/>
                  <a:sym typeface="Arial" panose="020B0604020202020204" pitchFamily="34" charset="0"/>
                </a:rPr>
                <a:t>的混合推理引擎（规则</a:t>
              </a:r>
              <a:r>
                <a:rPr lang="en-US" altLang="zh-CN" sz="1400" dirty="0">
                  <a:solidFill>
                    <a:schemeClr val="bg1"/>
                  </a:solidFill>
                  <a:ea typeface="微软雅黑" panose="020B0503020204020204" pitchFamily="34" charset="-122"/>
                  <a:cs typeface="思源黑体旧字形 Light" panose="020B0300000000000000" charset="-128"/>
                  <a:sym typeface="Arial" panose="020B0604020202020204" pitchFamily="34" charset="0"/>
                </a:rPr>
                <a:t>+</a:t>
              </a:r>
              <a:r>
                <a:rPr lang="zh-CN" altLang="en-US" sz="1400" dirty="0">
                  <a:solidFill>
                    <a:schemeClr val="bg1"/>
                  </a:solidFill>
                  <a:ea typeface="微软雅黑" panose="020B0503020204020204" pitchFamily="34" charset="-122"/>
                  <a:cs typeface="思源黑体旧字形 Light" panose="020B0300000000000000" charset="-128"/>
                  <a:sym typeface="Arial" panose="020B0604020202020204" pitchFamily="34" charset="0"/>
                </a:rPr>
                <a:t>可信度</a:t>
              </a:r>
              <a:r>
                <a:rPr lang="en-US" altLang="zh-CN" sz="1400" dirty="0">
                  <a:solidFill>
                    <a:schemeClr val="bg1"/>
                  </a:solidFill>
                  <a:ea typeface="微软雅黑" panose="020B0503020204020204" pitchFamily="34" charset="-122"/>
                  <a:cs typeface="思源黑体旧字形 Light" panose="020B0300000000000000" charset="-128"/>
                  <a:sym typeface="Arial" panose="020B0604020202020204" pitchFamily="34" charset="0"/>
                </a:rPr>
                <a:t>+</a:t>
              </a:r>
              <a:r>
                <a:rPr lang="zh-CN" altLang="en-US" sz="1400" dirty="0">
                  <a:solidFill>
                    <a:schemeClr val="bg1"/>
                  </a:solidFill>
                  <a:ea typeface="微软雅黑" panose="020B0503020204020204" pitchFamily="34" charset="-122"/>
                  <a:cs typeface="思源黑体旧字形 Light" panose="020B0300000000000000" charset="-128"/>
                  <a:sym typeface="Arial" panose="020B0604020202020204" pitchFamily="34" charset="0"/>
                </a:rPr>
                <a:t>自然语言）</a:t>
              </a:r>
              <a:endParaRPr lang="zh-CN" altLang="en-US" sz="1400" dirty="0">
                <a:solidFill>
                  <a:schemeClr val="bg1"/>
                </a:solidFill>
                <a:ea typeface="微软雅黑" panose="020B0503020204020204" pitchFamily="34" charset="-122"/>
                <a:cs typeface="思源黑体旧字形 Light" panose="020B0300000000000000" charset="-128"/>
                <a:sym typeface="Arial" panose="020B0604020202020204" pitchFamily="34" charset="0"/>
              </a:endParaRPr>
            </a:p>
            <a:p>
              <a:pPr eaLnBrk="1" hangingPunct="1">
                <a:lnSpc>
                  <a:spcPct val="150000"/>
                </a:lnSpc>
              </a:pPr>
              <a:r>
                <a:rPr lang="en-US" altLang="zh-CN" sz="1400" dirty="0">
                  <a:solidFill>
                    <a:schemeClr val="bg1"/>
                  </a:solidFill>
                  <a:ea typeface="微软雅黑" panose="020B0503020204020204" pitchFamily="34" charset="-122"/>
                  <a:cs typeface="思源黑体旧字形 Light" panose="020B0300000000000000" charset="-128"/>
                  <a:sym typeface="Arial" panose="020B0604020202020204" pitchFamily="34" charset="0"/>
                </a:rPr>
                <a:t>4. </a:t>
              </a:r>
              <a:r>
                <a:rPr lang="zh-CN" altLang="en-US" sz="1400" dirty="0">
                  <a:solidFill>
                    <a:schemeClr val="bg1"/>
                  </a:solidFill>
                  <a:ea typeface="微软雅黑" panose="020B0503020204020204" pitchFamily="34" charset="-122"/>
                  <a:cs typeface="思源黑体旧字形 Light" panose="020B0300000000000000" charset="-128"/>
                  <a:sym typeface="Arial" panose="020B0604020202020204" pitchFamily="34" charset="0"/>
                </a:rPr>
                <a:t>数据持久化与历史趋势分析</a:t>
              </a:r>
              <a:endParaRPr lang="zh-CN" altLang="en-US" sz="1400" dirty="0">
                <a:solidFill>
                  <a:schemeClr val="bg1"/>
                </a:solidFill>
                <a:latin typeface="微软雅黑" panose="020B0503020204020204" pitchFamily="34" charset="-122"/>
                <a:ea typeface="微软雅黑" panose="020B0503020204020204" pitchFamily="34" charset="-122"/>
                <a:cs typeface="OPPOSans M" panose="00020600040101010101" pitchFamily="18" charset="-122"/>
                <a:sym typeface="+mn-lt"/>
              </a:endParaRPr>
            </a:p>
          </p:txBody>
        </p:sp>
      </p:grpSp>
      <p:grpSp>
        <p:nvGrpSpPr>
          <p:cNvPr id="5" name="组合 4"/>
          <p:cNvGrpSpPr/>
          <p:nvPr/>
        </p:nvGrpSpPr>
        <p:grpSpPr>
          <a:xfrm>
            <a:off x="2730779" y="4650990"/>
            <a:ext cx="8283999" cy="1064826"/>
            <a:chOff x="2730779" y="4650990"/>
            <a:chExt cx="8283999" cy="1064826"/>
          </a:xfrm>
        </p:grpSpPr>
        <p:sp>
          <p:nvSpPr>
            <p:cNvPr id="45" name="PA-任意多边形 10"/>
            <p:cNvSpPr/>
            <p:nvPr>
              <p:custDataLst>
                <p:tags r:id="rId7"/>
              </p:custDataLst>
            </p:nvPr>
          </p:nvSpPr>
          <p:spPr>
            <a:xfrm>
              <a:off x="3810407" y="4650990"/>
              <a:ext cx="6756144" cy="1064826"/>
            </a:xfrm>
            <a:custGeom>
              <a:avLst/>
              <a:gdLst>
                <a:gd name="connsiteX0" fmla="*/ 377357 w 5739194"/>
                <a:gd name="connsiteY0" fmla="*/ 0 h 904546"/>
                <a:gd name="connsiteX1" fmla="*/ 5484456 w 5739194"/>
                <a:gd name="connsiteY1" fmla="*/ 0 h 904546"/>
                <a:gd name="connsiteX2" fmla="*/ 5739194 w 5739194"/>
                <a:gd name="connsiteY2" fmla="*/ 254738 h 904546"/>
                <a:gd name="connsiteX3" fmla="*/ 5739194 w 5739194"/>
                <a:gd name="connsiteY3" fmla="*/ 649808 h 904546"/>
                <a:gd name="connsiteX4" fmla="*/ 5484456 w 5739194"/>
                <a:gd name="connsiteY4" fmla="*/ 904546 h 904546"/>
                <a:gd name="connsiteX5" fmla="*/ 377357 w 5739194"/>
                <a:gd name="connsiteY5" fmla="*/ 904546 h 904546"/>
                <a:gd name="connsiteX6" fmla="*/ 122619 w 5739194"/>
                <a:gd name="connsiteY6" fmla="*/ 649808 h 904546"/>
                <a:gd name="connsiteX7" fmla="*/ 122619 w 5739194"/>
                <a:gd name="connsiteY7" fmla="*/ 523392 h 904546"/>
                <a:gd name="connsiteX8" fmla="*/ 0 w 5739194"/>
                <a:gd name="connsiteY8" fmla="*/ 452272 h 904546"/>
                <a:gd name="connsiteX9" fmla="*/ 122619 w 5739194"/>
                <a:gd name="connsiteY9" fmla="*/ 381153 h 904546"/>
                <a:gd name="connsiteX10" fmla="*/ 122619 w 5739194"/>
                <a:gd name="connsiteY10" fmla="*/ 254738 h 904546"/>
                <a:gd name="connsiteX11" fmla="*/ 377357 w 5739194"/>
                <a:gd name="connsiteY11" fmla="*/ 0 h 9045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739194" h="904546">
                  <a:moveTo>
                    <a:pt x="377357" y="0"/>
                  </a:moveTo>
                  <a:lnTo>
                    <a:pt x="5484456" y="0"/>
                  </a:lnTo>
                  <a:cubicBezTo>
                    <a:pt x="5625144" y="0"/>
                    <a:pt x="5739194" y="114050"/>
                    <a:pt x="5739194" y="254738"/>
                  </a:cubicBezTo>
                  <a:lnTo>
                    <a:pt x="5739194" y="649808"/>
                  </a:lnTo>
                  <a:cubicBezTo>
                    <a:pt x="5739194" y="790496"/>
                    <a:pt x="5625144" y="904546"/>
                    <a:pt x="5484456" y="904546"/>
                  </a:cubicBezTo>
                  <a:lnTo>
                    <a:pt x="377357" y="904546"/>
                  </a:lnTo>
                  <a:cubicBezTo>
                    <a:pt x="236669" y="904546"/>
                    <a:pt x="122619" y="790496"/>
                    <a:pt x="122619" y="649808"/>
                  </a:cubicBezTo>
                  <a:lnTo>
                    <a:pt x="122619" y="523392"/>
                  </a:lnTo>
                  <a:lnTo>
                    <a:pt x="0" y="452272"/>
                  </a:lnTo>
                  <a:lnTo>
                    <a:pt x="122619" y="381153"/>
                  </a:lnTo>
                  <a:lnTo>
                    <a:pt x="122619" y="254738"/>
                  </a:lnTo>
                  <a:cubicBezTo>
                    <a:pt x="122619" y="114050"/>
                    <a:pt x="236669" y="0"/>
                    <a:pt x="377357" y="0"/>
                  </a:cubicBezTo>
                  <a:close/>
                </a:path>
              </a:pathLst>
            </a:custGeom>
            <a:solidFill>
              <a:srgbClr val="004C9E"/>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latin typeface="微软雅黑" panose="020B0503020204020204" pitchFamily="34" charset="-122"/>
                <a:ea typeface="微软雅黑" panose="020B0503020204020204" pitchFamily="34" charset="-122"/>
              </a:endParaRPr>
            </a:p>
          </p:txBody>
        </p:sp>
        <p:sp>
          <p:nvSpPr>
            <p:cNvPr id="53" name="椭圆 52"/>
            <p:cNvSpPr/>
            <p:nvPr/>
          </p:nvSpPr>
          <p:spPr>
            <a:xfrm>
              <a:off x="2730779" y="4801416"/>
              <a:ext cx="863600" cy="863600"/>
            </a:xfrm>
            <a:prstGeom prst="ellipse">
              <a:avLst/>
            </a:prstGeom>
            <a:solidFill>
              <a:srgbClr val="5B9BD5"/>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altLang="zh-CN" b="1" dirty="0">
                  <a:latin typeface="微软雅黑" panose="020B0503020204020204" pitchFamily="34" charset="-122"/>
                  <a:ea typeface="微软雅黑" panose="020B0503020204020204" pitchFamily="34" charset="-122"/>
                </a:rPr>
                <a:t>03</a:t>
              </a:r>
              <a:endParaRPr lang="zh-CN" altLang="en-US" b="1" dirty="0">
                <a:latin typeface="微软雅黑" panose="020B0503020204020204" pitchFamily="34" charset="-122"/>
                <a:ea typeface="微软雅黑" panose="020B0503020204020204" pitchFamily="34" charset="-122"/>
              </a:endParaRPr>
            </a:p>
          </p:txBody>
        </p:sp>
        <p:sp>
          <p:nvSpPr>
            <p:cNvPr id="57" name="PA-矩形 4"/>
            <p:cNvSpPr>
              <a:spLocks noChangeArrowheads="1"/>
            </p:cNvSpPr>
            <p:nvPr>
              <p:custDataLst>
                <p:tags r:id="rId8"/>
              </p:custDataLst>
            </p:nvPr>
          </p:nvSpPr>
          <p:spPr bwMode="auto">
            <a:xfrm>
              <a:off x="4227685" y="5031773"/>
              <a:ext cx="2835791"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000" b="1" dirty="0">
                  <a:solidFill>
                    <a:schemeClr val="bg1"/>
                  </a:solidFill>
                  <a:latin typeface="微软雅黑" panose="020B0503020204020204" pitchFamily="34" charset="-122"/>
                  <a:ea typeface="微软雅黑" panose="020B0503020204020204" pitchFamily="34" charset="-122"/>
                  <a:cs typeface="阿里巴巴普惠体 H" panose="00020600040101010101" pitchFamily="18" charset="-122"/>
                  <a:sym typeface="+mn-lt"/>
                </a:rPr>
                <a:t>前端应用交互层</a:t>
              </a:r>
              <a:endParaRPr lang="zh-CN" altLang="en-US" sz="2000" b="1" dirty="0">
                <a:solidFill>
                  <a:schemeClr val="bg1"/>
                </a:solidFill>
                <a:latin typeface="微软雅黑" panose="020B0503020204020204" pitchFamily="34" charset="-122"/>
                <a:ea typeface="微软雅黑" panose="020B0503020204020204" pitchFamily="34" charset="-122"/>
                <a:cs typeface="阿里巴巴普惠体 H" panose="00020600040101010101" pitchFamily="18" charset="-122"/>
                <a:sym typeface="+mn-lt"/>
              </a:endParaRPr>
            </a:p>
          </p:txBody>
        </p:sp>
        <p:sp>
          <p:nvSpPr>
            <p:cNvPr id="58" name="PA-矩形 4"/>
            <p:cNvSpPr>
              <a:spLocks noChangeArrowheads="1"/>
            </p:cNvSpPr>
            <p:nvPr>
              <p:custDataLst>
                <p:tags r:id="rId9"/>
              </p:custDataLst>
            </p:nvPr>
          </p:nvSpPr>
          <p:spPr bwMode="auto">
            <a:xfrm>
              <a:off x="6185424" y="4876093"/>
              <a:ext cx="4829354" cy="6082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pPr>
              <a:r>
                <a:rPr lang="en-US" altLang="zh-CN" sz="1400" dirty="0">
                  <a:solidFill>
                    <a:schemeClr val="bg1"/>
                  </a:solidFill>
                  <a:ea typeface="微软雅黑" panose="020B0503020204020204" pitchFamily="34" charset="-122"/>
                  <a:cs typeface="思源黑体旧字形 Light" panose="020B0300000000000000" charset="-128"/>
                  <a:sym typeface="Arial" panose="020B0604020202020204" pitchFamily="34" charset="0"/>
                </a:rPr>
                <a:t>5. Web</a:t>
              </a:r>
              <a:r>
                <a:rPr lang="zh-CN" altLang="en-US" sz="1400" dirty="0">
                  <a:solidFill>
                    <a:schemeClr val="bg1"/>
                  </a:solidFill>
                  <a:ea typeface="微软雅黑" panose="020B0503020204020204" pitchFamily="34" charset="-122"/>
                  <a:cs typeface="思源黑体旧字形 Light" panose="020B0300000000000000" charset="-128"/>
                  <a:sym typeface="Arial" panose="020B0604020202020204" pitchFamily="34" charset="0"/>
                </a:rPr>
                <a:t>仪表盘与实时状态可视化</a:t>
              </a:r>
              <a:endParaRPr lang="zh-CN" altLang="en-US" sz="1400" dirty="0">
                <a:solidFill>
                  <a:schemeClr val="bg1"/>
                </a:solidFill>
                <a:ea typeface="微软雅黑" panose="020B0503020204020204" pitchFamily="34" charset="-122"/>
                <a:cs typeface="思源黑体旧字形 Light" panose="020B0300000000000000" charset="-128"/>
                <a:sym typeface="Arial" panose="020B0604020202020204" pitchFamily="34" charset="0"/>
              </a:endParaRPr>
            </a:p>
            <a:p>
              <a:pPr eaLnBrk="1" hangingPunct="1">
                <a:lnSpc>
                  <a:spcPct val="150000"/>
                </a:lnSpc>
              </a:pPr>
              <a:r>
                <a:rPr lang="en-US" altLang="zh-CN" sz="1400" dirty="0">
                  <a:solidFill>
                    <a:schemeClr val="bg1"/>
                  </a:solidFill>
                  <a:ea typeface="微软雅黑" panose="020B0503020204020204" pitchFamily="34" charset="-122"/>
                  <a:cs typeface="思源黑体旧字形 Light" panose="020B0300000000000000" charset="-128"/>
                  <a:sym typeface="Arial" panose="020B0604020202020204" pitchFamily="34" charset="0"/>
                </a:rPr>
                <a:t>6. </a:t>
              </a:r>
              <a:r>
                <a:rPr lang="zh-CN" altLang="en-US" sz="1400" dirty="0">
                  <a:solidFill>
                    <a:schemeClr val="bg1"/>
                  </a:solidFill>
                  <a:ea typeface="微软雅黑" panose="020B0503020204020204" pitchFamily="34" charset="-122"/>
                  <a:cs typeface="思源黑体旧字形 Light" panose="020B0300000000000000" charset="-128"/>
                  <a:sym typeface="Arial" panose="020B0604020202020204" pitchFamily="34" charset="0"/>
                </a:rPr>
                <a:t>用户手动干预与自然语言建议生成</a:t>
              </a:r>
              <a:endParaRPr lang="zh-CN" altLang="en-US" sz="1400" dirty="0">
                <a:solidFill>
                  <a:schemeClr val="bg1"/>
                </a:solidFill>
                <a:latin typeface="微软雅黑" panose="020B0503020204020204" pitchFamily="34" charset="-122"/>
                <a:ea typeface="微软雅黑" panose="020B0503020204020204" pitchFamily="34" charset="-122"/>
                <a:cs typeface="OPPOSans M" panose="00020600040101010101" pitchFamily="18" charset="-122"/>
                <a:sym typeface="+mn-lt"/>
              </a:endParaRPr>
            </a:p>
          </p:txBody>
        </p:sp>
      </p:grpSp>
      <p:sp>
        <p:nvSpPr>
          <p:cNvPr id="6" name="文本框 5"/>
          <p:cNvSpPr txBox="1"/>
          <p:nvPr/>
        </p:nvSpPr>
        <p:spPr>
          <a:xfrm>
            <a:off x="919480" y="6113780"/>
            <a:ext cx="2541905" cy="275590"/>
          </a:xfrm>
          <a:prstGeom prst="rect">
            <a:avLst/>
          </a:prstGeom>
          <a:noFill/>
        </p:spPr>
        <p:txBody>
          <a:bodyPr wrap="square" rtlCol="0">
            <a:spAutoFit/>
          </a:bodyPr>
          <a:lstStyle/>
          <a:p>
            <a:r>
              <a:rPr lang="zh-CN" altLang="en-US" sz="1200" b="1">
                <a:solidFill>
                  <a:srgbClr val="004C9E"/>
                </a:solidFill>
                <a:latin typeface="微软雅黑" panose="020B0503020204020204" pitchFamily="34" charset="-122"/>
                <a:ea typeface="微软雅黑" panose="020B0503020204020204" pitchFamily="34" charset="-122"/>
                <a:cs typeface="微软雅黑" panose="020B0503020204020204" pitchFamily="34" charset="-122"/>
              </a:rPr>
              <a:t>耐劳苦</a:t>
            </a:r>
            <a:r>
              <a:rPr lang="en-US" altLang="zh-CN" sz="1200" b="1">
                <a:solidFill>
                  <a:srgbClr val="004C9E"/>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200" b="1">
                <a:solidFill>
                  <a:srgbClr val="004C9E"/>
                </a:solidFill>
                <a:latin typeface="微软雅黑" panose="020B0503020204020204" pitchFamily="34" charset="-122"/>
                <a:ea typeface="微软雅黑" panose="020B0503020204020204" pitchFamily="34" charset="-122"/>
                <a:cs typeface="微软雅黑" panose="020B0503020204020204" pitchFamily="34" charset="-122"/>
              </a:rPr>
              <a:t>尚俭朴</a:t>
            </a:r>
            <a:r>
              <a:rPr lang="en-US" altLang="zh-CN" sz="1200" b="1">
                <a:solidFill>
                  <a:srgbClr val="004C9E"/>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200" b="1">
                <a:solidFill>
                  <a:srgbClr val="004C9E"/>
                </a:solidFill>
                <a:latin typeface="微软雅黑" panose="020B0503020204020204" pitchFamily="34" charset="-122"/>
                <a:ea typeface="微软雅黑" panose="020B0503020204020204" pitchFamily="34" charset="-122"/>
                <a:cs typeface="微软雅黑" panose="020B0503020204020204" pitchFamily="34" charset="-122"/>
              </a:rPr>
              <a:t>勤学业</a:t>
            </a:r>
            <a:r>
              <a:rPr lang="en-US" altLang="zh-CN" sz="1200" b="1">
                <a:solidFill>
                  <a:srgbClr val="004C9E"/>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200" b="1">
                <a:solidFill>
                  <a:srgbClr val="004C9E"/>
                </a:solidFill>
                <a:latin typeface="微软雅黑" panose="020B0503020204020204" pitchFamily="34" charset="-122"/>
                <a:ea typeface="微软雅黑" panose="020B0503020204020204" pitchFamily="34" charset="-122"/>
                <a:cs typeface="微软雅黑" panose="020B0503020204020204" pitchFamily="34" charset="-122"/>
              </a:rPr>
              <a:t>爱国家</a:t>
            </a:r>
            <a:endParaRPr lang="zh-CN" altLang="en-US" sz="1200" b="1">
              <a:solidFill>
                <a:srgbClr val="004C9E"/>
              </a:solidFill>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11" name="图片 10" descr="校徽"/>
          <p:cNvPicPr>
            <a:picLocks noChangeAspect="1"/>
          </p:cNvPicPr>
          <p:nvPr/>
        </p:nvPicPr>
        <p:blipFill>
          <a:blip r:embed="rId10"/>
          <a:stretch>
            <a:fillRect/>
          </a:stretch>
        </p:blipFill>
        <p:spPr>
          <a:xfrm>
            <a:off x="10127615" y="5844540"/>
            <a:ext cx="1259840" cy="397510"/>
          </a:xfrm>
          <a:prstGeom prst="rect">
            <a:avLst/>
          </a:prstGeom>
        </p:spPr>
      </p:pic>
      <p:sp>
        <p:nvSpPr>
          <p:cNvPr id="30" name="文本框 29"/>
          <p:cNvSpPr txBox="1"/>
          <p:nvPr/>
        </p:nvSpPr>
        <p:spPr>
          <a:xfrm>
            <a:off x="1189862" y="553085"/>
            <a:ext cx="2001520" cy="400110"/>
          </a:xfrm>
          <a:prstGeom prst="rect">
            <a:avLst/>
          </a:prstGeom>
          <a:noFill/>
        </p:spPr>
        <p:txBody>
          <a:bodyPr wrap="square" rtlCol="0">
            <a:spAutoFit/>
          </a:bodyPr>
          <a:lstStyle/>
          <a:p>
            <a:pPr algn="ctr"/>
            <a:r>
              <a:rPr lang="zh-CN" altLang="en-US" sz="2000" b="1" dirty="0">
                <a:solidFill>
                  <a:srgbClr val="A6A6A6"/>
                </a:solidFill>
                <a:latin typeface="微软雅黑" panose="020B0503020204020204" pitchFamily="34" charset="-122"/>
                <a:ea typeface="微软雅黑" panose="020B0503020204020204" pitchFamily="34" charset="-122"/>
              </a:rPr>
              <a:t>立项背景及意义</a:t>
            </a:r>
            <a:endParaRPr lang="zh-CN" altLang="en-US" sz="2000" b="1" dirty="0">
              <a:solidFill>
                <a:srgbClr val="A6A6A6"/>
              </a:solidFill>
              <a:latin typeface="微软雅黑" panose="020B0503020204020204" pitchFamily="34" charset="-122"/>
              <a:ea typeface="微软雅黑" panose="020B0503020204020204" pitchFamily="34" charset="-122"/>
            </a:endParaRPr>
          </a:p>
        </p:txBody>
      </p:sp>
      <p:sp>
        <p:nvSpPr>
          <p:cNvPr id="31" name="文本框 30"/>
          <p:cNvSpPr txBox="1"/>
          <p:nvPr/>
        </p:nvSpPr>
        <p:spPr>
          <a:xfrm>
            <a:off x="3135865" y="553085"/>
            <a:ext cx="2001520" cy="400110"/>
          </a:xfrm>
          <a:prstGeom prst="rect">
            <a:avLst/>
          </a:prstGeom>
          <a:noFill/>
        </p:spPr>
        <p:txBody>
          <a:bodyPr wrap="square" rtlCol="0">
            <a:spAutoFit/>
          </a:bodyPr>
          <a:lstStyle/>
          <a:p>
            <a:pPr algn="ctr"/>
            <a:r>
              <a:rPr lang="zh-CN" altLang="en-US" sz="2000" b="1" dirty="0">
                <a:solidFill>
                  <a:srgbClr val="004C9E"/>
                </a:solidFill>
                <a:latin typeface="微软雅黑" panose="020B0503020204020204" pitchFamily="34" charset="-122"/>
                <a:ea typeface="微软雅黑" panose="020B0503020204020204" pitchFamily="34" charset="-122"/>
              </a:rPr>
              <a:t>研究内容</a:t>
            </a:r>
            <a:endParaRPr lang="zh-CN" altLang="en-US" sz="2000" b="1" dirty="0">
              <a:solidFill>
                <a:srgbClr val="004C9E"/>
              </a:solidFill>
              <a:latin typeface="微软雅黑" panose="020B0503020204020204" pitchFamily="34" charset="-122"/>
              <a:ea typeface="微软雅黑" panose="020B0503020204020204" pitchFamily="34" charset="-122"/>
            </a:endParaRPr>
          </a:p>
        </p:txBody>
      </p:sp>
      <p:sp>
        <p:nvSpPr>
          <p:cNvPr id="32" name="文本框 31"/>
          <p:cNvSpPr txBox="1"/>
          <p:nvPr/>
        </p:nvSpPr>
        <p:spPr>
          <a:xfrm>
            <a:off x="5161828" y="553085"/>
            <a:ext cx="2001520" cy="400110"/>
          </a:xfrm>
          <a:prstGeom prst="rect">
            <a:avLst/>
          </a:prstGeom>
          <a:noFill/>
        </p:spPr>
        <p:txBody>
          <a:bodyPr wrap="square" rtlCol="0">
            <a:spAutoFit/>
          </a:bodyPr>
          <a:lstStyle/>
          <a:p>
            <a:pPr algn="ctr"/>
            <a:r>
              <a:rPr lang="zh-CN" altLang="en-US" sz="2000" b="1" dirty="0">
                <a:solidFill>
                  <a:schemeClr val="bg1">
                    <a:lumMod val="65000"/>
                  </a:schemeClr>
                </a:solidFill>
                <a:latin typeface="微软雅黑" panose="020B0503020204020204" pitchFamily="34" charset="-122"/>
                <a:ea typeface="微软雅黑" panose="020B0503020204020204" pitchFamily="34" charset="-122"/>
              </a:rPr>
              <a:t>拟采用技术路线</a:t>
            </a:r>
            <a:endParaRPr lang="zh-CN" altLang="en-US" sz="2000" b="1" dirty="0">
              <a:solidFill>
                <a:schemeClr val="bg1">
                  <a:lumMod val="65000"/>
                </a:schemeClr>
              </a:solidFill>
              <a:latin typeface="微软雅黑" panose="020B0503020204020204" pitchFamily="34" charset="-122"/>
              <a:ea typeface="微软雅黑" panose="020B0503020204020204" pitchFamily="34" charset="-122"/>
            </a:endParaRPr>
          </a:p>
        </p:txBody>
      </p:sp>
      <p:sp>
        <p:nvSpPr>
          <p:cNvPr id="35" name="等腰三角形 34"/>
          <p:cNvSpPr/>
          <p:nvPr/>
        </p:nvSpPr>
        <p:spPr>
          <a:xfrm rot="5400000">
            <a:off x="3349256" y="669975"/>
            <a:ext cx="192943" cy="166330"/>
          </a:xfrm>
          <a:prstGeom prst="triangle">
            <a:avLst/>
          </a:prstGeom>
          <a:solidFill>
            <a:srgbClr val="004C9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0" name="组合 39"/>
          <p:cNvGrpSpPr/>
          <p:nvPr/>
        </p:nvGrpSpPr>
        <p:grpSpPr>
          <a:xfrm>
            <a:off x="2730779" y="1978337"/>
            <a:ext cx="8583899" cy="1064826"/>
            <a:chOff x="2959379" y="1539490"/>
            <a:chExt cx="8583899" cy="1064826"/>
          </a:xfrm>
        </p:grpSpPr>
        <p:sp>
          <p:nvSpPr>
            <p:cNvPr id="41" name="PA-任意多边形 10"/>
            <p:cNvSpPr/>
            <p:nvPr>
              <p:custDataLst>
                <p:tags r:id="rId11"/>
              </p:custDataLst>
            </p:nvPr>
          </p:nvSpPr>
          <p:spPr>
            <a:xfrm>
              <a:off x="4127907" y="1539490"/>
              <a:ext cx="6756144" cy="1064826"/>
            </a:xfrm>
            <a:custGeom>
              <a:avLst/>
              <a:gdLst>
                <a:gd name="connsiteX0" fmla="*/ 377357 w 5739194"/>
                <a:gd name="connsiteY0" fmla="*/ 0 h 904546"/>
                <a:gd name="connsiteX1" fmla="*/ 5484456 w 5739194"/>
                <a:gd name="connsiteY1" fmla="*/ 0 h 904546"/>
                <a:gd name="connsiteX2" fmla="*/ 5739194 w 5739194"/>
                <a:gd name="connsiteY2" fmla="*/ 254738 h 904546"/>
                <a:gd name="connsiteX3" fmla="*/ 5739194 w 5739194"/>
                <a:gd name="connsiteY3" fmla="*/ 649808 h 904546"/>
                <a:gd name="connsiteX4" fmla="*/ 5484456 w 5739194"/>
                <a:gd name="connsiteY4" fmla="*/ 904546 h 904546"/>
                <a:gd name="connsiteX5" fmla="*/ 377357 w 5739194"/>
                <a:gd name="connsiteY5" fmla="*/ 904546 h 904546"/>
                <a:gd name="connsiteX6" fmla="*/ 122619 w 5739194"/>
                <a:gd name="connsiteY6" fmla="*/ 649808 h 904546"/>
                <a:gd name="connsiteX7" fmla="*/ 122619 w 5739194"/>
                <a:gd name="connsiteY7" fmla="*/ 523392 h 904546"/>
                <a:gd name="connsiteX8" fmla="*/ 0 w 5739194"/>
                <a:gd name="connsiteY8" fmla="*/ 452272 h 904546"/>
                <a:gd name="connsiteX9" fmla="*/ 122619 w 5739194"/>
                <a:gd name="connsiteY9" fmla="*/ 381153 h 904546"/>
                <a:gd name="connsiteX10" fmla="*/ 122619 w 5739194"/>
                <a:gd name="connsiteY10" fmla="*/ 254738 h 904546"/>
                <a:gd name="connsiteX11" fmla="*/ 377357 w 5739194"/>
                <a:gd name="connsiteY11" fmla="*/ 0 h 9045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739194" h="904546">
                  <a:moveTo>
                    <a:pt x="377357" y="0"/>
                  </a:moveTo>
                  <a:lnTo>
                    <a:pt x="5484456" y="0"/>
                  </a:lnTo>
                  <a:cubicBezTo>
                    <a:pt x="5625144" y="0"/>
                    <a:pt x="5739194" y="114050"/>
                    <a:pt x="5739194" y="254738"/>
                  </a:cubicBezTo>
                  <a:lnTo>
                    <a:pt x="5739194" y="649808"/>
                  </a:lnTo>
                  <a:cubicBezTo>
                    <a:pt x="5739194" y="790496"/>
                    <a:pt x="5625144" y="904546"/>
                    <a:pt x="5484456" y="904546"/>
                  </a:cubicBezTo>
                  <a:lnTo>
                    <a:pt x="377357" y="904546"/>
                  </a:lnTo>
                  <a:cubicBezTo>
                    <a:pt x="236669" y="904546"/>
                    <a:pt x="122619" y="790496"/>
                    <a:pt x="122619" y="649808"/>
                  </a:cubicBezTo>
                  <a:lnTo>
                    <a:pt x="122619" y="523392"/>
                  </a:lnTo>
                  <a:lnTo>
                    <a:pt x="0" y="452272"/>
                  </a:lnTo>
                  <a:lnTo>
                    <a:pt x="122619" y="381153"/>
                  </a:lnTo>
                  <a:lnTo>
                    <a:pt x="122619" y="254738"/>
                  </a:lnTo>
                  <a:cubicBezTo>
                    <a:pt x="122619" y="114050"/>
                    <a:pt x="236669" y="0"/>
                    <a:pt x="377357" y="0"/>
                  </a:cubicBezTo>
                  <a:close/>
                </a:path>
              </a:pathLst>
            </a:custGeom>
            <a:solidFill>
              <a:srgbClr val="004C9E"/>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latin typeface="微软雅黑" panose="020B0503020204020204" pitchFamily="34" charset="-122"/>
                <a:ea typeface="微软雅黑" panose="020B0503020204020204" pitchFamily="34" charset="-122"/>
              </a:endParaRPr>
            </a:p>
          </p:txBody>
        </p:sp>
        <p:sp>
          <p:nvSpPr>
            <p:cNvPr id="48" name="PA-矩形 4"/>
            <p:cNvSpPr>
              <a:spLocks noChangeArrowheads="1"/>
            </p:cNvSpPr>
            <p:nvPr>
              <p:custDataLst>
                <p:tags r:id="rId12"/>
              </p:custDataLst>
            </p:nvPr>
          </p:nvSpPr>
          <p:spPr bwMode="auto">
            <a:xfrm>
              <a:off x="4456285" y="1908171"/>
              <a:ext cx="2835791"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000" b="1" dirty="0">
                  <a:solidFill>
                    <a:schemeClr val="bg1"/>
                  </a:solidFill>
                  <a:latin typeface="微软雅黑" panose="020B0503020204020204" pitchFamily="34" charset="-122"/>
                  <a:ea typeface="微软雅黑" panose="020B0503020204020204" pitchFamily="34" charset="-122"/>
                  <a:cs typeface="阿里巴巴普惠体 H" panose="00020600040101010101" pitchFamily="18" charset="-122"/>
                  <a:sym typeface="+mn-lt"/>
                </a:rPr>
                <a:t>边缘感知与执行层</a:t>
              </a:r>
              <a:endParaRPr lang="zh-CN" altLang="en-US" sz="2000" b="1" dirty="0">
                <a:solidFill>
                  <a:schemeClr val="bg1"/>
                </a:solidFill>
                <a:latin typeface="微软雅黑" panose="020B0503020204020204" pitchFamily="34" charset="-122"/>
                <a:ea typeface="微软雅黑" panose="020B0503020204020204" pitchFamily="34" charset="-122"/>
                <a:cs typeface="阿里巴巴普惠体 H" panose="00020600040101010101" pitchFamily="18" charset="-122"/>
                <a:sym typeface="+mn-lt"/>
              </a:endParaRPr>
            </a:p>
          </p:txBody>
        </p:sp>
        <p:sp>
          <p:nvSpPr>
            <p:cNvPr id="49" name="PA-矩形 4"/>
            <p:cNvSpPr>
              <a:spLocks noChangeArrowheads="1"/>
            </p:cNvSpPr>
            <p:nvPr>
              <p:custDataLst>
                <p:tags r:id="rId13"/>
              </p:custDataLst>
            </p:nvPr>
          </p:nvSpPr>
          <p:spPr bwMode="auto">
            <a:xfrm>
              <a:off x="6713924" y="1752856"/>
              <a:ext cx="4829354" cy="6082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pPr>
              <a:r>
                <a:rPr lang="en-US" altLang="zh-CN" sz="1400" dirty="0">
                  <a:solidFill>
                    <a:schemeClr val="bg1"/>
                  </a:solidFill>
                  <a:ea typeface="微软雅黑" panose="020B0503020204020204" pitchFamily="34" charset="-122"/>
                  <a:cs typeface="思源黑体旧字形 Light" panose="020B0300000000000000" charset="-128"/>
                  <a:sym typeface="Arial" panose="020B0604020202020204" pitchFamily="34" charset="0"/>
                </a:rPr>
                <a:t>1. </a:t>
              </a:r>
              <a:r>
                <a:rPr lang="zh-CN" altLang="en-US" sz="1400" dirty="0">
                  <a:solidFill>
                    <a:schemeClr val="bg1"/>
                  </a:solidFill>
                  <a:ea typeface="微软雅黑" panose="020B0503020204020204" pitchFamily="34" charset="-122"/>
                  <a:cs typeface="思源黑体旧字形 Light" panose="020B0300000000000000" charset="-128"/>
                  <a:sym typeface="Arial" panose="020B0604020202020204" pitchFamily="34" charset="0"/>
                </a:rPr>
                <a:t>多参数传感器数据采集与设备控制</a:t>
              </a:r>
              <a:endParaRPr lang="zh-CN" altLang="en-US" sz="1400" dirty="0">
                <a:solidFill>
                  <a:schemeClr val="bg1"/>
                </a:solidFill>
                <a:ea typeface="微软雅黑" panose="020B0503020204020204" pitchFamily="34" charset="-122"/>
                <a:cs typeface="思源黑体旧字形 Light" panose="020B0300000000000000" charset="-128"/>
                <a:sym typeface="Arial" panose="020B0604020202020204" pitchFamily="34" charset="0"/>
              </a:endParaRPr>
            </a:p>
            <a:p>
              <a:pPr eaLnBrk="1" hangingPunct="1">
                <a:lnSpc>
                  <a:spcPct val="150000"/>
                </a:lnSpc>
              </a:pPr>
              <a:r>
                <a:rPr lang="en-US" altLang="zh-CN" sz="1400" dirty="0">
                  <a:solidFill>
                    <a:schemeClr val="bg1"/>
                  </a:solidFill>
                  <a:ea typeface="微软雅黑" panose="020B0503020204020204" pitchFamily="34" charset="-122"/>
                  <a:cs typeface="思源黑体旧字形 Light" panose="020B0300000000000000" charset="-128"/>
                  <a:sym typeface="Arial" panose="020B0604020202020204" pitchFamily="34" charset="0"/>
                </a:rPr>
                <a:t>2. </a:t>
              </a:r>
              <a:r>
                <a:rPr lang="zh-CN" altLang="en-US" sz="1400" dirty="0">
                  <a:solidFill>
                    <a:schemeClr val="bg1"/>
                  </a:solidFill>
                  <a:ea typeface="微软雅黑" panose="020B0503020204020204" pitchFamily="34" charset="-122"/>
                  <a:cs typeface="思源黑体旧字形 Light" panose="020B0300000000000000" charset="-128"/>
                  <a:sym typeface="Arial" panose="020B0604020202020204" pitchFamily="34" charset="0"/>
                </a:rPr>
                <a:t>鱼只状态视觉识别（密度、摄食活跃度）</a:t>
              </a:r>
              <a:endParaRPr lang="zh-CN" altLang="en-US" sz="1400" dirty="0">
                <a:solidFill>
                  <a:schemeClr val="bg1"/>
                </a:solidFill>
                <a:latin typeface="微软雅黑" panose="020B0503020204020204" pitchFamily="34" charset="-122"/>
                <a:ea typeface="微软雅黑" panose="020B0503020204020204" pitchFamily="34" charset="-122"/>
                <a:cs typeface="OPPOSans M" panose="00020600040101010101" pitchFamily="18" charset="-122"/>
                <a:sym typeface="+mn-lt"/>
              </a:endParaRPr>
            </a:p>
          </p:txBody>
        </p:sp>
        <p:sp>
          <p:nvSpPr>
            <p:cNvPr id="50" name="椭圆 49"/>
            <p:cNvSpPr/>
            <p:nvPr/>
          </p:nvSpPr>
          <p:spPr>
            <a:xfrm>
              <a:off x="2959379" y="1677216"/>
              <a:ext cx="863600" cy="863600"/>
            </a:xfrm>
            <a:prstGeom prst="ellipse">
              <a:avLst/>
            </a:prstGeom>
            <a:solidFill>
              <a:srgbClr val="5B9BD5"/>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altLang="zh-CN" b="1" dirty="0">
                  <a:latin typeface="微软雅黑" panose="020B0503020204020204" pitchFamily="34" charset="-122"/>
                  <a:ea typeface="微软雅黑" panose="020B0503020204020204" pitchFamily="34" charset="-122"/>
                </a:rPr>
                <a:t>01</a:t>
              </a:r>
              <a:endParaRPr lang="zh-CN" altLang="en-US" b="1" dirty="0">
                <a:latin typeface="微软雅黑" panose="020B0503020204020204" pitchFamily="34" charset="-122"/>
                <a:ea typeface="微软雅黑" panose="020B0503020204020204" pitchFamily="34" charset="-122"/>
              </a:endParaRPr>
            </a:p>
          </p:txBody>
        </p:sp>
      </p:grpSp>
      <p:sp>
        <p:nvSpPr>
          <p:cNvPr id="51" name="图形"/>
          <p:cNvSpPr txBox="1"/>
          <p:nvPr>
            <p:custDataLst>
              <p:tags r:id="rId14"/>
            </p:custDataLst>
          </p:nvPr>
        </p:nvSpPr>
        <p:spPr>
          <a:xfrm>
            <a:off x="899104" y="1307861"/>
            <a:ext cx="6560185" cy="400050"/>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zh-CN" altLang="en-US" sz="2000" b="1" dirty="0">
                <a:solidFill>
                  <a:srgbClr val="0F1115"/>
                </a:solidFill>
                <a:effectLst/>
                <a:latin typeface="quote-cjk-patch"/>
              </a:rPr>
              <a:t>研究内容总览：从边缘感知到云端决策再到多端交互</a:t>
            </a:r>
            <a:endParaRPr lang="zh-CN" altLang="en-US" sz="2000" b="1" dirty="0">
              <a:solidFill>
                <a:srgbClr val="0F1115"/>
              </a:solidFill>
              <a:effectLst/>
              <a:latin typeface="quote-cjk-patch"/>
            </a:endParaRPr>
          </a:p>
        </p:txBody>
      </p:sp>
      <p:sp>
        <p:nvSpPr>
          <p:cNvPr id="62" name="文本框 61"/>
          <p:cNvSpPr txBox="1"/>
          <p:nvPr/>
        </p:nvSpPr>
        <p:spPr>
          <a:xfrm>
            <a:off x="6873124" y="553085"/>
            <a:ext cx="2755901" cy="398780"/>
          </a:xfrm>
          <a:prstGeom prst="rect">
            <a:avLst/>
          </a:prstGeom>
          <a:noFill/>
        </p:spPr>
        <p:txBody>
          <a:bodyPr wrap="square" rtlCol="0">
            <a:spAutoFit/>
          </a:bodyPr>
          <a:lstStyle/>
          <a:p>
            <a:pPr algn="ctr"/>
            <a:r>
              <a:rPr lang="zh-CN" altLang="en-US" sz="2000" b="1" dirty="0">
                <a:solidFill>
                  <a:schemeClr val="bg1">
                    <a:lumMod val="65000"/>
                  </a:schemeClr>
                </a:solidFill>
                <a:latin typeface="微软雅黑" panose="020B0503020204020204" pitchFamily="34" charset="-122"/>
                <a:ea typeface="微软雅黑" panose="020B0503020204020204" pitchFamily="34" charset="-122"/>
              </a:rPr>
              <a:t>创新与特点</a:t>
            </a:r>
            <a:endParaRPr lang="zh-CN" altLang="en-US" sz="2000" b="1" dirty="0">
              <a:solidFill>
                <a:schemeClr val="bg1">
                  <a:lumMod val="65000"/>
                </a:schemeClr>
              </a:solidFill>
              <a:latin typeface="微软雅黑" panose="020B0503020204020204" pitchFamily="34" charset="-122"/>
              <a:ea typeface="微软雅黑" panose="020B0503020204020204" pitchFamily="34" charset="-122"/>
            </a:endParaRPr>
          </a:p>
        </p:txBody>
      </p:sp>
      <p:sp>
        <p:nvSpPr>
          <p:cNvPr id="63" name="文本框 62"/>
          <p:cNvSpPr txBox="1"/>
          <p:nvPr/>
        </p:nvSpPr>
        <p:spPr>
          <a:xfrm>
            <a:off x="9102720" y="553085"/>
            <a:ext cx="2755901" cy="398780"/>
          </a:xfrm>
          <a:prstGeom prst="rect">
            <a:avLst/>
          </a:prstGeom>
          <a:noFill/>
        </p:spPr>
        <p:txBody>
          <a:bodyPr wrap="square" rtlCol="0">
            <a:spAutoFit/>
          </a:bodyPr>
          <a:lstStyle/>
          <a:p>
            <a:pPr algn="ctr"/>
            <a:r>
              <a:rPr lang="zh-CN" altLang="en-US" sz="2000" b="1" dirty="0">
                <a:solidFill>
                  <a:schemeClr val="bg1">
                    <a:lumMod val="65000"/>
                  </a:schemeClr>
                </a:solidFill>
                <a:latin typeface="微软雅黑" panose="020B0503020204020204" pitchFamily="34" charset="-122"/>
                <a:ea typeface="微软雅黑" panose="020B0503020204020204" pitchFamily="34" charset="-122"/>
              </a:rPr>
              <a:t>时间安排计划</a:t>
            </a:r>
            <a:endParaRPr lang="zh-CN" altLang="en-US" sz="2000" b="1" dirty="0">
              <a:solidFill>
                <a:schemeClr val="bg1">
                  <a:lumMod val="65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p:cTn id="13" dur="500" fill="hold"/>
                                        <p:tgtEl>
                                          <p:spTgt spid="5"/>
                                        </p:tgtEl>
                                        <p:attrNameLst>
                                          <p:attrName>ppt_w</p:attrName>
                                        </p:attrNameLst>
                                      </p:cBhvr>
                                      <p:tavLst>
                                        <p:tav tm="0">
                                          <p:val>
                                            <p:fltVal val="0"/>
                                          </p:val>
                                        </p:tav>
                                        <p:tav tm="100000">
                                          <p:val>
                                            <p:strVal val="#ppt_w"/>
                                          </p:val>
                                        </p:tav>
                                      </p:tavLst>
                                    </p:anim>
                                    <p:anim calcmode="lin" valueType="num">
                                      <p:cBhvr>
                                        <p:cTn id="14" dur="500" fill="hold"/>
                                        <p:tgtEl>
                                          <p:spTgt spid="5"/>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nodeType="clickEffect">
                                  <p:stCondLst>
                                    <p:cond delay="0"/>
                                  </p:stCondLst>
                                  <p:childTnLst>
                                    <p:set>
                                      <p:cBhvr>
                                        <p:cTn id="18" dur="1" fill="hold">
                                          <p:stCondLst>
                                            <p:cond delay="0"/>
                                          </p:stCondLst>
                                        </p:cTn>
                                        <p:tgtEl>
                                          <p:spTgt spid="40"/>
                                        </p:tgtEl>
                                        <p:attrNameLst>
                                          <p:attrName>style.visibility</p:attrName>
                                        </p:attrNameLst>
                                      </p:cBhvr>
                                      <p:to>
                                        <p:strVal val="visible"/>
                                      </p:to>
                                    </p:set>
                                    <p:anim calcmode="lin" valueType="num">
                                      <p:cBhvr>
                                        <p:cTn id="19" dur="500" fill="hold"/>
                                        <p:tgtEl>
                                          <p:spTgt spid="40"/>
                                        </p:tgtEl>
                                        <p:attrNameLst>
                                          <p:attrName>ppt_w</p:attrName>
                                        </p:attrNameLst>
                                      </p:cBhvr>
                                      <p:tavLst>
                                        <p:tav tm="0">
                                          <p:val>
                                            <p:fltVal val="0"/>
                                          </p:val>
                                        </p:tav>
                                        <p:tav tm="100000">
                                          <p:val>
                                            <p:strVal val="#ppt_w"/>
                                          </p:val>
                                        </p:tav>
                                      </p:tavLst>
                                    </p:anim>
                                    <p:anim calcmode="lin" valueType="num">
                                      <p:cBhvr>
                                        <p:cTn id="20" dur="500" fill="hold"/>
                                        <p:tgtEl>
                                          <p:spTgt spid="40"/>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直角三角形 20"/>
          <p:cNvSpPr/>
          <p:nvPr/>
        </p:nvSpPr>
        <p:spPr>
          <a:xfrm>
            <a:off x="0" y="3165895"/>
            <a:ext cx="3692105" cy="3692105"/>
          </a:xfrm>
          <a:prstGeom prst="rtTriangle">
            <a:avLst/>
          </a:prstGeom>
          <a:solidFill>
            <a:srgbClr val="004C9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04B9D"/>
              </a:solidFill>
            </a:endParaRPr>
          </a:p>
        </p:txBody>
      </p:sp>
      <p:sp>
        <p:nvSpPr>
          <p:cNvPr id="20" name="直角三角形 19"/>
          <p:cNvSpPr/>
          <p:nvPr/>
        </p:nvSpPr>
        <p:spPr>
          <a:xfrm rot="10800000">
            <a:off x="8499895" y="0"/>
            <a:ext cx="3692105" cy="3692105"/>
          </a:xfrm>
          <a:prstGeom prst="rtTriangle">
            <a:avLst/>
          </a:prstGeom>
          <a:solidFill>
            <a:srgbClr val="004B9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7" name="组合 6"/>
          <p:cNvGrpSpPr/>
          <p:nvPr userDrawn="1"/>
        </p:nvGrpSpPr>
        <p:grpSpPr>
          <a:xfrm>
            <a:off x="490537" y="472440"/>
            <a:ext cx="11210925" cy="6019800"/>
            <a:chOff x="490484" y="441960"/>
            <a:chExt cx="11211033" cy="6019801"/>
          </a:xfrm>
        </p:grpSpPr>
        <p:pic>
          <p:nvPicPr>
            <p:cNvPr id="8" name="图片 7"/>
            <p:cNvPicPr>
              <a:picLocks noChangeAspect="1"/>
            </p:cNvPicPr>
            <p:nvPr userDrawn="1"/>
          </p:nvPicPr>
          <p:blipFill rotWithShape="1">
            <a:blip r:embed="rId1">
              <a:extLst>
                <a:ext uri="{28A0092B-C50C-407E-A947-70E740481C1C}">
                  <a14:useLocalDpi xmlns:a14="http://schemas.microsoft.com/office/drawing/2010/main" val="0"/>
                </a:ext>
              </a:extLst>
            </a:blip>
            <a:srcRect l="1515" t="4277" r="530" b="14319"/>
            <a:stretch>
              <a:fillRect/>
            </a:stretch>
          </p:blipFill>
          <p:spPr>
            <a:xfrm>
              <a:off x="490484" y="441960"/>
              <a:ext cx="11211033" cy="6019801"/>
            </a:xfrm>
            <a:prstGeom prst="rect">
              <a:avLst/>
            </a:prstGeom>
            <a:effectLst>
              <a:outerShdw blurRad="355600" dist="139700" dir="2700000" algn="tl" rotWithShape="0">
                <a:prstClr val="black">
                  <a:alpha val="61000"/>
                </a:prstClr>
              </a:outerShdw>
            </a:effectLst>
          </p:spPr>
        </p:pic>
        <p:sp>
          <p:nvSpPr>
            <p:cNvPr id="9" name="矩形 8"/>
            <p:cNvSpPr/>
            <p:nvPr userDrawn="1"/>
          </p:nvSpPr>
          <p:spPr>
            <a:xfrm>
              <a:off x="490484" y="441960"/>
              <a:ext cx="11211032" cy="6019801"/>
            </a:xfrm>
            <a:prstGeom prst="rect">
              <a:avLst/>
            </a:prstGeom>
            <a:solidFill>
              <a:srgbClr val="FFFEF7">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400" b="1" dirty="0">
                <a:solidFill>
                  <a:srgbClr val="004C9E"/>
                </a:solidFill>
                <a:latin typeface="微软雅黑" panose="020B0503020204020204" pitchFamily="34" charset="-122"/>
                <a:ea typeface="微软雅黑" panose="020B0503020204020204" pitchFamily="34" charset="-122"/>
              </a:endParaRPr>
            </a:p>
          </p:txBody>
        </p:sp>
      </p:grpSp>
      <p:cxnSp>
        <p:nvCxnSpPr>
          <p:cNvPr id="43" name="直接连接符 42"/>
          <p:cNvCxnSpPr/>
          <p:nvPr/>
        </p:nvCxnSpPr>
        <p:spPr>
          <a:xfrm>
            <a:off x="899088" y="6096082"/>
            <a:ext cx="9058311" cy="4300"/>
          </a:xfrm>
          <a:prstGeom prst="line">
            <a:avLst/>
          </a:prstGeom>
        </p:spPr>
        <p:style>
          <a:lnRef idx="1">
            <a:schemeClr val="accent1"/>
          </a:lnRef>
          <a:fillRef idx="0">
            <a:schemeClr val="accent1"/>
          </a:fillRef>
          <a:effectRef idx="0">
            <a:schemeClr val="accent1"/>
          </a:effectRef>
          <a:fontRef idx="minor">
            <a:schemeClr val="tx1"/>
          </a:fontRef>
        </p:style>
      </p:cxnSp>
      <p:grpSp>
        <p:nvGrpSpPr>
          <p:cNvPr id="42" name="图形"/>
          <p:cNvGrpSpPr/>
          <p:nvPr/>
        </p:nvGrpSpPr>
        <p:grpSpPr>
          <a:xfrm>
            <a:off x="3692105" y="1325880"/>
            <a:ext cx="7587018" cy="4351172"/>
            <a:chOff x="9658" y="2569"/>
            <a:chExt cx="8790" cy="6956"/>
          </a:xfrm>
        </p:grpSpPr>
        <p:sp>
          <p:nvSpPr>
            <p:cNvPr id="44" name="图形"/>
            <p:cNvSpPr/>
            <p:nvPr>
              <p:custDataLst>
                <p:tags r:id="rId2"/>
              </p:custDataLst>
            </p:nvPr>
          </p:nvSpPr>
          <p:spPr>
            <a:xfrm>
              <a:off x="9658" y="2569"/>
              <a:ext cx="8790" cy="6956"/>
            </a:xfrm>
            <a:prstGeom prst="rect">
              <a:avLst/>
            </a:prstGeom>
            <a:solidFill>
              <a:srgbClr val="004C9E"/>
            </a:solidFill>
            <a:ln w="19050">
              <a:noFill/>
            </a:ln>
            <a:effectLst>
              <a:outerShdw blurRad="381000" dist="228600" dir="2700000" sx="95000" sy="95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ea typeface="微软雅黑" panose="020B0503020204020204" pitchFamily="34" charset="-122"/>
                <a:cs typeface="思源黑体旧字形 Light" panose="020B0300000000000000" charset="-128"/>
                <a:sym typeface="Arial" panose="020B0604020202020204" pitchFamily="34" charset="0"/>
              </a:endParaRPr>
            </a:p>
          </p:txBody>
        </p:sp>
        <p:sp>
          <p:nvSpPr>
            <p:cNvPr id="45" name="图形"/>
            <p:cNvSpPr txBox="1"/>
            <p:nvPr>
              <p:custDataLst>
                <p:tags r:id="rId3"/>
              </p:custDataLst>
            </p:nvPr>
          </p:nvSpPr>
          <p:spPr>
            <a:xfrm>
              <a:off x="10380" y="3137"/>
              <a:ext cx="4364" cy="492"/>
            </a:xfrm>
            <a:prstGeom prst="rect">
              <a:avLst/>
            </a:prstGeom>
            <a:noFill/>
          </p:spPr>
          <p:txBody>
            <a:bodyPr wrap="none" lIns="0" tIns="0" rIns="0" bIns="0" rtlCol="0">
              <a:spAutoFit/>
            </a:bodyPr>
            <a:lstStyle/>
            <a:p>
              <a:r>
                <a:rPr lang="zh-CN" altLang="en-US" sz="2000" b="1" dirty="0">
                  <a:solidFill>
                    <a:srgbClr val="F9F9F9"/>
                  </a:solidFill>
                  <a:latin typeface="Arial" panose="020B0604020202020204" pitchFamily="34" charset="0"/>
                  <a:ea typeface="微软雅黑" panose="020B0503020204020204" pitchFamily="34" charset="-122"/>
                  <a:cs typeface="+mn-ea"/>
                  <a:sym typeface="Arial" panose="020B0604020202020204" pitchFamily="34" charset="0"/>
                </a:rPr>
                <a:t>任务</a:t>
              </a:r>
              <a:r>
                <a:rPr lang="en-US" altLang="zh-CN" sz="2000" b="1" dirty="0">
                  <a:solidFill>
                    <a:srgbClr val="F9F9F9"/>
                  </a:solidFill>
                  <a:latin typeface="Arial" panose="020B0604020202020204" pitchFamily="34" charset="0"/>
                  <a:ea typeface="微软雅黑" panose="020B0503020204020204" pitchFamily="34" charset="-122"/>
                  <a:cs typeface="+mn-ea"/>
                  <a:sym typeface="Arial" panose="020B0604020202020204" pitchFamily="34" charset="0"/>
                </a:rPr>
                <a:t>1</a:t>
              </a:r>
              <a:r>
                <a:rPr lang="zh-CN" altLang="en-US" sz="2000" b="1" dirty="0">
                  <a:solidFill>
                    <a:srgbClr val="F9F9F9"/>
                  </a:solidFill>
                  <a:latin typeface="Arial" panose="020B0604020202020204" pitchFamily="34" charset="0"/>
                  <a:ea typeface="微软雅黑" panose="020B0503020204020204" pitchFamily="34" charset="-122"/>
                  <a:cs typeface="+mn-ea"/>
                  <a:sym typeface="Arial" panose="020B0604020202020204" pitchFamily="34" charset="0"/>
                </a:rPr>
                <a:t>：多参数采集 </a:t>
              </a:r>
              <a:r>
                <a:rPr lang="en-US" altLang="zh-CN" sz="2000" b="1" dirty="0">
                  <a:solidFill>
                    <a:srgbClr val="F9F9F9"/>
                  </a:solidFill>
                  <a:latin typeface="Arial" panose="020B0604020202020204" pitchFamily="34" charset="0"/>
                  <a:ea typeface="微软雅黑" panose="020B0503020204020204" pitchFamily="34" charset="-122"/>
                  <a:cs typeface="+mn-ea"/>
                  <a:sym typeface="Arial" panose="020B0604020202020204" pitchFamily="34" charset="0"/>
                </a:rPr>
                <a:t>+ </a:t>
              </a:r>
              <a:r>
                <a:rPr lang="zh-CN" altLang="en-US" sz="2000" b="1" dirty="0">
                  <a:solidFill>
                    <a:srgbClr val="F9F9F9"/>
                  </a:solidFill>
                  <a:latin typeface="Arial" panose="020B0604020202020204" pitchFamily="34" charset="0"/>
                  <a:ea typeface="微软雅黑" panose="020B0503020204020204" pitchFamily="34" charset="-122"/>
                  <a:cs typeface="+mn-ea"/>
                  <a:sym typeface="Arial" panose="020B0604020202020204" pitchFamily="34" charset="0"/>
                </a:rPr>
                <a:t>执行器驱动</a:t>
              </a:r>
              <a:endParaRPr lang="en-US" altLang="zh-CN" sz="2000" b="1" dirty="0">
                <a:solidFill>
                  <a:srgbClr val="F9F9F9"/>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46" name="图形"/>
            <p:cNvSpPr/>
            <p:nvPr>
              <p:custDataLst>
                <p:tags r:id="rId4"/>
              </p:custDataLst>
            </p:nvPr>
          </p:nvSpPr>
          <p:spPr>
            <a:xfrm>
              <a:off x="10642" y="4407"/>
              <a:ext cx="7411" cy="4588"/>
            </a:xfrm>
            <a:prstGeom prst="rect">
              <a:avLst/>
            </a:prstGeom>
          </p:spPr>
          <p:txBody>
            <a:bodyPr wrap="square" lIns="0" tIns="0" rIns="0" bIns="0">
              <a:spAutoFit/>
            </a:bodyPr>
            <a:lstStyle/>
            <a:p>
              <a:pPr algn="just">
                <a:lnSpc>
                  <a:spcPct val="150000"/>
                </a:lnSpc>
              </a:pPr>
              <a:r>
                <a:rPr lang="zh-CN" altLang="en-US" sz="1400" b="1" dirty="0">
                  <a:solidFill>
                    <a:schemeClr val="bg1"/>
                  </a:solidFill>
                  <a:latin typeface="Arial" panose="020B0604020202020204" pitchFamily="34" charset="0"/>
                  <a:ea typeface="微软雅黑" panose="020B0503020204020204" pitchFamily="34" charset="-122"/>
                  <a:cs typeface="思源黑体旧字形 Light" panose="020B0300000000000000" charset="-128"/>
                  <a:sym typeface="Arial" panose="020B0604020202020204" pitchFamily="34" charset="0"/>
                </a:rPr>
                <a:t>采集参数</a:t>
              </a:r>
              <a:r>
                <a:rPr lang="zh-CN" altLang="en-US" sz="1400" dirty="0">
                  <a:solidFill>
                    <a:schemeClr val="bg1"/>
                  </a:solidFill>
                  <a:latin typeface="Arial" panose="020B0604020202020204" pitchFamily="34" charset="0"/>
                  <a:ea typeface="微软雅黑" panose="020B0503020204020204" pitchFamily="34" charset="-122"/>
                  <a:cs typeface="思源黑体旧字形 Light" panose="020B0300000000000000" charset="-128"/>
                  <a:sym typeface="Arial" panose="020B0604020202020204" pitchFamily="34" charset="0"/>
                </a:rPr>
                <a:t>：水温</a:t>
              </a:r>
              <a:r>
                <a:rPr lang="en-US" altLang="zh-CN" sz="1400" dirty="0">
                  <a:solidFill>
                    <a:schemeClr val="bg1"/>
                  </a:solidFill>
                  <a:latin typeface="Arial" panose="020B0604020202020204" pitchFamily="34" charset="0"/>
                  <a:ea typeface="微软雅黑" panose="020B0503020204020204" pitchFamily="34" charset="-122"/>
                  <a:cs typeface="思源黑体旧字形 Light" panose="020B0300000000000000" charset="-128"/>
                  <a:sym typeface="Arial" panose="020B0604020202020204" pitchFamily="34" charset="0"/>
                </a:rPr>
                <a:t>(DS18B20)</a:t>
              </a:r>
              <a:r>
                <a:rPr lang="zh-CN" altLang="en-US" sz="1400" dirty="0">
                  <a:solidFill>
                    <a:schemeClr val="bg1"/>
                  </a:solidFill>
                  <a:latin typeface="Arial" panose="020B0604020202020204" pitchFamily="34" charset="0"/>
                  <a:ea typeface="微软雅黑" panose="020B0503020204020204" pitchFamily="34" charset="-122"/>
                  <a:cs typeface="思源黑体旧字形 Light" panose="020B0300000000000000" charset="-128"/>
                  <a:sym typeface="Arial" panose="020B0604020202020204" pitchFamily="34" charset="0"/>
                </a:rPr>
                <a:t>、</a:t>
              </a:r>
              <a:r>
                <a:rPr lang="en-US" altLang="zh-CN" sz="1400" dirty="0">
                  <a:solidFill>
                    <a:schemeClr val="bg1"/>
                  </a:solidFill>
                  <a:latin typeface="Arial" panose="020B0604020202020204" pitchFamily="34" charset="0"/>
                  <a:ea typeface="微软雅黑" panose="020B0503020204020204" pitchFamily="34" charset="-122"/>
                  <a:cs typeface="思源黑体旧字形 Light" panose="020B0300000000000000" charset="-128"/>
                  <a:sym typeface="Arial" panose="020B0604020202020204" pitchFamily="34" charset="0"/>
                </a:rPr>
                <a:t>pH</a:t>
              </a:r>
              <a:r>
                <a:rPr lang="zh-CN" altLang="en-US" sz="1400" dirty="0">
                  <a:solidFill>
                    <a:schemeClr val="bg1"/>
                  </a:solidFill>
                  <a:latin typeface="Arial" panose="020B0604020202020204" pitchFamily="34" charset="0"/>
                  <a:ea typeface="微软雅黑" panose="020B0503020204020204" pitchFamily="34" charset="-122"/>
                  <a:cs typeface="思源黑体旧字形 Light" panose="020B0300000000000000" charset="-128"/>
                  <a:sym typeface="Arial" panose="020B0604020202020204" pitchFamily="34" charset="0"/>
                </a:rPr>
                <a:t>值</a:t>
              </a:r>
              <a:r>
                <a:rPr lang="en-US" altLang="zh-CN" sz="1400" dirty="0">
                  <a:solidFill>
                    <a:schemeClr val="bg1"/>
                  </a:solidFill>
                  <a:latin typeface="Arial" panose="020B0604020202020204" pitchFamily="34" charset="0"/>
                  <a:ea typeface="微软雅黑" panose="020B0503020204020204" pitchFamily="34" charset="-122"/>
                  <a:cs typeface="思源黑体旧字形 Light" panose="020B0300000000000000" charset="-128"/>
                  <a:sym typeface="Arial" panose="020B0604020202020204" pitchFamily="34" charset="0"/>
                </a:rPr>
                <a:t>(PH-4502C)</a:t>
              </a:r>
              <a:r>
                <a:rPr lang="zh-CN" altLang="en-US" sz="1400" dirty="0">
                  <a:solidFill>
                    <a:schemeClr val="bg1"/>
                  </a:solidFill>
                  <a:latin typeface="Arial" panose="020B0604020202020204" pitchFamily="34" charset="0"/>
                  <a:ea typeface="微软雅黑" panose="020B0503020204020204" pitchFamily="34" charset="-122"/>
                  <a:cs typeface="思源黑体旧字形 Light" panose="020B0300000000000000" charset="-128"/>
                  <a:sym typeface="Arial" panose="020B0604020202020204" pitchFamily="34" charset="0"/>
                </a:rPr>
                <a:t>、水位</a:t>
              </a:r>
              <a:r>
                <a:rPr lang="en-US" altLang="zh-CN" sz="1400" dirty="0">
                  <a:solidFill>
                    <a:schemeClr val="bg1"/>
                  </a:solidFill>
                  <a:latin typeface="Arial" panose="020B0604020202020204" pitchFamily="34" charset="0"/>
                  <a:ea typeface="微软雅黑" panose="020B0503020204020204" pitchFamily="34" charset="-122"/>
                  <a:cs typeface="思源黑体旧字形 Light" panose="020B0300000000000000" charset="-128"/>
                  <a:sym typeface="Arial" panose="020B0604020202020204" pitchFamily="34" charset="0"/>
                </a:rPr>
                <a:t>(</a:t>
              </a:r>
              <a:r>
                <a:rPr lang="zh-CN" altLang="en-US" sz="1400" dirty="0">
                  <a:solidFill>
                    <a:schemeClr val="bg1"/>
                  </a:solidFill>
                  <a:latin typeface="Arial" panose="020B0604020202020204" pitchFamily="34" charset="0"/>
                  <a:ea typeface="微软雅黑" panose="020B0503020204020204" pitchFamily="34" charset="-122"/>
                  <a:cs typeface="思源黑体旧字形 Light" panose="020B0300000000000000" charset="-128"/>
                  <a:sym typeface="Arial" panose="020B0604020202020204" pitchFamily="34" charset="0"/>
                </a:rPr>
                <a:t>非接触式</a:t>
              </a:r>
              <a:r>
                <a:rPr lang="en-US" altLang="zh-CN" sz="1400" dirty="0">
                  <a:solidFill>
                    <a:schemeClr val="bg1"/>
                  </a:solidFill>
                  <a:latin typeface="Arial" panose="020B0604020202020204" pitchFamily="34" charset="0"/>
                  <a:ea typeface="微软雅黑" panose="020B0503020204020204" pitchFamily="34" charset="-122"/>
                  <a:cs typeface="思源黑体旧字形 Light" panose="020B0300000000000000" charset="-128"/>
                  <a:sym typeface="Arial" panose="020B0604020202020204" pitchFamily="34" charset="0"/>
                </a:rPr>
                <a:t>)</a:t>
              </a:r>
              <a:endParaRPr lang="en-US" altLang="zh-CN" sz="1400" dirty="0">
                <a:solidFill>
                  <a:schemeClr val="bg1"/>
                </a:solidFill>
                <a:latin typeface="Arial" panose="020B0604020202020204" pitchFamily="34" charset="0"/>
                <a:ea typeface="微软雅黑" panose="020B0503020204020204" pitchFamily="34" charset="-122"/>
                <a:cs typeface="思源黑体旧字形 Light" panose="020B0300000000000000" charset="-128"/>
                <a:sym typeface="Arial" panose="020B0604020202020204" pitchFamily="34" charset="0"/>
              </a:endParaRPr>
            </a:p>
            <a:p>
              <a:pPr algn="just">
                <a:lnSpc>
                  <a:spcPct val="150000"/>
                </a:lnSpc>
              </a:pPr>
              <a:endParaRPr lang="en-US" altLang="zh-CN" sz="1400" dirty="0">
                <a:solidFill>
                  <a:schemeClr val="bg1"/>
                </a:solidFill>
                <a:latin typeface="Arial" panose="020B0604020202020204" pitchFamily="34" charset="0"/>
                <a:ea typeface="微软雅黑" panose="020B0503020204020204" pitchFamily="34" charset="-122"/>
                <a:cs typeface="思源黑体旧字形 Light" panose="020B0300000000000000" charset="-128"/>
                <a:sym typeface="Arial" panose="020B0604020202020204" pitchFamily="34" charset="0"/>
              </a:endParaRPr>
            </a:p>
            <a:p>
              <a:pPr algn="just">
                <a:lnSpc>
                  <a:spcPct val="150000"/>
                </a:lnSpc>
              </a:pPr>
              <a:r>
                <a:rPr lang="zh-CN" altLang="en-US" sz="1400" b="1" dirty="0">
                  <a:solidFill>
                    <a:schemeClr val="bg1"/>
                  </a:solidFill>
                  <a:latin typeface="Arial" panose="020B0604020202020204" pitchFamily="34" charset="0"/>
                  <a:ea typeface="微软雅黑" panose="020B0503020204020204" pitchFamily="34" charset="-122"/>
                  <a:cs typeface="思源黑体旧字形 Light" panose="020B0300000000000000" charset="-128"/>
                  <a:sym typeface="Arial" panose="020B0604020202020204" pitchFamily="34" charset="0"/>
                </a:rPr>
                <a:t>采样频率</a:t>
              </a:r>
              <a:r>
                <a:rPr lang="zh-CN" altLang="en-US" sz="1400" dirty="0">
                  <a:solidFill>
                    <a:schemeClr val="bg1"/>
                  </a:solidFill>
                  <a:latin typeface="Arial" panose="020B0604020202020204" pitchFamily="34" charset="0"/>
                  <a:ea typeface="微软雅黑" panose="020B0503020204020204" pitchFamily="34" charset="-122"/>
                  <a:cs typeface="思源黑体旧字形 Light" panose="020B0300000000000000" charset="-128"/>
                  <a:sym typeface="Arial" panose="020B0604020202020204" pitchFamily="34" charset="0"/>
                </a:rPr>
                <a:t>：每</a:t>
              </a:r>
              <a:r>
                <a:rPr lang="en-US" altLang="zh-CN" sz="1400" dirty="0">
                  <a:solidFill>
                    <a:schemeClr val="bg1"/>
                  </a:solidFill>
                  <a:latin typeface="Arial" panose="020B0604020202020204" pitchFamily="34" charset="0"/>
                  <a:ea typeface="微软雅黑" panose="020B0503020204020204" pitchFamily="34" charset="-122"/>
                  <a:cs typeface="思源黑体旧字形 Light" panose="020B0300000000000000" charset="-128"/>
                  <a:sym typeface="Arial" panose="020B0604020202020204" pitchFamily="34" charset="0"/>
                </a:rPr>
                <a:t>10</a:t>
              </a:r>
              <a:r>
                <a:rPr lang="zh-CN" altLang="en-US" sz="1400" dirty="0">
                  <a:solidFill>
                    <a:schemeClr val="bg1"/>
                  </a:solidFill>
                  <a:latin typeface="Arial" panose="020B0604020202020204" pitchFamily="34" charset="0"/>
                  <a:ea typeface="微软雅黑" panose="020B0503020204020204" pitchFamily="34" charset="-122"/>
                  <a:cs typeface="思源黑体旧字形 Light" panose="020B0300000000000000" charset="-128"/>
                  <a:sym typeface="Arial" panose="020B0604020202020204" pitchFamily="34" charset="0"/>
                </a:rPr>
                <a:t>分钟一次（可配置）</a:t>
              </a:r>
              <a:endParaRPr lang="zh-CN" altLang="en-US" sz="1400" dirty="0">
                <a:solidFill>
                  <a:schemeClr val="bg1"/>
                </a:solidFill>
                <a:latin typeface="Arial" panose="020B0604020202020204" pitchFamily="34" charset="0"/>
                <a:ea typeface="微软雅黑" panose="020B0503020204020204" pitchFamily="34" charset="-122"/>
                <a:cs typeface="思源黑体旧字形 Light" panose="020B0300000000000000" charset="-128"/>
                <a:sym typeface="Arial" panose="020B0604020202020204" pitchFamily="34" charset="0"/>
              </a:endParaRPr>
            </a:p>
            <a:p>
              <a:pPr algn="just">
                <a:lnSpc>
                  <a:spcPct val="150000"/>
                </a:lnSpc>
              </a:pPr>
              <a:endParaRPr lang="zh-CN" altLang="en-US" sz="1400" dirty="0">
                <a:solidFill>
                  <a:schemeClr val="bg1"/>
                </a:solidFill>
                <a:latin typeface="Arial" panose="020B0604020202020204" pitchFamily="34" charset="0"/>
                <a:ea typeface="微软雅黑" panose="020B0503020204020204" pitchFamily="34" charset="-122"/>
                <a:cs typeface="思源黑体旧字形 Light" panose="020B0300000000000000" charset="-128"/>
                <a:sym typeface="Arial" panose="020B0604020202020204" pitchFamily="34" charset="0"/>
              </a:endParaRPr>
            </a:p>
            <a:p>
              <a:pPr algn="just">
                <a:lnSpc>
                  <a:spcPct val="150000"/>
                </a:lnSpc>
              </a:pPr>
              <a:r>
                <a:rPr lang="zh-CN" altLang="en-US" sz="1400" b="1" dirty="0">
                  <a:solidFill>
                    <a:schemeClr val="bg1"/>
                  </a:solidFill>
                  <a:latin typeface="Arial" panose="020B0604020202020204" pitchFamily="34" charset="0"/>
                  <a:ea typeface="微软雅黑" panose="020B0503020204020204" pitchFamily="34" charset="-122"/>
                  <a:cs typeface="思源黑体旧字形 Light" panose="020B0300000000000000" charset="-128"/>
                  <a:sym typeface="Arial" panose="020B0604020202020204" pitchFamily="34" charset="0"/>
                </a:rPr>
                <a:t>执行器控制</a:t>
              </a:r>
              <a:r>
                <a:rPr lang="zh-CN" altLang="en-US" sz="1400" dirty="0">
                  <a:solidFill>
                    <a:schemeClr val="bg1"/>
                  </a:solidFill>
                  <a:latin typeface="Arial" panose="020B0604020202020204" pitchFamily="34" charset="0"/>
                  <a:ea typeface="微软雅黑" panose="020B0503020204020204" pitchFamily="34" charset="-122"/>
                  <a:cs typeface="思源黑体旧字形 Light" panose="020B0300000000000000" charset="-128"/>
                  <a:sym typeface="Arial" panose="020B0604020202020204" pitchFamily="34" charset="0"/>
                </a:rPr>
                <a:t>：加热棒</a:t>
              </a:r>
              <a:r>
                <a:rPr lang="en-US" altLang="zh-CN" sz="1400" dirty="0">
                  <a:solidFill>
                    <a:schemeClr val="bg1"/>
                  </a:solidFill>
                  <a:latin typeface="Arial" panose="020B0604020202020204" pitchFamily="34" charset="0"/>
                  <a:ea typeface="微软雅黑" panose="020B0503020204020204" pitchFamily="34" charset="-122"/>
                  <a:cs typeface="思源黑体旧字形 Light" panose="020B0300000000000000" charset="-128"/>
                  <a:sym typeface="Arial" panose="020B0604020202020204" pitchFamily="34" charset="0"/>
                </a:rPr>
                <a:t>(</a:t>
              </a:r>
              <a:r>
                <a:rPr lang="zh-CN" altLang="en-US" sz="1400" dirty="0">
                  <a:solidFill>
                    <a:schemeClr val="bg1"/>
                  </a:solidFill>
                  <a:latin typeface="Arial" panose="020B0604020202020204" pitchFamily="34" charset="0"/>
                  <a:ea typeface="微软雅黑" panose="020B0503020204020204" pitchFamily="34" charset="-122"/>
                  <a:cs typeface="思源黑体旧字形 Light" panose="020B0300000000000000" charset="-128"/>
                  <a:sym typeface="Arial" panose="020B0604020202020204" pitchFamily="34" charset="0"/>
                </a:rPr>
                <a:t>继电器</a:t>
              </a:r>
              <a:r>
                <a:rPr lang="en-US" altLang="zh-CN" sz="1400" dirty="0">
                  <a:solidFill>
                    <a:schemeClr val="bg1"/>
                  </a:solidFill>
                  <a:latin typeface="Arial" panose="020B0604020202020204" pitchFamily="34" charset="0"/>
                  <a:ea typeface="微软雅黑" panose="020B0503020204020204" pitchFamily="34" charset="-122"/>
                  <a:cs typeface="思源黑体旧字形 Light" panose="020B0300000000000000" charset="-128"/>
                  <a:sym typeface="Arial" panose="020B0604020202020204" pitchFamily="34" charset="0"/>
                </a:rPr>
                <a:t>)</a:t>
              </a:r>
              <a:r>
                <a:rPr lang="zh-CN" altLang="en-US" sz="1400" dirty="0">
                  <a:solidFill>
                    <a:schemeClr val="bg1"/>
                  </a:solidFill>
                  <a:latin typeface="Arial" panose="020B0604020202020204" pitchFamily="34" charset="0"/>
                  <a:ea typeface="微软雅黑" panose="020B0503020204020204" pitchFamily="34" charset="-122"/>
                  <a:cs typeface="思源黑体旧字形 Light" panose="020B0300000000000000" charset="-128"/>
                  <a:sym typeface="Arial" panose="020B0604020202020204" pitchFamily="34" charset="0"/>
                </a:rPr>
                <a:t>、微型水泵</a:t>
              </a:r>
              <a:r>
                <a:rPr lang="en-US" altLang="zh-CN" sz="1400" dirty="0">
                  <a:solidFill>
                    <a:schemeClr val="bg1"/>
                  </a:solidFill>
                  <a:latin typeface="Arial" panose="020B0604020202020204" pitchFamily="34" charset="0"/>
                  <a:ea typeface="微软雅黑" panose="020B0503020204020204" pitchFamily="34" charset="-122"/>
                  <a:cs typeface="思源黑体旧字形 Light" panose="020B0300000000000000" charset="-128"/>
                  <a:sym typeface="Arial" panose="020B0604020202020204" pitchFamily="34" charset="0"/>
                </a:rPr>
                <a:t>(</a:t>
              </a:r>
              <a:r>
                <a:rPr lang="zh-CN" altLang="en-US" sz="1400" dirty="0">
                  <a:solidFill>
                    <a:schemeClr val="bg1"/>
                  </a:solidFill>
                  <a:latin typeface="Arial" panose="020B0604020202020204" pitchFamily="34" charset="0"/>
                  <a:ea typeface="微软雅黑" panose="020B0503020204020204" pitchFamily="34" charset="-122"/>
                  <a:cs typeface="思源黑体旧字形 Light" panose="020B0300000000000000" charset="-128"/>
                  <a:sym typeface="Arial" panose="020B0604020202020204" pitchFamily="34" charset="0"/>
                </a:rPr>
                <a:t>补水</a:t>
              </a:r>
              <a:r>
                <a:rPr lang="en-US" altLang="zh-CN" sz="1400" dirty="0">
                  <a:solidFill>
                    <a:schemeClr val="bg1"/>
                  </a:solidFill>
                  <a:latin typeface="Arial" panose="020B0604020202020204" pitchFamily="34" charset="0"/>
                  <a:ea typeface="微软雅黑" panose="020B0503020204020204" pitchFamily="34" charset="-122"/>
                  <a:cs typeface="思源黑体旧字形 Light" panose="020B0300000000000000" charset="-128"/>
                  <a:sym typeface="Arial" panose="020B0604020202020204" pitchFamily="34" charset="0"/>
                </a:rPr>
                <a:t>)</a:t>
              </a:r>
              <a:r>
                <a:rPr lang="zh-CN" altLang="en-US" sz="1400" dirty="0">
                  <a:solidFill>
                    <a:schemeClr val="bg1"/>
                  </a:solidFill>
                  <a:latin typeface="Arial" panose="020B0604020202020204" pitchFamily="34" charset="0"/>
                  <a:ea typeface="微软雅黑" panose="020B0503020204020204" pitchFamily="34" charset="-122"/>
                  <a:cs typeface="思源黑体旧字形 Light" panose="020B0300000000000000" charset="-128"/>
                  <a:sym typeface="Arial" panose="020B0604020202020204" pitchFamily="34" charset="0"/>
                </a:rPr>
                <a:t>、气泵</a:t>
              </a:r>
              <a:r>
                <a:rPr lang="en-US" altLang="zh-CN" sz="1400" dirty="0">
                  <a:solidFill>
                    <a:schemeClr val="bg1"/>
                  </a:solidFill>
                  <a:latin typeface="Arial" panose="020B0604020202020204" pitchFamily="34" charset="0"/>
                  <a:ea typeface="微软雅黑" panose="020B0503020204020204" pitchFamily="34" charset="-122"/>
                  <a:cs typeface="思源黑体旧字形 Light" panose="020B0300000000000000" charset="-128"/>
                  <a:sym typeface="Arial" panose="020B0604020202020204" pitchFamily="34" charset="0"/>
                </a:rPr>
                <a:t>(</a:t>
              </a:r>
              <a:r>
                <a:rPr lang="zh-CN" altLang="en-US" sz="1400" dirty="0">
                  <a:solidFill>
                    <a:schemeClr val="bg1"/>
                  </a:solidFill>
                  <a:latin typeface="Arial" panose="020B0604020202020204" pitchFamily="34" charset="0"/>
                  <a:ea typeface="微软雅黑" panose="020B0503020204020204" pitchFamily="34" charset="-122"/>
                  <a:cs typeface="思源黑体旧字形 Light" panose="020B0300000000000000" charset="-128"/>
                  <a:sym typeface="Arial" panose="020B0604020202020204" pitchFamily="34" charset="0"/>
                </a:rPr>
                <a:t>增氧</a:t>
              </a:r>
              <a:r>
                <a:rPr lang="en-US" altLang="zh-CN" sz="1400" dirty="0">
                  <a:solidFill>
                    <a:schemeClr val="bg1"/>
                  </a:solidFill>
                  <a:latin typeface="Arial" panose="020B0604020202020204" pitchFamily="34" charset="0"/>
                  <a:ea typeface="微软雅黑" panose="020B0503020204020204" pitchFamily="34" charset="-122"/>
                  <a:cs typeface="思源黑体旧字形 Light" panose="020B0300000000000000" charset="-128"/>
                  <a:sym typeface="Arial" panose="020B0604020202020204" pitchFamily="34" charset="0"/>
                </a:rPr>
                <a:t>)</a:t>
              </a:r>
              <a:r>
                <a:rPr lang="zh-CN" altLang="en-US" sz="1400" dirty="0">
                  <a:solidFill>
                    <a:schemeClr val="bg1"/>
                  </a:solidFill>
                  <a:latin typeface="Arial" panose="020B0604020202020204" pitchFamily="34" charset="0"/>
                  <a:ea typeface="微软雅黑" panose="020B0503020204020204" pitchFamily="34" charset="-122"/>
                  <a:cs typeface="思源黑体旧字形 Light" panose="020B0300000000000000" charset="-128"/>
                  <a:sym typeface="Arial" panose="020B0604020202020204" pitchFamily="34" charset="0"/>
                </a:rPr>
                <a:t>、舵机</a:t>
              </a:r>
              <a:r>
                <a:rPr lang="en-US" altLang="zh-CN" sz="1400" dirty="0">
                  <a:solidFill>
                    <a:schemeClr val="bg1"/>
                  </a:solidFill>
                  <a:latin typeface="Arial" panose="020B0604020202020204" pitchFamily="34" charset="0"/>
                  <a:ea typeface="微软雅黑" panose="020B0503020204020204" pitchFamily="34" charset="-122"/>
                  <a:cs typeface="思源黑体旧字形 Light" panose="020B0300000000000000" charset="-128"/>
                  <a:sym typeface="Arial" panose="020B0604020202020204" pitchFamily="34" charset="0"/>
                </a:rPr>
                <a:t>(</a:t>
              </a:r>
              <a:r>
                <a:rPr lang="zh-CN" altLang="en-US" sz="1400" dirty="0">
                  <a:solidFill>
                    <a:schemeClr val="bg1"/>
                  </a:solidFill>
                  <a:latin typeface="Arial" panose="020B0604020202020204" pitchFamily="34" charset="0"/>
                  <a:ea typeface="微软雅黑" panose="020B0503020204020204" pitchFamily="34" charset="-122"/>
                  <a:cs typeface="思源黑体旧字形 Light" panose="020B0300000000000000" charset="-128"/>
                  <a:sym typeface="Arial" panose="020B0604020202020204" pitchFamily="34" charset="0"/>
                </a:rPr>
                <a:t>投食</a:t>
              </a:r>
              <a:r>
                <a:rPr lang="en-US" altLang="zh-CN" sz="1400" dirty="0">
                  <a:solidFill>
                    <a:schemeClr val="bg1"/>
                  </a:solidFill>
                  <a:latin typeface="Arial" panose="020B0604020202020204" pitchFamily="34" charset="0"/>
                  <a:ea typeface="微软雅黑" panose="020B0503020204020204" pitchFamily="34" charset="-122"/>
                  <a:cs typeface="思源黑体旧字形 Light" panose="020B0300000000000000" charset="-128"/>
                  <a:sym typeface="Arial" panose="020B0604020202020204" pitchFamily="34" charset="0"/>
                </a:rPr>
                <a:t>)</a:t>
              </a:r>
              <a:endParaRPr lang="en-US" altLang="zh-CN" sz="1400" dirty="0">
                <a:solidFill>
                  <a:schemeClr val="bg1"/>
                </a:solidFill>
                <a:latin typeface="Arial" panose="020B0604020202020204" pitchFamily="34" charset="0"/>
                <a:ea typeface="微软雅黑" panose="020B0503020204020204" pitchFamily="34" charset="-122"/>
                <a:cs typeface="思源黑体旧字形 Light" panose="020B0300000000000000" charset="-128"/>
                <a:sym typeface="Arial" panose="020B0604020202020204" pitchFamily="34" charset="0"/>
              </a:endParaRPr>
            </a:p>
            <a:p>
              <a:pPr algn="just">
                <a:lnSpc>
                  <a:spcPct val="150000"/>
                </a:lnSpc>
              </a:pPr>
              <a:endParaRPr lang="en-US" altLang="zh-CN" sz="1400" dirty="0">
                <a:solidFill>
                  <a:schemeClr val="bg1"/>
                </a:solidFill>
                <a:latin typeface="Arial" panose="020B0604020202020204" pitchFamily="34" charset="0"/>
                <a:ea typeface="微软雅黑" panose="020B0503020204020204" pitchFamily="34" charset="-122"/>
                <a:cs typeface="思源黑体旧字形 Light" panose="020B0300000000000000" charset="-128"/>
                <a:sym typeface="Arial" panose="020B0604020202020204" pitchFamily="34" charset="0"/>
              </a:endParaRPr>
            </a:p>
            <a:p>
              <a:pPr algn="just">
                <a:lnSpc>
                  <a:spcPct val="150000"/>
                </a:lnSpc>
              </a:pPr>
              <a:r>
                <a:rPr lang="zh-CN" altLang="en-US" sz="1400" b="1" dirty="0">
                  <a:solidFill>
                    <a:schemeClr val="bg1"/>
                  </a:solidFill>
                  <a:latin typeface="Arial" panose="020B0604020202020204" pitchFamily="34" charset="0"/>
                  <a:ea typeface="微软雅黑" panose="020B0503020204020204" pitchFamily="34" charset="-122"/>
                  <a:cs typeface="思源黑体旧字形 Light" panose="020B0300000000000000" charset="-128"/>
                  <a:sym typeface="Arial" panose="020B0604020202020204" pitchFamily="34" charset="0"/>
                </a:rPr>
                <a:t>通信协议</a:t>
              </a:r>
              <a:r>
                <a:rPr lang="zh-CN" altLang="en-US" sz="1400" dirty="0">
                  <a:solidFill>
                    <a:schemeClr val="bg1"/>
                  </a:solidFill>
                  <a:latin typeface="Arial" panose="020B0604020202020204" pitchFamily="34" charset="0"/>
                  <a:ea typeface="微软雅黑" panose="020B0503020204020204" pitchFamily="34" charset="-122"/>
                  <a:cs typeface="思源黑体旧字形 Light" panose="020B0300000000000000" charset="-128"/>
                  <a:sym typeface="Arial" panose="020B0604020202020204" pitchFamily="34" charset="0"/>
                </a:rPr>
                <a:t>：边缘设备（</a:t>
              </a:r>
              <a:r>
                <a:rPr lang="en-US" altLang="zh-CN" sz="1400" dirty="0">
                  <a:solidFill>
                    <a:schemeClr val="bg1"/>
                  </a:solidFill>
                  <a:latin typeface="Arial" panose="020B0604020202020204" pitchFamily="34" charset="0"/>
                  <a:ea typeface="微软雅黑" panose="020B0503020204020204" pitchFamily="34" charset="-122"/>
                  <a:cs typeface="思源黑体旧字形 Light" panose="020B0300000000000000" charset="-128"/>
                  <a:sym typeface="Arial" panose="020B0604020202020204" pitchFamily="34" charset="0"/>
                </a:rPr>
                <a:t>Arduino/ESP32</a:t>
              </a:r>
              <a:r>
                <a:rPr lang="zh-CN" altLang="en-US" sz="1400" dirty="0">
                  <a:solidFill>
                    <a:schemeClr val="bg1"/>
                  </a:solidFill>
                  <a:latin typeface="Arial" panose="020B0604020202020204" pitchFamily="34" charset="0"/>
                  <a:ea typeface="微软雅黑" panose="020B0503020204020204" pitchFamily="34" charset="-122"/>
                  <a:cs typeface="思源黑体旧字形 Light" panose="020B0300000000000000" charset="-128"/>
                  <a:sym typeface="Arial" panose="020B0604020202020204" pitchFamily="34" charset="0"/>
                </a:rPr>
                <a:t>）通过</a:t>
              </a:r>
              <a:r>
                <a:rPr lang="en-US" altLang="zh-CN" sz="1400" dirty="0">
                  <a:solidFill>
                    <a:schemeClr val="bg1"/>
                  </a:solidFill>
                  <a:latin typeface="Arial" panose="020B0604020202020204" pitchFamily="34" charset="0"/>
                  <a:ea typeface="微软雅黑" panose="020B0503020204020204" pitchFamily="34" charset="-122"/>
                  <a:cs typeface="思源黑体旧字形 Light" panose="020B0300000000000000" charset="-128"/>
                  <a:sym typeface="Arial" panose="020B0604020202020204" pitchFamily="34" charset="0"/>
                </a:rPr>
                <a:t>MQTT</a:t>
              </a:r>
              <a:r>
                <a:rPr lang="zh-CN" altLang="en-US" sz="1400" dirty="0">
                  <a:solidFill>
                    <a:schemeClr val="bg1"/>
                  </a:solidFill>
                  <a:latin typeface="Arial" panose="020B0604020202020204" pitchFamily="34" charset="0"/>
                  <a:ea typeface="微软雅黑" panose="020B0503020204020204" pitchFamily="34" charset="-122"/>
                  <a:cs typeface="思源黑体旧字形 Light" panose="020B0300000000000000" charset="-128"/>
                  <a:sym typeface="Arial" panose="020B0604020202020204" pitchFamily="34" charset="0"/>
                </a:rPr>
                <a:t>或</a:t>
              </a:r>
              <a:r>
                <a:rPr lang="en-US" altLang="zh-CN" sz="1400" dirty="0">
                  <a:solidFill>
                    <a:schemeClr val="bg1"/>
                  </a:solidFill>
                  <a:latin typeface="Arial" panose="020B0604020202020204" pitchFamily="34" charset="0"/>
                  <a:ea typeface="微软雅黑" panose="020B0503020204020204" pitchFamily="34" charset="-122"/>
                  <a:cs typeface="思源黑体旧字形 Light" panose="020B0300000000000000" charset="-128"/>
                  <a:sym typeface="Arial" panose="020B0604020202020204" pitchFamily="34" charset="0"/>
                </a:rPr>
                <a:t>HTTP</a:t>
              </a:r>
              <a:r>
                <a:rPr lang="zh-CN" altLang="en-US" sz="1400" dirty="0">
                  <a:solidFill>
                    <a:schemeClr val="bg1"/>
                  </a:solidFill>
                  <a:latin typeface="Arial" panose="020B0604020202020204" pitchFamily="34" charset="0"/>
                  <a:ea typeface="微软雅黑" panose="020B0503020204020204" pitchFamily="34" charset="-122"/>
                  <a:cs typeface="思源黑体旧字形 Light" panose="020B0300000000000000" charset="-128"/>
                  <a:sym typeface="Arial" panose="020B0604020202020204" pitchFamily="34" charset="0"/>
                </a:rPr>
                <a:t>将数据上传至云端</a:t>
              </a:r>
              <a:endParaRPr lang="zh-CN" altLang="en-US" sz="1400" dirty="0">
                <a:solidFill>
                  <a:schemeClr val="bg1"/>
                </a:solidFill>
                <a:latin typeface="Arial" panose="020B0604020202020204" pitchFamily="34" charset="0"/>
                <a:ea typeface="微软雅黑" panose="020B0503020204020204" pitchFamily="34" charset="-122"/>
                <a:cs typeface="思源黑体旧字形 Light" panose="020B0300000000000000" charset="-128"/>
                <a:sym typeface="Arial" panose="020B0604020202020204" pitchFamily="34" charset="0"/>
              </a:endParaRPr>
            </a:p>
            <a:p>
              <a:pPr algn="just">
                <a:lnSpc>
                  <a:spcPct val="150000"/>
                </a:lnSpc>
              </a:pPr>
              <a:endParaRPr lang="zh-CN" altLang="en-US" sz="1400" dirty="0">
                <a:solidFill>
                  <a:schemeClr val="bg1"/>
                </a:solidFill>
                <a:latin typeface="Arial" panose="020B0604020202020204" pitchFamily="34" charset="0"/>
                <a:ea typeface="微软雅黑" panose="020B0503020204020204" pitchFamily="34" charset="-122"/>
                <a:cs typeface="思源黑体旧字形 Light" panose="020B0300000000000000" charset="-128"/>
                <a:sym typeface="Arial" panose="020B0604020202020204" pitchFamily="34" charset="0"/>
              </a:endParaRPr>
            </a:p>
            <a:p>
              <a:pPr algn="just">
                <a:lnSpc>
                  <a:spcPct val="150000"/>
                </a:lnSpc>
              </a:pPr>
              <a:r>
                <a:rPr lang="zh-CN" altLang="en-US" sz="1400" b="1" dirty="0">
                  <a:solidFill>
                    <a:schemeClr val="bg1"/>
                  </a:solidFill>
                  <a:latin typeface="Arial" panose="020B0604020202020204" pitchFamily="34" charset="0"/>
                  <a:ea typeface="微软雅黑" panose="020B0503020204020204" pitchFamily="34" charset="-122"/>
                  <a:cs typeface="思源黑体旧字形 Light" panose="020B0300000000000000" charset="-128"/>
                  <a:sym typeface="Arial" panose="020B0604020202020204" pitchFamily="34" charset="0"/>
                </a:rPr>
                <a:t>边缘端预处理</a:t>
              </a:r>
              <a:r>
                <a:rPr lang="zh-CN" altLang="en-US" sz="1400" dirty="0">
                  <a:solidFill>
                    <a:schemeClr val="bg1"/>
                  </a:solidFill>
                  <a:latin typeface="Arial" panose="020B0604020202020204" pitchFamily="34" charset="0"/>
                  <a:ea typeface="微软雅黑" panose="020B0503020204020204" pitchFamily="34" charset="-122"/>
                  <a:cs typeface="思源黑体旧字形 Light" panose="020B0300000000000000" charset="-128"/>
                  <a:sym typeface="Arial" panose="020B0604020202020204" pitchFamily="34" charset="0"/>
                </a:rPr>
                <a:t>：滑动平均滤波、异常值剔除</a:t>
              </a:r>
              <a:endParaRPr lang="zh-CN" altLang="en-US" sz="140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grpSp>
      <p:sp>
        <p:nvSpPr>
          <p:cNvPr id="3" name="文本框 2"/>
          <p:cNvSpPr txBox="1"/>
          <p:nvPr/>
        </p:nvSpPr>
        <p:spPr>
          <a:xfrm>
            <a:off x="919480" y="6113780"/>
            <a:ext cx="2541905" cy="275590"/>
          </a:xfrm>
          <a:prstGeom prst="rect">
            <a:avLst/>
          </a:prstGeom>
          <a:noFill/>
        </p:spPr>
        <p:txBody>
          <a:bodyPr wrap="square" rtlCol="0">
            <a:spAutoFit/>
          </a:bodyPr>
          <a:lstStyle/>
          <a:p>
            <a:r>
              <a:rPr lang="zh-CN" altLang="en-US" sz="1200" b="1">
                <a:solidFill>
                  <a:srgbClr val="004C9E"/>
                </a:solidFill>
                <a:latin typeface="微软雅黑" panose="020B0503020204020204" pitchFamily="34" charset="-122"/>
                <a:ea typeface="微软雅黑" panose="020B0503020204020204" pitchFamily="34" charset="-122"/>
                <a:cs typeface="微软雅黑" panose="020B0503020204020204" pitchFamily="34" charset="-122"/>
              </a:rPr>
              <a:t>耐劳苦</a:t>
            </a:r>
            <a:r>
              <a:rPr lang="en-US" altLang="zh-CN" sz="1200" b="1">
                <a:solidFill>
                  <a:srgbClr val="004C9E"/>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200" b="1">
                <a:solidFill>
                  <a:srgbClr val="004C9E"/>
                </a:solidFill>
                <a:latin typeface="微软雅黑" panose="020B0503020204020204" pitchFamily="34" charset="-122"/>
                <a:ea typeface="微软雅黑" panose="020B0503020204020204" pitchFamily="34" charset="-122"/>
                <a:cs typeface="微软雅黑" panose="020B0503020204020204" pitchFamily="34" charset="-122"/>
              </a:rPr>
              <a:t>尚俭朴</a:t>
            </a:r>
            <a:r>
              <a:rPr lang="en-US" altLang="zh-CN" sz="1200" b="1">
                <a:solidFill>
                  <a:srgbClr val="004C9E"/>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200" b="1">
                <a:solidFill>
                  <a:srgbClr val="004C9E"/>
                </a:solidFill>
                <a:latin typeface="微软雅黑" panose="020B0503020204020204" pitchFamily="34" charset="-122"/>
                <a:ea typeface="微软雅黑" panose="020B0503020204020204" pitchFamily="34" charset="-122"/>
                <a:cs typeface="微软雅黑" panose="020B0503020204020204" pitchFamily="34" charset="-122"/>
              </a:rPr>
              <a:t>勤学业</a:t>
            </a:r>
            <a:r>
              <a:rPr lang="en-US" altLang="zh-CN" sz="1200" b="1">
                <a:solidFill>
                  <a:srgbClr val="004C9E"/>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200" b="1">
                <a:solidFill>
                  <a:srgbClr val="004C9E"/>
                </a:solidFill>
                <a:latin typeface="微软雅黑" panose="020B0503020204020204" pitchFamily="34" charset="-122"/>
                <a:ea typeface="微软雅黑" panose="020B0503020204020204" pitchFamily="34" charset="-122"/>
                <a:cs typeface="微软雅黑" panose="020B0503020204020204" pitchFamily="34" charset="-122"/>
              </a:rPr>
              <a:t>爱国家</a:t>
            </a:r>
            <a:endParaRPr lang="zh-CN" altLang="en-US" sz="1200" b="1">
              <a:solidFill>
                <a:srgbClr val="004C9E"/>
              </a:solidFill>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11" name="图片 10" descr="校徽"/>
          <p:cNvPicPr>
            <a:picLocks noChangeAspect="1"/>
          </p:cNvPicPr>
          <p:nvPr/>
        </p:nvPicPr>
        <p:blipFill>
          <a:blip r:embed="rId5"/>
          <a:stretch>
            <a:fillRect/>
          </a:stretch>
        </p:blipFill>
        <p:spPr>
          <a:xfrm>
            <a:off x="10127615" y="5844540"/>
            <a:ext cx="1259840" cy="397510"/>
          </a:xfrm>
          <a:prstGeom prst="rect">
            <a:avLst/>
          </a:prstGeom>
        </p:spPr>
      </p:pic>
      <p:sp>
        <p:nvSpPr>
          <p:cNvPr id="2" name="矩形: 圆角 1"/>
          <p:cNvSpPr/>
          <p:nvPr/>
        </p:nvSpPr>
        <p:spPr>
          <a:xfrm>
            <a:off x="1325879" y="1325880"/>
            <a:ext cx="1234441" cy="466344"/>
          </a:xfrm>
          <a:prstGeom prst="roundRect">
            <a:avLst/>
          </a:prstGeom>
          <a:solidFill>
            <a:srgbClr val="5B9B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t>传感器</a:t>
            </a:r>
            <a:endParaRPr lang="zh-CN" altLang="en-US" b="1" dirty="0"/>
          </a:p>
        </p:txBody>
      </p:sp>
      <p:sp>
        <p:nvSpPr>
          <p:cNvPr id="29" name="矩形: 圆角 28"/>
          <p:cNvSpPr/>
          <p:nvPr/>
        </p:nvSpPr>
        <p:spPr>
          <a:xfrm>
            <a:off x="1243580" y="2211254"/>
            <a:ext cx="1399031" cy="466344"/>
          </a:xfrm>
          <a:prstGeom prst="roundRect">
            <a:avLst/>
          </a:prstGeom>
          <a:solidFill>
            <a:srgbClr val="5B9B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t>边缘单片机</a:t>
            </a:r>
            <a:endParaRPr lang="zh-CN" altLang="en-US" b="1" dirty="0"/>
          </a:p>
        </p:txBody>
      </p:sp>
      <p:sp>
        <p:nvSpPr>
          <p:cNvPr id="30" name="矩形: 圆角 29"/>
          <p:cNvSpPr/>
          <p:nvPr/>
        </p:nvSpPr>
        <p:spPr>
          <a:xfrm>
            <a:off x="1325878" y="3101115"/>
            <a:ext cx="1234441" cy="466344"/>
          </a:xfrm>
          <a:prstGeom prst="roundRect">
            <a:avLst/>
          </a:prstGeom>
          <a:solidFill>
            <a:srgbClr val="5B9B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t>数据打包</a:t>
            </a:r>
            <a:endParaRPr lang="zh-CN" altLang="en-US" b="1" dirty="0"/>
          </a:p>
        </p:txBody>
      </p:sp>
      <p:sp>
        <p:nvSpPr>
          <p:cNvPr id="31" name="矩形: 圆角 30"/>
          <p:cNvSpPr/>
          <p:nvPr/>
        </p:nvSpPr>
        <p:spPr>
          <a:xfrm>
            <a:off x="1325877" y="3987183"/>
            <a:ext cx="1234441" cy="466344"/>
          </a:xfrm>
          <a:prstGeom prst="roundRect">
            <a:avLst/>
          </a:prstGeom>
          <a:solidFill>
            <a:srgbClr val="5B9B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t>MQTT</a:t>
            </a:r>
            <a:endParaRPr lang="zh-CN" altLang="en-US" b="1" dirty="0"/>
          </a:p>
        </p:txBody>
      </p:sp>
      <p:sp>
        <p:nvSpPr>
          <p:cNvPr id="32" name="矩形: 圆角 31"/>
          <p:cNvSpPr/>
          <p:nvPr/>
        </p:nvSpPr>
        <p:spPr>
          <a:xfrm>
            <a:off x="1325876" y="4879178"/>
            <a:ext cx="1234441" cy="466344"/>
          </a:xfrm>
          <a:prstGeom prst="roundRect">
            <a:avLst/>
          </a:prstGeom>
          <a:solidFill>
            <a:srgbClr val="5B9B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t>云端</a:t>
            </a:r>
            <a:endParaRPr lang="zh-CN" altLang="en-US" b="1" dirty="0"/>
          </a:p>
        </p:txBody>
      </p:sp>
      <p:cxnSp>
        <p:nvCxnSpPr>
          <p:cNvPr id="5" name="直接箭头连接符 4"/>
          <p:cNvCxnSpPr>
            <a:stCxn id="2" idx="2"/>
            <a:endCxn id="29" idx="0"/>
          </p:cNvCxnSpPr>
          <p:nvPr/>
        </p:nvCxnSpPr>
        <p:spPr>
          <a:xfrm flipH="1">
            <a:off x="1943096" y="1792224"/>
            <a:ext cx="4" cy="41903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2" name="直接箭头连接符 11"/>
          <p:cNvCxnSpPr>
            <a:endCxn id="30" idx="0"/>
          </p:cNvCxnSpPr>
          <p:nvPr/>
        </p:nvCxnSpPr>
        <p:spPr>
          <a:xfrm>
            <a:off x="1943095" y="2682085"/>
            <a:ext cx="4" cy="41903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9" name="直接箭头连接符 18"/>
          <p:cNvCxnSpPr>
            <a:stCxn id="30" idx="2"/>
            <a:endCxn id="31" idx="0"/>
          </p:cNvCxnSpPr>
          <p:nvPr/>
        </p:nvCxnSpPr>
        <p:spPr>
          <a:xfrm flipH="1">
            <a:off x="1943098" y="3567459"/>
            <a:ext cx="1" cy="419724"/>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34" name="直接箭头连接符 33"/>
          <p:cNvCxnSpPr>
            <a:stCxn id="31" idx="2"/>
            <a:endCxn id="32" idx="0"/>
          </p:cNvCxnSpPr>
          <p:nvPr/>
        </p:nvCxnSpPr>
        <p:spPr>
          <a:xfrm flipH="1">
            <a:off x="1943097" y="4453527"/>
            <a:ext cx="1" cy="42565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36" name="文本框 35"/>
          <p:cNvSpPr txBox="1"/>
          <p:nvPr/>
        </p:nvSpPr>
        <p:spPr>
          <a:xfrm>
            <a:off x="843475" y="5496047"/>
            <a:ext cx="2005153" cy="338554"/>
          </a:xfrm>
          <a:prstGeom prst="rect">
            <a:avLst/>
          </a:prstGeom>
          <a:noFill/>
        </p:spPr>
        <p:txBody>
          <a:bodyPr wrap="square" rtlCol="0">
            <a:spAutoFit/>
          </a:bodyPr>
          <a:lstStyle/>
          <a:p>
            <a:pPr algn="ctr"/>
            <a:r>
              <a:rPr lang="zh-CN" altLang="en-US" sz="1600" dirty="0"/>
              <a:t>数据流示意图</a:t>
            </a:r>
            <a:endParaRPr lang="zh-CN" altLang="en-US" sz="1600" dirty="0"/>
          </a:p>
        </p:txBody>
      </p:sp>
      <p:sp>
        <p:nvSpPr>
          <p:cNvPr id="48" name="文本框 47"/>
          <p:cNvSpPr txBox="1"/>
          <p:nvPr/>
        </p:nvSpPr>
        <p:spPr>
          <a:xfrm>
            <a:off x="1189862" y="553085"/>
            <a:ext cx="2001520" cy="400110"/>
          </a:xfrm>
          <a:prstGeom prst="rect">
            <a:avLst/>
          </a:prstGeom>
          <a:noFill/>
        </p:spPr>
        <p:txBody>
          <a:bodyPr wrap="square" rtlCol="0">
            <a:spAutoFit/>
          </a:bodyPr>
          <a:lstStyle/>
          <a:p>
            <a:pPr algn="ctr"/>
            <a:r>
              <a:rPr lang="zh-CN" altLang="en-US" sz="2000" b="1" dirty="0">
                <a:solidFill>
                  <a:srgbClr val="A6A6A6"/>
                </a:solidFill>
                <a:latin typeface="微软雅黑" panose="020B0503020204020204" pitchFamily="34" charset="-122"/>
                <a:ea typeface="微软雅黑" panose="020B0503020204020204" pitchFamily="34" charset="-122"/>
              </a:rPr>
              <a:t>立项背景及意义</a:t>
            </a:r>
            <a:endParaRPr lang="zh-CN" altLang="en-US" sz="2000" b="1" dirty="0">
              <a:solidFill>
                <a:srgbClr val="A6A6A6"/>
              </a:solidFill>
              <a:latin typeface="微软雅黑" panose="020B0503020204020204" pitchFamily="34" charset="-122"/>
              <a:ea typeface="微软雅黑" panose="020B0503020204020204" pitchFamily="34" charset="-122"/>
            </a:endParaRPr>
          </a:p>
        </p:txBody>
      </p:sp>
      <p:sp>
        <p:nvSpPr>
          <p:cNvPr id="49" name="文本框 48"/>
          <p:cNvSpPr txBox="1"/>
          <p:nvPr/>
        </p:nvSpPr>
        <p:spPr>
          <a:xfrm>
            <a:off x="3135865" y="553085"/>
            <a:ext cx="2001520" cy="400110"/>
          </a:xfrm>
          <a:prstGeom prst="rect">
            <a:avLst/>
          </a:prstGeom>
          <a:noFill/>
        </p:spPr>
        <p:txBody>
          <a:bodyPr wrap="square" rtlCol="0">
            <a:spAutoFit/>
          </a:bodyPr>
          <a:lstStyle/>
          <a:p>
            <a:pPr algn="ctr"/>
            <a:r>
              <a:rPr lang="zh-CN" altLang="en-US" sz="2000" b="1" dirty="0">
                <a:solidFill>
                  <a:srgbClr val="004C9E"/>
                </a:solidFill>
                <a:latin typeface="微软雅黑" panose="020B0503020204020204" pitchFamily="34" charset="-122"/>
                <a:ea typeface="微软雅黑" panose="020B0503020204020204" pitchFamily="34" charset="-122"/>
              </a:rPr>
              <a:t>研究内容</a:t>
            </a:r>
            <a:endParaRPr lang="zh-CN" altLang="en-US" sz="2000" b="1" dirty="0">
              <a:solidFill>
                <a:srgbClr val="004C9E"/>
              </a:solidFill>
              <a:latin typeface="微软雅黑" panose="020B0503020204020204" pitchFamily="34" charset="-122"/>
              <a:ea typeface="微软雅黑" panose="020B0503020204020204" pitchFamily="34" charset="-122"/>
            </a:endParaRPr>
          </a:p>
        </p:txBody>
      </p:sp>
      <p:sp>
        <p:nvSpPr>
          <p:cNvPr id="51" name="文本框 50"/>
          <p:cNvSpPr txBox="1"/>
          <p:nvPr/>
        </p:nvSpPr>
        <p:spPr>
          <a:xfrm>
            <a:off x="5161828" y="553085"/>
            <a:ext cx="2001520" cy="400110"/>
          </a:xfrm>
          <a:prstGeom prst="rect">
            <a:avLst/>
          </a:prstGeom>
          <a:noFill/>
        </p:spPr>
        <p:txBody>
          <a:bodyPr wrap="square" rtlCol="0">
            <a:spAutoFit/>
          </a:bodyPr>
          <a:lstStyle/>
          <a:p>
            <a:pPr algn="ctr"/>
            <a:r>
              <a:rPr lang="zh-CN" altLang="en-US" sz="2000" b="1" dirty="0">
                <a:solidFill>
                  <a:schemeClr val="bg1">
                    <a:lumMod val="65000"/>
                  </a:schemeClr>
                </a:solidFill>
                <a:latin typeface="微软雅黑" panose="020B0503020204020204" pitchFamily="34" charset="-122"/>
                <a:ea typeface="微软雅黑" panose="020B0503020204020204" pitchFamily="34" charset="-122"/>
              </a:rPr>
              <a:t>拟采用技术路线</a:t>
            </a:r>
            <a:endParaRPr lang="zh-CN" altLang="en-US" sz="2000" b="1" dirty="0">
              <a:solidFill>
                <a:schemeClr val="bg1">
                  <a:lumMod val="65000"/>
                </a:schemeClr>
              </a:solidFill>
              <a:latin typeface="微软雅黑" panose="020B0503020204020204" pitchFamily="34" charset="-122"/>
              <a:ea typeface="微软雅黑" panose="020B0503020204020204" pitchFamily="34" charset="-122"/>
            </a:endParaRPr>
          </a:p>
        </p:txBody>
      </p:sp>
      <p:sp>
        <p:nvSpPr>
          <p:cNvPr id="52" name="等腰三角形 51"/>
          <p:cNvSpPr/>
          <p:nvPr/>
        </p:nvSpPr>
        <p:spPr>
          <a:xfrm rot="5400000">
            <a:off x="3349256" y="669975"/>
            <a:ext cx="192943" cy="166330"/>
          </a:xfrm>
          <a:prstGeom prst="triangle">
            <a:avLst/>
          </a:prstGeom>
          <a:solidFill>
            <a:srgbClr val="004C9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文本框 52"/>
          <p:cNvSpPr txBox="1"/>
          <p:nvPr/>
        </p:nvSpPr>
        <p:spPr>
          <a:xfrm>
            <a:off x="6873124" y="553085"/>
            <a:ext cx="2755901" cy="398780"/>
          </a:xfrm>
          <a:prstGeom prst="rect">
            <a:avLst/>
          </a:prstGeom>
          <a:noFill/>
        </p:spPr>
        <p:txBody>
          <a:bodyPr wrap="square" rtlCol="0">
            <a:spAutoFit/>
          </a:bodyPr>
          <a:lstStyle/>
          <a:p>
            <a:pPr algn="ctr"/>
            <a:r>
              <a:rPr lang="zh-CN" altLang="en-US" sz="2000" b="1" dirty="0">
                <a:solidFill>
                  <a:schemeClr val="bg1">
                    <a:lumMod val="65000"/>
                  </a:schemeClr>
                </a:solidFill>
                <a:latin typeface="微软雅黑" panose="020B0503020204020204" pitchFamily="34" charset="-122"/>
                <a:ea typeface="微软雅黑" panose="020B0503020204020204" pitchFamily="34" charset="-122"/>
              </a:rPr>
              <a:t>创新与特点</a:t>
            </a:r>
            <a:endParaRPr lang="zh-CN" altLang="en-US" sz="2000" b="1" dirty="0">
              <a:solidFill>
                <a:schemeClr val="bg1">
                  <a:lumMod val="65000"/>
                </a:schemeClr>
              </a:solidFill>
              <a:latin typeface="微软雅黑" panose="020B0503020204020204" pitchFamily="34" charset="-122"/>
              <a:ea typeface="微软雅黑" panose="020B0503020204020204" pitchFamily="34" charset="-122"/>
            </a:endParaRPr>
          </a:p>
        </p:txBody>
      </p:sp>
      <p:sp>
        <p:nvSpPr>
          <p:cNvPr id="54" name="文本框 53"/>
          <p:cNvSpPr txBox="1"/>
          <p:nvPr/>
        </p:nvSpPr>
        <p:spPr>
          <a:xfrm>
            <a:off x="9102720" y="553085"/>
            <a:ext cx="2755901" cy="398780"/>
          </a:xfrm>
          <a:prstGeom prst="rect">
            <a:avLst/>
          </a:prstGeom>
          <a:noFill/>
        </p:spPr>
        <p:txBody>
          <a:bodyPr wrap="square" rtlCol="0">
            <a:spAutoFit/>
          </a:bodyPr>
          <a:lstStyle/>
          <a:p>
            <a:pPr algn="ctr"/>
            <a:r>
              <a:rPr lang="zh-CN" altLang="en-US" sz="2000" b="1" dirty="0">
                <a:solidFill>
                  <a:schemeClr val="bg1">
                    <a:lumMod val="65000"/>
                  </a:schemeClr>
                </a:solidFill>
                <a:latin typeface="微软雅黑" panose="020B0503020204020204" pitchFamily="34" charset="-122"/>
                <a:ea typeface="微软雅黑" panose="020B0503020204020204" pitchFamily="34" charset="-122"/>
              </a:rPr>
              <a:t>时间安排计划</a:t>
            </a:r>
            <a:endParaRPr lang="zh-CN" altLang="en-US" sz="2000" b="1" dirty="0">
              <a:solidFill>
                <a:schemeClr val="bg1">
                  <a:lumMod val="65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2"/>
                                        </p:tgtEl>
                                        <p:attrNameLst>
                                          <p:attrName>style.visibility</p:attrName>
                                        </p:attrNameLst>
                                      </p:cBhvr>
                                      <p:to>
                                        <p:strVal val="visible"/>
                                      </p:to>
                                    </p:set>
                                    <p:animEffect transition="in" filter="fade">
                                      <p:cBhvr>
                                        <p:cTn id="7" dur="5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直角三角形 20"/>
          <p:cNvSpPr/>
          <p:nvPr/>
        </p:nvSpPr>
        <p:spPr>
          <a:xfrm>
            <a:off x="0" y="3165895"/>
            <a:ext cx="3692105" cy="3692105"/>
          </a:xfrm>
          <a:prstGeom prst="rtTriangle">
            <a:avLst/>
          </a:prstGeom>
          <a:solidFill>
            <a:srgbClr val="004C9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04B9D"/>
              </a:solidFill>
            </a:endParaRPr>
          </a:p>
        </p:txBody>
      </p:sp>
      <p:sp>
        <p:nvSpPr>
          <p:cNvPr id="20" name="直角三角形 19"/>
          <p:cNvSpPr/>
          <p:nvPr/>
        </p:nvSpPr>
        <p:spPr>
          <a:xfrm rot="10800000">
            <a:off x="8499895" y="0"/>
            <a:ext cx="3692105" cy="3692105"/>
          </a:xfrm>
          <a:prstGeom prst="rtTriangle">
            <a:avLst/>
          </a:prstGeom>
          <a:solidFill>
            <a:srgbClr val="004B9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7" name="组合 6"/>
          <p:cNvGrpSpPr/>
          <p:nvPr userDrawn="1"/>
        </p:nvGrpSpPr>
        <p:grpSpPr>
          <a:xfrm>
            <a:off x="490537" y="472440"/>
            <a:ext cx="11210925" cy="6019800"/>
            <a:chOff x="490484" y="441960"/>
            <a:chExt cx="11211033" cy="6019801"/>
          </a:xfrm>
        </p:grpSpPr>
        <p:pic>
          <p:nvPicPr>
            <p:cNvPr id="8" name="图片 7"/>
            <p:cNvPicPr>
              <a:picLocks noChangeAspect="1"/>
            </p:cNvPicPr>
            <p:nvPr userDrawn="1"/>
          </p:nvPicPr>
          <p:blipFill rotWithShape="1">
            <a:blip r:embed="rId1">
              <a:extLst>
                <a:ext uri="{28A0092B-C50C-407E-A947-70E740481C1C}">
                  <a14:useLocalDpi xmlns:a14="http://schemas.microsoft.com/office/drawing/2010/main" val="0"/>
                </a:ext>
              </a:extLst>
            </a:blip>
            <a:srcRect l="1515" t="4277" r="530" b="14319"/>
            <a:stretch>
              <a:fillRect/>
            </a:stretch>
          </p:blipFill>
          <p:spPr>
            <a:xfrm>
              <a:off x="490484" y="441960"/>
              <a:ext cx="11211033" cy="6019801"/>
            </a:xfrm>
            <a:prstGeom prst="rect">
              <a:avLst/>
            </a:prstGeom>
            <a:effectLst>
              <a:outerShdw blurRad="355600" dist="139700" dir="2700000" algn="tl" rotWithShape="0">
                <a:prstClr val="black">
                  <a:alpha val="61000"/>
                </a:prstClr>
              </a:outerShdw>
            </a:effectLst>
          </p:spPr>
        </p:pic>
        <p:sp>
          <p:nvSpPr>
            <p:cNvPr id="9" name="矩形 8"/>
            <p:cNvSpPr/>
            <p:nvPr userDrawn="1"/>
          </p:nvSpPr>
          <p:spPr>
            <a:xfrm>
              <a:off x="490484" y="441960"/>
              <a:ext cx="11211032" cy="6019801"/>
            </a:xfrm>
            <a:prstGeom prst="rect">
              <a:avLst/>
            </a:prstGeom>
            <a:solidFill>
              <a:srgbClr val="FFFEF7">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400" b="1" dirty="0">
                <a:solidFill>
                  <a:srgbClr val="004C9E"/>
                </a:solidFill>
                <a:latin typeface="微软雅黑" panose="020B0503020204020204" pitchFamily="34" charset="-122"/>
                <a:ea typeface="微软雅黑" panose="020B0503020204020204" pitchFamily="34" charset="-122"/>
              </a:endParaRPr>
            </a:p>
          </p:txBody>
        </p:sp>
      </p:grpSp>
      <p:cxnSp>
        <p:nvCxnSpPr>
          <p:cNvPr id="43" name="直接连接符 42"/>
          <p:cNvCxnSpPr/>
          <p:nvPr/>
        </p:nvCxnSpPr>
        <p:spPr>
          <a:xfrm>
            <a:off x="899088" y="6096082"/>
            <a:ext cx="9058311" cy="4300"/>
          </a:xfrm>
          <a:prstGeom prst="line">
            <a:avLst/>
          </a:prstGeom>
        </p:spPr>
        <p:style>
          <a:lnRef idx="1">
            <a:schemeClr val="accent1"/>
          </a:lnRef>
          <a:fillRef idx="0">
            <a:schemeClr val="accent1"/>
          </a:fillRef>
          <a:effectRef idx="0">
            <a:schemeClr val="accent1"/>
          </a:effectRef>
          <a:fontRef idx="minor">
            <a:schemeClr val="tx1"/>
          </a:fontRef>
        </p:style>
      </p:cxnSp>
      <p:grpSp>
        <p:nvGrpSpPr>
          <p:cNvPr id="42" name="图形"/>
          <p:cNvGrpSpPr/>
          <p:nvPr/>
        </p:nvGrpSpPr>
        <p:grpSpPr>
          <a:xfrm>
            <a:off x="1751023" y="2381852"/>
            <a:ext cx="8859775" cy="3368463"/>
            <a:chOff x="9751" y="2947"/>
            <a:chExt cx="9049" cy="6956"/>
          </a:xfrm>
        </p:grpSpPr>
        <p:sp>
          <p:nvSpPr>
            <p:cNvPr id="45" name="图形"/>
            <p:cNvSpPr txBox="1"/>
            <p:nvPr>
              <p:custDataLst>
                <p:tags r:id="rId2"/>
              </p:custDataLst>
            </p:nvPr>
          </p:nvSpPr>
          <p:spPr>
            <a:xfrm>
              <a:off x="9941" y="3244"/>
              <a:ext cx="3640" cy="636"/>
            </a:xfrm>
            <a:prstGeom prst="rect">
              <a:avLst/>
            </a:prstGeom>
            <a:noFill/>
          </p:spPr>
          <p:txBody>
            <a:bodyPr wrap="none" lIns="0" tIns="0" rIns="0" bIns="0" rtlCol="0">
              <a:spAutoFit/>
            </a:bodyPr>
            <a:lstStyle/>
            <a:p>
              <a:r>
                <a:rPr lang="zh-CN" altLang="en-US" sz="2000" b="1" dirty="0">
                  <a:solidFill>
                    <a:srgbClr val="F9F9F9"/>
                  </a:solidFill>
                  <a:latin typeface="Arial" panose="020B0604020202020204" pitchFamily="34" charset="0"/>
                  <a:ea typeface="微软雅黑" panose="020B0503020204020204" pitchFamily="34" charset="-122"/>
                  <a:cs typeface="+mn-ea"/>
                  <a:sym typeface="Arial" panose="020B0604020202020204" pitchFamily="34" charset="0"/>
                </a:rPr>
                <a:t>任务</a:t>
              </a:r>
              <a:r>
                <a:rPr lang="en-US" altLang="zh-CN" sz="2000" b="1" dirty="0">
                  <a:solidFill>
                    <a:srgbClr val="F9F9F9"/>
                  </a:solidFill>
                  <a:latin typeface="Arial" panose="020B0604020202020204" pitchFamily="34" charset="0"/>
                  <a:ea typeface="微软雅黑" panose="020B0503020204020204" pitchFamily="34" charset="-122"/>
                  <a:cs typeface="+mn-ea"/>
                  <a:sym typeface="Arial" panose="020B0604020202020204" pitchFamily="34" charset="0"/>
                </a:rPr>
                <a:t>2</a:t>
              </a:r>
              <a:r>
                <a:rPr lang="zh-CN" altLang="en-US" sz="2000" b="1" dirty="0">
                  <a:solidFill>
                    <a:srgbClr val="F9F9F9"/>
                  </a:solidFill>
                  <a:latin typeface="Arial" panose="020B0604020202020204" pitchFamily="34" charset="0"/>
                  <a:ea typeface="微软雅黑" panose="020B0503020204020204" pitchFamily="34" charset="-122"/>
                  <a:cs typeface="+mn-ea"/>
                  <a:sym typeface="Arial" panose="020B0604020202020204" pitchFamily="34" charset="0"/>
                </a:rPr>
                <a:t>：基于深度学习的鱼只视觉感知</a:t>
              </a:r>
              <a:endParaRPr lang="en-US" altLang="zh-CN" sz="2000" b="1" dirty="0">
                <a:solidFill>
                  <a:srgbClr val="F9F9F9"/>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46" name="图形"/>
            <p:cNvSpPr/>
            <p:nvPr>
              <p:custDataLst>
                <p:tags r:id="rId3"/>
              </p:custDataLst>
            </p:nvPr>
          </p:nvSpPr>
          <p:spPr>
            <a:xfrm>
              <a:off x="10324" y="4407"/>
              <a:ext cx="7729" cy="4314"/>
            </a:xfrm>
            <a:prstGeom prst="rect">
              <a:avLst/>
            </a:prstGeom>
          </p:spPr>
          <p:txBody>
            <a:bodyPr wrap="square" lIns="0" tIns="0" rIns="0" bIns="0">
              <a:spAutoFit/>
            </a:bodyPr>
            <a:lstStyle/>
            <a:p>
              <a:pPr algn="just">
                <a:lnSpc>
                  <a:spcPct val="200000"/>
                </a:lnSpc>
              </a:pPr>
              <a:r>
                <a:rPr lang="zh-CN" altLang="en-US" sz="1400" dirty="0">
                  <a:solidFill>
                    <a:schemeClr val="bg1"/>
                  </a:solidFill>
                  <a:latin typeface="Arial" panose="020B0604020202020204" pitchFamily="34" charset="0"/>
                  <a:ea typeface="微软雅黑" panose="020B0503020204020204" pitchFamily="34" charset="-122"/>
                  <a:cs typeface="思源黑体旧字形 Light" panose="020B0300000000000000" charset="-128"/>
                  <a:sym typeface="Arial" panose="020B0604020202020204" pitchFamily="34" charset="0"/>
                </a:rPr>
                <a:t>目标：识别鱼只数量、游动活跃度、摄食行为（是否吃完饲料）</a:t>
              </a:r>
              <a:endParaRPr lang="zh-CN" altLang="en-US" sz="1400" dirty="0">
                <a:solidFill>
                  <a:schemeClr val="bg1"/>
                </a:solidFill>
                <a:latin typeface="Arial" panose="020B0604020202020204" pitchFamily="34" charset="0"/>
                <a:ea typeface="微软雅黑" panose="020B0503020204020204" pitchFamily="34" charset="-122"/>
                <a:cs typeface="思源黑体旧字形 Light" panose="020B0300000000000000" charset="-128"/>
                <a:sym typeface="Arial" panose="020B0604020202020204" pitchFamily="34" charset="0"/>
              </a:endParaRPr>
            </a:p>
            <a:p>
              <a:pPr algn="just">
                <a:lnSpc>
                  <a:spcPct val="200000"/>
                </a:lnSpc>
              </a:pPr>
              <a:r>
                <a:rPr lang="zh-CN" altLang="en-US" sz="1400" dirty="0">
                  <a:solidFill>
                    <a:schemeClr val="bg1"/>
                  </a:solidFill>
                  <a:latin typeface="Arial" panose="020B0604020202020204" pitchFamily="34" charset="0"/>
                  <a:ea typeface="微软雅黑" panose="020B0503020204020204" pitchFamily="34" charset="-122"/>
                  <a:cs typeface="思源黑体旧字形 Light" panose="020B0300000000000000" charset="-128"/>
                  <a:sym typeface="Arial" panose="020B0604020202020204" pitchFamily="34" charset="0"/>
                </a:rPr>
                <a:t>技术方案：使用低成本摄像头（</a:t>
              </a:r>
              <a:r>
                <a:rPr lang="en-US" altLang="zh-CN" sz="1400" dirty="0">
                  <a:solidFill>
                    <a:schemeClr val="bg1"/>
                  </a:solidFill>
                  <a:latin typeface="Arial" panose="020B0604020202020204" pitchFamily="34" charset="0"/>
                  <a:ea typeface="微软雅黑" panose="020B0503020204020204" pitchFamily="34" charset="-122"/>
                  <a:cs typeface="思源黑体旧字形 Light" panose="020B0300000000000000" charset="-128"/>
                  <a:sym typeface="Arial" panose="020B0604020202020204" pitchFamily="34" charset="0"/>
                </a:rPr>
                <a:t>USB</a:t>
              </a:r>
              <a:r>
                <a:rPr lang="zh-CN" altLang="en-US" sz="1400" dirty="0">
                  <a:solidFill>
                    <a:schemeClr val="bg1"/>
                  </a:solidFill>
                  <a:latin typeface="Arial" panose="020B0604020202020204" pitchFamily="34" charset="0"/>
                  <a:ea typeface="微软雅黑" panose="020B0503020204020204" pitchFamily="34" charset="-122"/>
                  <a:cs typeface="思源黑体旧字形 Light" panose="020B0300000000000000" charset="-128"/>
                  <a:sym typeface="Arial" panose="020B0604020202020204" pitchFamily="34" charset="0"/>
                </a:rPr>
                <a:t>或</a:t>
              </a:r>
              <a:r>
                <a:rPr lang="en-US" altLang="zh-CN" sz="1400" dirty="0">
                  <a:solidFill>
                    <a:schemeClr val="bg1"/>
                  </a:solidFill>
                  <a:latin typeface="Arial" panose="020B0604020202020204" pitchFamily="34" charset="0"/>
                  <a:ea typeface="微软雅黑" panose="020B0503020204020204" pitchFamily="34" charset="-122"/>
                  <a:cs typeface="思源黑体旧字形 Light" panose="020B0300000000000000" charset="-128"/>
                  <a:sym typeface="Arial" panose="020B0604020202020204" pitchFamily="34" charset="0"/>
                </a:rPr>
                <a:t>ESP32-CAM</a:t>
              </a:r>
              <a:r>
                <a:rPr lang="zh-CN" altLang="en-US" sz="1400" dirty="0">
                  <a:solidFill>
                    <a:schemeClr val="bg1"/>
                  </a:solidFill>
                  <a:latin typeface="Arial" panose="020B0604020202020204" pitchFamily="34" charset="0"/>
                  <a:ea typeface="微软雅黑" panose="020B0503020204020204" pitchFamily="34" charset="-122"/>
                  <a:cs typeface="思源黑体旧字形 Light" panose="020B0300000000000000" charset="-128"/>
                  <a:sym typeface="Arial" panose="020B0604020202020204" pitchFamily="34" charset="0"/>
                </a:rPr>
                <a:t>）</a:t>
              </a:r>
              <a:endParaRPr lang="zh-CN" altLang="en-US" sz="1400" dirty="0">
                <a:solidFill>
                  <a:schemeClr val="bg1"/>
                </a:solidFill>
                <a:latin typeface="Arial" panose="020B0604020202020204" pitchFamily="34" charset="0"/>
                <a:ea typeface="微软雅黑" panose="020B0503020204020204" pitchFamily="34" charset="-122"/>
                <a:cs typeface="思源黑体旧字形 Light" panose="020B0300000000000000" charset="-128"/>
                <a:sym typeface="Arial" panose="020B0604020202020204" pitchFamily="34" charset="0"/>
              </a:endParaRPr>
            </a:p>
            <a:p>
              <a:pPr algn="just">
                <a:lnSpc>
                  <a:spcPct val="200000"/>
                </a:lnSpc>
              </a:pPr>
              <a:r>
                <a:rPr lang="zh-CN" altLang="en-US" sz="1400" dirty="0">
                  <a:solidFill>
                    <a:schemeClr val="bg1"/>
                  </a:solidFill>
                  <a:latin typeface="Arial" panose="020B0604020202020204" pitchFamily="34" charset="0"/>
                  <a:ea typeface="微软雅黑" panose="020B0503020204020204" pitchFamily="34" charset="-122"/>
                  <a:cs typeface="思源黑体旧字形 Light" panose="020B0300000000000000" charset="-128"/>
                  <a:sym typeface="Arial" panose="020B0604020202020204" pitchFamily="34" charset="0"/>
                </a:rPr>
                <a:t>                  采用轻量化目标检测模型（</a:t>
              </a:r>
              <a:r>
                <a:rPr lang="en-US" altLang="zh-CN" sz="1400" dirty="0">
                  <a:solidFill>
                    <a:schemeClr val="bg1"/>
                  </a:solidFill>
                  <a:latin typeface="Arial" panose="020B0604020202020204" pitchFamily="34" charset="0"/>
                  <a:ea typeface="微软雅黑" panose="020B0503020204020204" pitchFamily="34" charset="-122"/>
                  <a:cs typeface="思源黑体旧字形 Light" panose="020B0300000000000000" charset="-128"/>
                  <a:sym typeface="Arial" panose="020B0604020202020204" pitchFamily="34" charset="0"/>
                </a:rPr>
                <a:t>YOLOv5s / </a:t>
              </a:r>
              <a:r>
                <a:rPr lang="en-US" altLang="zh-CN" sz="1400" dirty="0" err="1">
                  <a:solidFill>
                    <a:schemeClr val="bg1"/>
                  </a:solidFill>
                  <a:latin typeface="Arial" panose="020B0604020202020204" pitchFamily="34" charset="0"/>
                  <a:ea typeface="微软雅黑" panose="020B0503020204020204" pitchFamily="34" charset="-122"/>
                  <a:cs typeface="思源黑体旧字形 Light" panose="020B0300000000000000" charset="-128"/>
                  <a:sym typeface="Arial" panose="020B0604020202020204" pitchFamily="34" charset="0"/>
                </a:rPr>
                <a:t>NanoDet</a:t>
              </a:r>
              <a:r>
                <a:rPr lang="zh-CN" altLang="en-US" sz="1400" dirty="0">
                  <a:solidFill>
                    <a:schemeClr val="bg1"/>
                  </a:solidFill>
                  <a:latin typeface="Arial" panose="020B0604020202020204" pitchFamily="34" charset="0"/>
                  <a:ea typeface="微软雅黑" panose="020B0503020204020204" pitchFamily="34" charset="-122"/>
                  <a:cs typeface="思源黑体旧字形 Light" panose="020B0300000000000000" charset="-128"/>
                  <a:sym typeface="Arial" panose="020B0604020202020204" pitchFamily="34" charset="0"/>
                </a:rPr>
                <a:t>）部署在边缘端或云端</a:t>
              </a:r>
              <a:endParaRPr lang="zh-CN" altLang="en-US" sz="1400" dirty="0">
                <a:solidFill>
                  <a:schemeClr val="bg1"/>
                </a:solidFill>
                <a:latin typeface="Arial" panose="020B0604020202020204" pitchFamily="34" charset="0"/>
                <a:ea typeface="微软雅黑" panose="020B0503020204020204" pitchFamily="34" charset="-122"/>
                <a:cs typeface="思源黑体旧字形 Light" panose="020B0300000000000000" charset="-128"/>
                <a:sym typeface="Arial" panose="020B0604020202020204" pitchFamily="34" charset="0"/>
              </a:endParaRPr>
            </a:p>
            <a:p>
              <a:pPr algn="just">
                <a:lnSpc>
                  <a:spcPct val="200000"/>
                </a:lnSpc>
              </a:pPr>
              <a:r>
                <a:rPr lang="zh-CN" altLang="en-US" sz="1400" dirty="0">
                  <a:solidFill>
                    <a:schemeClr val="bg1"/>
                  </a:solidFill>
                  <a:latin typeface="Arial" panose="020B0604020202020204" pitchFamily="34" charset="0"/>
                  <a:ea typeface="微软雅黑" panose="020B0503020204020204" pitchFamily="34" charset="-122"/>
                  <a:cs typeface="思源黑体旧字形 Light" panose="020B0300000000000000" charset="-128"/>
                  <a:sym typeface="Arial" panose="020B0604020202020204" pitchFamily="34" charset="0"/>
                </a:rPr>
                <a:t>                  定期抓拍图像，上传云端进行推理，返回鱼只密度及活跃度指标</a:t>
              </a:r>
              <a:endParaRPr lang="zh-CN" altLang="en-US" sz="1400" dirty="0">
                <a:solidFill>
                  <a:schemeClr val="bg1"/>
                </a:solidFill>
                <a:latin typeface="Arial" panose="020B0604020202020204" pitchFamily="34" charset="0"/>
                <a:ea typeface="微软雅黑" panose="020B0503020204020204" pitchFamily="34" charset="-122"/>
                <a:cs typeface="思源黑体旧字形 Light" panose="020B0300000000000000" charset="-128"/>
                <a:sym typeface="Arial" panose="020B0604020202020204" pitchFamily="34" charset="0"/>
              </a:endParaRPr>
            </a:p>
            <a:p>
              <a:pPr algn="just">
                <a:lnSpc>
                  <a:spcPct val="200000"/>
                </a:lnSpc>
              </a:pPr>
              <a:r>
                <a:rPr lang="zh-CN" altLang="en-US" sz="1400" dirty="0">
                  <a:solidFill>
                    <a:schemeClr val="bg1"/>
                  </a:solidFill>
                  <a:latin typeface="Arial" panose="020B0604020202020204" pitchFamily="34" charset="0"/>
                  <a:ea typeface="微软雅黑" panose="020B0503020204020204" pitchFamily="34" charset="-122"/>
                  <a:cs typeface="思源黑体旧字形 Light" panose="020B0300000000000000" charset="-128"/>
                  <a:sym typeface="Arial" panose="020B0604020202020204" pitchFamily="34" charset="0"/>
                </a:rPr>
                <a:t>输出结果：作为投食决策模型的关键输入（“鱼群密度”“摄食剩余量”）</a:t>
              </a:r>
              <a:endParaRPr lang="zh-CN" altLang="en-US" sz="140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8" name="图形"/>
            <p:cNvSpPr/>
            <p:nvPr>
              <p:custDataLst>
                <p:tags r:id="rId4"/>
              </p:custDataLst>
            </p:nvPr>
          </p:nvSpPr>
          <p:spPr>
            <a:xfrm>
              <a:off x="9751" y="2947"/>
              <a:ext cx="8790" cy="6956"/>
            </a:xfrm>
            <a:prstGeom prst="rect">
              <a:avLst/>
            </a:prstGeom>
            <a:solidFill>
              <a:srgbClr val="004C9E"/>
            </a:solidFill>
            <a:ln w="19050">
              <a:noFill/>
            </a:ln>
            <a:effectLst>
              <a:outerShdw blurRad="381000" dist="228600" dir="2700000" sx="95000" sy="95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ea typeface="微软雅黑" panose="020B0503020204020204" pitchFamily="34" charset="-122"/>
                <a:cs typeface="思源黑体旧字形 Light" panose="020B0300000000000000" charset="-128"/>
                <a:sym typeface="Arial" panose="020B0604020202020204" pitchFamily="34" charset="0"/>
              </a:endParaRPr>
            </a:p>
          </p:txBody>
        </p:sp>
        <p:sp>
          <p:nvSpPr>
            <p:cNvPr id="62" name="图形"/>
            <p:cNvSpPr txBox="1"/>
            <p:nvPr>
              <p:custDataLst>
                <p:tags r:id="rId5"/>
              </p:custDataLst>
            </p:nvPr>
          </p:nvSpPr>
          <p:spPr>
            <a:xfrm>
              <a:off x="10699" y="3563"/>
              <a:ext cx="3640" cy="636"/>
            </a:xfrm>
            <a:prstGeom prst="rect">
              <a:avLst/>
            </a:prstGeom>
            <a:noFill/>
          </p:spPr>
          <p:txBody>
            <a:bodyPr wrap="none" lIns="0" tIns="0" rIns="0" bIns="0" rtlCol="0">
              <a:spAutoFit/>
            </a:bodyPr>
            <a:lstStyle/>
            <a:p>
              <a:r>
                <a:rPr lang="zh-CN" altLang="en-US" sz="2000" b="1" dirty="0">
                  <a:solidFill>
                    <a:srgbClr val="F9F9F9"/>
                  </a:solidFill>
                  <a:latin typeface="Arial" panose="020B0604020202020204" pitchFamily="34" charset="0"/>
                  <a:ea typeface="微软雅黑" panose="020B0503020204020204" pitchFamily="34" charset="-122"/>
                  <a:cs typeface="+mn-ea"/>
                  <a:sym typeface="Arial" panose="020B0604020202020204" pitchFamily="34" charset="0"/>
                </a:rPr>
                <a:t>任务</a:t>
              </a:r>
              <a:r>
                <a:rPr lang="en-US" altLang="zh-CN" sz="2000" b="1" dirty="0">
                  <a:solidFill>
                    <a:srgbClr val="F9F9F9"/>
                  </a:solidFill>
                  <a:latin typeface="Arial" panose="020B0604020202020204" pitchFamily="34" charset="0"/>
                  <a:ea typeface="微软雅黑" panose="020B0503020204020204" pitchFamily="34" charset="-122"/>
                  <a:cs typeface="+mn-ea"/>
                  <a:sym typeface="Arial" panose="020B0604020202020204" pitchFamily="34" charset="0"/>
                </a:rPr>
                <a:t>2</a:t>
              </a:r>
              <a:r>
                <a:rPr lang="zh-CN" altLang="en-US" sz="2000" b="1" dirty="0">
                  <a:solidFill>
                    <a:srgbClr val="F9F9F9"/>
                  </a:solidFill>
                  <a:latin typeface="Arial" panose="020B0604020202020204" pitchFamily="34" charset="0"/>
                  <a:ea typeface="微软雅黑" panose="020B0503020204020204" pitchFamily="34" charset="-122"/>
                  <a:cs typeface="+mn-ea"/>
                  <a:sym typeface="Arial" panose="020B0604020202020204" pitchFamily="34" charset="0"/>
                </a:rPr>
                <a:t>：基于深度学习的鱼只视觉感知</a:t>
              </a:r>
              <a:endParaRPr lang="en-US" altLang="zh-CN" sz="2000" b="1" dirty="0">
                <a:solidFill>
                  <a:srgbClr val="F9F9F9"/>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63" name="图形"/>
            <p:cNvSpPr/>
            <p:nvPr>
              <p:custDataLst>
                <p:tags r:id="rId6"/>
              </p:custDataLst>
            </p:nvPr>
          </p:nvSpPr>
          <p:spPr>
            <a:xfrm>
              <a:off x="11071" y="4726"/>
              <a:ext cx="7729" cy="4314"/>
            </a:xfrm>
            <a:prstGeom prst="rect">
              <a:avLst/>
            </a:prstGeom>
          </p:spPr>
          <p:txBody>
            <a:bodyPr wrap="square" lIns="0" tIns="0" rIns="0" bIns="0">
              <a:spAutoFit/>
            </a:bodyPr>
            <a:lstStyle/>
            <a:p>
              <a:pPr algn="just">
                <a:lnSpc>
                  <a:spcPct val="200000"/>
                </a:lnSpc>
              </a:pPr>
              <a:r>
                <a:rPr lang="zh-CN" altLang="en-US" sz="1400" b="1" dirty="0">
                  <a:solidFill>
                    <a:schemeClr val="bg1"/>
                  </a:solidFill>
                  <a:latin typeface="Arial" panose="020B0604020202020204" pitchFamily="34" charset="0"/>
                  <a:ea typeface="微软雅黑" panose="020B0503020204020204" pitchFamily="34" charset="-122"/>
                  <a:cs typeface="思源黑体旧字形 Light" panose="020B0300000000000000" charset="-128"/>
                  <a:sym typeface="Arial" panose="020B0604020202020204" pitchFamily="34" charset="0"/>
                </a:rPr>
                <a:t>目标</a:t>
              </a:r>
              <a:r>
                <a:rPr lang="zh-CN" altLang="en-US" sz="1400" dirty="0">
                  <a:solidFill>
                    <a:schemeClr val="bg1"/>
                  </a:solidFill>
                  <a:latin typeface="Arial" panose="020B0604020202020204" pitchFamily="34" charset="0"/>
                  <a:ea typeface="微软雅黑" panose="020B0503020204020204" pitchFamily="34" charset="-122"/>
                  <a:cs typeface="思源黑体旧字形 Light" panose="020B0300000000000000" charset="-128"/>
                  <a:sym typeface="Arial" panose="020B0604020202020204" pitchFamily="34" charset="0"/>
                </a:rPr>
                <a:t>：识别鱼只数量、游动活跃度、摄食行为（是否吃完饲料）</a:t>
              </a:r>
              <a:endParaRPr lang="zh-CN" altLang="en-US" sz="1400" dirty="0">
                <a:solidFill>
                  <a:schemeClr val="bg1"/>
                </a:solidFill>
                <a:latin typeface="Arial" panose="020B0604020202020204" pitchFamily="34" charset="0"/>
                <a:ea typeface="微软雅黑" panose="020B0503020204020204" pitchFamily="34" charset="-122"/>
                <a:cs typeface="思源黑体旧字形 Light" panose="020B0300000000000000" charset="-128"/>
                <a:sym typeface="Arial" panose="020B0604020202020204" pitchFamily="34" charset="0"/>
              </a:endParaRPr>
            </a:p>
            <a:p>
              <a:pPr algn="just">
                <a:lnSpc>
                  <a:spcPct val="200000"/>
                </a:lnSpc>
              </a:pPr>
              <a:r>
                <a:rPr lang="zh-CN" altLang="en-US" sz="1400" b="1" dirty="0">
                  <a:solidFill>
                    <a:schemeClr val="bg1"/>
                  </a:solidFill>
                  <a:latin typeface="Arial" panose="020B0604020202020204" pitchFamily="34" charset="0"/>
                  <a:ea typeface="微软雅黑" panose="020B0503020204020204" pitchFamily="34" charset="-122"/>
                  <a:cs typeface="思源黑体旧字形 Light" panose="020B0300000000000000" charset="-128"/>
                  <a:sym typeface="Arial" panose="020B0604020202020204" pitchFamily="34" charset="0"/>
                </a:rPr>
                <a:t>技术方案</a:t>
              </a:r>
              <a:r>
                <a:rPr lang="zh-CN" altLang="en-US" sz="1400" dirty="0">
                  <a:solidFill>
                    <a:schemeClr val="bg1"/>
                  </a:solidFill>
                  <a:latin typeface="Arial" panose="020B0604020202020204" pitchFamily="34" charset="0"/>
                  <a:ea typeface="微软雅黑" panose="020B0503020204020204" pitchFamily="34" charset="-122"/>
                  <a:cs typeface="思源黑体旧字形 Light" panose="020B0300000000000000" charset="-128"/>
                  <a:sym typeface="Arial" panose="020B0604020202020204" pitchFamily="34" charset="0"/>
                </a:rPr>
                <a:t>：使用低成本摄像头（</a:t>
              </a:r>
              <a:r>
                <a:rPr lang="en-US" altLang="zh-CN" sz="1400" dirty="0">
                  <a:solidFill>
                    <a:schemeClr val="bg1"/>
                  </a:solidFill>
                  <a:latin typeface="Arial" panose="020B0604020202020204" pitchFamily="34" charset="0"/>
                  <a:ea typeface="微软雅黑" panose="020B0503020204020204" pitchFamily="34" charset="-122"/>
                  <a:cs typeface="思源黑体旧字形 Light" panose="020B0300000000000000" charset="-128"/>
                  <a:sym typeface="Arial" panose="020B0604020202020204" pitchFamily="34" charset="0"/>
                </a:rPr>
                <a:t>USB</a:t>
              </a:r>
              <a:r>
                <a:rPr lang="zh-CN" altLang="en-US" sz="1400" dirty="0">
                  <a:solidFill>
                    <a:schemeClr val="bg1"/>
                  </a:solidFill>
                  <a:latin typeface="Arial" panose="020B0604020202020204" pitchFamily="34" charset="0"/>
                  <a:ea typeface="微软雅黑" panose="020B0503020204020204" pitchFamily="34" charset="-122"/>
                  <a:cs typeface="思源黑体旧字形 Light" panose="020B0300000000000000" charset="-128"/>
                  <a:sym typeface="Arial" panose="020B0604020202020204" pitchFamily="34" charset="0"/>
                </a:rPr>
                <a:t>或</a:t>
              </a:r>
              <a:r>
                <a:rPr lang="en-US" altLang="zh-CN" sz="1400" dirty="0">
                  <a:solidFill>
                    <a:schemeClr val="bg1"/>
                  </a:solidFill>
                  <a:latin typeface="Arial" panose="020B0604020202020204" pitchFamily="34" charset="0"/>
                  <a:ea typeface="微软雅黑" panose="020B0503020204020204" pitchFamily="34" charset="-122"/>
                  <a:cs typeface="思源黑体旧字形 Light" panose="020B0300000000000000" charset="-128"/>
                  <a:sym typeface="Arial" panose="020B0604020202020204" pitchFamily="34" charset="0"/>
                </a:rPr>
                <a:t>ESP32-CAM</a:t>
              </a:r>
              <a:r>
                <a:rPr lang="zh-CN" altLang="en-US" sz="1400" dirty="0">
                  <a:solidFill>
                    <a:schemeClr val="bg1"/>
                  </a:solidFill>
                  <a:latin typeface="Arial" panose="020B0604020202020204" pitchFamily="34" charset="0"/>
                  <a:ea typeface="微软雅黑" panose="020B0503020204020204" pitchFamily="34" charset="-122"/>
                  <a:cs typeface="思源黑体旧字形 Light" panose="020B0300000000000000" charset="-128"/>
                  <a:sym typeface="Arial" panose="020B0604020202020204" pitchFamily="34" charset="0"/>
                </a:rPr>
                <a:t>）</a:t>
              </a:r>
              <a:endParaRPr lang="zh-CN" altLang="en-US" sz="1400" dirty="0">
                <a:solidFill>
                  <a:schemeClr val="bg1"/>
                </a:solidFill>
                <a:latin typeface="Arial" panose="020B0604020202020204" pitchFamily="34" charset="0"/>
                <a:ea typeface="微软雅黑" panose="020B0503020204020204" pitchFamily="34" charset="-122"/>
                <a:cs typeface="思源黑体旧字形 Light" panose="020B0300000000000000" charset="-128"/>
                <a:sym typeface="Arial" panose="020B0604020202020204" pitchFamily="34" charset="0"/>
              </a:endParaRPr>
            </a:p>
            <a:p>
              <a:pPr algn="just">
                <a:lnSpc>
                  <a:spcPct val="200000"/>
                </a:lnSpc>
              </a:pPr>
              <a:r>
                <a:rPr lang="zh-CN" altLang="en-US" sz="1400" dirty="0">
                  <a:solidFill>
                    <a:schemeClr val="bg1"/>
                  </a:solidFill>
                  <a:latin typeface="Arial" panose="020B0604020202020204" pitchFamily="34" charset="0"/>
                  <a:ea typeface="微软雅黑" panose="020B0503020204020204" pitchFamily="34" charset="-122"/>
                  <a:cs typeface="思源黑体旧字形 Light" panose="020B0300000000000000" charset="-128"/>
                  <a:sym typeface="Arial" panose="020B0604020202020204" pitchFamily="34" charset="0"/>
                </a:rPr>
                <a:t>                  采用轻量化目标检测模型（</a:t>
              </a:r>
              <a:r>
                <a:rPr lang="en-US" altLang="zh-CN" sz="1400" dirty="0">
                  <a:solidFill>
                    <a:schemeClr val="bg1"/>
                  </a:solidFill>
                  <a:latin typeface="Arial" panose="020B0604020202020204" pitchFamily="34" charset="0"/>
                  <a:ea typeface="微软雅黑" panose="020B0503020204020204" pitchFamily="34" charset="-122"/>
                  <a:cs typeface="思源黑体旧字形 Light" panose="020B0300000000000000" charset="-128"/>
                  <a:sym typeface="Arial" panose="020B0604020202020204" pitchFamily="34" charset="0"/>
                </a:rPr>
                <a:t>YOLOv5s / </a:t>
              </a:r>
              <a:r>
                <a:rPr lang="en-US" altLang="zh-CN" sz="1400" dirty="0" err="1">
                  <a:solidFill>
                    <a:schemeClr val="bg1"/>
                  </a:solidFill>
                  <a:latin typeface="Arial" panose="020B0604020202020204" pitchFamily="34" charset="0"/>
                  <a:ea typeface="微软雅黑" panose="020B0503020204020204" pitchFamily="34" charset="-122"/>
                  <a:cs typeface="思源黑体旧字形 Light" panose="020B0300000000000000" charset="-128"/>
                  <a:sym typeface="Arial" panose="020B0604020202020204" pitchFamily="34" charset="0"/>
                </a:rPr>
                <a:t>NanoDet</a:t>
              </a:r>
              <a:r>
                <a:rPr lang="zh-CN" altLang="en-US" sz="1400" dirty="0">
                  <a:solidFill>
                    <a:schemeClr val="bg1"/>
                  </a:solidFill>
                  <a:latin typeface="Arial" panose="020B0604020202020204" pitchFamily="34" charset="0"/>
                  <a:ea typeface="微软雅黑" panose="020B0503020204020204" pitchFamily="34" charset="-122"/>
                  <a:cs typeface="思源黑体旧字形 Light" panose="020B0300000000000000" charset="-128"/>
                  <a:sym typeface="Arial" panose="020B0604020202020204" pitchFamily="34" charset="0"/>
                </a:rPr>
                <a:t>）部署在边缘端或云端</a:t>
              </a:r>
              <a:endParaRPr lang="zh-CN" altLang="en-US" sz="1400" dirty="0">
                <a:solidFill>
                  <a:schemeClr val="bg1"/>
                </a:solidFill>
                <a:latin typeface="Arial" panose="020B0604020202020204" pitchFamily="34" charset="0"/>
                <a:ea typeface="微软雅黑" panose="020B0503020204020204" pitchFamily="34" charset="-122"/>
                <a:cs typeface="思源黑体旧字形 Light" panose="020B0300000000000000" charset="-128"/>
                <a:sym typeface="Arial" panose="020B0604020202020204" pitchFamily="34" charset="0"/>
              </a:endParaRPr>
            </a:p>
            <a:p>
              <a:pPr algn="just">
                <a:lnSpc>
                  <a:spcPct val="200000"/>
                </a:lnSpc>
              </a:pPr>
              <a:r>
                <a:rPr lang="zh-CN" altLang="en-US" sz="1400" dirty="0">
                  <a:solidFill>
                    <a:schemeClr val="bg1"/>
                  </a:solidFill>
                  <a:latin typeface="Arial" panose="020B0604020202020204" pitchFamily="34" charset="0"/>
                  <a:ea typeface="微软雅黑" panose="020B0503020204020204" pitchFamily="34" charset="-122"/>
                  <a:cs typeface="思源黑体旧字形 Light" panose="020B0300000000000000" charset="-128"/>
                  <a:sym typeface="Arial" panose="020B0604020202020204" pitchFamily="34" charset="0"/>
                </a:rPr>
                <a:t>                  定期抓拍图像，上传云端进行推理，返回鱼只密度及活跃度指标</a:t>
              </a:r>
              <a:endParaRPr lang="zh-CN" altLang="en-US" sz="1400" dirty="0">
                <a:solidFill>
                  <a:schemeClr val="bg1"/>
                </a:solidFill>
                <a:latin typeface="Arial" panose="020B0604020202020204" pitchFamily="34" charset="0"/>
                <a:ea typeface="微软雅黑" panose="020B0503020204020204" pitchFamily="34" charset="-122"/>
                <a:cs typeface="思源黑体旧字形 Light" panose="020B0300000000000000" charset="-128"/>
                <a:sym typeface="Arial" panose="020B0604020202020204" pitchFamily="34" charset="0"/>
              </a:endParaRPr>
            </a:p>
            <a:p>
              <a:pPr algn="just">
                <a:lnSpc>
                  <a:spcPct val="200000"/>
                </a:lnSpc>
              </a:pPr>
              <a:r>
                <a:rPr lang="zh-CN" altLang="en-US" sz="1400" b="1" dirty="0">
                  <a:solidFill>
                    <a:schemeClr val="bg1"/>
                  </a:solidFill>
                  <a:latin typeface="Arial" panose="020B0604020202020204" pitchFamily="34" charset="0"/>
                  <a:ea typeface="微软雅黑" panose="020B0503020204020204" pitchFamily="34" charset="-122"/>
                  <a:cs typeface="思源黑体旧字形 Light" panose="020B0300000000000000" charset="-128"/>
                  <a:sym typeface="Arial" panose="020B0604020202020204" pitchFamily="34" charset="0"/>
                </a:rPr>
                <a:t>输出结果</a:t>
              </a:r>
              <a:r>
                <a:rPr lang="zh-CN" altLang="en-US" sz="1400" dirty="0">
                  <a:solidFill>
                    <a:schemeClr val="bg1"/>
                  </a:solidFill>
                  <a:latin typeface="Arial" panose="020B0604020202020204" pitchFamily="34" charset="0"/>
                  <a:ea typeface="微软雅黑" panose="020B0503020204020204" pitchFamily="34" charset="-122"/>
                  <a:cs typeface="思源黑体旧字形 Light" panose="020B0300000000000000" charset="-128"/>
                  <a:sym typeface="Arial" panose="020B0604020202020204" pitchFamily="34" charset="0"/>
                </a:rPr>
                <a:t>：作为投食决策模型的关键输入（“鱼群密度”“摄食剩余量”）</a:t>
              </a:r>
              <a:endParaRPr lang="zh-CN" altLang="en-US" sz="140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grpSp>
      <p:sp>
        <p:nvSpPr>
          <p:cNvPr id="3" name="文本框 2"/>
          <p:cNvSpPr txBox="1"/>
          <p:nvPr/>
        </p:nvSpPr>
        <p:spPr>
          <a:xfrm>
            <a:off x="919480" y="6113780"/>
            <a:ext cx="2541905" cy="275590"/>
          </a:xfrm>
          <a:prstGeom prst="rect">
            <a:avLst/>
          </a:prstGeom>
          <a:noFill/>
        </p:spPr>
        <p:txBody>
          <a:bodyPr wrap="square" rtlCol="0">
            <a:spAutoFit/>
          </a:bodyPr>
          <a:lstStyle/>
          <a:p>
            <a:r>
              <a:rPr lang="zh-CN" altLang="en-US" sz="1200" b="1">
                <a:solidFill>
                  <a:srgbClr val="004C9E"/>
                </a:solidFill>
                <a:latin typeface="微软雅黑" panose="020B0503020204020204" pitchFamily="34" charset="-122"/>
                <a:ea typeface="微软雅黑" panose="020B0503020204020204" pitchFamily="34" charset="-122"/>
                <a:cs typeface="微软雅黑" panose="020B0503020204020204" pitchFamily="34" charset="-122"/>
              </a:rPr>
              <a:t>耐劳苦</a:t>
            </a:r>
            <a:r>
              <a:rPr lang="en-US" altLang="zh-CN" sz="1200" b="1">
                <a:solidFill>
                  <a:srgbClr val="004C9E"/>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200" b="1">
                <a:solidFill>
                  <a:srgbClr val="004C9E"/>
                </a:solidFill>
                <a:latin typeface="微软雅黑" panose="020B0503020204020204" pitchFamily="34" charset="-122"/>
                <a:ea typeface="微软雅黑" panose="020B0503020204020204" pitchFamily="34" charset="-122"/>
                <a:cs typeface="微软雅黑" panose="020B0503020204020204" pitchFamily="34" charset="-122"/>
              </a:rPr>
              <a:t>尚俭朴</a:t>
            </a:r>
            <a:r>
              <a:rPr lang="en-US" altLang="zh-CN" sz="1200" b="1">
                <a:solidFill>
                  <a:srgbClr val="004C9E"/>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200" b="1">
                <a:solidFill>
                  <a:srgbClr val="004C9E"/>
                </a:solidFill>
                <a:latin typeface="微软雅黑" panose="020B0503020204020204" pitchFamily="34" charset="-122"/>
                <a:ea typeface="微软雅黑" panose="020B0503020204020204" pitchFamily="34" charset="-122"/>
                <a:cs typeface="微软雅黑" panose="020B0503020204020204" pitchFamily="34" charset="-122"/>
              </a:rPr>
              <a:t>勤学业</a:t>
            </a:r>
            <a:r>
              <a:rPr lang="en-US" altLang="zh-CN" sz="1200" b="1">
                <a:solidFill>
                  <a:srgbClr val="004C9E"/>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200" b="1">
                <a:solidFill>
                  <a:srgbClr val="004C9E"/>
                </a:solidFill>
                <a:latin typeface="微软雅黑" panose="020B0503020204020204" pitchFamily="34" charset="-122"/>
                <a:ea typeface="微软雅黑" panose="020B0503020204020204" pitchFamily="34" charset="-122"/>
                <a:cs typeface="微软雅黑" panose="020B0503020204020204" pitchFamily="34" charset="-122"/>
              </a:rPr>
              <a:t>爱国家</a:t>
            </a:r>
            <a:endParaRPr lang="zh-CN" altLang="en-US" sz="1200" b="1">
              <a:solidFill>
                <a:srgbClr val="004C9E"/>
              </a:solidFill>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11" name="图片 10" descr="校徽"/>
          <p:cNvPicPr>
            <a:picLocks noChangeAspect="1"/>
          </p:cNvPicPr>
          <p:nvPr/>
        </p:nvPicPr>
        <p:blipFill>
          <a:blip r:embed="rId7"/>
          <a:stretch>
            <a:fillRect/>
          </a:stretch>
        </p:blipFill>
        <p:spPr>
          <a:xfrm>
            <a:off x="10127615" y="5844540"/>
            <a:ext cx="1259840" cy="397510"/>
          </a:xfrm>
          <a:prstGeom prst="rect">
            <a:avLst/>
          </a:prstGeom>
        </p:spPr>
      </p:pic>
      <p:cxnSp>
        <p:nvCxnSpPr>
          <p:cNvPr id="41" name="直接箭头连接符 40"/>
          <p:cNvCxnSpPr/>
          <p:nvPr/>
        </p:nvCxnSpPr>
        <p:spPr>
          <a:xfrm>
            <a:off x="4538040" y="1633654"/>
            <a:ext cx="490537"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47" name="直接箭头连接符 46"/>
          <p:cNvCxnSpPr/>
          <p:nvPr/>
        </p:nvCxnSpPr>
        <p:spPr>
          <a:xfrm>
            <a:off x="7194856" y="1633654"/>
            <a:ext cx="520103" cy="345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56" name="直接箭头连接符 55"/>
          <p:cNvCxnSpPr/>
          <p:nvPr/>
        </p:nvCxnSpPr>
        <p:spPr>
          <a:xfrm>
            <a:off x="2349815" y="1633654"/>
            <a:ext cx="480201"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61" name="文本框 60"/>
          <p:cNvSpPr txBox="1"/>
          <p:nvPr/>
        </p:nvSpPr>
        <p:spPr>
          <a:xfrm>
            <a:off x="10221018" y="1875958"/>
            <a:ext cx="1720544" cy="338554"/>
          </a:xfrm>
          <a:prstGeom prst="rect">
            <a:avLst/>
          </a:prstGeom>
          <a:noFill/>
        </p:spPr>
        <p:txBody>
          <a:bodyPr wrap="square" rtlCol="0">
            <a:spAutoFit/>
          </a:bodyPr>
          <a:lstStyle/>
          <a:p>
            <a:r>
              <a:rPr lang="zh-CN" altLang="en-US" sz="1600" b="0" i="0" dirty="0">
                <a:solidFill>
                  <a:srgbClr val="0F1115"/>
                </a:solidFill>
                <a:effectLst/>
                <a:latin typeface="quote-cjk-patch"/>
              </a:rPr>
              <a:t>流程示意图</a:t>
            </a:r>
            <a:endParaRPr lang="zh-CN" altLang="en-US" sz="1600" dirty="0"/>
          </a:p>
        </p:txBody>
      </p:sp>
      <p:sp>
        <p:nvSpPr>
          <p:cNvPr id="64" name="椭圆 63"/>
          <p:cNvSpPr/>
          <p:nvPr/>
        </p:nvSpPr>
        <p:spPr>
          <a:xfrm>
            <a:off x="1623870" y="1198507"/>
            <a:ext cx="1550783" cy="70764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rgbClr val="F9F9F9"/>
                </a:solidFill>
                <a:latin typeface="Arial" panose="020B0604020202020204" pitchFamily="34" charset="0"/>
                <a:ea typeface="微软雅黑" panose="020B0503020204020204" pitchFamily="34" charset="-122"/>
                <a:cs typeface="+mn-ea"/>
              </a:rPr>
              <a:t>摄像头抓拍</a:t>
            </a:r>
            <a:endParaRPr lang="zh-CN" altLang="en-US" sz="2000" b="1" dirty="0">
              <a:solidFill>
                <a:srgbClr val="F9F9F9"/>
              </a:solidFill>
              <a:latin typeface="Arial" panose="020B0604020202020204" pitchFamily="34" charset="0"/>
              <a:ea typeface="微软雅黑" panose="020B0503020204020204" pitchFamily="34" charset="-122"/>
              <a:cs typeface="+mn-ea"/>
            </a:endParaRPr>
          </a:p>
        </p:txBody>
      </p:sp>
      <p:sp>
        <p:nvSpPr>
          <p:cNvPr id="65" name="椭圆 64"/>
          <p:cNvSpPr/>
          <p:nvPr/>
        </p:nvSpPr>
        <p:spPr>
          <a:xfrm>
            <a:off x="3654854" y="1190093"/>
            <a:ext cx="1708024" cy="724467"/>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rgbClr val="F9F9F9"/>
                </a:solidFill>
                <a:latin typeface="Arial" panose="020B0604020202020204" pitchFamily="34" charset="0"/>
                <a:ea typeface="微软雅黑" panose="020B0503020204020204" pitchFamily="34" charset="-122"/>
                <a:cs typeface="+mn-ea"/>
              </a:rPr>
              <a:t>边缘上传</a:t>
            </a:r>
            <a:endParaRPr lang="zh-CN" altLang="en-US" sz="2000" b="1" dirty="0">
              <a:solidFill>
                <a:srgbClr val="F9F9F9"/>
              </a:solidFill>
              <a:latin typeface="Arial" panose="020B0604020202020204" pitchFamily="34" charset="0"/>
              <a:ea typeface="微软雅黑" panose="020B0503020204020204" pitchFamily="34" charset="-122"/>
              <a:cs typeface="+mn-ea"/>
            </a:endParaRPr>
          </a:p>
        </p:txBody>
      </p:sp>
      <p:sp>
        <p:nvSpPr>
          <p:cNvPr id="66" name="椭圆 65"/>
          <p:cNvSpPr/>
          <p:nvPr/>
        </p:nvSpPr>
        <p:spPr>
          <a:xfrm>
            <a:off x="5853415" y="1190093"/>
            <a:ext cx="2166279" cy="724468"/>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rgbClr val="F9F9F9"/>
                </a:solidFill>
                <a:latin typeface="Arial" panose="020B0604020202020204" pitchFamily="34" charset="0"/>
                <a:ea typeface="微软雅黑" panose="020B0503020204020204" pitchFamily="34" charset="-122"/>
                <a:cs typeface="+mn-ea"/>
              </a:rPr>
              <a:t>云端</a:t>
            </a:r>
            <a:r>
              <a:rPr lang="en-US" altLang="zh-CN" sz="2000" b="1" dirty="0">
                <a:solidFill>
                  <a:srgbClr val="F9F9F9"/>
                </a:solidFill>
                <a:latin typeface="Arial" panose="020B0604020202020204" pitchFamily="34" charset="0"/>
                <a:ea typeface="微软雅黑" panose="020B0503020204020204" pitchFamily="34" charset="-122"/>
                <a:cs typeface="+mn-ea"/>
              </a:rPr>
              <a:t>YOLO</a:t>
            </a:r>
            <a:r>
              <a:rPr lang="zh-CN" altLang="en-US" sz="2000" b="1" dirty="0">
                <a:solidFill>
                  <a:srgbClr val="F9F9F9"/>
                </a:solidFill>
                <a:latin typeface="Arial" panose="020B0604020202020204" pitchFamily="34" charset="0"/>
                <a:ea typeface="微软雅黑" panose="020B0503020204020204" pitchFamily="34" charset="-122"/>
                <a:cs typeface="+mn-ea"/>
              </a:rPr>
              <a:t>推理</a:t>
            </a:r>
            <a:endParaRPr lang="zh-CN" altLang="en-US" sz="2000" b="1" dirty="0">
              <a:solidFill>
                <a:srgbClr val="F9F9F9"/>
              </a:solidFill>
              <a:latin typeface="Arial" panose="020B0604020202020204" pitchFamily="34" charset="0"/>
              <a:ea typeface="微软雅黑" panose="020B0503020204020204" pitchFamily="34" charset="-122"/>
              <a:cs typeface="+mn-ea"/>
            </a:endParaRPr>
          </a:p>
        </p:txBody>
      </p:sp>
      <p:sp>
        <p:nvSpPr>
          <p:cNvPr id="67" name="椭圆 66"/>
          <p:cNvSpPr/>
          <p:nvPr/>
        </p:nvSpPr>
        <p:spPr>
          <a:xfrm>
            <a:off x="8539797" y="1205407"/>
            <a:ext cx="2121408" cy="70074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rgbClr val="F9F9F9"/>
                </a:solidFill>
                <a:latin typeface="Arial" panose="020B0604020202020204" pitchFamily="34" charset="0"/>
                <a:ea typeface="微软雅黑" panose="020B0503020204020204" pitchFamily="34" charset="-122"/>
                <a:cs typeface="+mn-ea"/>
              </a:rPr>
              <a:t>得到鱼只数量</a:t>
            </a:r>
            <a:r>
              <a:rPr lang="en-US" altLang="zh-CN" sz="2000" b="1" dirty="0">
                <a:solidFill>
                  <a:srgbClr val="F9F9F9"/>
                </a:solidFill>
                <a:latin typeface="Arial" panose="020B0604020202020204" pitchFamily="34" charset="0"/>
                <a:ea typeface="微软雅黑" panose="020B0503020204020204" pitchFamily="34" charset="-122"/>
                <a:cs typeface="+mn-ea"/>
              </a:rPr>
              <a:t>/</a:t>
            </a:r>
            <a:r>
              <a:rPr lang="zh-CN" altLang="en-US" sz="2000" b="1" dirty="0">
                <a:solidFill>
                  <a:srgbClr val="F9F9F9"/>
                </a:solidFill>
                <a:latin typeface="Arial" panose="020B0604020202020204" pitchFamily="34" charset="0"/>
                <a:ea typeface="微软雅黑" panose="020B0503020204020204" pitchFamily="34" charset="-122"/>
                <a:cs typeface="+mn-ea"/>
              </a:rPr>
              <a:t>活跃度</a:t>
            </a:r>
            <a:endParaRPr lang="zh-CN" altLang="en-US" sz="2000" b="1" dirty="0">
              <a:solidFill>
                <a:srgbClr val="F9F9F9"/>
              </a:solidFill>
              <a:latin typeface="Arial" panose="020B0604020202020204" pitchFamily="34" charset="0"/>
              <a:ea typeface="微软雅黑" panose="020B0503020204020204" pitchFamily="34" charset="-122"/>
              <a:cs typeface="+mn-ea"/>
            </a:endParaRPr>
          </a:p>
        </p:txBody>
      </p:sp>
      <p:cxnSp>
        <p:nvCxnSpPr>
          <p:cNvPr id="68" name="直接箭头连接符 67"/>
          <p:cNvCxnSpPr>
            <a:stCxn id="65" idx="6"/>
            <a:endCxn id="66" idx="2"/>
          </p:cNvCxnSpPr>
          <p:nvPr/>
        </p:nvCxnSpPr>
        <p:spPr>
          <a:xfrm>
            <a:off x="5362878" y="1552327"/>
            <a:ext cx="490537"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69" name="直接箭头连接符 68"/>
          <p:cNvCxnSpPr>
            <a:stCxn id="66" idx="6"/>
            <a:endCxn id="67" idx="2"/>
          </p:cNvCxnSpPr>
          <p:nvPr/>
        </p:nvCxnSpPr>
        <p:spPr>
          <a:xfrm>
            <a:off x="8019694" y="1552327"/>
            <a:ext cx="520103" cy="345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70" name="直接箭头连接符 69"/>
          <p:cNvCxnSpPr>
            <a:stCxn id="64" idx="6"/>
            <a:endCxn id="65" idx="2"/>
          </p:cNvCxnSpPr>
          <p:nvPr/>
        </p:nvCxnSpPr>
        <p:spPr>
          <a:xfrm>
            <a:off x="3174653" y="1552327"/>
            <a:ext cx="480201"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76" name="文本框 75"/>
          <p:cNvSpPr txBox="1"/>
          <p:nvPr/>
        </p:nvSpPr>
        <p:spPr>
          <a:xfrm>
            <a:off x="1189862" y="553085"/>
            <a:ext cx="2001520" cy="400110"/>
          </a:xfrm>
          <a:prstGeom prst="rect">
            <a:avLst/>
          </a:prstGeom>
          <a:noFill/>
        </p:spPr>
        <p:txBody>
          <a:bodyPr wrap="square" rtlCol="0">
            <a:spAutoFit/>
          </a:bodyPr>
          <a:lstStyle/>
          <a:p>
            <a:pPr algn="ctr"/>
            <a:r>
              <a:rPr lang="zh-CN" altLang="en-US" sz="2000" b="1" dirty="0">
                <a:solidFill>
                  <a:srgbClr val="A6A6A6"/>
                </a:solidFill>
                <a:latin typeface="微软雅黑" panose="020B0503020204020204" pitchFamily="34" charset="-122"/>
                <a:ea typeface="微软雅黑" panose="020B0503020204020204" pitchFamily="34" charset="-122"/>
              </a:rPr>
              <a:t>立项背景及意义</a:t>
            </a:r>
            <a:endParaRPr lang="zh-CN" altLang="en-US" sz="2000" b="1" dirty="0">
              <a:solidFill>
                <a:srgbClr val="A6A6A6"/>
              </a:solidFill>
              <a:latin typeface="微软雅黑" panose="020B0503020204020204" pitchFamily="34" charset="-122"/>
              <a:ea typeface="微软雅黑" panose="020B0503020204020204" pitchFamily="34" charset="-122"/>
            </a:endParaRPr>
          </a:p>
        </p:txBody>
      </p:sp>
      <p:sp>
        <p:nvSpPr>
          <p:cNvPr id="77" name="文本框 76"/>
          <p:cNvSpPr txBox="1"/>
          <p:nvPr/>
        </p:nvSpPr>
        <p:spPr>
          <a:xfrm>
            <a:off x="3135865" y="553085"/>
            <a:ext cx="2001520" cy="400110"/>
          </a:xfrm>
          <a:prstGeom prst="rect">
            <a:avLst/>
          </a:prstGeom>
          <a:noFill/>
        </p:spPr>
        <p:txBody>
          <a:bodyPr wrap="square" rtlCol="0">
            <a:spAutoFit/>
          </a:bodyPr>
          <a:lstStyle/>
          <a:p>
            <a:pPr algn="ctr"/>
            <a:r>
              <a:rPr lang="zh-CN" altLang="en-US" sz="2000" b="1" dirty="0">
                <a:solidFill>
                  <a:srgbClr val="004C9E"/>
                </a:solidFill>
                <a:latin typeface="微软雅黑" panose="020B0503020204020204" pitchFamily="34" charset="-122"/>
                <a:ea typeface="微软雅黑" panose="020B0503020204020204" pitchFamily="34" charset="-122"/>
              </a:rPr>
              <a:t>研究内容</a:t>
            </a:r>
            <a:endParaRPr lang="zh-CN" altLang="en-US" sz="2000" b="1" dirty="0">
              <a:solidFill>
                <a:srgbClr val="004C9E"/>
              </a:solidFill>
              <a:latin typeface="微软雅黑" panose="020B0503020204020204" pitchFamily="34" charset="-122"/>
              <a:ea typeface="微软雅黑" panose="020B0503020204020204" pitchFamily="34" charset="-122"/>
            </a:endParaRPr>
          </a:p>
        </p:txBody>
      </p:sp>
      <p:sp>
        <p:nvSpPr>
          <p:cNvPr id="78" name="文本框 77"/>
          <p:cNvSpPr txBox="1"/>
          <p:nvPr/>
        </p:nvSpPr>
        <p:spPr>
          <a:xfrm>
            <a:off x="5161828" y="553085"/>
            <a:ext cx="2001520" cy="400110"/>
          </a:xfrm>
          <a:prstGeom prst="rect">
            <a:avLst/>
          </a:prstGeom>
          <a:noFill/>
        </p:spPr>
        <p:txBody>
          <a:bodyPr wrap="square" rtlCol="0">
            <a:spAutoFit/>
          </a:bodyPr>
          <a:lstStyle/>
          <a:p>
            <a:pPr algn="ctr"/>
            <a:r>
              <a:rPr lang="zh-CN" altLang="en-US" sz="2000" b="1" dirty="0">
                <a:solidFill>
                  <a:schemeClr val="bg1">
                    <a:lumMod val="65000"/>
                  </a:schemeClr>
                </a:solidFill>
                <a:latin typeface="微软雅黑" panose="020B0503020204020204" pitchFamily="34" charset="-122"/>
                <a:ea typeface="微软雅黑" panose="020B0503020204020204" pitchFamily="34" charset="-122"/>
              </a:rPr>
              <a:t>拟采用技术路线</a:t>
            </a:r>
            <a:endParaRPr lang="zh-CN" altLang="en-US" sz="2000" b="1" dirty="0">
              <a:solidFill>
                <a:schemeClr val="bg1">
                  <a:lumMod val="65000"/>
                </a:schemeClr>
              </a:solidFill>
              <a:latin typeface="微软雅黑" panose="020B0503020204020204" pitchFamily="34" charset="-122"/>
              <a:ea typeface="微软雅黑" panose="020B0503020204020204" pitchFamily="34" charset="-122"/>
            </a:endParaRPr>
          </a:p>
        </p:txBody>
      </p:sp>
      <p:sp>
        <p:nvSpPr>
          <p:cNvPr id="79" name="等腰三角形 78"/>
          <p:cNvSpPr/>
          <p:nvPr/>
        </p:nvSpPr>
        <p:spPr>
          <a:xfrm rot="5400000">
            <a:off x="3349256" y="669975"/>
            <a:ext cx="192943" cy="166330"/>
          </a:xfrm>
          <a:prstGeom prst="triangle">
            <a:avLst/>
          </a:prstGeom>
          <a:solidFill>
            <a:srgbClr val="004C9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0" name="文本框 79"/>
          <p:cNvSpPr txBox="1"/>
          <p:nvPr/>
        </p:nvSpPr>
        <p:spPr>
          <a:xfrm>
            <a:off x="6873124" y="553085"/>
            <a:ext cx="2755901" cy="398780"/>
          </a:xfrm>
          <a:prstGeom prst="rect">
            <a:avLst/>
          </a:prstGeom>
          <a:noFill/>
        </p:spPr>
        <p:txBody>
          <a:bodyPr wrap="square" rtlCol="0">
            <a:spAutoFit/>
          </a:bodyPr>
          <a:lstStyle/>
          <a:p>
            <a:pPr algn="ctr"/>
            <a:r>
              <a:rPr lang="zh-CN" altLang="en-US" sz="2000" b="1" dirty="0">
                <a:solidFill>
                  <a:schemeClr val="bg1">
                    <a:lumMod val="65000"/>
                  </a:schemeClr>
                </a:solidFill>
                <a:latin typeface="微软雅黑" panose="020B0503020204020204" pitchFamily="34" charset="-122"/>
                <a:ea typeface="微软雅黑" panose="020B0503020204020204" pitchFamily="34" charset="-122"/>
              </a:rPr>
              <a:t>创新与特点</a:t>
            </a:r>
            <a:endParaRPr lang="zh-CN" altLang="en-US" sz="2000" b="1" dirty="0">
              <a:solidFill>
                <a:schemeClr val="bg1">
                  <a:lumMod val="65000"/>
                </a:schemeClr>
              </a:solidFill>
              <a:latin typeface="微软雅黑" panose="020B0503020204020204" pitchFamily="34" charset="-122"/>
              <a:ea typeface="微软雅黑" panose="020B0503020204020204" pitchFamily="34" charset="-122"/>
            </a:endParaRPr>
          </a:p>
        </p:txBody>
      </p:sp>
      <p:sp>
        <p:nvSpPr>
          <p:cNvPr id="81" name="文本框 80"/>
          <p:cNvSpPr txBox="1"/>
          <p:nvPr/>
        </p:nvSpPr>
        <p:spPr>
          <a:xfrm>
            <a:off x="9102720" y="553085"/>
            <a:ext cx="2755901" cy="398780"/>
          </a:xfrm>
          <a:prstGeom prst="rect">
            <a:avLst/>
          </a:prstGeom>
          <a:noFill/>
        </p:spPr>
        <p:txBody>
          <a:bodyPr wrap="square" rtlCol="0">
            <a:spAutoFit/>
          </a:bodyPr>
          <a:lstStyle/>
          <a:p>
            <a:pPr algn="ctr"/>
            <a:r>
              <a:rPr lang="zh-CN" altLang="en-US" sz="2000" b="1" dirty="0">
                <a:solidFill>
                  <a:schemeClr val="bg1">
                    <a:lumMod val="65000"/>
                  </a:schemeClr>
                </a:solidFill>
                <a:latin typeface="微软雅黑" panose="020B0503020204020204" pitchFamily="34" charset="-122"/>
                <a:ea typeface="微软雅黑" panose="020B0503020204020204" pitchFamily="34" charset="-122"/>
              </a:rPr>
              <a:t>时间安排计划</a:t>
            </a:r>
            <a:endParaRPr lang="zh-CN" altLang="en-US" sz="2000" b="1" dirty="0">
              <a:solidFill>
                <a:schemeClr val="bg1">
                  <a:lumMod val="65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2"/>
                                        </p:tgtEl>
                                        <p:attrNameLst>
                                          <p:attrName>style.visibility</p:attrName>
                                        </p:attrNameLst>
                                      </p:cBhvr>
                                      <p:to>
                                        <p:strVal val="visible"/>
                                      </p:to>
                                    </p:set>
                                    <p:animEffect transition="in" filter="fade">
                                      <p:cBhvr>
                                        <p:cTn id="7" dur="5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直角三角形 20"/>
          <p:cNvSpPr/>
          <p:nvPr/>
        </p:nvSpPr>
        <p:spPr>
          <a:xfrm>
            <a:off x="0" y="3165895"/>
            <a:ext cx="3692105" cy="3692105"/>
          </a:xfrm>
          <a:prstGeom prst="rtTriangle">
            <a:avLst/>
          </a:prstGeom>
          <a:solidFill>
            <a:srgbClr val="004C9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04B9D"/>
              </a:solidFill>
            </a:endParaRPr>
          </a:p>
        </p:txBody>
      </p:sp>
      <p:sp>
        <p:nvSpPr>
          <p:cNvPr id="20" name="直角三角形 19"/>
          <p:cNvSpPr/>
          <p:nvPr/>
        </p:nvSpPr>
        <p:spPr>
          <a:xfrm rot="10800000">
            <a:off x="8499895" y="0"/>
            <a:ext cx="3692105" cy="3692105"/>
          </a:xfrm>
          <a:prstGeom prst="rtTriangle">
            <a:avLst/>
          </a:prstGeom>
          <a:solidFill>
            <a:srgbClr val="004B9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7" name="组合 6"/>
          <p:cNvGrpSpPr/>
          <p:nvPr userDrawn="1"/>
        </p:nvGrpSpPr>
        <p:grpSpPr>
          <a:xfrm>
            <a:off x="490537" y="472440"/>
            <a:ext cx="11210925" cy="6019800"/>
            <a:chOff x="490484" y="441960"/>
            <a:chExt cx="11211033" cy="6019801"/>
          </a:xfrm>
        </p:grpSpPr>
        <p:pic>
          <p:nvPicPr>
            <p:cNvPr id="8" name="图片 7"/>
            <p:cNvPicPr>
              <a:picLocks noChangeAspect="1"/>
            </p:cNvPicPr>
            <p:nvPr userDrawn="1"/>
          </p:nvPicPr>
          <p:blipFill rotWithShape="1">
            <a:blip r:embed="rId1">
              <a:extLst>
                <a:ext uri="{28A0092B-C50C-407E-A947-70E740481C1C}">
                  <a14:useLocalDpi xmlns:a14="http://schemas.microsoft.com/office/drawing/2010/main" val="0"/>
                </a:ext>
              </a:extLst>
            </a:blip>
            <a:srcRect l="1515" t="4277" r="530" b="14319"/>
            <a:stretch>
              <a:fillRect/>
            </a:stretch>
          </p:blipFill>
          <p:spPr>
            <a:xfrm>
              <a:off x="490484" y="441960"/>
              <a:ext cx="11211033" cy="6019801"/>
            </a:xfrm>
            <a:prstGeom prst="rect">
              <a:avLst/>
            </a:prstGeom>
            <a:effectLst>
              <a:outerShdw blurRad="355600" dist="139700" dir="2700000" algn="tl" rotWithShape="0">
                <a:prstClr val="black">
                  <a:alpha val="61000"/>
                </a:prstClr>
              </a:outerShdw>
            </a:effectLst>
          </p:spPr>
        </p:pic>
        <p:sp>
          <p:nvSpPr>
            <p:cNvPr id="9" name="矩形 8"/>
            <p:cNvSpPr/>
            <p:nvPr userDrawn="1"/>
          </p:nvSpPr>
          <p:spPr>
            <a:xfrm>
              <a:off x="490484" y="441960"/>
              <a:ext cx="11211032" cy="6019801"/>
            </a:xfrm>
            <a:prstGeom prst="rect">
              <a:avLst/>
            </a:prstGeom>
            <a:solidFill>
              <a:srgbClr val="FFFEF7">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400" b="1" dirty="0">
                <a:solidFill>
                  <a:srgbClr val="004C9E"/>
                </a:solidFill>
                <a:latin typeface="微软雅黑" panose="020B0503020204020204" pitchFamily="34" charset="-122"/>
                <a:ea typeface="微软雅黑" panose="020B0503020204020204" pitchFamily="34" charset="-122"/>
              </a:endParaRPr>
            </a:p>
          </p:txBody>
        </p:sp>
      </p:grpSp>
      <p:cxnSp>
        <p:nvCxnSpPr>
          <p:cNvPr id="43" name="直接连接符 42"/>
          <p:cNvCxnSpPr/>
          <p:nvPr/>
        </p:nvCxnSpPr>
        <p:spPr>
          <a:xfrm>
            <a:off x="899088" y="6096082"/>
            <a:ext cx="9058311" cy="4300"/>
          </a:xfrm>
          <a:prstGeom prst="line">
            <a:avLst/>
          </a:prstGeom>
        </p:spPr>
        <p:style>
          <a:lnRef idx="1">
            <a:schemeClr val="accent1"/>
          </a:lnRef>
          <a:fillRef idx="0">
            <a:schemeClr val="accent1"/>
          </a:fillRef>
          <a:effectRef idx="0">
            <a:schemeClr val="accent1"/>
          </a:effectRef>
          <a:fontRef idx="minor">
            <a:schemeClr val="tx1"/>
          </a:fontRef>
        </p:style>
      </p:cxnSp>
      <p:grpSp>
        <p:nvGrpSpPr>
          <p:cNvPr id="42" name="图形"/>
          <p:cNvGrpSpPr/>
          <p:nvPr/>
        </p:nvGrpSpPr>
        <p:grpSpPr>
          <a:xfrm>
            <a:off x="1132628" y="1225297"/>
            <a:ext cx="10254995" cy="4367064"/>
            <a:chOff x="9751" y="2947"/>
            <a:chExt cx="8790" cy="6956"/>
          </a:xfrm>
        </p:grpSpPr>
        <p:sp>
          <p:nvSpPr>
            <p:cNvPr id="45" name="图形"/>
            <p:cNvSpPr txBox="1"/>
            <p:nvPr>
              <p:custDataLst>
                <p:tags r:id="rId2"/>
              </p:custDataLst>
            </p:nvPr>
          </p:nvSpPr>
          <p:spPr>
            <a:xfrm>
              <a:off x="9941" y="3244"/>
              <a:ext cx="3640" cy="636"/>
            </a:xfrm>
            <a:prstGeom prst="rect">
              <a:avLst/>
            </a:prstGeom>
            <a:noFill/>
          </p:spPr>
          <p:txBody>
            <a:bodyPr wrap="none" lIns="0" tIns="0" rIns="0" bIns="0" rtlCol="0">
              <a:spAutoFit/>
            </a:bodyPr>
            <a:lstStyle/>
            <a:p>
              <a:r>
                <a:rPr lang="zh-CN" altLang="en-US" sz="2000" b="1" dirty="0">
                  <a:solidFill>
                    <a:srgbClr val="F9F9F9"/>
                  </a:solidFill>
                  <a:latin typeface="Arial" panose="020B0604020202020204" pitchFamily="34" charset="0"/>
                  <a:ea typeface="微软雅黑" panose="020B0503020204020204" pitchFamily="34" charset="-122"/>
                  <a:cs typeface="+mn-ea"/>
                  <a:sym typeface="Arial" panose="020B0604020202020204" pitchFamily="34" charset="0"/>
                </a:rPr>
                <a:t>任务</a:t>
              </a:r>
              <a:r>
                <a:rPr lang="en-US" altLang="zh-CN" sz="2000" b="1" dirty="0">
                  <a:solidFill>
                    <a:srgbClr val="F9F9F9"/>
                  </a:solidFill>
                  <a:latin typeface="Arial" panose="020B0604020202020204" pitchFamily="34" charset="0"/>
                  <a:ea typeface="微软雅黑" panose="020B0503020204020204" pitchFamily="34" charset="-122"/>
                  <a:cs typeface="+mn-ea"/>
                  <a:sym typeface="Arial" panose="020B0604020202020204" pitchFamily="34" charset="0"/>
                </a:rPr>
                <a:t>2</a:t>
              </a:r>
              <a:r>
                <a:rPr lang="zh-CN" altLang="en-US" sz="2000" b="1" dirty="0">
                  <a:solidFill>
                    <a:srgbClr val="F9F9F9"/>
                  </a:solidFill>
                  <a:latin typeface="Arial" panose="020B0604020202020204" pitchFamily="34" charset="0"/>
                  <a:ea typeface="微软雅黑" panose="020B0503020204020204" pitchFamily="34" charset="-122"/>
                  <a:cs typeface="+mn-ea"/>
                  <a:sym typeface="Arial" panose="020B0604020202020204" pitchFamily="34" charset="0"/>
                </a:rPr>
                <a:t>：基于深度学习的鱼只视觉感知</a:t>
              </a:r>
              <a:endParaRPr lang="en-US" altLang="zh-CN" sz="2000" b="1" dirty="0">
                <a:solidFill>
                  <a:srgbClr val="F9F9F9"/>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46" name="图形"/>
            <p:cNvSpPr/>
            <p:nvPr>
              <p:custDataLst>
                <p:tags r:id="rId3"/>
              </p:custDataLst>
            </p:nvPr>
          </p:nvSpPr>
          <p:spPr>
            <a:xfrm>
              <a:off x="10324" y="4407"/>
              <a:ext cx="7729" cy="4314"/>
            </a:xfrm>
            <a:prstGeom prst="rect">
              <a:avLst/>
            </a:prstGeom>
          </p:spPr>
          <p:txBody>
            <a:bodyPr wrap="square" lIns="0" tIns="0" rIns="0" bIns="0">
              <a:spAutoFit/>
            </a:bodyPr>
            <a:lstStyle/>
            <a:p>
              <a:pPr algn="just">
                <a:lnSpc>
                  <a:spcPct val="200000"/>
                </a:lnSpc>
              </a:pPr>
              <a:r>
                <a:rPr lang="zh-CN" altLang="en-US" sz="1400" dirty="0">
                  <a:solidFill>
                    <a:schemeClr val="bg1"/>
                  </a:solidFill>
                  <a:latin typeface="Arial" panose="020B0604020202020204" pitchFamily="34" charset="0"/>
                  <a:ea typeface="微软雅黑" panose="020B0503020204020204" pitchFamily="34" charset="-122"/>
                  <a:cs typeface="思源黑体旧字形 Light" panose="020B0300000000000000" charset="-128"/>
                  <a:sym typeface="Arial" panose="020B0604020202020204" pitchFamily="34" charset="0"/>
                </a:rPr>
                <a:t>目标：识别鱼只数量、游动活跃度、摄食行为（是否吃完饲料）</a:t>
              </a:r>
              <a:endParaRPr lang="zh-CN" altLang="en-US" sz="1400" dirty="0">
                <a:solidFill>
                  <a:schemeClr val="bg1"/>
                </a:solidFill>
                <a:latin typeface="Arial" panose="020B0604020202020204" pitchFamily="34" charset="0"/>
                <a:ea typeface="微软雅黑" panose="020B0503020204020204" pitchFamily="34" charset="-122"/>
                <a:cs typeface="思源黑体旧字形 Light" panose="020B0300000000000000" charset="-128"/>
                <a:sym typeface="Arial" panose="020B0604020202020204" pitchFamily="34" charset="0"/>
              </a:endParaRPr>
            </a:p>
            <a:p>
              <a:pPr algn="just">
                <a:lnSpc>
                  <a:spcPct val="200000"/>
                </a:lnSpc>
              </a:pPr>
              <a:r>
                <a:rPr lang="zh-CN" altLang="en-US" sz="1400" dirty="0">
                  <a:solidFill>
                    <a:schemeClr val="bg1"/>
                  </a:solidFill>
                  <a:latin typeface="Arial" panose="020B0604020202020204" pitchFamily="34" charset="0"/>
                  <a:ea typeface="微软雅黑" panose="020B0503020204020204" pitchFamily="34" charset="-122"/>
                  <a:cs typeface="思源黑体旧字形 Light" panose="020B0300000000000000" charset="-128"/>
                  <a:sym typeface="Arial" panose="020B0604020202020204" pitchFamily="34" charset="0"/>
                </a:rPr>
                <a:t>技术方案：使用低成本摄像头（</a:t>
              </a:r>
              <a:r>
                <a:rPr lang="en-US" altLang="zh-CN" sz="1400" dirty="0">
                  <a:solidFill>
                    <a:schemeClr val="bg1"/>
                  </a:solidFill>
                  <a:latin typeface="Arial" panose="020B0604020202020204" pitchFamily="34" charset="0"/>
                  <a:ea typeface="微软雅黑" panose="020B0503020204020204" pitchFamily="34" charset="-122"/>
                  <a:cs typeface="思源黑体旧字形 Light" panose="020B0300000000000000" charset="-128"/>
                  <a:sym typeface="Arial" panose="020B0604020202020204" pitchFamily="34" charset="0"/>
                </a:rPr>
                <a:t>USB</a:t>
              </a:r>
              <a:r>
                <a:rPr lang="zh-CN" altLang="en-US" sz="1400" dirty="0">
                  <a:solidFill>
                    <a:schemeClr val="bg1"/>
                  </a:solidFill>
                  <a:latin typeface="Arial" panose="020B0604020202020204" pitchFamily="34" charset="0"/>
                  <a:ea typeface="微软雅黑" panose="020B0503020204020204" pitchFamily="34" charset="-122"/>
                  <a:cs typeface="思源黑体旧字形 Light" panose="020B0300000000000000" charset="-128"/>
                  <a:sym typeface="Arial" panose="020B0604020202020204" pitchFamily="34" charset="0"/>
                </a:rPr>
                <a:t>或</a:t>
              </a:r>
              <a:r>
                <a:rPr lang="en-US" altLang="zh-CN" sz="1400" dirty="0">
                  <a:solidFill>
                    <a:schemeClr val="bg1"/>
                  </a:solidFill>
                  <a:latin typeface="Arial" panose="020B0604020202020204" pitchFamily="34" charset="0"/>
                  <a:ea typeface="微软雅黑" panose="020B0503020204020204" pitchFamily="34" charset="-122"/>
                  <a:cs typeface="思源黑体旧字形 Light" panose="020B0300000000000000" charset="-128"/>
                  <a:sym typeface="Arial" panose="020B0604020202020204" pitchFamily="34" charset="0"/>
                </a:rPr>
                <a:t>ESP32-CAM</a:t>
              </a:r>
              <a:r>
                <a:rPr lang="zh-CN" altLang="en-US" sz="1400" dirty="0">
                  <a:solidFill>
                    <a:schemeClr val="bg1"/>
                  </a:solidFill>
                  <a:latin typeface="Arial" panose="020B0604020202020204" pitchFamily="34" charset="0"/>
                  <a:ea typeface="微软雅黑" panose="020B0503020204020204" pitchFamily="34" charset="-122"/>
                  <a:cs typeface="思源黑体旧字形 Light" panose="020B0300000000000000" charset="-128"/>
                  <a:sym typeface="Arial" panose="020B0604020202020204" pitchFamily="34" charset="0"/>
                </a:rPr>
                <a:t>）</a:t>
              </a:r>
              <a:endParaRPr lang="zh-CN" altLang="en-US" sz="1400" dirty="0">
                <a:solidFill>
                  <a:schemeClr val="bg1"/>
                </a:solidFill>
                <a:latin typeface="Arial" panose="020B0604020202020204" pitchFamily="34" charset="0"/>
                <a:ea typeface="微软雅黑" panose="020B0503020204020204" pitchFamily="34" charset="-122"/>
                <a:cs typeface="思源黑体旧字形 Light" panose="020B0300000000000000" charset="-128"/>
                <a:sym typeface="Arial" panose="020B0604020202020204" pitchFamily="34" charset="0"/>
              </a:endParaRPr>
            </a:p>
            <a:p>
              <a:pPr algn="just">
                <a:lnSpc>
                  <a:spcPct val="200000"/>
                </a:lnSpc>
              </a:pPr>
              <a:r>
                <a:rPr lang="zh-CN" altLang="en-US" sz="1400" dirty="0">
                  <a:solidFill>
                    <a:schemeClr val="bg1"/>
                  </a:solidFill>
                  <a:latin typeface="Arial" panose="020B0604020202020204" pitchFamily="34" charset="0"/>
                  <a:ea typeface="微软雅黑" panose="020B0503020204020204" pitchFamily="34" charset="-122"/>
                  <a:cs typeface="思源黑体旧字形 Light" panose="020B0300000000000000" charset="-128"/>
                  <a:sym typeface="Arial" panose="020B0604020202020204" pitchFamily="34" charset="0"/>
                </a:rPr>
                <a:t>                  采用轻量化目标检测模型（</a:t>
              </a:r>
              <a:r>
                <a:rPr lang="en-US" altLang="zh-CN" sz="1400" dirty="0">
                  <a:solidFill>
                    <a:schemeClr val="bg1"/>
                  </a:solidFill>
                  <a:latin typeface="Arial" panose="020B0604020202020204" pitchFamily="34" charset="0"/>
                  <a:ea typeface="微软雅黑" panose="020B0503020204020204" pitchFamily="34" charset="-122"/>
                  <a:cs typeface="思源黑体旧字形 Light" panose="020B0300000000000000" charset="-128"/>
                  <a:sym typeface="Arial" panose="020B0604020202020204" pitchFamily="34" charset="0"/>
                </a:rPr>
                <a:t>YOLOv5s / </a:t>
              </a:r>
              <a:r>
                <a:rPr lang="en-US" altLang="zh-CN" sz="1400" dirty="0" err="1">
                  <a:solidFill>
                    <a:schemeClr val="bg1"/>
                  </a:solidFill>
                  <a:latin typeface="Arial" panose="020B0604020202020204" pitchFamily="34" charset="0"/>
                  <a:ea typeface="微软雅黑" panose="020B0503020204020204" pitchFamily="34" charset="-122"/>
                  <a:cs typeface="思源黑体旧字形 Light" panose="020B0300000000000000" charset="-128"/>
                  <a:sym typeface="Arial" panose="020B0604020202020204" pitchFamily="34" charset="0"/>
                </a:rPr>
                <a:t>NanoDet</a:t>
              </a:r>
              <a:r>
                <a:rPr lang="zh-CN" altLang="en-US" sz="1400" dirty="0">
                  <a:solidFill>
                    <a:schemeClr val="bg1"/>
                  </a:solidFill>
                  <a:latin typeface="Arial" panose="020B0604020202020204" pitchFamily="34" charset="0"/>
                  <a:ea typeface="微软雅黑" panose="020B0503020204020204" pitchFamily="34" charset="-122"/>
                  <a:cs typeface="思源黑体旧字形 Light" panose="020B0300000000000000" charset="-128"/>
                  <a:sym typeface="Arial" panose="020B0604020202020204" pitchFamily="34" charset="0"/>
                </a:rPr>
                <a:t>）部署在边缘端或云端</a:t>
              </a:r>
              <a:endParaRPr lang="zh-CN" altLang="en-US" sz="1400" dirty="0">
                <a:solidFill>
                  <a:schemeClr val="bg1"/>
                </a:solidFill>
                <a:latin typeface="Arial" panose="020B0604020202020204" pitchFamily="34" charset="0"/>
                <a:ea typeface="微软雅黑" panose="020B0503020204020204" pitchFamily="34" charset="-122"/>
                <a:cs typeface="思源黑体旧字形 Light" panose="020B0300000000000000" charset="-128"/>
                <a:sym typeface="Arial" panose="020B0604020202020204" pitchFamily="34" charset="0"/>
              </a:endParaRPr>
            </a:p>
            <a:p>
              <a:pPr algn="just">
                <a:lnSpc>
                  <a:spcPct val="200000"/>
                </a:lnSpc>
              </a:pPr>
              <a:r>
                <a:rPr lang="zh-CN" altLang="en-US" sz="1400" dirty="0">
                  <a:solidFill>
                    <a:schemeClr val="bg1"/>
                  </a:solidFill>
                  <a:latin typeface="Arial" panose="020B0604020202020204" pitchFamily="34" charset="0"/>
                  <a:ea typeface="微软雅黑" panose="020B0503020204020204" pitchFamily="34" charset="-122"/>
                  <a:cs typeface="思源黑体旧字形 Light" panose="020B0300000000000000" charset="-128"/>
                  <a:sym typeface="Arial" panose="020B0604020202020204" pitchFamily="34" charset="0"/>
                </a:rPr>
                <a:t>                  定期抓拍图像，上传云端进行推理，返回鱼只密度及活跃度指标</a:t>
              </a:r>
              <a:endParaRPr lang="zh-CN" altLang="en-US" sz="1400" dirty="0">
                <a:solidFill>
                  <a:schemeClr val="bg1"/>
                </a:solidFill>
                <a:latin typeface="Arial" panose="020B0604020202020204" pitchFamily="34" charset="0"/>
                <a:ea typeface="微软雅黑" panose="020B0503020204020204" pitchFamily="34" charset="-122"/>
                <a:cs typeface="思源黑体旧字形 Light" panose="020B0300000000000000" charset="-128"/>
                <a:sym typeface="Arial" panose="020B0604020202020204" pitchFamily="34" charset="0"/>
              </a:endParaRPr>
            </a:p>
            <a:p>
              <a:pPr algn="just">
                <a:lnSpc>
                  <a:spcPct val="200000"/>
                </a:lnSpc>
              </a:pPr>
              <a:r>
                <a:rPr lang="zh-CN" altLang="en-US" sz="1400" dirty="0">
                  <a:solidFill>
                    <a:schemeClr val="bg1"/>
                  </a:solidFill>
                  <a:latin typeface="Arial" panose="020B0604020202020204" pitchFamily="34" charset="0"/>
                  <a:ea typeface="微软雅黑" panose="020B0503020204020204" pitchFamily="34" charset="-122"/>
                  <a:cs typeface="思源黑体旧字形 Light" panose="020B0300000000000000" charset="-128"/>
                  <a:sym typeface="Arial" panose="020B0604020202020204" pitchFamily="34" charset="0"/>
                </a:rPr>
                <a:t>输出结果：作为投食决策模型的关键输入（“鱼群密度”“摄食剩余量”）</a:t>
              </a:r>
              <a:endParaRPr lang="zh-CN" altLang="en-US" sz="140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8" name="图形"/>
            <p:cNvSpPr/>
            <p:nvPr>
              <p:custDataLst>
                <p:tags r:id="rId4"/>
              </p:custDataLst>
            </p:nvPr>
          </p:nvSpPr>
          <p:spPr>
            <a:xfrm>
              <a:off x="9751" y="2947"/>
              <a:ext cx="8790" cy="6956"/>
            </a:xfrm>
            <a:prstGeom prst="rect">
              <a:avLst/>
            </a:prstGeom>
            <a:solidFill>
              <a:srgbClr val="004C9E"/>
            </a:solidFill>
            <a:ln w="19050">
              <a:noFill/>
            </a:ln>
            <a:effectLst>
              <a:outerShdw blurRad="381000" dist="228600" dir="2700000" sx="95000" sy="95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ea typeface="微软雅黑" panose="020B0503020204020204" pitchFamily="34" charset="-122"/>
                <a:cs typeface="思源黑体旧字形 Light" panose="020B0300000000000000" charset="-128"/>
                <a:sym typeface="Arial" panose="020B0604020202020204" pitchFamily="34" charset="0"/>
              </a:endParaRPr>
            </a:p>
          </p:txBody>
        </p:sp>
        <p:sp>
          <p:nvSpPr>
            <p:cNvPr id="39" name="图形"/>
            <p:cNvSpPr txBox="1"/>
            <p:nvPr>
              <p:custDataLst>
                <p:tags r:id="rId5"/>
              </p:custDataLst>
            </p:nvPr>
          </p:nvSpPr>
          <p:spPr>
            <a:xfrm>
              <a:off x="10034" y="3622"/>
              <a:ext cx="4402" cy="636"/>
            </a:xfrm>
            <a:prstGeom prst="rect">
              <a:avLst/>
            </a:prstGeom>
            <a:noFill/>
          </p:spPr>
          <p:txBody>
            <a:bodyPr wrap="none" lIns="0" tIns="0" rIns="0" bIns="0" rtlCol="0">
              <a:spAutoFit/>
            </a:bodyPr>
            <a:lstStyle/>
            <a:p>
              <a:r>
                <a:rPr lang="zh-CN" altLang="en-US" sz="2000" b="1" dirty="0">
                  <a:solidFill>
                    <a:srgbClr val="F9F9F9"/>
                  </a:solidFill>
                  <a:latin typeface="Arial" panose="020B0604020202020204" pitchFamily="34" charset="0"/>
                  <a:ea typeface="微软雅黑" panose="020B0503020204020204" pitchFamily="34" charset="-122"/>
                  <a:cs typeface="+mn-ea"/>
                  <a:sym typeface="Arial" panose="020B0604020202020204" pitchFamily="34" charset="0"/>
                </a:rPr>
                <a:t>任务</a:t>
              </a:r>
              <a:r>
                <a:rPr lang="en-US" altLang="zh-CN" sz="2000" b="1" dirty="0">
                  <a:solidFill>
                    <a:srgbClr val="F9F9F9"/>
                  </a:solidFill>
                  <a:latin typeface="Arial" panose="020B0604020202020204" pitchFamily="34" charset="0"/>
                  <a:ea typeface="微软雅黑" panose="020B0503020204020204" pitchFamily="34" charset="-122"/>
                  <a:cs typeface="+mn-ea"/>
                  <a:sym typeface="Arial" panose="020B0604020202020204" pitchFamily="34" charset="0"/>
                </a:rPr>
                <a:t>3&amp;4</a:t>
              </a:r>
              <a:r>
                <a:rPr lang="zh-CN" altLang="en-US" sz="2000" b="1" dirty="0">
                  <a:solidFill>
                    <a:srgbClr val="F9F9F9"/>
                  </a:solidFill>
                  <a:latin typeface="Arial" panose="020B0604020202020204" pitchFamily="34" charset="0"/>
                  <a:ea typeface="微软雅黑" panose="020B0503020204020204" pitchFamily="34" charset="-122"/>
                  <a:cs typeface="+mn-ea"/>
                  <a:sym typeface="Arial" panose="020B0604020202020204" pitchFamily="34" charset="0"/>
                </a:rPr>
                <a:t>：</a:t>
              </a:r>
              <a:r>
                <a:rPr lang="en-US" altLang="zh-CN" sz="2000" b="1" dirty="0">
                  <a:solidFill>
                    <a:srgbClr val="F9F9F9"/>
                  </a:solidFill>
                  <a:latin typeface="Arial" panose="020B0604020202020204" pitchFamily="34" charset="0"/>
                  <a:ea typeface="微软雅黑" panose="020B0503020204020204" pitchFamily="34" charset="-122"/>
                  <a:cs typeface="+mn-ea"/>
                  <a:sym typeface="Arial" panose="020B0604020202020204" pitchFamily="34" charset="0"/>
                </a:rPr>
                <a:t>LLM</a:t>
              </a:r>
              <a:r>
                <a:rPr lang="zh-CN" altLang="en-US" sz="2000" b="1" dirty="0">
                  <a:solidFill>
                    <a:srgbClr val="F9F9F9"/>
                  </a:solidFill>
                  <a:latin typeface="Arial" panose="020B0604020202020204" pitchFamily="34" charset="0"/>
                  <a:ea typeface="微软雅黑" panose="020B0503020204020204" pitchFamily="34" charset="-122"/>
                  <a:cs typeface="+mn-ea"/>
                  <a:sym typeface="Arial" panose="020B0604020202020204" pitchFamily="34" charset="0"/>
                </a:rPr>
                <a:t>驱动的混合推理 </a:t>
              </a:r>
              <a:r>
                <a:rPr lang="en-US" altLang="zh-CN" sz="2000" b="1" dirty="0">
                  <a:solidFill>
                    <a:srgbClr val="F9F9F9"/>
                  </a:solidFill>
                  <a:latin typeface="Arial" panose="020B0604020202020204" pitchFamily="34" charset="0"/>
                  <a:ea typeface="微软雅黑" panose="020B0503020204020204" pitchFamily="34" charset="-122"/>
                  <a:cs typeface="+mn-ea"/>
                  <a:sym typeface="Arial" panose="020B0604020202020204" pitchFamily="34" charset="0"/>
                </a:rPr>
                <a:t>+ </a:t>
              </a:r>
              <a:r>
                <a:rPr lang="zh-CN" altLang="en-US" sz="2000" b="1" dirty="0">
                  <a:solidFill>
                    <a:srgbClr val="F9F9F9"/>
                  </a:solidFill>
                  <a:latin typeface="Arial" panose="020B0604020202020204" pitchFamily="34" charset="0"/>
                  <a:ea typeface="微软雅黑" panose="020B0503020204020204" pitchFamily="34" charset="-122"/>
                  <a:cs typeface="+mn-ea"/>
                  <a:sym typeface="Arial" panose="020B0604020202020204" pitchFamily="34" charset="0"/>
                </a:rPr>
                <a:t>数据持久化</a:t>
              </a:r>
              <a:endParaRPr lang="en-US" altLang="zh-CN" sz="2000" b="1" dirty="0">
                <a:solidFill>
                  <a:srgbClr val="F9F9F9"/>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40" name="图形"/>
            <p:cNvSpPr/>
            <p:nvPr>
              <p:custDataLst>
                <p:tags r:id="rId6"/>
              </p:custDataLst>
            </p:nvPr>
          </p:nvSpPr>
          <p:spPr>
            <a:xfrm>
              <a:off x="9958" y="4177"/>
              <a:ext cx="7137" cy="5000"/>
            </a:xfrm>
            <a:prstGeom prst="rect">
              <a:avLst/>
            </a:prstGeom>
          </p:spPr>
          <p:txBody>
            <a:bodyPr wrap="square" lIns="0" tIns="0" rIns="0" bIns="0">
              <a:spAutoFit/>
            </a:bodyPr>
            <a:lstStyle/>
            <a:p>
              <a:pPr algn="just">
                <a:lnSpc>
                  <a:spcPct val="250000"/>
                </a:lnSpc>
              </a:pPr>
              <a:r>
                <a:rPr lang="zh-CN" altLang="en-US" sz="1400" b="1" dirty="0">
                  <a:solidFill>
                    <a:schemeClr val="bg1"/>
                  </a:solidFill>
                  <a:latin typeface="Arial" panose="020B0604020202020204" pitchFamily="34" charset="0"/>
                  <a:ea typeface="微软雅黑" panose="020B0503020204020204" pitchFamily="34" charset="-122"/>
                  <a:cs typeface="思源黑体旧字形 Light" panose="020B0300000000000000" charset="-128"/>
                  <a:sym typeface="Arial" panose="020B0604020202020204" pitchFamily="34" charset="0"/>
                </a:rPr>
                <a:t>混合推理引擎</a:t>
              </a:r>
              <a:r>
                <a:rPr lang="zh-CN" altLang="en-US" sz="1400" dirty="0">
                  <a:solidFill>
                    <a:schemeClr val="bg1"/>
                  </a:solidFill>
                  <a:latin typeface="Arial" panose="020B0604020202020204" pitchFamily="34" charset="0"/>
                  <a:ea typeface="微软雅黑" panose="020B0503020204020204" pitchFamily="34" charset="-122"/>
                  <a:cs typeface="思源黑体旧字形 Light" panose="020B0300000000000000" charset="-128"/>
                  <a:sym typeface="Arial" panose="020B0604020202020204" pitchFamily="34" charset="0"/>
                </a:rPr>
                <a:t>：</a:t>
              </a:r>
              <a:endParaRPr lang="zh-CN" altLang="en-US" sz="1400" dirty="0">
                <a:solidFill>
                  <a:schemeClr val="bg1"/>
                </a:solidFill>
                <a:latin typeface="Arial" panose="020B0604020202020204" pitchFamily="34" charset="0"/>
                <a:ea typeface="微软雅黑" panose="020B0503020204020204" pitchFamily="34" charset="-122"/>
                <a:cs typeface="思源黑体旧字形 Light" panose="020B0300000000000000" charset="-128"/>
                <a:sym typeface="Arial" panose="020B0604020202020204" pitchFamily="34" charset="0"/>
              </a:endParaRPr>
            </a:p>
            <a:p>
              <a:pPr algn="just">
                <a:lnSpc>
                  <a:spcPct val="250000"/>
                </a:lnSpc>
              </a:pPr>
              <a:r>
                <a:rPr lang="zh-CN" altLang="en-US" sz="1400" dirty="0">
                  <a:solidFill>
                    <a:schemeClr val="bg1"/>
                  </a:solidFill>
                  <a:latin typeface="Arial" panose="020B0604020202020204" pitchFamily="34" charset="0"/>
                  <a:ea typeface="微软雅黑" panose="020B0503020204020204" pitchFamily="34" charset="-122"/>
                  <a:cs typeface="思源黑体旧字形 Light" panose="020B0300000000000000" charset="-128"/>
                  <a:sym typeface="Arial" panose="020B0604020202020204" pitchFamily="34" charset="0"/>
                </a:rPr>
                <a:t>        </a:t>
              </a:r>
              <a:r>
                <a:rPr lang="zh-CN" altLang="en-US" sz="1400" b="1" dirty="0">
                  <a:solidFill>
                    <a:schemeClr val="bg1"/>
                  </a:solidFill>
                  <a:latin typeface="Arial" panose="020B0604020202020204" pitchFamily="34" charset="0"/>
                  <a:ea typeface="微软雅黑" panose="020B0503020204020204" pitchFamily="34" charset="-122"/>
                  <a:cs typeface="思源黑体旧字形 Light" panose="020B0300000000000000" charset="-128"/>
                  <a:sym typeface="Arial" panose="020B0604020202020204" pitchFamily="34" charset="0"/>
                </a:rPr>
                <a:t>规则推理（快路径）</a:t>
              </a:r>
              <a:r>
                <a:rPr lang="zh-CN" altLang="en-US" sz="1400" dirty="0">
                  <a:solidFill>
                    <a:schemeClr val="bg1"/>
                  </a:solidFill>
                  <a:latin typeface="Arial" panose="020B0604020202020204" pitchFamily="34" charset="0"/>
                  <a:ea typeface="微软雅黑" panose="020B0503020204020204" pitchFamily="34" charset="-122"/>
                  <a:cs typeface="思源黑体旧字形 Light" panose="020B0300000000000000" charset="-128"/>
                  <a:sym typeface="Arial" panose="020B0604020202020204" pitchFamily="34" charset="0"/>
                </a:rPr>
                <a:t>：处理紧急情况（水位过低、温度超限），响应时间</a:t>
              </a:r>
              <a:r>
                <a:rPr lang="en-US" altLang="zh-CN" sz="1400" dirty="0">
                  <a:solidFill>
                    <a:schemeClr val="bg1"/>
                  </a:solidFill>
                  <a:latin typeface="Arial" panose="020B0604020202020204" pitchFamily="34" charset="0"/>
                  <a:ea typeface="微软雅黑" panose="020B0503020204020204" pitchFamily="34" charset="-122"/>
                  <a:cs typeface="思源黑体旧字形 Light" panose="020B0300000000000000" charset="-128"/>
                  <a:sym typeface="Arial" panose="020B0604020202020204" pitchFamily="34" charset="0"/>
                </a:rPr>
                <a:t>&lt;1</a:t>
              </a:r>
              <a:r>
                <a:rPr lang="zh-CN" altLang="en-US" sz="1400" dirty="0">
                  <a:solidFill>
                    <a:schemeClr val="bg1"/>
                  </a:solidFill>
                  <a:latin typeface="Arial" panose="020B0604020202020204" pitchFamily="34" charset="0"/>
                  <a:ea typeface="微软雅黑" panose="020B0503020204020204" pitchFamily="34" charset="-122"/>
                  <a:cs typeface="思源黑体旧字形 Light" panose="020B0300000000000000" charset="-128"/>
                  <a:sym typeface="Arial" panose="020B0604020202020204" pitchFamily="34" charset="0"/>
                </a:rPr>
                <a:t>秒</a:t>
              </a:r>
              <a:endParaRPr lang="zh-CN" altLang="en-US" sz="1400" dirty="0">
                <a:solidFill>
                  <a:schemeClr val="bg1"/>
                </a:solidFill>
                <a:latin typeface="Arial" panose="020B0604020202020204" pitchFamily="34" charset="0"/>
                <a:ea typeface="微软雅黑" panose="020B0503020204020204" pitchFamily="34" charset="-122"/>
                <a:cs typeface="思源黑体旧字形 Light" panose="020B0300000000000000" charset="-128"/>
                <a:sym typeface="Arial" panose="020B0604020202020204" pitchFamily="34" charset="0"/>
              </a:endParaRPr>
            </a:p>
            <a:p>
              <a:pPr algn="just">
                <a:lnSpc>
                  <a:spcPct val="250000"/>
                </a:lnSpc>
              </a:pPr>
              <a:r>
                <a:rPr lang="zh-CN" altLang="en-US" sz="1400" dirty="0">
                  <a:solidFill>
                    <a:schemeClr val="bg1"/>
                  </a:solidFill>
                  <a:latin typeface="Arial" panose="020B0604020202020204" pitchFamily="34" charset="0"/>
                  <a:ea typeface="微软雅黑" panose="020B0503020204020204" pitchFamily="34" charset="-122"/>
                  <a:cs typeface="思源黑体旧字形 Light" panose="020B0300000000000000" charset="-128"/>
                  <a:sym typeface="Arial" panose="020B0604020202020204" pitchFamily="34" charset="0"/>
                </a:rPr>
                <a:t>        </a:t>
              </a:r>
              <a:r>
                <a:rPr lang="en-US" altLang="zh-CN" sz="1400" b="1" dirty="0">
                  <a:solidFill>
                    <a:schemeClr val="bg1"/>
                  </a:solidFill>
                  <a:latin typeface="Arial" panose="020B0604020202020204" pitchFamily="34" charset="0"/>
                  <a:ea typeface="微软雅黑" panose="020B0503020204020204" pitchFamily="34" charset="-122"/>
                  <a:cs typeface="思源黑体旧字形 Light" panose="020B0300000000000000" charset="-128"/>
                  <a:sym typeface="Arial" panose="020B0604020202020204" pitchFamily="34" charset="0"/>
                </a:rPr>
                <a:t>LLM</a:t>
              </a:r>
              <a:r>
                <a:rPr lang="zh-CN" altLang="en-US" sz="1400" b="1" dirty="0">
                  <a:solidFill>
                    <a:schemeClr val="bg1"/>
                  </a:solidFill>
                  <a:latin typeface="Arial" panose="020B0604020202020204" pitchFamily="34" charset="0"/>
                  <a:ea typeface="微软雅黑" panose="020B0503020204020204" pitchFamily="34" charset="-122"/>
                  <a:cs typeface="思源黑体旧字形 Light" panose="020B0300000000000000" charset="-128"/>
                  <a:sym typeface="Arial" panose="020B0604020202020204" pitchFamily="34" charset="0"/>
                </a:rPr>
                <a:t>推理（慢路径）</a:t>
              </a:r>
              <a:r>
                <a:rPr lang="zh-CN" altLang="en-US" sz="1400" dirty="0">
                  <a:solidFill>
                    <a:schemeClr val="bg1"/>
                  </a:solidFill>
                  <a:latin typeface="Arial" panose="020B0604020202020204" pitchFamily="34" charset="0"/>
                  <a:ea typeface="微软雅黑" panose="020B0503020204020204" pitchFamily="34" charset="-122"/>
                  <a:cs typeface="思源黑体旧字形 Light" panose="020B0300000000000000" charset="-128"/>
                  <a:sym typeface="Arial" panose="020B0604020202020204" pitchFamily="34" charset="0"/>
                </a:rPr>
                <a:t>：处理复杂决策（投食量计算、综合健康建议），调用大语言模型</a:t>
              </a:r>
              <a:endParaRPr lang="zh-CN" altLang="en-US" sz="1400" dirty="0">
                <a:solidFill>
                  <a:schemeClr val="bg1"/>
                </a:solidFill>
                <a:latin typeface="Arial" panose="020B0604020202020204" pitchFamily="34" charset="0"/>
                <a:ea typeface="微软雅黑" panose="020B0503020204020204" pitchFamily="34" charset="-122"/>
                <a:cs typeface="思源黑体旧字形 Light" panose="020B0300000000000000" charset="-128"/>
                <a:sym typeface="Arial" panose="020B0604020202020204" pitchFamily="34" charset="0"/>
              </a:endParaRPr>
            </a:p>
            <a:p>
              <a:pPr algn="just">
                <a:lnSpc>
                  <a:spcPct val="250000"/>
                </a:lnSpc>
              </a:pPr>
              <a:r>
                <a:rPr lang="zh-CN" altLang="en-US" sz="1400" dirty="0">
                  <a:solidFill>
                    <a:schemeClr val="bg1"/>
                  </a:solidFill>
                  <a:latin typeface="Arial" panose="020B0604020202020204" pitchFamily="34" charset="0"/>
                  <a:ea typeface="微软雅黑" panose="020B0503020204020204" pitchFamily="34" charset="-122"/>
                  <a:cs typeface="思源黑体旧字形 Light" panose="020B0300000000000000" charset="-128"/>
                  <a:sym typeface="Arial" panose="020B0604020202020204" pitchFamily="34" charset="0"/>
                </a:rPr>
                <a:t>        </a:t>
              </a:r>
              <a:r>
                <a:rPr lang="zh-CN" altLang="en-US" sz="1400" b="1" dirty="0">
                  <a:solidFill>
                    <a:schemeClr val="bg1"/>
                  </a:solidFill>
                  <a:latin typeface="Arial" panose="020B0604020202020204" pitchFamily="34" charset="0"/>
                  <a:ea typeface="微软雅黑" panose="020B0503020204020204" pitchFamily="34" charset="-122"/>
                  <a:cs typeface="思源黑体旧字形 Light" panose="020B0300000000000000" charset="-128"/>
                  <a:sym typeface="Arial" panose="020B0604020202020204" pitchFamily="34" charset="0"/>
                </a:rPr>
                <a:t>可信度融合</a:t>
              </a:r>
              <a:r>
                <a:rPr lang="zh-CN" altLang="en-US" sz="1400" dirty="0">
                  <a:solidFill>
                    <a:schemeClr val="bg1"/>
                  </a:solidFill>
                  <a:latin typeface="Arial" panose="020B0604020202020204" pitchFamily="34" charset="0"/>
                  <a:ea typeface="微软雅黑" panose="020B0503020204020204" pitchFamily="34" charset="-122"/>
                  <a:cs typeface="思源黑体旧字形 Light" panose="020B0300000000000000" charset="-128"/>
                  <a:sym typeface="Arial" panose="020B0604020202020204" pitchFamily="34" charset="0"/>
                </a:rPr>
                <a:t>：规则输出</a:t>
              </a:r>
              <a:r>
                <a:rPr lang="en-US" altLang="zh-CN" sz="1400" dirty="0">
                  <a:solidFill>
                    <a:schemeClr val="bg1"/>
                  </a:solidFill>
                  <a:latin typeface="Arial" panose="020B0604020202020204" pitchFamily="34" charset="0"/>
                  <a:ea typeface="微软雅黑" panose="020B0503020204020204" pitchFamily="34" charset="-122"/>
                  <a:cs typeface="思源黑体旧字形 Light" panose="020B0300000000000000" charset="-128"/>
                  <a:sym typeface="Arial" panose="020B0604020202020204" pitchFamily="34" charset="0"/>
                </a:rPr>
                <a:t>CF</a:t>
              </a:r>
              <a:r>
                <a:rPr lang="zh-CN" altLang="en-US" sz="1400" dirty="0">
                  <a:solidFill>
                    <a:schemeClr val="bg1"/>
                  </a:solidFill>
                  <a:latin typeface="Arial" panose="020B0604020202020204" pitchFamily="34" charset="0"/>
                  <a:ea typeface="微软雅黑" panose="020B0503020204020204" pitchFamily="34" charset="-122"/>
                  <a:cs typeface="思源黑体旧字形 Light" panose="020B0300000000000000" charset="-128"/>
                  <a:sym typeface="Arial" panose="020B0604020202020204" pitchFamily="34" charset="0"/>
                </a:rPr>
                <a:t>值与</a:t>
              </a:r>
              <a:r>
                <a:rPr lang="en-US" altLang="zh-CN" sz="1400" dirty="0">
                  <a:solidFill>
                    <a:schemeClr val="bg1"/>
                  </a:solidFill>
                  <a:latin typeface="Arial" panose="020B0604020202020204" pitchFamily="34" charset="0"/>
                  <a:ea typeface="微软雅黑" panose="020B0503020204020204" pitchFamily="34" charset="-122"/>
                  <a:cs typeface="思源黑体旧字形 Light" panose="020B0300000000000000" charset="-128"/>
                  <a:sym typeface="Arial" panose="020B0604020202020204" pitchFamily="34" charset="0"/>
                </a:rPr>
                <a:t>LLM</a:t>
              </a:r>
              <a:r>
                <a:rPr lang="zh-CN" altLang="en-US" sz="1400" dirty="0">
                  <a:solidFill>
                    <a:schemeClr val="bg1"/>
                  </a:solidFill>
                  <a:latin typeface="Arial" panose="020B0604020202020204" pitchFamily="34" charset="0"/>
                  <a:ea typeface="微软雅黑" panose="020B0503020204020204" pitchFamily="34" charset="-122"/>
                  <a:cs typeface="思源黑体旧字形 Light" panose="020B0300000000000000" charset="-128"/>
                  <a:sym typeface="Arial" panose="020B0604020202020204" pitchFamily="34" charset="0"/>
                </a:rPr>
                <a:t>置信度加权综合</a:t>
              </a:r>
              <a:endParaRPr lang="zh-CN" altLang="en-US" sz="1400" dirty="0">
                <a:solidFill>
                  <a:schemeClr val="bg1"/>
                </a:solidFill>
                <a:latin typeface="Arial" panose="020B0604020202020204" pitchFamily="34" charset="0"/>
                <a:ea typeface="微软雅黑" panose="020B0503020204020204" pitchFamily="34" charset="-122"/>
                <a:cs typeface="思源黑体旧字形 Light" panose="020B0300000000000000" charset="-128"/>
                <a:sym typeface="Arial" panose="020B0604020202020204" pitchFamily="34" charset="0"/>
              </a:endParaRPr>
            </a:p>
            <a:p>
              <a:pPr algn="just">
                <a:lnSpc>
                  <a:spcPct val="250000"/>
                </a:lnSpc>
              </a:pPr>
              <a:r>
                <a:rPr lang="zh-CN" altLang="en-US" sz="1400" b="1" dirty="0">
                  <a:solidFill>
                    <a:schemeClr val="bg1"/>
                  </a:solidFill>
                  <a:latin typeface="Arial" panose="020B0604020202020204" pitchFamily="34" charset="0"/>
                  <a:ea typeface="微软雅黑" panose="020B0503020204020204" pitchFamily="34" charset="-122"/>
                  <a:cs typeface="思源黑体旧字形 Light" panose="020B0300000000000000" charset="-128"/>
                  <a:sym typeface="Arial" panose="020B0604020202020204" pitchFamily="34" charset="0"/>
                </a:rPr>
                <a:t>知识库构建</a:t>
              </a:r>
              <a:r>
                <a:rPr lang="zh-CN" altLang="en-US" sz="1400" dirty="0">
                  <a:solidFill>
                    <a:schemeClr val="bg1"/>
                  </a:solidFill>
                  <a:latin typeface="Arial" panose="020B0604020202020204" pitchFamily="34" charset="0"/>
                  <a:ea typeface="微软雅黑" panose="020B0503020204020204" pitchFamily="34" charset="-122"/>
                  <a:cs typeface="思源黑体旧字形 Light" panose="020B0300000000000000" charset="-128"/>
                  <a:sym typeface="Arial" panose="020B0604020202020204" pitchFamily="34" charset="0"/>
                </a:rPr>
                <a:t>：将“适宜水温</a:t>
              </a:r>
              <a:r>
                <a:rPr lang="en-US" altLang="zh-CN" sz="1400" dirty="0">
                  <a:solidFill>
                    <a:schemeClr val="bg1"/>
                  </a:solidFill>
                  <a:latin typeface="Arial" panose="020B0604020202020204" pitchFamily="34" charset="0"/>
                  <a:ea typeface="微软雅黑" panose="020B0503020204020204" pitchFamily="34" charset="-122"/>
                  <a:cs typeface="思源黑体旧字形 Light" panose="020B0300000000000000" charset="-128"/>
                  <a:sym typeface="Arial" panose="020B0604020202020204" pitchFamily="34" charset="0"/>
                </a:rPr>
                <a:t>22-26℃”“pH 6.5-7.5”</a:t>
              </a:r>
              <a:r>
                <a:rPr lang="zh-CN" altLang="en-US" sz="1400" dirty="0">
                  <a:solidFill>
                    <a:schemeClr val="bg1"/>
                  </a:solidFill>
                  <a:latin typeface="Arial" panose="020B0604020202020204" pitchFamily="34" charset="0"/>
                  <a:ea typeface="微软雅黑" panose="020B0503020204020204" pitchFamily="34" charset="-122"/>
                  <a:cs typeface="思源黑体旧字形 Light" panose="020B0300000000000000" charset="-128"/>
                  <a:sym typeface="Arial" panose="020B0604020202020204" pitchFamily="34" charset="0"/>
                </a:rPr>
                <a:t>等养殖知识转化为提示词模板和规则库</a:t>
              </a:r>
              <a:endParaRPr lang="zh-CN" altLang="en-US" sz="1400" dirty="0">
                <a:solidFill>
                  <a:schemeClr val="bg1"/>
                </a:solidFill>
                <a:latin typeface="Arial" panose="020B0604020202020204" pitchFamily="34" charset="0"/>
                <a:ea typeface="微软雅黑" panose="020B0503020204020204" pitchFamily="34" charset="-122"/>
                <a:cs typeface="思源黑体旧字形 Light" panose="020B0300000000000000" charset="-128"/>
                <a:sym typeface="Arial" panose="020B0604020202020204" pitchFamily="34" charset="0"/>
              </a:endParaRPr>
            </a:p>
            <a:p>
              <a:pPr algn="just">
                <a:lnSpc>
                  <a:spcPct val="250000"/>
                </a:lnSpc>
              </a:pPr>
              <a:r>
                <a:rPr lang="zh-CN" altLang="en-US" sz="1400" b="1" dirty="0">
                  <a:solidFill>
                    <a:schemeClr val="bg1"/>
                  </a:solidFill>
                  <a:latin typeface="Arial" panose="020B0604020202020204" pitchFamily="34" charset="0"/>
                  <a:ea typeface="微软雅黑" panose="020B0503020204020204" pitchFamily="34" charset="-122"/>
                  <a:cs typeface="思源黑体旧字形 Light" panose="020B0300000000000000" charset="-128"/>
                  <a:sym typeface="Arial" panose="020B0604020202020204" pitchFamily="34" charset="0"/>
                </a:rPr>
                <a:t>数据存储</a:t>
              </a:r>
              <a:r>
                <a:rPr lang="zh-CN" altLang="en-US" sz="1400" dirty="0">
                  <a:solidFill>
                    <a:schemeClr val="bg1"/>
                  </a:solidFill>
                  <a:latin typeface="Arial" panose="020B0604020202020204" pitchFamily="34" charset="0"/>
                  <a:ea typeface="微软雅黑" panose="020B0503020204020204" pitchFamily="34" charset="-122"/>
                  <a:cs typeface="思源黑体旧字形 Light" panose="020B0300000000000000" charset="-128"/>
                  <a:sym typeface="Arial" panose="020B0604020202020204" pitchFamily="34" charset="0"/>
                </a:rPr>
                <a:t>：时序数据库（</a:t>
              </a:r>
              <a:r>
                <a:rPr lang="en-US" altLang="zh-CN" sz="1400" dirty="0" err="1">
                  <a:solidFill>
                    <a:schemeClr val="bg1"/>
                  </a:solidFill>
                  <a:latin typeface="Arial" panose="020B0604020202020204" pitchFamily="34" charset="0"/>
                  <a:ea typeface="微软雅黑" panose="020B0503020204020204" pitchFamily="34" charset="-122"/>
                  <a:cs typeface="思源黑体旧字形 Light" panose="020B0300000000000000" charset="-128"/>
                  <a:sym typeface="Arial" panose="020B0604020202020204" pitchFamily="34" charset="0"/>
                </a:rPr>
                <a:t>InfluxDB</a:t>
              </a:r>
              <a:r>
                <a:rPr lang="zh-CN" altLang="en-US" sz="1400" dirty="0">
                  <a:solidFill>
                    <a:schemeClr val="bg1"/>
                  </a:solidFill>
                  <a:latin typeface="Arial" panose="020B0604020202020204" pitchFamily="34" charset="0"/>
                  <a:ea typeface="微软雅黑" panose="020B0503020204020204" pitchFamily="34" charset="-122"/>
                  <a:cs typeface="思源黑体旧字形 Light" panose="020B0300000000000000" charset="-128"/>
                  <a:sym typeface="Arial" panose="020B0604020202020204" pitchFamily="34" charset="0"/>
                </a:rPr>
                <a:t>）存储传感器历史，</a:t>
              </a:r>
              <a:r>
                <a:rPr lang="en-US" altLang="zh-CN" sz="1400" dirty="0">
                  <a:solidFill>
                    <a:schemeClr val="bg1"/>
                  </a:solidFill>
                  <a:latin typeface="Arial" panose="020B0604020202020204" pitchFamily="34" charset="0"/>
                  <a:ea typeface="微软雅黑" panose="020B0503020204020204" pitchFamily="34" charset="-122"/>
                  <a:cs typeface="思源黑体旧字形 Light" panose="020B0300000000000000" charset="-128"/>
                  <a:sym typeface="Arial" panose="020B0604020202020204" pitchFamily="34" charset="0"/>
                </a:rPr>
                <a:t>PostgreSQL</a:t>
              </a:r>
              <a:r>
                <a:rPr lang="zh-CN" altLang="en-US" sz="1400" dirty="0">
                  <a:solidFill>
                    <a:schemeClr val="bg1"/>
                  </a:solidFill>
                  <a:latin typeface="Arial" panose="020B0604020202020204" pitchFamily="34" charset="0"/>
                  <a:ea typeface="微软雅黑" panose="020B0503020204020204" pitchFamily="34" charset="-122"/>
                  <a:cs typeface="思源黑体旧字形 Light" panose="020B0300000000000000" charset="-128"/>
                  <a:sym typeface="Arial" panose="020B0604020202020204" pitchFamily="34" charset="0"/>
                </a:rPr>
                <a:t>存储用户操作记录</a:t>
              </a:r>
              <a:endParaRPr lang="zh-CN" altLang="en-US" sz="140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grpSp>
      <p:sp>
        <p:nvSpPr>
          <p:cNvPr id="3" name="文本框 2"/>
          <p:cNvSpPr txBox="1"/>
          <p:nvPr/>
        </p:nvSpPr>
        <p:spPr>
          <a:xfrm>
            <a:off x="919480" y="6113780"/>
            <a:ext cx="2541905" cy="275590"/>
          </a:xfrm>
          <a:prstGeom prst="rect">
            <a:avLst/>
          </a:prstGeom>
          <a:noFill/>
        </p:spPr>
        <p:txBody>
          <a:bodyPr wrap="square" rtlCol="0">
            <a:spAutoFit/>
          </a:bodyPr>
          <a:lstStyle/>
          <a:p>
            <a:r>
              <a:rPr lang="zh-CN" altLang="en-US" sz="1200" b="1">
                <a:solidFill>
                  <a:srgbClr val="004C9E"/>
                </a:solidFill>
                <a:latin typeface="微软雅黑" panose="020B0503020204020204" pitchFamily="34" charset="-122"/>
                <a:ea typeface="微软雅黑" panose="020B0503020204020204" pitchFamily="34" charset="-122"/>
                <a:cs typeface="微软雅黑" panose="020B0503020204020204" pitchFamily="34" charset="-122"/>
              </a:rPr>
              <a:t>耐劳苦</a:t>
            </a:r>
            <a:r>
              <a:rPr lang="en-US" altLang="zh-CN" sz="1200" b="1">
                <a:solidFill>
                  <a:srgbClr val="004C9E"/>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200" b="1">
                <a:solidFill>
                  <a:srgbClr val="004C9E"/>
                </a:solidFill>
                <a:latin typeface="微软雅黑" panose="020B0503020204020204" pitchFamily="34" charset="-122"/>
                <a:ea typeface="微软雅黑" panose="020B0503020204020204" pitchFamily="34" charset="-122"/>
                <a:cs typeface="微软雅黑" panose="020B0503020204020204" pitchFamily="34" charset="-122"/>
              </a:rPr>
              <a:t>尚俭朴</a:t>
            </a:r>
            <a:r>
              <a:rPr lang="en-US" altLang="zh-CN" sz="1200" b="1">
                <a:solidFill>
                  <a:srgbClr val="004C9E"/>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200" b="1">
                <a:solidFill>
                  <a:srgbClr val="004C9E"/>
                </a:solidFill>
                <a:latin typeface="微软雅黑" panose="020B0503020204020204" pitchFamily="34" charset="-122"/>
                <a:ea typeface="微软雅黑" panose="020B0503020204020204" pitchFamily="34" charset="-122"/>
                <a:cs typeface="微软雅黑" panose="020B0503020204020204" pitchFamily="34" charset="-122"/>
              </a:rPr>
              <a:t>勤学业</a:t>
            </a:r>
            <a:r>
              <a:rPr lang="en-US" altLang="zh-CN" sz="1200" b="1">
                <a:solidFill>
                  <a:srgbClr val="004C9E"/>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200" b="1">
                <a:solidFill>
                  <a:srgbClr val="004C9E"/>
                </a:solidFill>
                <a:latin typeface="微软雅黑" panose="020B0503020204020204" pitchFamily="34" charset="-122"/>
                <a:ea typeface="微软雅黑" panose="020B0503020204020204" pitchFamily="34" charset="-122"/>
                <a:cs typeface="微软雅黑" panose="020B0503020204020204" pitchFamily="34" charset="-122"/>
              </a:rPr>
              <a:t>爱国家</a:t>
            </a:r>
            <a:endParaRPr lang="zh-CN" altLang="en-US" sz="1200" b="1">
              <a:solidFill>
                <a:srgbClr val="004C9E"/>
              </a:solidFill>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11" name="图片 10" descr="校徽"/>
          <p:cNvPicPr>
            <a:picLocks noChangeAspect="1"/>
          </p:cNvPicPr>
          <p:nvPr/>
        </p:nvPicPr>
        <p:blipFill>
          <a:blip r:embed="rId7"/>
          <a:stretch>
            <a:fillRect/>
          </a:stretch>
        </p:blipFill>
        <p:spPr>
          <a:xfrm>
            <a:off x="10127615" y="5844540"/>
            <a:ext cx="1259840" cy="397510"/>
          </a:xfrm>
          <a:prstGeom prst="rect">
            <a:avLst/>
          </a:prstGeom>
        </p:spPr>
      </p:pic>
      <p:sp>
        <p:nvSpPr>
          <p:cNvPr id="44" name="文本框 43"/>
          <p:cNvSpPr txBox="1"/>
          <p:nvPr/>
        </p:nvSpPr>
        <p:spPr>
          <a:xfrm>
            <a:off x="9311188" y="1916190"/>
            <a:ext cx="1261872" cy="338554"/>
          </a:xfrm>
          <a:prstGeom prst="rect">
            <a:avLst/>
          </a:prstGeom>
          <a:noFill/>
        </p:spPr>
        <p:txBody>
          <a:bodyPr wrap="square" rtlCol="0">
            <a:spAutoFit/>
          </a:bodyPr>
          <a:lstStyle/>
          <a:p>
            <a:r>
              <a:rPr lang="zh-CN" altLang="en-US" sz="1600" b="1" i="0" dirty="0">
                <a:solidFill>
                  <a:schemeClr val="bg1"/>
                </a:solidFill>
                <a:effectLst/>
                <a:latin typeface="Menlo"/>
              </a:rPr>
              <a:t>传感器数据</a:t>
            </a:r>
            <a:endParaRPr lang="zh-CN" altLang="en-US" sz="1600" b="1" dirty="0">
              <a:solidFill>
                <a:schemeClr val="bg1"/>
              </a:solidFill>
            </a:endParaRPr>
          </a:p>
        </p:txBody>
      </p:sp>
      <p:sp>
        <p:nvSpPr>
          <p:cNvPr id="48" name="文本框 47"/>
          <p:cNvSpPr txBox="1"/>
          <p:nvPr/>
        </p:nvSpPr>
        <p:spPr>
          <a:xfrm>
            <a:off x="9311188" y="2495280"/>
            <a:ext cx="1261872" cy="584775"/>
          </a:xfrm>
          <a:prstGeom prst="rect">
            <a:avLst/>
          </a:prstGeom>
          <a:noFill/>
        </p:spPr>
        <p:txBody>
          <a:bodyPr wrap="square" rtlCol="0">
            <a:spAutoFit/>
          </a:bodyPr>
          <a:lstStyle/>
          <a:p>
            <a:r>
              <a:rPr lang="zh-CN" altLang="en-US" sz="1600" b="1" i="0" dirty="0">
                <a:solidFill>
                  <a:schemeClr val="bg1"/>
                </a:solidFill>
                <a:effectLst/>
                <a:latin typeface="Menlo"/>
              </a:rPr>
              <a:t> 规则匹配（紧急？）</a:t>
            </a:r>
            <a:endParaRPr lang="zh-CN" altLang="en-US" sz="1600" b="1" dirty="0">
              <a:solidFill>
                <a:schemeClr val="bg1"/>
              </a:solidFill>
            </a:endParaRPr>
          </a:p>
        </p:txBody>
      </p:sp>
      <p:sp>
        <p:nvSpPr>
          <p:cNvPr id="49" name="文本框 48"/>
          <p:cNvSpPr txBox="1"/>
          <p:nvPr/>
        </p:nvSpPr>
        <p:spPr>
          <a:xfrm>
            <a:off x="8787650" y="4146651"/>
            <a:ext cx="1076381" cy="338554"/>
          </a:xfrm>
          <a:prstGeom prst="rect">
            <a:avLst/>
          </a:prstGeom>
          <a:noFill/>
        </p:spPr>
        <p:txBody>
          <a:bodyPr wrap="square" rtlCol="0">
            <a:spAutoFit/>
          </a:bodyPr>
          <a:lstStyle/>
          <a:p>
            <a:pPr algn="ctr"/>
            <a:r>
              <a:rPr lang="zh-CN" altLang="en-US" sz="1600" b="1" i="0" dirty="0">
                <a:solidFill>
                  <a:schemeClr val="bg1"/>
                </a:solidFill>
                <a:effectLst/>
                <a:latin typeface="Menlo"/>
              </a:rPr>
              <a:t>直接执行</a:t>
            </a:r>
            <a:endParaRPr lang="zh-CN" altLang="en-US" sz="1600" b="1" dirty="0">
              <a:solidFill>
                <a:schemeClr val="bg1"/>
              </a:solidFill>
            </a:endParaRPr>
          </a:p>
        </p:txBody>
      </p:sp>
      <p:sp>
        <p:nvSpPr>
          <p:cNvPr id="50" name="文本框 49"/>
          <p:cNvSpPr txBox="1"/>
          <p:nvPr/>
        </p:nvSpPr>
        <p:spPr>
          <a:xfrm>
            <a:off x="10008797" y="4128550"/>
            <a:ext cx="1076381" cy="338554"/>
          </a:xfrm>
          <a:prstGeom prst="rect">
            <a:avLst/>
          </a:prstGeom>
          <a:noFill/>
        </p:spPr>
        <p:txBody>
          <a:bodyPr wrap="square" rtlCol="0">
            <a:spAutoFit/>
          </a:bodyPr>
          <a:lstStyle/>
          <a:p>
            <a:pPr algn="ctr"/>
            <a:r>
              <a:rPr lang="en-US" altLang="zh-CN" sz="1600" b="1" i="0" dirty="0">
                <a:solidFill>
                  <a:schemeClr val="bg1"/>
                </a:solidFill>
                <a:effectLst/>
                <a:latin typeface="Menlo"/>
              </a:rPr>
              <a:t>LLM</a:t>
            </a:r>
            <a:r>
              <a:rPr lang="zh-CN" altLang="en-US" sz="1600" b="1" i="0" dirty="0">
                <a:solidFill>
                  <a:schemeClr val="bg1"/>
                </a:solidFill>
                <a:effectLst/>
                <a:latin typeface="Menlo"/>
              </a:rPr>
              <a:t>推理</a:t>
            </a:r>
            <a:endParaRPr lang="zh-CN" altLang="en-US" sz="1600" b="1" dirty="0">
              <a:solidFill>
                <a:schemeClr val="bg1"/>
              </a:solidFill>
            </a:endParaRPr>
          </a:p>
        </p:txBody>
      </p:sp>
      <p:cxnSp>
        <p:nvCxnSpPr>
          <p:cNvPr id="5" name="直接连接符 4"/>
          <p:cNvCxnSpPr/>
          <p:nvPr/>
        </p:nvCxnSpPr>
        <p:spPr>
          <a:xfrm>
            <a:off x="8604504" y="1649070"/>
            <a:ext cx="16676" cy="3358845"/>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3" name="直接箭头连接符 12"/>
          <p:cNvCxnSpPr>
            <a:stCxn id="44" idx="2"/>
            <a:endCxn id="48" idx="0"/>
          </p:cNvCxnSpPr>
          <p:nvPr/>
        </p:nvCxnSpPr>
        <p:spPr>
          <a:xfrm>
            <a:off x="9942124" y="2254744"/>
            <a:ext cx="0" cy="240536"/>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51" name="直接箭头连接符 50"/>
          <p:cNvCxnSpPr>
            <a:stCxn id="48" idx="2"/>
            <a:endCxn id="49" idx="0"/>
          </p:cNvCxnSpPr>
          <p:nvPr/>
        </p:nvCxnSpPr>
        <p:spPr>
          <a:xfrm flipH="1">
            <a:off x="9325841" y="3080055"/>
            <a:ext cx="616283" cy="1066596"/>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52" name="直接箭头连接符 51"/>
          <p:cNvCxnSpPr>
            <a:stCxn id="48" idx="2"/>
            <a:endCxn id="50" idx="0"/>
          </p:cNvCxnSpPr>
          <p:nvPr/>
        </p:nvCxnSpPr>
        <p:spPr>
          <a:xfrm>
            <a:off x="9942124" y="3080055"/>
            <a:ext cx="604864" cy="1048495"/>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53" name="文本框 52"/>
          <p:cNvSpPr txBox="1"/>
          <p:nvPr/>
        </p:nvSpPr>
        <p:spPr>
          <a:xfrm>
            <a:off x="9259168" y="3380204"/>
            <a:ext cx="385791" cy="338554"/>
          </a:xfrm>
          <a:prstGeom prst="rect">
            <a:avLst/>
          </a:prstGeom>
          <a:noFill/>
        </p:spPr>
        <p:txBody>
          <a:bodyPr wrap="square" rtlCol="0">
            <a:spAutoFit/>
          </a:bodyPr>
          <a:lstStyle/>
          <a:p>
            <a:pPr algn="ctr"/>
            <a:r>
              <a:rPr lang="en-US" altLang="zh-CN" sz="1600" b="1" i="0" dirty="0">
                <a:solidFill>
                  <a:schemeClr val="bg1"/>
                </a:solidFill>
                <a:effectLst/>
                <a:latin typeface="Menlo"/>
              </a:rPr>
              <a:t>Y</a:t>
            </a:r>
            <a:endParaRPr lang="zh-CN" altLang="en-US" sz="1600" b="1" dirty="0">
              <a:solidFill>
                <a:schemeClr val="bg1"/>
              </a:solidFill>
            </a:endParaRPr>
          </a:p>
        </p:txBody>
      </p:sp>
      <p:sp>
        <p:nvSpPr>
          <p:cNvPr id="54" name="文本框 53"/>
          <p:cNvSpPr txBox="1"/>
          <p:nvPr/>
        </p:nvSpPr>
        <p:spPr>
          <a:xfrm>
            <a:off x="10278495" y="3384499"/>
            <a:ext cx="385791" cy="338554"/>
          </a:xfrm>
          <a:prstGeom prst="rect">
            <a:avLst/>
          </a:prstGeom>
          <a:noFill/>
        </p:spPr>
        <p:txBody>
          <a:bodyPr wrap="square" rtlCol="0">
            <a:spAutoFit/>
          </a:bodyPr>
          <a:lstStyle/>
          <a:p>
            <a:pPr algn="ctr"/>
            <a:r>
              <a:rPr lang="en-US" altLang="zh-CN" sz="1600" b="1" i="0" dirty="0">
                <a:solidFill>
                  <a:schemeClr val="bg1"/>
                </a:solidFill>
                <a:effectLst/>
                <a:latin typeface="Menlo"/>
              </a:rPr>
              <a:t>N</a:t>
            </a:r>
            <a:endParaRPr lang="zh-CN" altLang="en-US" sz="1600" b="1" dirty="0">
              <a:solidFill>
                <a:schemeClr val="bg1"/>
              </a:solidFill>
            </a:endParaRPr>
          </a:p>
        </p:txBody>
      </p:sp>
      <p:sp>
        <p:nvSpPr>
          <p:cNvPr id="55" name="文本框 54"/>
          <p:cNvSpPr txBox="1"/>
          <p:nvPr/>
        </p:nvSpPr>
        <p:spPr>
          <a:xfrm>
            <a:off x="9407703" y="4738594"/>
            <a:ext cx="1076381" cy="338554"/>
          </a:xfrm>
          <a:prstGeom prst="rect">
            <a:avLst/>
          </a:prstGeom>
          <a:noFill/>
        </p:spPr>
        <p:txBody>
          <a:bodyPr wrap="square" rtlCol="0">
            <a:spAutoFit/>
          </a:bodyPr>
          <a:lstStyle/>
          <a:p>
            <a:pPr algn="ctr"/>
            <a:r>
              <a:rPr lang="zh-CN" altLang="en-US" sz="1600" b="1" i="0" dirty="0">
                <a:solidFill>
                  <a:schemeClr val="bg1"/>
                </a:solidFill>
                <a:effectLst/>
                <a:latin typeface="Menlo"/>
              </a:rPr>
              <a:t>输出决策</a:t>
            </a:r>
            <a:endParaRPr lang="zh-CN" altLang="en-US" sz="1600" b="1" dirty="0">
              <a:solidFill>
                <a:schemeClr val="bg1"/>
              </a:solidFill>
            </a:endParaRPr>
          </a:p>
        </p:txBody>
      </p:sp>
      <p:cxnSp>
        <p:nvCxnSpPr>
          <p:cNvPr id="57" name="直接箭头连接符 56"/>
          <p:cNvCxnSpPr>
            <a:stCxn id="49" idx="2"/>
            <a:endCxn id="55" idx="0"/>
          </p:cNvCxnSpPr>
          <p:nvPr/>
        </p:nvCxnSpPr>
        <p:spPr>
          <a:xfrm>
            <a:off x="9325841" y="4485205"/>
            <a:ext cx="620053" cy="253389"/>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58" name="直接箭头连接符 57"/>
          <p:cNvCxnSpPr>
            <a:stCxn id="50" idx="2"/>
            <a:endCxn id="55" idx="0"/>
          </p:cNvCxnSpPr>
          <p:nvPr/>
        </p:nvCxnSpPr>
        <p:spPr>
          <a:xfrm flipH="1">
            <a:off x="9945894" y="4467104"/>
            <a:ext cx="601094" cy="27149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67" name="文本框 66"/>
          <p:cNvSpPr txBox="1"/>
          <p:nvPr/>
        </p:nvSpPr>
        <p:spPr>
          <a:xfrm>
            <a:off x="1189862" y="553085"/>
            <a:ext cx="2001520" cy="400110"/>
          </a:xfrm>
          <a:prstGeom prst="rect">
            <a:avLst/>
          </a:prstGeom>
          <a:noFill/>
        </p:spPr>
        <p:txBody>
          <a:bodyPr wrap="square" rtlCol="0">
            <a:spAutoFit/>
          </a:bodyPr>
          <a:lstStyle/>
          <a:p>
            <a:pPr algn="ctr"/>
            <a:r>
              <a:rPr lang="zh-CN" altLang="en-US" sz="2000" b="1" dirty="0">
                <a:solidFill>
                  <a:srgbClr val="A6A6A6"/>
                </a:solidFill>
                <a:latin typeface="微软雅黑" panose="020B0503020204020204" pitchFamily="34" charset="-122"/>
                <a:ea typeface="微软雅黑" panose="020B0503020204020204" pitchFamily="34" charset="-122"/>
              </a:rPr>
              <a:t>立项背景及意义</a:t>
            </a:r>
            <a:endParaRPr lang="zh-CN" altLang="en-US" sz="2000" b="1" dirty="0">
              <a:solidFill>
                <a:srgbClr val="A6A6A6"/>
              </a:solidFill>
              <a:latin typeface="微软雅黑" panose="020B0503020204020204" pitchFamily="34" charset="-122"/>
              <a:ea typeface="微软雅黑" panose="020B0503020204020204" pitchFamily="34" charset="-122"/>
            </a:endParaRPr>
          </a:p>
        </p:txBody>
      </p:sp>
      <p:sp>
        <p:nvSpPr>
          <p:cNvPr id="68" name="文本框 67"/>
          <p:cNvSpPr txBox="1"/>
          <p:nvPr/>
        </p:nvSpPr>
        <p:spPr>
          <a:xfrm>
            <a:off x="3135865" y="553085"/>
            <a:ext cx="2001520" cy="400110"/>
          </a:xfrm>
          <a:prstGeom prst="rect">
            <a:avLst/>
          </a:prstGeom>
          <a:noFill/>
        </p:spPr>
        <p:txBody>
          <a:bodyPr wrap="square" rtlCol="0">
            <a:spAutoFit/>
          </a:bodyPr>
          <a:lstStyle/>
          <a:p>
            <a:pPr algn="ctr"/>
            <a:r>
              <a:rPr lang="zh-CN" altLang="en-US" sz="2000" b="1" dirty="0">
                <a:solidFill>
                  <a:srgbClr val="004C9E"/>
                </a:solidFill>
                <a:latin typeface="微软雅黑" panose="020B0503020204020204" pitchFamily="34" charset="-122"/>
                <a:ea typeface="微软雅黑" panose="020B0503020204020204" pitchFamily="34" charset="-122"/>
              </a:rPr>
              <a:t>研究内容</a:t>
            </a:r>
            <a:endParaRPr lang="zh-CN" altLang="en-US" sz="2000" b="1" dirty="0">
              <a:solidFill>
                <a:srgbClr val="004C9E"/>
              </a:solidFill>
              <a:latin typeface="微软雅黑" panose="020B0503020204020204" pitchFamily="34" charset="-122"/>
              <a:ea typeface="微软雅黑" panose="020B0503020204020204" pitchFamily="34" charset="-122"/>
            </a:endParaRPr>
          </a:p>
        </p:txBody>
      </p:sp>
      <p:sp>
        <p:nvSpPr>
          <p:cNvPr id="69" name="文本框 68"/>
          <p:cNvSpPr txBox="1"/>
          <p:nvPr/>
        </p:nvSpPr>
        <p:spPr>
          <a:xfrm>
            <a:off x="5161828" y="553085"/>
            <a:ext cx="2001520" cy="400110"/>
          </a:xfrm>
          <a:prstGeom prst="rect">
            <a:avLst/>
          </a:prstGeom>
          <a:noFill/>
        </p:spPr>
        <p:txBody>
          <a:bodyPr wrap="square" rtlCol="0">
            <a:spAutoFit/>
          </a:bodyPr>
          <a:lstStyle/>
          <a:p>
            <a:pPr algn="ctr"/>
            <a:r>
              <a:rPr lang="zh-CN" altLang="en-US" sz="2000" b="1" dirty="0">
                <a:solidFill>
                  <a:schemeClr val="bg1">
                    <a:lumMod val="65000"/>
                  </a:schemeClr>
                </a:solidFill>
                <a:latin typeface="微软雅黑" panose="020B0503020204020204" pitchFamily="34" charset="-122"/>
                <a:ea typeface="微软雅黑" panose="020B0503020204020204" pitchFamily="34" charset="-122"/>
              </a:rPr>
              <a:t>拟采用技术路线</a:t>
            </a:r>
            <a:endParaRPr lang="zh-CN" altLang="en-US" sz="2000" b="1" dirty="0">
              <a:solidFill>
                <a:schemeClr val="bg1">
                  <a:lumMod val="65000"/>
                </a:schemeClr>
              </a:solidFill>
              <a:latin typeface="微软雅黑" panose="020B0503020204020204" pitchFamily="34" charset="-122"/>
              <a:ea typeface="微软雅黑" panose="020B0503020204020204" pitchFamily="34" charset="-122"/>
            </a:endParaRPr>
          </a:p>
        </p:txBody>
      </p:sp>
      <p:sp>
        <p:nvSpPr>
          <p:cNvPr id="70" name="等腰三角形 69"/>
          <p:cNvSpPr/>
          <p:nvPr/>
        </p:nvSpPr>
        <p:spPr>
          <a:xfrm rot="5400000">
            <a:off x="3349256" y="669975"/>
            <a:ext cx="192943" cy="166330"/>
          </a:xfrm>
          <a:prstGeom prst="triangle">
            <a:avLst/>
          </a:prstGeom>
          <a:solidFill>
            <a:srgbClr val="004C9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 name="文本框 70"/>
          <p:cNvSpPr txBox="1"/>
          <p:nvPr/>
        </p:nvSpPr>
        <p:spPr>
          <a:xfrm>
            <a:off x="6873124" y="553085"/>
            <a:ext cx="2755901" cy="398780"/>
          </a:xfrm>
          <a:prstGeom prst="rect">
            <a:avLst/>
          </a:prstGeom>
          <a:noFill/>
        </p:spPr>
        <p:txBody>
          <a:bodyPr wrap="square" rtlCol="0">
            <a:spAutoFit/>
          </a:bodyPr>
          <a:lstStyle/>
          <a:p>
            <a:pPr algn="ctr"/>
            <a:r>
              <a:rPr lang="zh-CN" altLang="en-US" sz="2000" b="1" dirty="0">
                <a:solidFill>
                  <a:schemeClr val="bg1">
                    <a:lumMod val="65000"/>
                  </a:schemeClr>
                </a:solidFill>
                <a:latin typeface="微软雅黑" panose="020B0503020204020204" pitchFamily="34" charset="-122"/>
                <a:ea typeface="微软雅黑" panose="020B0503020204020204" pitchFamily="34" charset="-122"/>
              </a:rPr>
              <a:t>创新与特点</a:t>
            </a:r>
            <a:endParaRPr lang="zh-CN" altLang="en-US" sz="2000" b="1" dirty="0">
              <a:solidFill>
                <a:schemeClr val="bg1">
                  <a:lumMod val="65000"/>
                </a:schemeClr>
              </a:solidFill>
              <a:latin typeface="微软雅黑" panose="020B0503020204020204" pitchFamily="34" charset="-122"/>
              <a:ea typeface="微软雅黑" panose="020B0503020204020204" pitchFamily="34" charset="-122"/>
            </a:endParaRPr>
          </a:p>
        </p:txBody>
      </p:sp>
      <p:sp>
        <p:nvSpPr>
          <p:cNvPr id="72" name="文本框 71"/>
          <p:cNvSpPr txBox="1"/>
          <p:nvPr/>
        </p:nvSpPr>
        <p:spPr>
          <a:xfrm>
            <a:off x="9102720" y="553085"/>
            <a:ext cx="2755901" cy="398780"/>
          </a:xfrm>
          <a:prstGeom prst="rect">
            <a:avLst/>
          </a:prstGeom>
          <a:noFill/>
        </p:spPr>
        <p:txBody>
          <a:bodyPr wrap="square" rtlCol="0">
            <a:spAutoFit/>
          </a:bodyPr>
          <a:lstStyle/>
          <a:p>
            <a:pPr algn="ctr"/>
            <a:r>
              <a:rPr lang="zh-CN" altLang="en-US" sz="2000" b="1" dirty="0">
                <a:solidFill>
                  <a:schemeClr val="bg1">
                    <a:lumMod val="65000"/>
                  </a:schemeClr>
                </a:solidFill>
                <a:latin typeface="微软雅黑" panose="020B0503020204020204" pitchFamily="34" charset="-122"/>
                <a:ea typeface="微软雅黑" panose="020B0503020204020204" pitchFamily="34" charset="-122"/>
              </a:rPr>
              <a:t>时间安排计划</a:t>
            </a:r>
            <a:endParaRPr lang="zh-CN" altLang="en-US" sz="2000" b="1" dirty="0">
              <a:solidFill>
                <a:schemeClr val="bg1">
                  <a:lumMod val="65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2"/>
                                        </p:tgtEl>
                                        <p:attrNameLst>
                                          <p:attrName>style.visibility</p:attrName>
                                        </p:attrNameLst>
                                      </p:cBhvr>
                                      <p:to>
                                        <p:strVal val="visible"/>
                                      </p:to>
                                    </p:set>
                                    <p:animEffect transition="in" filter="fade">
                                      <p:cBhvr>
                                        <p:cTn id="7" dur="5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直角三角形 20"/>
          <p:cNvSpPr/>
          <p:nvPr/>
        </p:nvSpPr>
        <p:spPr>
          <a:xfrm>
            <a:off x="0" y="3165895"/>
            <a:ext cx="3692105" cy="3692105"/>
          </a:xfrm>
          <a:prstGeom prst="rtTriangle">
            <a:avLst/>
          </a:prstGeom>
          <a:solidFill>
            <a:srgbClr val="004C9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04B9D"/>
              </a:solidFill>
            </a:endParaRPr>
          </a:p>
        </p:txBody>
      </p:sp>
      <p:sp>
        <p:nvSpPr>
          <p:cNvPr id="20" name="直角三角形 19"/>
          <p:cNvSpPr/>
          <p:nvPr/>
        </p:nvSpPr>
        <p:spPr>
          <a:xfrm rot="10800000">
            <a:off x="8499895" y="0"/>
            <a:ext cx="3692105" cy="3692105"/>
          </a:xfrm>
          <a:prstGeom prst="rtTriangle">
            <a:avLst/>
          </a:prstGeom>
          <a:solidFill>
            <a:srgbClr val="004B9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5" name="组合 34"/>
          <p:cNvGrpSpPr/>
          <p:nvPr/>
        </p:nvGrpSpPr>
        <p:grpSpPr>
          <a:xfrm>
            <a:off x="490537" y="472440"/>
            <a:ext cx="11210925" cy="6019800"/>
            <a:chOff x="490484" y="441960"/>
            <a:chExt cx="11211033" cy="6019801"/>
          </a:xfrm>
        </p:grpSpPr>
        <p:pic>
          <p:nvPicPr>
            <p:cNvPr id="36" name="图片 35"/>
            <p:cNvPicPr>
              <a:picLocks noChangeAspect="1"/>
            </p:cNvPicPr>
            <p:nvPr userDrawn="1"/>
          </p:nvPicPr>
          <p:blipFill rotWithShape="1">
            <a:blip r:embed="rId1">
              <a:extLst>
                <a:ext uri="{28A0092B-C50C-407E-A947-70E740481C1C}">
                  <a14:useLocalDpi xmlns:a14="http://schemas.microsoft.com/office/drawing/2010/main" val="0"/>
                </a:ext>
              </a:extLst>
            </a:blip>
            <a:srcRect l="1515" t="4277" r="530" b="14319"/>
            <a:stretch>
              <a:fillRect/>
            </a:stretch>
          </p:blipFill>
          <p:spPr>
            <a:xfrm>
              <a:off x="490484" y="441960"/>
              <a:ext cx="11211033" cy="6019801"/>
            </a:xfrm>
            <a:prstGeom prst="rect">
              <a:avLst/>
            </a:prstGeom>
            <a:effectLst>
              <a:outerShdw blurRad="355600" dist="139700" dir="2700000" algn="tl" rotWithShape="0">
                <a:prstClr val="black">
                  <a:alpha val="61000"/>
                </a:prstClr>
              </a:outerShdw>
            </a:effectLst>
          </p:spPr>
        </p:pic>
        <p:sp>
          <p:nvSpPr>
            <p:cNvPr id="37" name="矩形 36"/>
            <p:cNvSpPr/>
            <p:nvPr userDrawn="1"/>
          </p:nvSpPr>
          <p:spPr>
            <a:xfrm>
              <a:off x="490484" y="441960"/>
              <a:ext cx="11211032" cy="6019801"/>
            </a:xfrm>
            <a:prstGeom prst="rect">
              <a:avLst/>
            </a:prstGeom>
            <a:solidFill>
              <a:srgbClr val="FFFEF7">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400" b="1" dirty="0">
                <a:solidFill>
                  <a:srgbClr val="004C9E"/>
                </a:solidFill>
                <a:latin typeface="微软雅黑" panose="020B0503020204020204" pitchFamily="34" charset="-122"/>
                <a:ea typeface="微软雅黑" panose="020B0503020204020204" pitchFamily="34" charset="-122"/>
              </a:endParaRPr>
            </a:p>
          </p:txBody>
        </p:sp>
      </p:grpSp>
      <p:cxnSp>
        <p:nvCxnSpPr>
          <p:cNvPr id="43" name="直接连接符 42"/>
          <p:cNvCxnSpPr/>
          <p:nvPr/>
        </p:nvCxnSpPr>
        <p:spPr>
          <a:xfrm>
            <a:off x="899088" y="6096082"/>
            <a:ext cx="9058311" cy="4300"/>
          </a:xfrm>
          <a:prstGeom prst="line">
            <a:avLst/>
          </a:prstGeom>
        </p:spPr>
        <p:style>
          <a:lnRef idx="1">
            <a:schemeClr val="accent1"/>
          </a:lnRef>
          <a:fillRef idx="0">
            <a:schemeClr val="accent1"/>
          </a:fillRef>
          <a:effectRef idx="0">
            <a:schemeClr val="accent1"/>
          </a:effectRef>
          <a:fontRef idx="minor">
            <a:schemeClr val="tx1"/>
          </a:fontRef>
        </p:style>
      </p:cxnSp>
      <p:grpSp>
        <p:nvGrpSpPr>
          <p:cNvPr id="42" name="图形"/>
          <p:cNvGrpSpPr/>
          <p:nvPr/>
        </p:nvGrpSpPr>
        <p:grpSpPr>
          <a:xfrm>
            <a:off x="1132628" y="1225297"/>
            <a:ext cx="10254995" cy="4367065"/>
            <a:chOff x="9751" y="2947"/>
            <a:chExt cx="8790" cy="6956"/>
          </a:xfrm>
        </p:grpSpPr>
        <p:sp>
          <p:nvSpPr>
            <p:cNvPr id="45" name="图形"/>
            <p:cNvSpPr txBox="1"/>
            <p:nvPr>
              <p:custDataLst>
                <p:tags r:id="rId2"/>
              </p:custDataLst>
            </p:nvPr>
          </p:nvSpPr>
          <p:spPr>
            <a:xfrm>
              <a:off x="9941" y="3244"/>
              <a:ext cx="3640" cy="636"/>
            </a:xfrm>
            <a:prstGeom prst="rect">
              <a:avLst/>
            </a:prstGeom>
            <a:noFill/>
          </p:spPr>
          <p:txBody>
            <a:bodyPr wrap="none" lIns="0" tIns="0" rIns="0" bIns="0" rtlCol="0">
              <a:spAutoFit/>
            </a:bodyPr>
            <a:lstStyle/>
            <a:p>
              <a:r>
                <a:rPr lang="zh-CN" altLang="en-US" sz="2000" b="1" dirty="0">
                  <a:solidFill>
                    <a:srgbClr val="F9F9F9"/>
                  </a:solidFill>
                  <a:latin typeface="Arial" panose="020B0604020202020204" pitchFamily="34" charset="0"/>
                  <a:ea typeface="微软雅黑" panose="020B0503020204020204" pitchFamily="34" charset="-122"/>
                  <a:cs typeface="+mn-ea"/>
                  <a:sym typeface="Arial" panose="020B0604020202020204" pitchFamily="34" charset="0"/>
                </a:rPr>
                <a:t>任务</a:t>
              </a:r>
              <a:r>
                <a:rPr lang="en-US" altLang="zh-CN" sz="2000" b="1" dirty="0">
                  <a:solidFill>
                    <a:srgbClr val="F9F9F9"/>
                  </a:solidFill>
                  <a:latin typeface="Arial" panose="020B0604020202020204" pitchFamily="34" charset="0"/>
                  <a:ea typeface="微软雅黑" panose="020B0503020204020204" pitchFamily="34" charset="-122"/>
                  <a:cs typeface="+mn-ea"/>
                  <a:sym typeface="Arial" panose="020B0604020202020204" pitchFamily="34" charset="0"/>
                </a:rPr>
                <a:t>2</a:t>
              </a:r>
              <a:r>
                <a:rPr lang="zh-CN" altLang="en-US" sz="2000" b="1" dirty="0">
                  <a:solidFill>
                    <a:srgbClr val="F9F9F9"/>
                  </a:solidFill>
                  <a:latin typeface="Arial" panose="020B0604020202020204" pitchFamily="34" charset="0"/>
                  <a:ea typeface="微软雅黑" panose="020B0503020204020204" pitchFamily="34" charset="-122"/>
                  <a:cs typeface="+mn-ea"/>
                  <a:sym typeface="Arial" panose="020B0604020202020204" pitchFamily="34" charset="0"/>
                </a:rPr>
                <a:t>：基于深度学习的鱼只视觉感知</a:t>
              </a:r>
              <a:endParaRPr lang="en-US" altLang="zh-CN" sz="2000" b="1" dirty="0">
                <a:solidFill>
                  <a:srgbClr val="F9F9F9"/>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46" name="图形"/>
            <p:cNvSpPr/>
            <p:nvPr>
              <p:custDataLst>
                <p:tags r:id="rId3"/>
              </p:custDataLst>
            </p:nvPr>
          </p:nvSpPr>
          <p:spPr>
            <a:xfrm>
              <a:off x="10324" y="4407"/>
              <a:ext cx="7729" cy="4314"/>
            </a:xfrm>
            <a:prstGeom prst="rect">
              <a:avLst/>
            </a:prstGeom>
          </p:spPr>
          <p:txBody>
            <a:bodyPr wrap="square" lIns="0" tIns="0" rIns="0" bIns="0">
              <a:spAutoFit/>
            </a:bodyPr>
            <a:lstStyle/>
            <a:p>
              <a:pPr algn="just">
                <a:lnSpc>
                  <a:spcPct val="200000"/>
                </a:lnSpc>
              </a:pPr>
              <a:r>
                <a:rPr lang="zh-CN" altLang="en-US" sz="1400" dirty="0">
                  <a:solidFill>
                    <a:schemeClr val="bg1"/>
                  </a:solidFill>
                  <a:latin typeface="Arial" panose="020B0604020202020204" pitchFamily="34" charset="0"/>
                  <a:ea typeface="微软雅黑" panose="020B0503020204020204" pitchFamily="34" charset="-122"/>
                  <a:cs typeface="思源黑体旧字形 Light" panose="020B0300000000000000" charset="-128"/>
                  <a:sym typeface="Arial" panose="020B0604020202020204" pitchFamily="34" charset="0"/>
                </a:rPr>
                <a:t>目标：识别鱼只数量、游动活跃度、摄食行为（是否吃完饲料）</a:t>
              </a:r>
              <a:endParaRPr lang="zh-CN" altLang="en-US" sz="1400" dirty="0">
                <a:solidFill>
                  <a:schemeClr val="bg1"/>
                </a:solidFill>
                <a:latin typeface="Arial" panose="020B0604020202020204" pitchFamily="34" charset="0"/>
                <a:ea typeface="微软雅黑" panose="020B0503020204020204" pitchFamily="34" charset="-122"/>
                <a:cs typeface="思源黑体旧字形 Light" panose="020B0300000000000000" charset="-128"/>
                <a:sym typeface="Arial" panose="020B0604020202020204" pitchFamily="34" charset="0"/>
              </a:endParaRPr>
            </a:p>
            <a:p>
              <a:pPr algn="just">
                <a:lnSpc>
                  <a:spcPct val="200000"/>
                </a:lnSpc>
              </a:pPr>
              <a:r>
                <a:rPr lang="zh-CN" altLang="en-US" sz="1400" dirty="0">
                  <a:solidFill>
                    <a:schemeClr val="bg1"/>
                  </a:solidFill>
                  <a:latin typeface="Arial" panose="020B0604020202020204" pitchFamily="34" charset="0"/>
                  <a:ea typeface="微软雅黑" panose="020B0503020204020204" pitchFamily="34" charset="-122"/>
                  <a:cs typeface="思源黑体旧字形 Light" panose="020B0300000000000000" charset="-128"/>
                  <a:sym typeface="Arial" panose="020B0604020202020204" pitchFamily="34" charset="0"/>
                </a:rPr>
                <a:t>技术方案：使用低成本摄像头（</a:t>
              </a:r>
              <a:r>
                <a:rPr lang="en-US" altLang="zh-CN" sz="1400" dirty="0">
                  <a:solidFill>
                    <a:schemeClr val="bg1"/>
                  </a:solidFill>
                  <a:latin typeface="Arial" panose="020B0604020202020204" pitchFamily="34" charset="0"/>
                  <a:ea typeface="微软雅黑" panose="020B0503020204020204" pitchFamily="34" charset="-122"/>
                  <a:cs typeface="思源黑体旧字形 Light" panose="020B0300000000000000" charset="-128"/>
                  <a:sym typeface="Arial" panose="020B0604020202020204" pitchFamily="34" charset="0"/>
                </a:rPr>
                <a:t>USB</a:t>
              </a:r>
              <a:r>
                <a:rPr lang="zh-CN" altLang="en-US" sz="1400" dirty="0">
                  <a:solidFill>
                    <a:schemeClr val="bg1"/>
                  </a:solidFill>
                  <a:latin typeface="Arial" panose="020B0604020202020204" pitchFamily="34" charset="0"/>
                  <a:ea typeface="微软雅黑" panose="020B0503020204020204" pitchFamily="34" charset="-122"/>
                  <a:cs typeface="思源黑体旧字形 Light" panose="020B0300000000000000" charset="-128"/>
                  <a:sym typeface="Arial" panose="020B0604020202020204" pitchFamily="34" charset="0"/>
                </a:rPr>
                <a:t>或</a:t>
              </a:r>
              <a:r>
                <a:rPr lang="en-US" altLang="zh-CN" sz="1400" dirty="0">
                  <a:solidFill>
                    <a:schemeClr val="bg1"/>
                  </a:solidFill>
                  <a:latin typeface="Arial" panose="020B0604020202020204" pitchFamily="34" charset="0"/>
                  <a:ea typeface="微软雅黑" panose="020B0503020204020204" pitchFamily="34" charset="-122"/>
                  <a:cs typeface="思源黑体旧字形 Light" panose="020B0300000000000000" charset="-128"/>
                  <a:sym typeface="Arial" panose="020B0604020202020204" pitchFamily="34" charset="0"/>
                </a:rPr>
                <a:t>ESP32-CAM</a:t>
              </a:r>
              <a:r>
                <a:rPr lang="zh-CN" altLang="en-US" sz="1400" dirty="0">
                  <a:solidFill>
                    <a:schemeClr val="bg1"/>
                  </a:solidFill>
                  <a:latin typeface="Arial" panose="020B0604020202020204" pitchFamily="34" charset="0"/>
                  <a:ea typeface="微软雅黑" panose="020B0503020204020204" pitchFamily="34" charset="-122"/>
                  <a:cs typeface="思源黑体旧字形 Light" panose="020B0300000000000000" charset="-128"/>
                  <a:sym typeface="Arial" panose="020B0604020202020204" pitchFamily="34" charset="0"/>
                </a:rPr>
                <a:t>）</a:t>
              </a:r>
              <a:endParaRPr lang="zh-CN" altLang="en-US" sz="1400" dirty="0">
                <a:solidFill>
                  <a:schemeClr val="bg1"/>
                </a:solidFill>
                <a:latin typeface="Arial" panose="020B0604020202020204" pitchFamily="34" charset="0"/>
                <a:ea typeface="微软雅黑" panose="020B0503020204020204" pitchFamily="34" charset="-122"/>
                <a:cs typeface="思源黑体旧字形 Light" panose="020B0300000000000000" charset="-128"/>
                <a:sym typeface="Arial" panose="020B0604020202020204" pitchFamily="34" charset="0"/>
              </a:endParaRPr>
            </a:p>
            <a:p>
              <a:pPr algn="just">
                <a:lnSpc>
                  <a:spcPct val="200000"/>
                </a:lnSpc>
              </a:pPr>
              <a:r>
                <a:rPr lang="zh-CN" altLang="en-US" sz="1400" dirty="0">
                  <a:solidFill>
                    <a:schemeClr val="bg1"/>
                  </a:solidFill>
                  <a:latin typeface="Arial" panose="020B0604020202020204" pitchFamily="34" charset="0"/>
                  <a:ea typeface="微软雅黑" panose="020B0503020204020204" pitchFamily="34" charset="-122"/>
                  <a:cs typeface="思源黑体旧字形 Light" panose="020B0300000000000000" charset="-128"/>
                  <a:sym typeface="Arial" panose="020B0604020202020204" pitchFamily="34" charset="0"/>
                </a:rPr>
                <a:t>                  采用轻量化目标检测模型（</a:t>
              </a:r>
              <a:r>
                <a:rPr lang="en-US" altLang="zh-CN" sz="1400" dirty="0">
                  <a:solidFill>
                    <a:schemeClr val="bg1"/>
                  </a:solidFill>
                  <a:latin typeface="Arial" panose="020B0604020202020204" pitchFamily="34" charset="0"/>
                  <a:ea typeface="微软雅黑" panose="020B0503020204020204" pitchFamily="34" charset="-122"/>
                  <a:cs typeface="思源黑体旧字形 Light" panose="020B0300000000000000" charset="-128"/>
                  <a:sym typeface="Arial" panose="020B0604020202020204" pitchFamily="34" charset="0"/>
                </a:rPr>
                <a:t>YOLOv5s / </a:t>
              </a:r>
              <a:r>
                <a:rPr lang="en-US" altLang="zh-CN" sz="1400" dirty="0" err="1">
                  <a:solidFill>
                    <a:schemeClr val="bg1"/>
                  </a:solidFill>
                  <a:latin typeface="Arial" panose="020B0604020202020204" pitchFamily="34" charset="0"/>
                  <a:ea typeface="微软雅黑" panose="020B0503020204020204" pitchFamily="34" charset="-122"/>
                  <a:cs typeface="思源黑体旧字形 Light" panose="020B0300000000000000" charset="-128"/>
                  <a:sym typeface="Arial" panose="020B0604020202020204" pitchFamily="34" charset="0"/>
                </a:rPr>
                <a:t>NanoDet</a:t>
              </a:r>
              <a:r>
                <a:rPr lang="zh-CN" altLang="en-US" sz="1400" dirty="0">
                  <a:solidFill>
                    <a:schemeClr val="bg1"/>
                  </a:solidFill>
                  <a:latin typeface="Arial" panose="020B0604020202020204" pitchFamily="34" charset="0"/>
                  <a:ea typeface="微软雅黑" panose="020B0503020204020204" pitchFamily="34" charset="-122"/>
                  <a:cs typeface="思源黑体旧字形 Light" panose="020B0300000000000000" charset="-128"/>
                  <a:sym typeface="Arial" panose="020B0604020202020204" pitchFamily="34" charset="0"/>
                </a:rPr>
                <a:t>）部署在边缘端或云端</a:t>
              </a:r>
              <a:endParaRPr lang="zh-CN" altLang="en-US" sz="1400" dirty="0">
                <a:solidFill>
                  <a:schemeClr val="bg1"/>
                </a:solidFill>
                <a:latin typeface="Arial" panose="020B0604020202020204" pitchFamily="34" charset="0"/>
                <a:ea typeface="微软雅黑" panose="020B0503020204020204" pitchFamily="34" charset="-122"/>
                <a:cs typeface="思源黑体旧字形 Light" panose="020B0300000000000000" charset="-128"/>
                <a:sym typeface="Arial" panose="020B0604020202020204" pitchFamily="34" charset="0"/>
              </a:endParaRPr>
            </a:p>
            <a:p>
              <a:pPr algn="just">
                <a:lnSpc>
                  <a:spcPct val="200000"/>
                </a:lnSpc>
              </a:pPr>
              <a:r>
                <a:rPr lang="zh-CN" altLang="en-US" sz="1400" dirty="0">
                  <a:solidFill>
                    <a:schemeClr val="bg1"/>
                  </a:solidFill>
                  <a:latin typeface="Arial" panose="020B0604020202020204" pitchFamily="34" charset="0"/>
                  <a:ea typeface="微软雅黑" panose="020B0503020204020204" pitchFamily="34" charset="-122"/>
                  <a:cs typeface="思源黑体旧字形 Light" panose="020B0300000000000000" charset="-128"/>
                  <a:sym typeface="Arial" panose="020B0604020202020204" pitchFamily="34" charset="0"/>
                </a:rPr>
                <a:t>                  定期抓拍图像，上传云端进行推理，返回鱼只密度及活跃度指标</a:t>
              </a:r>
              <a:endParaRPr lang="zh-CN" altLang="en-US" sz="1400" dirty="0">
                <a:solidFill>
                  <a:schemeClr val="bg1"/>
                </a:solidFill>
                <a:latin typeface="Arial" panose="020B0604020202020204" pitchFamily="34" charset="0"/>
                <a:ea typeface="微软雅黑" panose="020B0503020204020204" pitchFamily="34" charset="-122"/>
                <a:cs typeface="思源黑体旧字形 Light" panose="020B0300000000000000" charset="-128"/>
                <a:sym typeface="Arial" panose="020B0604020202020204" pitchFamily="34" charset="0"/>
              </a:endParaRPr>
            </a:p>
            <a:p>
              <a:pPr algn="just">
                <a:lnSpc>
                  <a:spcPct val="200000"/>
                </a:lnSpc>
              </a:pPr>
              <a:r>
                <a:rPr lang="zh-CN" altLang="en-US" sz="1400" dirty="0">
                  <a:solidFill>
                    <a:schemeClr val="bg1"/>
                  </a:solidFill>
                  <a:latin typeface="Arial" panose="020B0604020202020204" pitchFamily="34" charset="0"/>
                  <a:ea typeface="微软雅黑" panose="020B0503020204020204" pitchFamily="34" charset="-122"/>
                  <a:cs typeface="思源黑体旧字形 Light" panose="020B0300000000000000" charset="-128"/>
                  <a:sym typeface="Arial" panose="020B0604020202020204" pitchFamily="34" charset="0"/>
                </a:rPr>
                <a:t>输出结果：作为投食决策模型的关键输入（“鱼群密度”“摄食剩余量”）</a:t>
              </a:r>
              <a:endParaRPr lang="zh-CN" altLang="en-US" sz="140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8" name="图形"/>
            <p:cNvSpPr/>
            <p:nvPr>
              <p:custDataLst>
                <p:tags r:id="rId4"/>
              </p:custDataLst>
            </p:nvPr>
          </p:nvSpPr>
          <p:spPr>
            <a:xfrm>
              <a:off x="9751" y="2947"/>
              <a:ext cx="8790" cy="6956"/>
            </a:xfrm>
            <a:prstGeom prst="rect">
              <a:avLst/>
            </a:prstGeom>
            <a:solidFill>
              <a:srgbClr val="004C9E"/>
            </a:solidFill>
            <a:ln w="19050">
              <a:noFill/>
            </a:ln>
            <a:effectLst>
              <a:outerShdw blurRad="381000" dist="228600" dir="2700000" sx="95000" sy="95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ea typeface="微软雅黑" panose="020B0503020204020204" pitchFamily="34" charset="-122"/>
                <a:cs typeface="思源黑体旧字形 Light" panose="020B0300000000000000" charset="-128"/>
                <a:sym typeface="Arial" panose="020B0604020202020204" pitchFamily="34" charset="0"/>
              </a:endParaRPr>
            </a:p>
          </p:txBody>
        </p:sp>
        <p:sp>
          <p:nvSpPr>
            <p:cNvPr id="39" name="图形"/>
            <p:cNvSpPr txBox="1"/>
            <p:nvPr>
              <p:custDataLst>
                <p:tags r:id="rId5"/>
              </p:custDataLst>
            </p:nvPr>
          </p:nvSpPr>
          <p:spPr>
            <a:xfrm>
              <a:off x="10324" y="3666"/>
              <a:ext cx="5107" cy="490"/>
            </a:xfrm>
            <a:prstGeom prst="rect">
              <a:avLst/>
            </a:prstGeom>
            <a:noFill/>
          </p:spPr>
          <p:txBody>
            <a:bodyPr wrap="square" lIns="0" tIns="0" rIns="0" bIns="0" rtlCol="0">
              <a:spAutoFit/>
            </a:bodyPr>
            <a:lstStyle/>
            <a:p>
              <a:r>
                <a:rPr lang="zh-CN" altLang="en-US" sz="2000" b="1" dirty="0">
                  <a:solidFill>
                    <a:srgbClr val="F9F9F9"/>
                  </a:solidFill>
                  <a:latin typeface="Arial" panose="020B0604020202020204" pitchFamily="34" charset="0"/>
                  <a:ea typeface="微软雅黑" panose="020B0503020204020204" pitchFamily="34" charset="-122"/>
                  <a:cs typeface="+mn-ea"/>
                  <a:sym typeface="Arial" panose="020B0604020202020204" pitchFamily="34" charset="0"/>
                </a:rPr>
                <a:t>任务</a:t>
              </a:r>
              <a:r>
                <a:rPr lang="en-US" altLang="zh-CN" sz="2000" b="1" dirty="0">
                  <a:solidFill>
                    <a:srgbClr val="F9F9F9"/>
                  </a:solidFill>
                  <a:latin typeface="Arial" panose="020B0604020202020204" pitchFamily="34" charset="0"/>
                  <a:ea typeface="微软雅黑" panose="020B0503020204020204" pitchFamily="34" charset="-122"/>
                  <a:cs typeface="+mn-ea"/>
                  <a:sym typeface="Arial" panose="020B0604020202020204" pitchFamily="34" charset="0"/>
                </a:rPr>
                <a:t>5&amp;6</a:t>
              </a:r>
              <a:r>
                <a:rPr lang="zh-CN" altLang="en-US" sz="2000" b="1" dirty="0">
                  <a:solidFill>
                    <a:srgbClr val="F9F9F9"/>
                  </a:solidFill>
                  <a:latin typeface="Arial" panose="020B0604020202020204" pitchFamily="34" charset="0"/>
                  <a:ea typeface="微软雅黑" panose="020B0503020204020204" pitchFamily="34" charset="-122"/>
                  <a:cs typeface="+mn-ea"/>
                  <a:sym typeface="Arial" panose="020B0604020202020204" pitchFamily="34" charset="0"/>
                </a:rPr>
                <a:t>：</a:t>
              </a:r>
              <a:r>
                <a:rPr lang="en-US" altLang="zh-CN" sz="2000" b="1" dirty="0">
                  <a:solidFill>
                    <a:srgbClr val="F9F9F9"/>
                  </a:solidFill>
                  <a:latin typeface="Arial" panose="020B0604020202020204" pitchFamily="34" charset="0"/>
                  <a:ea typeface="微软雅黑" panose="020B0503020204020204" pitchFamily="34" charset="-122"/>
                  <a:cs typeface="+mn-ea"/>
                  <a:sym typeface="Arial" panose="020B0604020202020204" pitchFamily="34" charset="0"/>
                </a:rPr>
                <a:t>Web</a:t>
              </a:r>
              <a:r>
                <a:rPr lang="zh-CN" altLang="en-US" sz="2000" b="1" dirty="0">
                  <a:solidFill>
                    <a:srgbClr val="F9F9F9"/>
                  </a:solidFill>
                  <a:latin typeface="Arial" panose="020B0604020202020204" pitchFamily="34" charset="0"/>
                  <a:ea typeface="微软雅黑" panose="020B0503020204020204" pitchFamily="34" charset="-122"/>
                  <a:cs typeface="+mn-ea"/>
                  <a:sym typeface="Arial" panose="020B0604020202020204" pitchFamily="34" charset="0"/>
                </a:rPr>
                <a:t>仪表盘 </a:t>
              </a:r>
              <a:r>
                <a:rPr lang="en-US" altLang="zh-CN" sz="2000" b="1" dirty="0">
                  <a:solidFill>
                    <a:srgbClr val="F9F9F9"/>
                  </a:solidFill>
                  <a:latin typeface="Arial" panose="020B0604020202020204" pitchFamily="34" charset="0"/>
                  <a:ea typeface="微软雅黑" panose="020B0503020204020204" pitchFamily="34" charset="-122"/>
                  <a:cs typeface="+mn-ea"/>
                  <a:sym typeface="Arial" panose="020B0604020202020204" pitchFamily="34" charset="0"/>
                </a:rPr>
                <a:t>+ </a:t>
              </a:r>
              <a:r>
                <a:rPr lang="zh-CN" altLang="en-US" sz="2000" b="1" dirty="0">
                  <a:solidFill>
                    <a:srgbClr val="F9F9F9"/>
                  </a:solidFill>
                  <a:latin typeface="Arial" panose="020B0604020202020204" pitchFamily="34" charset="0"/>
                  <a:ea typeface="微软雅黑" panose="020B0503020204020204" pitchFamily="34" charset="-122"/>
                  <a:cs typeface="+mn-ea"/>
                  <a:sym typeface="Arial" panose="020B0604020202020204" pitchFamily="34" charset="0"/>
                </a:rPr>
                <a:t>用户干预 </a:t>
              </a:r>
              <a:r>
                <a:rPr lang="en-US" altLang="zh-CN" sz="2000" b="1" dirty="0">
                  <a:solidFill>
                    <a:srgbClr val="F9F9F9"/>
                  </a:solidFill>
                  <a:latin typeface="Arial" panose="020B0604020202020204" pitchFamily="34" charset="0"/>
                  <a:ea typeface="微软雅黑" panose="020B0503020204020204" pitchFamily="34" charset="-122"/>
                  <a:cs typeface="+mn-ea"/>
                  <a:sym typeface="Arial" panose="020B0604020202020204" pitchFamily="34" charset="0"/>
                </a:rPr>
                <a:t>+ </a:t>
              </a:r>
              <a:r>
                <a:rPr lang="zh-CN" altLang="en-US" sz="2000" b="1" dirty="0">
                  <a:solidFill>
                    <a:srgbClr val="F9F9F9"/>
                  </a:solidFill>
                  <a:latin typeface="Arial" panose="020B0604020202020204" pitchFamily="34" charset="0"/>
                  <a:ea typeface="微软雅黑" panose="020B0503020204020204" pitchFamily="34" charset="-122"/>
                  <a:cs typeface="+mn-ea"/>
                  <a:sym typeface="Arial" panose="020B0604020202020204" pitchFamily="34" charset="0"/>
                </a:rPr>
                <a:t>智能建议生成</a:t>
              </a:r>
              <a:endParaRPr lang="en-US" altLang="zh-CN" sz="2000" b="1" dirty="0">
                <a:solidFill>
                  <a:srgbClr val="F9F9F9"/>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40" name="图形"/>
            <p:cNvSpPr/>
            <p:nvPr>
              <p:custDataLst>
                <p:tags r:id="rId6"/>
              </p:custDataLst>
            </p:nvPr>
          </p:nvSpPr>
          <p:spPr>
            <a:xfrm>
              <a:off x="10437" y="4535"/>
              <a:ext cx="7503" cy="4142"/>
            </a:xfrm>
            <a:prstGeom prst="rect">
              <a:avLst/>
            </a:prstGeom>
          </p:spPr>
          <p:txBody>
            <a:bodyPr wrap="square" lIns="0" tIns="0" rIns="0" bIns="0">
              <a:spAutoFit/>
            </a:bodyPr>
            <a:lstStyle/>
            <a:p>
              <a:pPr algn="just">
                <a:lnSpc>
                  <a:spcPct val="250000"/>
                </a:lnSpc>
              </a:pPr>
              <a:r>
                <a:rPr lang="zh-CN" altLang="en-US" sz="1400" b="1" dirty="0">
                  <a:solidFill>
                    <a:schemeClr val="bg1"/>
                  </a:solidFill>
                  <a:latin typeface="Arial" panose="020B0604020202020204" pitchFamily="34" charset="0"/>
                  <a:ea typeface="微软雅黑" panose="020B0503020204020204" pitchFamily="34" charset="-122"/>
                  <a:cs typeface="思源黑体旧字形 Light" panose="020B0300000000000000" charset="-128"/>
                  <a:sym typeface="Arial" panose="020B0604020202020204" pitchFamily="34" charset="0"/>
                </a:rPr>
                <a:t>实时仪表盘</a:t>
              </a:r>
              <a:r>
                <a:rPr lang="zh-CN" altLang="en-US" sz="1400" dirty="0">
                  <a:solidFill>
                    <a:schemeClr val="bg1"/>
                  </a:solidFill>
                  <a:latin typeface="Arial" panose="020B0604020202020204" pitchFamily="34" charset="0"/>
                  <a:ea typeface="微软雅黑" panose="020B0503020204020204" pitchFamily="34" charset="-122"/>
                  <a:cs typeface="思源黑体旧字形 Light" panose="020B0300000000000000" charset="-128"/>
                  <a:sym typeface="Arial" panose="020B0604020202020204" pitchFamily="34" charset="0"/>
                </a:rPr>
                <a:t>：显示当前水温、</a:t>
              </a:r>
              <a:r>
                <a:rPr lang="en-US" altLang="zh-CN" sz="1400" dirty="0">
                  <a:solidFill>
                    <a:schemeClr val="bg1"/>
                  </a:solidFill>
                  <a:latin typeface="Arial" panose="020B0604020202020204" pitchFamily="34" charset="0"/>
                  <a:ea typeface="微软雅黑" panose="020B0503020204020204" pitchFamily="34" charset="-122"/>
                  <a:cs typeface="思源黑体旧字形 Light" panose="020B0300000000000000" charset="-128"/>
                  <a:sym typeface="Arial" panose="020B0604020202020204" pitchFamily="34" charset="0"/>
                </a:rPr>
                <a:t>pH</a:t>
              </a:r>
              <a:r>
                <a:rPr lang="zh-CN" altLang="en-US" sz="1400" dirty="0">
                  <a:solidFill>
                    <a:schemeClr val="bg1"/>
                  </a:solidFill>
                  <a:latin typeface="Arial" panose="020B0604020202020204" pitchFamily="34" charset="0"/>
                  <a:ea typeface="微软雅黑" panose="020B0503020204020204" pitchFamily="34" charset="-122"/>
                  <a:cs typeface="思源黑体旧字形 Light" panose="020B0300000000000000" charset="-128"/>
                  <a:sym typeface="Arial" panose="020B0604020202020204" pitchFamily="34" charset="0"/>
                </a:rPr>
                <a:t>、水位、鱼只数量、上次投食时间</a:t>
              </a:r>
              <a:endParaRPr lang="zh-CN" altLang="en-US" sz="1400" dirty="0">
                <a:solidFill>
                  <a:schemeClr val="bg1"/>
                </a:solidFill>
                <a:latin typeface="Arial" panose="020B0604020202020204" pitchFamily="34" charset="0"/>
                <a:ea typeface="微软雅黑" panose="020B0503020204020204" pitchFamily="34" charset="-122"/>
                <a:cs typeface="思源黑体旧字形 Light" panose="020B0300000000000000" charset="-128"/>
                <a:sym typeface="Arial" panose="020B0604020202020204" pitchFamily="34" charset="0"/>
              </a:endParaRPr>
            </a:p>
            <a:p>
              <a:pPr algn="just">
                <a:lnSpc>
                  <a:spcPct val="250000"/>
                </a:lnSpc>
              </a:pPr>
              <a:r>
                <a:rPr lang="zh-CN" altLang="en-US" sz="1400" b="1" dirty="0">
                  <a:solidFill>
                    <a:schemeClr val="bg1"/>
                  </a:solidFill>
                  <a:latin typeface="Arial" panose="020B0604020202020204" pitchFamily="34" charset="0"/>
                  <a:ea typeface="微软雅黑" panose="020B0503020204020204" pitchFamily="34" charset="-122"/>
                  <a:cs typeface="思源黑体旧字形 Light" panose="020B0300000000000000" charset="-128"/>
                  <a:sym typeface="Arial" panose="020B0604020202020204" pitchFamily="34" charset="0"/>
                </a:rPr>
                <a:t>手动</a:t>
              </a:r>
              <a:r>
                <a:rPr lang="en-US" altLang="zh-CN" sz="1400" b="1" dirty="0">
                  <a:solidFill>
                    <a:schemeClr val="bg1"/>
                  </a:solidFill>
                  <a:latin typeface="Arial" panose="020B0604020202020204" pitchFamily="34" charset="0"/>
                  <a:ea typeface="微软雅黑" panose="020B0503020204020204" pitchFamily="34" charset="-122"/>
                  <a:cs typeface="思源黑体旧字形 Light" panose="020B0300000000000000" charset="-128"/>
                  <a:sym typeface="Arial" panose="020B0604020202020204" pitchFamily="34" charset="0"/>
                </a:rPr>
                <a:t>/</a:t>
              </a:r>
              <a:r>
                <a:rPr lang="zh-CN" altLang="en-US" sz="1400" b="1" dirty="0">
                  <a:solidFill>
                    <a:schemeClr val="bg1"/>
                  </a:solidFill>
                  <a:latin typeface="Arial" panose="020B0604020202020204" pitchFamily="34" charset="0"/>
                  <a:ea typeface="微软雅黑" panose="020B0503020204020204" pitchFamily="34" charset="-122"/>
                  <a:cs typeface="思源黑体旧字形 Light" panose="020B0300000000000000" charset="-128"/>
                  <a:sym typeface="Arial" panose="020B0604020202020204" pitchFamily="34" charset="0"/>
                </a:rPr>
                <a:t>自动切换</a:t>
              </a:r>
              <a:r>
                <a:rPr lang="zh-CN" altLang="en-US" sz="1400" dirty="0">
                  <a:solidFill>
                    <a:schemeClr val="bg1"/>
                  </a:solidFill>
                  <a:latin typeface="Arial" panose="020B0604020202020204" pitchFamily="34" charset="0"/>
                  <a:ea typeface="微软雅黑" panose="020B0503020204020204" pitchFamily="34" charset="-122"/>
                  <a:cs typeface="思源黑体旧字形 Light" panose="020B0300000000000000" charset="-128"/>
                  <a:sym typeface="Arial" panose="020B0604020202020204" pitchFamily="34" charset="0"/>
                </a:rPr>
                <a:t>：用户可手动控制加热、投食、补水，系统记录手动操作</a:t>
              </a:r>
              <a:endParaRPr lang="zh-CN" altLang="en-US" sz="1400" dirty="0">
                <a:solidFill>
                  <a:schemeClr val="bg1"/>
                </a:solidFill>
                <a:latin typeface="Arial" panose="020B0604020202020204" pitchFamily="34" charset="0"/>
                <a:ea typeface="微软雅黑" panose="020B0503020204020204" pitchFamily="34" charset="-122"/>
                <a:cs typeface="思源黑体旧字形 Light" panose="020B0300000000000000" charset="-128"/>
                <a:sym typeface="Arial" panose="020B0604020202020204" pitchFamily="34" charset="0"/>
              </a:endParaRPr>
            </a:p>
            <a:p>
              <a:pPr algn="just">
                <a:lnSpc>
                  <a:spcPct val="250000"/>
                </a:lnSpc>
              </a:pPr>
              <a:r>
                <a:rPr lang="zh-CN" altLang="en-US" sz="1400" b="1" dirty="0">
                  <a:solidFill>
                    <a:schemeClr val="bg1"/>
                  </a:solidFill>
                  <a:latin typeface="Arial" panose="020B0604020202020204" pitchFamily="34" charset="0"/>
                  <a:ea typeface="微软雅黑" panose="020B0503020204020204" pitchFamily="34" charset="-122"/>
                  <a:cs typeface="思源黑体旧字形 Light" panose="020B0300000000000000" charset="-128"/>
                  <a:sym typeface="Arial" panose="020B0604020202020204" pitchFamily="34" charset="0"/>
                </a:rPr>
                <a:t>推理过程可视化</a:t>
              </a:r>
              <a:r>
                <a:rPr lang="zh-CN" altLang="en-US" sz="1400" dirty="0">
                  <a:solidFill>
                    <a:schemeClr val="bg1"/>
                  </a:solidFill>
                  <a:latin typeface="Arial" panose="020B0604020202020204" pitchFamily="34" charset="0"/>
                  <a:ea typeface="微软雅黑" panose="020B0503020204020204" pitchFamily="34" charset="-122"/>
                  <a:cs typeface="思源黑体旧字形 Light" panose="020B0300000000000000" charset="-128"/>
                  <a:sym typeface="Arial" panose="020B0604020202020204" pitchFamily="34" charset="0"/>
                </a:rPr>
                <a:t>：展示最近一次决策采用的规则或</a:t>
              </a:r>
              <a:r>
                <a:rPr lang="en-US" altLang="zh-CN" sz="1400" dirty="0">
                  <a:solidFill>
                    <a:schemeClr val="bg1"/>
                  </a:solidFill>
                  <a:latin typeface="Arial" panose="020B0604020202020204" pitchFamily="34" charset="0"/>
                  <a:ea typeface="微软雅黑" panose="020B0503020204020204" pitchFamily="34" charset="-122"/>
                  <a:cs typeface="思源黑体旧字形 Light" panose="020B0300000000000000" charset="-128"/>
                  <a:sym typeface="Arial" panose="020B0604020202020204" pitchFamily="34" charset="0"/>
                </a:rPr>
                <a:t>LLM</a:t>
              </a:r>
              <a:r>
                <a:rPr lang="zh-CN" altLang="en-US" sz="1400" dirty="0">
                  <a:solidFill>
                    <a:schemeClr val="bg1"/>
                  </a:solidFill>
                  <a:latin typeface="Arial" panose="020B0604020202020204" pitchFamily="34" charset="0"/>
                  <a:ea typeface="微软雅黑" panose="020B0503020204020204" pitchFamily="34" charset="-122"/>
                  <a:cs typeface="思源黑体旧字形 Light" panose="020B0300000000000000" charset="-128"/>
                  <a:sym typeface="Arial" panose="020B0604020202020204" pitchFamily="34" charset="0"/>
                </a:rPr>
                <a:t>推理链（文本形式）</a:t>
              </a:r>
              <a:endParaRPr lang="zh-CN" altLang="en-US" sz="1400" dirty="0">
                <a:solidFill>
                  <a:schemeClr val="bg1"/>
                </a:solidFill>
                <a:latin typeface="Arial" panose="020B0604020202020204" pitchFamily="34" charset="0"/>
                <a:ea typeface="微软雅黑" panose="020B0503020204020204" pitchFamily="34" charset="-122"/>
                <a:cs typeface="思源黑体旧字形 Light" panose="020B0300000000000000" charset="-128"/>
                <a:sym typeface="Arial" panose="020B0604020202020204" pitchFamily="34" charset="0"/>
              </a:endParaRPr>
            </a:p>
            <a:p>
              <a:pPr algn="just">
                <a:lnSpc>
                  <a:spcPct val="250000"/>
                </a:lnSpc>
              </a:pPr>
              <a:r>
                <a:rPr lang="zh-CN" altLang="en-US" sz="1400" b="1" dirty="0">
                  <a:solidFill>
                    <a:schemeClr val="bg1"/>
                  </a:solidFill>
                  <a:latin typeface="Arial" panose="020B0604020202020204" pitchFamily="34" charset="0"/>
                  <a:ea typeface="微软雅黑" panose="020B0503020204020204" pitchFamily="34" charset="-122"/>
                  <a:cs typeface="思源黑体旧字形 Light" panose="020B0300000000000000" charset="-128"/>
                  <a:sym typeface="Arial" panose="020B0604020202020204" pitchFamily="34" charset="0"/>
                </a:rPr>
                <a:t>自然语言建议</a:t>
              </a:r>
              <a:r>
                <a:rPr lang="zh-CN" altLang="en-US" sz="1400" dirty="0">
                  <a:solidFill>
                    <a:schemeClr val="bg1"/>
                  </a:solidFill>
                  <a:latin typeface="Arial" panose="020B0604020202020204" pitchFamily="34" charset="0"/>
                  <a:ea typeface="微软雅黑" panose="020B0503020204020204" pitchFamily="34" charset="-122"/>
                  <a:cs typeface="思源黑体旧字形 Light" panose="020B0300000000000000" charset="-128"/>
                  <a:sym typeface="Arial" panose="020B0604020202020204" pitchFamily="34" charset="0"/>
                </a:rPr>
                <a:t>：</a:t>
              </a:r>
              <a:r>
                <a:rPr lang="en-US" altLang="zh-CN" sz="1400" dirty="0">
                  <a:solidFill>
                    <a:schemeClr val="bg1"/>
                  </a:solidFill>
                  <a:latin typeface="Arial" panose="020B0604020202020204" pitchFamily="34" charset="0"/>
                  <a:ea typeface="微软雅黑" panose="020B0503020204020204" pitchFamily="34" charset="-122"/>
                  <a:cs typeface="思源黑体旧字形 Light" panose="020B0300000000000000" charset="-128"/>
                  <a:sym typeface="Arial" panose="020B0604020202020204" pitchFamily="34" charset="0"/>
                </a:rPr>
                <a:t>LLM</a:t>
              </a:r>
              <a:r>
                <a:rPr lang="zh-CN" altLang="en-US" sz="1400" dirty="0">
                  <a:solidFill>
                    <a:schemeClr val="bg1"/>
                  </a:solidFill>
                  <a:latin typeface="Arial" panose="020B0604020202020204" pitchFamily="34" charset="0"/>
                  <a:ea typeface="微软雅黑" panose="020B0503020204020204" pitchFamily="34" charset="-122"/>
                  <a:cs typeface="思源黑体旧字形 Light" panose="020B0300000000000000" charset="-128"/>
                  <a:sym typeface="Arial" panose="020B0604020202020204" pitchFamily="34" charset="0"/>
                </a:rPr>
                <a:t>生成每日养殖小结（例如：“今日水温偏高，建议增加增氧时长，已自动增加</a:t>
              </a:r>
              <a:r>
                <a:rPr lang="en-US" altLang="zh-CN" sz="1400" dirty="0">
                  <a:solidFill>
                    <a:schemeClr val="bg1"/>
                  </a:solidFill>
                  <a:latin typeface="Arial" panose="020B0604020202020204" pitchFamily="34" charset="0"/>
                  <a:ea typeface="微软雅黑" panose="020B0503020204020204" pitchFamily="34" charset="-122"/>
                  <a:cs typeface="思源黑体旧字形 Light" panose="020B0300000000000000" charset="-128"/>
                  <a:sym typeface="Arial" panose="020B0604020202020204" pitchFamily="34" charset="0"/>
                </a:rPr>
                <a:t>10</a:t>
              </a:r>
              <a:r>
                <a:rPr lang="zh-CN" altLang="en-US" sz="1400" dirty="0">
                  <a:solidFill>
                    <a:schemeClr val="bg1"/>
                  </a:solidFill>
                  <a:latin typeface="Arial" panose="020B0604020202020204" pitchFamily="34" charset="0"/>
                  <a:ea typeface="微软雅黑" panose="020B0503020204020204" pitchFamily="34" charset="-122"/>
                  <a:cs typeface="思源黑体旧字形 Light" panose="020B0300000000000000" charset="-128"/>
                  <a:sym typeface="Arial" panose="020B0604020202020204" pitchFamily="34" charset="0"/>
                </a:rPr>
                <a:t>分钟”）</a:t>
              </a:r>
              <a:endParaRPr lang="zh-CN" altLang="en-US" sz="1400" dirty="0">
                <a:solidFill>
                  <a:schemeClr val="bg1"/>
                </a:solidFill>
                <a:latin typeface="Arial" panose="020B0604020202020204" pitchFamily="34" charset="0"/>
                <a:ea typeface="微软雅黑" panose="020B0503020204020204" pitchFamily="34" charset="-122"/>
                <a:cs typeface="思源黑体旧字形 Light" panose="020B0300000000000000" charset="-128"/>
                <a:sym typeface="Arial" panose="020B0604020202020204" pitchFamily="34" charset="0"/>
              </a:endParaRPr>
            </a:p>
            <a:p>
              <a:pPr algn="just">
                <a:lnSpc>
                  <a:spcPct val="250000"/>
                </a:lnSpc>
              </a:pPr>
              <a:r>
                <a:rPr lang="zh-CN" altLang="en-US" sz="1400" b="1" dirty="0">
                  <a:solidFill>
                    <a:schemeClr val="bg1"/>
                  </a:solidFill>
                  <a:latin typeface="Arial" panose="020B0604020202020204" pitchFamily="34" charset="0"/>
                  <a:ea typeface="微软雅黑" panose="020B0503020204020204" pitchFamily="34" charset="-122"/>
                  <a:cs typeface="思源黑体旧字形 Light" panose="020B0300000000000000" charset="-128"/>
                  <a:sym typeface="Arial" panose="020B0604020202020204" pitchFamily="34" charset="0"/>
                </a:rPr>
                <a:t>报警推送</a:t>
              </a:r>
              <a:r>
                <a:rPr lang="zh-CN" altLang="en-US" sz="1400" dirty="0">
                  <a:solidFill>
                    <a:schemeClr val="bg1"/>
                  </a:solidFill>
                  <a:latin typeface="Arial" panose="020B0604020202020204" pitchFamily="34" charset="0"/>
                  <a:ea typeface="微软雅黑" panose="020B0503020204020204" pitchFamily="34" charset="-122"/>
                  <a:cs typeface="思源黑体旧字形 Light" panose="020B0300000000000000" charset="-128"/>
                  <a:sym typeface="Arial" panose="020B0604020202020204" pitchFamily="34" charset="0"/>
                </a:rPr>
                <a:t>：参数超限时通过</a:t>
              </a:r>
              <a:r>
                <a:rPr lang="en-US" altLang="zh-CN" sz="1400" dirty="0">
                  <a:solidFill>
                    <a:schemeClr val="bg1"/>
                  </a:solidFill>
                  <a:latin typeface="Arial" panose="020B0604020202020204" pitchFamily="34" charset="0"/>
                  <a:ea typeface="微软雅黑" panose="020B0503020204020204" pitchFamily="34" charset="-122"/>
                  <a:cs typeface="思源黑体旧字形 Light" panose="020B0300000000000000" charset="-128"/>
                  <a:sym typeface="Arial" panose="020B0604020202020204" pitchFamily="34" charset="0"/>
                </a:rPr>
                <a:t>Web</a:t>
              </a:r>
              <a:r>
                <a:rPr lang="zh-CN" altLang="en-US" sz="1400" dirty="0">
                  <a:solidFill>
                    <a:schemeClr val="bg1"/>
                  </a:solidFill>
                  <a:latin typeface="Arial" panose="020B0604020202020204" pitchFamily="34" charset="0"/>
                  <a:ea typeface="微软雅黑" panose="020B0503020204020204" pitchFamily="34" charset="-122"/>
                  <a:cs typeface="思源黑体旧字形 Light" panose="020B0300000000000000" charset="-128"/>
                  <a:sym typeface="Arial" panose="020B0604020202020204" pitchFamily="34" charset="0"/>
                </a:rPr>
                <a:t>通知或微信推送</a:t>
              </a:r>
              <a:endParaRPr lang="zh-CN" altLang="en-US" sz="140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grpSp>
      <p:sp>
        <p:nvSpPr>
          <p:cNvPr id="3" name="文本框 2"/>
          <p:cNvSpPr txBox="1"/>
          <p:nvPr/>
        </p:nvSpPr>
        <p:spPr>
          <a:xfrm>
            <a:off x="919480" y="6113780"/>
            <a:ext cx="2541905" cy="275590"/>
          </a:xfrm>
          <a:prstGeom prst="rect">
            <a:avLst/>
          </a:prstGeom>
          <a:noFill/>
        </p:spPr>
        <p:txBody>
          <a:bodyPr wrap="square" rtlCol="0">
            <a:spAutoFit/>
          </a:bodyPr>
          <a:lstStyle/>
          <a:p>
            <a:r>
              <a:rPr lang="zh-CN" altLang="en-US" sz="1200" b="1">
                <a:solidFill>
                  <a:srgbClr val="004C9E"/>
                </a:solidFill>
                <a:latin typeface="微软雅黑" panose="020B0503020204020204" pitchFamily="34" charset="-122"/>
                <a:ea typeface="微软雅黑" panose="020B0503020204020204" pitchFamily="34" charset="-122"/>
                <a:cs typeface="微软雅黑" panose="020B0503020204020204" pitchFamily="34" charset="-122"/>
              </a:rPr>
              <a:t>耐劳苦</a:t>
            </a:r>
            <a:r>
              <a:rPr lang="en-US" altLang="zh-CN" sz="1200" b="1">
                <a:solidFill>
                  <a:srgbClr val="004C9E"/>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200" b="1">
                <a:solidFill>
                  <a:srgbClr val="004C9E"/>
                </a:solidFill>
                <a:latin typeface="微软雅黑" panose="020B0503020204020204" pitchFamily="34" charset="-122"/>
                <a:ea typeface="微软雅黑" panose="020B0503020204020204" pitchFamily="34" charset="-122"/>
                <a:cs typeface="微软雅黑" panose="020B0503020204020204" pitchFamily="34" charset="-122"/>
              </a:rPr>
              <a:t>尚俭朴</a:t>
            </a:r>
            <a:r>
              <a:rPr lang="en-US" altLang="zh-CN" sz="1200" b="1">
                <a:solidFill>
                  <a:srgbClr val="004C9E"/>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200" b="1">
                <a:solidFill>
                  <a:srgbClr val="004C9E"/>
                </a:solidFill>
                <a:latin typeface="微软雅黑" panose="020B0503020204020204" pitchFamily="34" charset="-122"/>
                <a:ea typeface="微软雅黑" panose="020B0503020204020204" pitchFamily="34" charset="-122"/>
                <a:cs typeface="微软雅黑" panose="020B0503020204020204" pitchFamily="34" charset="-122"/>
              </a:rPr>
              <a:t>勤学业</a:t>
            </a:r>
            <a:r>
              <a:rPr lang="en-US" altLang="zh-CN" sz="1200" b="1">
                <a:solidFill>
                  <a:srgbClr val="004C9E"/>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200" b="1">
                <a:solidFill>
                  <a:srgbClr val="004C9E"/>
                </a:solidFill>
                <a:latin typeface="微软雅黑" panose="020B0503020204020204" pitchFamily="34" charset="-122"/>
                <a:ea typeface="微软雅黑" panose="020B0503020204020204" pitchFamily="34" charset="-122"/>
                <a:cs typeface="微软雅黑" panose="020B0503020204020204" pitchFamily="34" charset="-122"/>
              </a:rPr>
              <a:t>爱国家</a:t>
            </a:r>
            <a:endParaRPr lang="zh-CN" altLang="en-US" sz="1200" b="1">
              <a:solidFill>
                <a:srgbClr val="004C9E"/>
              </a:solidFill>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11" name="图片 10" descr="校徽"/>
          <p:cNvPicPr>
            <a:picLocks noChangeAspect="1"/>
          </p:cNvPicPr>
          <p:nvPr/>
        </p:nvPicPr>
        <p:blipFill>
          <a:blip r:embed="rId7"/>
          <a:stretch>
            <a:fillRect/>
          </a:stretch>
        </p:blipFill>
        <p:spPr>
          <a:xfrm>
            <a:off x="10127615" y="5844540"/>
            <a:ext cx="1259840" cy="397510"/>
          </a:xfrm>
          <a:prstGeom prst="rect">
            <a:avLst/>
          </a:prstGeom>
        </p:spPr>
      </p:pic>
      <p:sp>
        <p:nvSpPr>
          <p:cNvPr id="47" name="文本框 46"/>
          <p:cNvSpPr txBox="1"/>
          <p:nvPr/>
        </p:nvSpPr>
        <p:spPr>
          <a:xfrm>
            <a:off x="1189862" y="553085"/>
            <a:ext cx="2001520" cy="400110"/>
          </a:xfrm>
          <a:prstGeom prst="rect">
            <a:avLst/>
          </a:prstGeom>
          <a:noFill/>
        </p:spPr>
        <p:txBody>
          <a:bodyPr wrap="square" rtlCol="0">
            <a:spAutoFit/>
          </a:bodyPr>
          <a:lstStyle/>
          <a:p>
            <a:pPr algn="ctr"/>
            <a:r>
              <a:rPr lang="zh-CN" altLang="en-US" sz="2000" b="1" dirty="0">
                <a:solidFill>
                  <a:srgbClr val="A6A6A6"/>
                </a:solidFill>
                <a:latin typeface="微软雅黑" panose="020B0503020204020204" pitchFamily="34" charset="-122"/>
                <a:ea typeface="微软雅黑" panose="020B0503020204020204" pitchFamily="34" charset="-122"/>
              </a:rPr>
              <a:t>立项背景及意义</a:t>
            </a:r>
            <a:endParaRPr lang="zh-CN" altLang="en-US" sz="2000" b="1" dirty="0">
              <a:solidFill>
                <a:srgbClr val="A6A6A6"/>
              </a:solidFill>
              <a:latin typeface="微软雅黑" panose="020B0503020204020204" pitchFamily="34" charset="-122"/>
              <a:ea typeface="微软雅黑" panose="020B0503020204020204" pitchFamily="34" charset="-122"/>
            </a:endParaRPr>
          </a:p>
        </p:txBody>
      </p:sp>
      <p:sp>
        <p:nvSpPr>
          <p:cNvPr id="56" name="文本框 55"/>
          <p:cNvSpPr txBox="1"/>
          <p:nvPr/>
        </p:nvSpPr>
        <p:spPr>
          <a:xfrm>
            <a:off x="3135865" y="553085"/>
            <a:ext cx="2001520" cy="400110"/>
          </a:xfrm>
          <a:prstGeom prst="rect">
            <a:avLst/>
          </a:prstGeom>
          <a:noFill/>
        </p:spPr>
        <p:txBody>
          <a:bodyPr wrap="square" rtlCol="0">
            <a:spAutoFit/>
          </a:bodyPr>
          <a:lstStyle/>
          <a:p>
            <a:pPr algn="ctr"/>
            <a:r>
              <a:rPr lang="zh-CN" altLang="en-US" sz="2000" b="1" dirty="0">
                <a:solidFill>
                  <a:srgbClr val="004C9E"/>
                </a:solidFill>
                <a:latin typeface="微软雅黑" panose="020B0503020204020204" pitchFamily="34" charset="-122"/>
                <a:ea typeface="微软雅黑" panose="020B0503020204020204" pitchFamily="34" charset="-122"/>
              </a:rPr>
              <a:t>研究内容</a:t>
            </a:r>
            <a:endParaRPr lang="zh-CN" altLang="en-US" sz="2000" b="1" dirty="0">
              <a:solidFill>
                <a:srgbClr val="004C9E"/>
              </a:solidFill>
              <a:latin typeface="微软雅黑" panose="020B0503020204020204" pitchFamily="34" charset="-122"/>
              <a:ea typeface="微软雅黑" panose="020B0503020204020204" pitchFamily="34" charset="-122"/>
            </a:endParaRPr>
          </a:p>
        </p:txBody>
      </p:sp>
      <p:sp>
        <p:nvSpPr>
          <p:cNvPr id="59" name="文本框 58"/>
          <p:cNvSpPr txBox="1"/>
          <p:nvPr/>
        </p:nvSpPr>
        <p:spPr>
          <a:xfrm>
            <a:off x="5161828" y="553085"/>
            <a:ext cx="2001520" cy="400110"/>
          </a:xfrm>
          <a:prstGeom prst="rect">
            <a:avLst/>
          </a:prstGeom>
          <a:noFill/>
        </p:spPr>
        <p:txBody>
          <a:bodyPr wrap="square" rtlCol="0">
            <a:spAutoFit/>
          </a:bodyPr>
          <a:lstStyle/>
          <a:p>
            <a:pPr algn="ctr"/>
            <a:r>
              <a:rPr lang="zh-CN" altLang="en-US" sz="2000" b="1" dirty="0">
                <a:solidFill>
                  <a:schemeClr val="bg1">
                    <a:lumMod val="65000"/>
                  </a:schemeClr>
                </a:solidFill>
                <a:latin typeface="微软雅黑" panose="020B0503020204020204" pitchFamily="34" charset="-122"/>
                <a:ea typeface="微软雅黑" panose="020B0503020204020204" pitchFamily="34" charset="-122"/>
              </a:rPr>
              <a:t>拟采用技术路线</a:t>
            </a:r>
            <a:endParaRPr lang="zh-CN" altLang="en-US" sz="2000" b="1" dirty="0">
              <a:solidFill>
                <a:schemeClr val="bg1">
                  <a:lumMod val="65000"/>
                </a:schemeClr>
              </a:solidFill>
              <a:latin typeface="微软雅黑" panose="020B0503020204020204" pitchFamily="34" charset="-122"/>
              <a:ea typeface="微软雅黑" panose="020B0503020204020204" pitchFamily="34" charset="-122"/>
            </a:endParaRPr>
          </a:p>
        </p:txBody>
      </p:sp>
      <p:sp>
        <p:nvSpPr>
          <p:cNvPr id="60" name="等腰三角形 59"/>
          <p:cNvSpPr/>
          <p:nvPr/>
        </p:nvSpPr>
        <p:spPr>
          <a:xfrm rot="5400000">
            <a:off x="3349256" y="669975"/>
            <a:ext cx="192943" cy="166330"/>
          </a:xfrm>
          <a:prstGeom prst="triangle">
            <a:avLst/>
          </a:prstGeom>
          <a:solidFill>
            <a:srgbClr val="004C9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 name="文本框 60"/>
          <p:cNvSpPr txBox="1"/>
          <p:nvPr/>
        </p:nvSpPr>
        <p:spPr>
          <a:xfrm>
            <a:off x="6873124" y="553085"/>
            <a:ext cx="2755901" cy="398780"/>
          </a:xfrm>
          <a:prstGeom prst="rect">
            <a:avLst/>
          </a:prstGeom>
          <a:noFill/>
        </p:spPr>
        <p:txBody>
          <a:bodyPr wrap="square" rtlCol="0">
            <a:spAutoFit/>
          </a:bodyPr>
          <a:lstStyle/>
          <a:p>
            <a:pPr algn="ctr"/>
            <a:r>
              <a:rPr lang="zh-CN" altLang="en-US" sz="2000" b="1" dirty="0">
                <a:solidFill>
                  <a:schemeClr val="bg1">
                    <a:lumMod val="65000"/>
                  </a:schemeClr>
                </a:solidFill>
                <a:latin typeface="微软雅黑" panose="020B0503020204020204" pitchFamily="34" charset="-122"/>
                <a:ea typeface="微软雅黑" panose="020B0503020204020204" pitchFamily="34" charset="-122"/>
              </a:rPr>
              <a:t>创新与特点</a:t>
            </a:r>
            <a:endParaRPr lang="zh-CN" altLang="en-US" sz="2000" b="1" dirty="0">
              <a:solidFill>
                <a:schemeClr val="bg1">
                  <a:lumMod val="65000"/>
                </a:schemeClr>
              </a:solidFill>
              <a:latin typeface="微软雅黑" panose="020B0503020204020204" pitchFamily="34" charset="-122"/>
              <a:ea typeface="微软雅黑" panose="020B0503020204020204" pitchFamily="34" charset="-122"/>
            </a:endParaRPr>
          </a:p>
        </p:txBody>
      </p:sp>
      <p:sp>
        <p:nvSpPr>
          <p:cNvPr id="62" name="文本框 61"/>
          <p:cNvSpPr txBox="1"/>
          <p:nvPr/>
        </p:nvSpPr>
        <p:spPr>
          <a:xfrm>
            <a:off x="9102720" y="553085"/>
            <a:ext cx="2755901" cy="398780"/>
          </a:xfrm>
          <a:prstGeom prst="rect">
            <a:avLst/>
          </a:prstGeom>
          <a:noFill/>
        </p:spPr>
        <p:txBody>
          <a:bodyPr wrap="square" rtlCol="0">
            <a:spAutoFit/>
          </a:bodyPr>
          <a:lstStyle/>
          <a:p>
            <a:pPr algn="ctr"/>
            <a:r>
              <a:rPr lang="zh-CN" altLang="en-US" sz="2000" b="1" dirty="0">
                <a:solidFill>
                  <a:schemeClr val="bg1">
                    <a:lumMod val="65000"/>
                  </a:schemeClr>
                </a:solidFill>
                <a:latin typeface="微软雅黑" panose="020B0503020204020204" pitchFamily="34" charset="-122"/>
                <a:ea typeface="微软雅黑" panose="020B0503020204020204" pitchFamily="34" charset="-122"/>
              </a:rPr>
              <a:t>时间安排计划</a:t>
            </a:r>
            <a:endParaRPr lang="zh-CN" altLang="en-US" sz="2000" b="1" dirty="0">
              <a:solidFill>
                <a:schemeClr val="bg1">
                  <a:lumMod val="65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2"/>
                                        </p:tgtEl>
                                        <p:attrNameLst>
                                          <p:attrName>style.visibility</p:attrName>
                                        </p:attrNameLst>
                                      </p:cBhvr>
                                      <p:to>
                                        <p:strVal val="visible"/>
                                      </p:to>
                                    </p:set>
                                    <p:animEffect transition="in" filter="fade">
                                      <p:cBhvr>
                                        <p:cTn id="7" dur="5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7" name="剪去单角的矩形 226"/>
          <p:cNvSpPr/>
          <p:nvPr/>
        </p:nvSpPr>
        <p:spPr>
          <a:xfrm rot="16200000">
            <a:off x="4702439" y="-631561"/>
            <a:ext cx="6858000" cy="8121122"/>
          </a:xfrm>
          <a:prstGeom prst="snip1Rect">
            <a:avLst>
              <a:gd name="adj" fmla="val 50000"/>
            </a:avLst>
          </a:prstGeom>
          <a:solidFill>
            <a:srgbClr val="004C9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7" name="组合 6"/>
          <p:cNvGrpSpPr/>
          <p:nvPr/>
        </p:nvGrpSpPr>
        <p:grpSpPr>
          <a:xfrm>
            <a:off x="490537" y="472440"/>
            <a:ext cx="11210925" cy="6019800"/>
            <a:chOff x="490484" y="441960"/>
            <a:chExt cx="11211033" cy="6019801"/>
          </a:xfrm>
        </p:grpSpPr>
        <p:pic>
          <p:nvPicPr>
            <p:cNvPr id="8" name="图片 7"/>
            <p:cNvPicPr>
              <a:picLocks noChangeAspect="1"/>
            </p:cNvPicPr>
            <p:nvPr userDrawn="1"/>
          </p:nvPicPr>
          <p:blipFill rotWithShape="1">
            <a:blip r:embed="rId1">
              <a:extLst>
                <a:ext uri="{28A0092B-C50C-407E-A947-70E740481C1C}">
                  <a14:useLocalDpi xmlns:a14="http://schemas.microsoft.com/office/drawing/2010/main" val="0"/>
                </a:ext>
              </a:extLst>
            </a:blip>
            <a:srcRect l="1515" t="4277" r="530" b="14319"/>
            <a:stretch>
              <a:fillRect/>
            </a:stretch>
          </p:blipFill>
          <p:spPr>
            <a:xfrm>
              <a:off x="490484" y="441960"/>
              <a:ext cx="11211033" cy="6019801"/>
            </a:xfrm>
            <a:prstGeom prst="rect">
              <a:avLst/>
            </a:prstGeom>
            <a:effectLst>
              <a:outerShdw blurRad="355600" dist="139700" dir="2700000" algn="tl" rotWithShape="0">
                <a:prstClr val="black">
                  <a:alpha val="61000"/>
                </a:prstClr>
              </a:outerShdw>
            </a:effectLst>
          </p:spPr>
        </p:pic>
        <p:sp>
          <p:nvSpPr>
            <p:cNvPr id="9" name="矩形 8"/>
            <p:cNvSpPr/>
            <p:nvPr/>
          </p:nvSpPr>
          <p:spPr>
            <a:xfrm>
              <a:off x="490484" y="441960"/>
              <a:ext cx="11211032" cy="6019801"/>
            </a:xfrm>
            <a:prstGeom prst="rect">
              <a:avLst/>
            </a:prstGeom>
            <a:solidFill>
              <a:srgbClr val="FFFEF7">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400" b="1" dirty="0">
                <a:solidFill>
                  <a:srgbClr val="004C9E"/>
                </a:solidFill>
                <a:latin typeface="微软雅黑" panose="020B0503020204020204" pitchFamily="34" charset="-122"/>
                <a:ea typeface="微软雅黑" panose="020B0503020204020204" pitchFamily="34" charset="-122"/>
              </a:endParaRPr>
            </a:p>
          </p:txBody>
        </p:sp>
      </p:grpSp>
      <p:sp>
        <p:nvSpPr>
          <p:cNvPr id="10" name="文本框 9"/>
          <p:cNvSpPr txBox="1"/>
          <p:nvPr/>
        </p:nvSpPr>
        <p:spPr>
          <a:xfrm>
            <a:off x="394507" y="553085"/>
            <a:ext cx="2001520" cy="398780"/>
          </a:xfrm>
          <a:prstGeom prst="rect">
            <a:avLst/>
          </a:prstGeom>
          <a:noFill/>
        </p:spPr>
        <p:txBody>
          <a:bodyPr wrap="square" rtlCol="0">
            <a:spAutoFit/>
          </a:bodyPr>
          <a:lstStyle/>
          <a:p>
            <a:pPr algn="ctr"/>
            <a:r>
              <a:rPr lang="zh-CN" altLang="en-US" sz="2000" b="1" dirty="0">
                <a:solidFill>
                  <a:srgbClr val="A6A6A6"/>
                </a:solidFill>
                <a:latin typeface="微软雅黑" panose="020B0503020204020204" pitchFamily="34" charset="-122"/>
                <a:ea typeface="微软雅黑" panose="020B0503020204020204" pitchFamily="34" charset="-122"/>
              </a:rPr>
              <a:t>立项背景及意义</a:t>
            </a:r>
            <a:endParaRPr lang="zh-CN" altLang="en-US" sz="2000" b="1" dirty="0">
              <a:solidFill>
                <a:srgbClr val="A6A6A6"/>
              </a:solidFill>
              <a:latin typeface="微软雅黑" panose="020B0503020204020204" pitchFamily="34" charset="-122"/>
              <a:ea typeface="微软雅黑" panose="020B0503020204020204" pitchFamily="34" charset="-122"/>
            </a:endParaRPr>
          </a:p>
        </p:txBody>
      </p:sp>
      <p:cxnSp>
        <p:nvCxnSpPr>
          <p:cNvPr id="43" name="直接连接符 42"/>
          <p:cNvCxnSpPr/>
          <p:nvPr/>
        </p:nvCxnSpPr>
        <p:spPr>
          <a:xfrm>
            <a:off x="899088" y="6096082"/>
            <a:ext cx="9058311" cy="4300"/>
          </a:xfrm>
          <a:prstGeom prst="line">
            <a:avLst/>
          </a:prstGeom>
        </p:spPr>
        <p:style>
          <a:lnRef idx="1">
            <a:schemeClr val="accent1"/>
          </a:lnRef>
          <a:fillRef idx="0">
            <a:schemeClr val="accent1"/>
          </a:fillRef>
          <a:effectRef idx="0">
            <a:schemeClr val="accent1"/>
          </a:effectRef>
          <a:fontRef idx="minor">
            <a:schemeClr val="tx1"/>
          </a:fontRef>
        </p:style>
      </p:cxnSp>
      <p:sp>
        <p:nvSpPr>
          <p:cNvPr id="14" name="文本框 13"/>
          <p:cNvSpPr txBox="1"/>
          <p:nvPr/>
        </p:nvSpPr>
        <p:spPr>
          <a:xfrm>
            <a:off x="2445681" y="553085"/>
            <a:ext cx="2001520" cy="398780"/>
          </a:xfrm>
          <a:prstGeom prst="rect">
            <a:avLst/>
          </a:prstGeom>
          <a:noFill/>
        </p:spPr>
        <p:txBody>
          <a:bodyPr wrap="square" rtlCol="0">
            <a:spAutoFit/>
          </a:bodyPr>
          <a:lstStyle/>
          <a:p>
            <a:pPr algn="ctr"/>
            <a:r>
              <a:rPr lang="zh-CN" altLang="en-US" sz="2000" b="1" dirty="0">
                <a:solidFill>
                  <a:schemeClr val="bg1">
                    <a:lumMod val="65000"/>
                  </a:schemeClr>
                </a:solidFill>
                <a:latin typeface="微软雅黑" panose="020B0503020204020204" pitchFamily="34" charset="-122"/>
                <a:ea typeface="微软雅黑" panose="020B0503020204020204" pitchFamily="34" charset="-122"/>
              </a:rPr>
              <a:t>研究内容</a:t>
            </a:r>
            <a:endParaRPr lang="zh-CN" altLang="en-US" sz="2000" b="1" dirty="0">
              <a:solidFill>
                <a:schemeClr val="bg1">
                  <a:lumMod val="65000"/>
                </a:schemeClr>
              </a:solidFill>
              <a:latin typeface="微软雅黑" panose="020B0503020204020204" pitchFamily="34" charset="-122"/>
              <a:ea typeface="微软雅黑" panose="020B0503020204020204" pitchFamily="34" charset="-122"/>
            </a:endParaRPr>
          </a:p>
        </p:txBody>
      </p:sp>
      <p:sp>
        <p:nvSpPr>
          <p:cNvPr id="15" name="文本框 14"/>
          <p:cNvSpPr txBox="1"/>
          <p:nvPr/>
        </p:nvSpPr>
        <p:spPr>
          <a:xfrm>
            <a:off x="4543231" y="553085"/>
            <a:ext cx="2001520" cy="398780"/>
          </a:xfrm>
          <a:prstGeom prst="rect">
            <a:avLst/>
          </a:prstGeom>
          <a:noFill/>
        </p:spPr>
        <p:txBody>
          <a:bodyPr wrap="square" rtlCol="0">
            <a:spAutoFit/>
          </a:bodyPr>
          <a:lstStyle/>
          <a:p>
            <a:pPr algn="ctr"/>
            <a:r>
              <a:rPr lang="zh-CN" altLang="en-US" sz="2000" b="1" dirty="0">
                <a:solidFill>
                  <a:srgbClr val="004C9E"/>
                </a:solidFill>
                <a:latin typeface="微软雅黑" panose="020B0503020204020204" pitchFamily="34" charset="-122"/>
                <a:ea typeface="微软雅黑" panose="020B0503020204020204" pitchFamily="34" charset="-122"/>
              </a:rPr>
              <a:t>拟采用技术路线</a:t>
            </a:r>
            <a:endParaRPr lang="zh-CN" altLang="en-US" sz="2000" b="1" dirty="0">
              <a:solidFill>
                <a:srgbClr val="004C9E"/>
              </a:solidFill>
              <a:latin typeface="微软雅黑" panose="020B0503020204020204" pitchFamily="34" charset="-122"/>
              <a:ea typeface="微软雅黑" panose="020B0503020204020204" pitchFamily="34" charset="-122"/>
            </a:endParaRPr>
          </a:p>
        </p:txBody>
      </p:sp>
      <p:sp>
        <p:nvSpPr>
          <p:cNvPr id="16" name="文本框 15"/>
          <p:cNvSpPr txBox="1"/>
          <p:nvPr/>
        </p:nvSpPr>
        <p:spPr>
          <a:xfrm>
            <a:off x="6485324" y="553085"/>
            <a:ext cx="2755901" cy="398780"/>
          </a:xfrm>
          <a:prstGeom prst="rect">
            <a:avLst/>
          </a:prstGeom>
          <a:noFill/>
        </p:spPr>
        <p:txBody>
          <a:bodyPr wrap="square" rtlCol="0">
            <a:spAutoFit/>
          </a:bodyPr>
          <a:lstStyle/>
          <a:p>
            <a:pPr algn="ctr"/>
            <a:r>
              <a:rPr lang="zh-CN" altLang="en-US" sz="2000" b="1" dirty="0">
                <a:solidFill>
                  <a:schemeClr val="bg1">
                    <a:lumMod val="65000"/>
                  </a:schemeClr>
                </a:solidFill>
                <a:latin typeface="微软雅黑" panose="020B0503020204020204" pitchFamily="34" charset="-122"/>
                <a:ea typeface="微软雅黑" panose="020B0503020204020204" pitchFamily="34" charset="-122"/>
              </a:rPr>
              <a:t>创新与特点</a:t>
            </a:r>
            <a:endParaRPr lang="zh-CN" altLang="en-US" sz="2000" b="1" dirty="0">
              <a:solidFill>
                <a:schemeClr val="bg1">
                  <a:lumMod val="65000"/>
                </a:schemeClr>
              </a:solidFill>
              <a:latin typeface="微软雅黑" panose="020B0503020204020204" pitchFamily="34" charset="-122"/>
              <a:ea typeface="微软雅黑" panose="020B0503020204020204" pitchFamily="34" charset="-122"/>
            </a:endParaRPr>
          </a:p>
        </p:txBody>
      </p:sp>
      <p:sp>
        <p:nvSpPr>
          <p:cNvPr id="17" name="文本框 16"/>
          <p:cNvSpPr txBox="1"/>
          <p:nvPr/>
        </p:nvSpPr>
        <p:spPr>
          <a:xfrm>
            <a:off x="9102720" y="553085"/>
            <a:ext cx="2755901" cy="398780"/>
          </a:xfrm>
          <a:prstGeom prst="rect">
            <a:avLst/>
          </a:prstGeom>
          <a:noFill/>
        </p:spPr>
        <p:txBody>
          <a:bodyPr wrap="square" rtlCol="0">
            <a:spAutoFit/>
          </a:bodyPr>
          <a:lstStyle/>
          <a:p>
            <a:pPr algn="ctr"/>
            <a:r>
              <a:rPr lang="zh-CN" altLang="en-US" sz="2000" b="1" dirty="0">
                <a:solidFill>
                  <a:schemeClr val="bg1">
                    <a:lumMod val="65000"/>
                  </a:schemeClr>
                </a:solidFill>
                <a:latin typeface="微软雅黑" panose="020B0503020204020204" pitchFamily="34" charset="-122"/>
                <a:ea typeface="微软雅黑" panose="020B0503020204020204" pitchFamily="34" charset="-122"/>
              </a:rPr>
              <a:t>时间安排计划</a:t>
            </a:r>
            <a:endParaRPr lang="zh-CN" altLang="en-US" sz="2000" b="1" dirty="0">
              <a:solidFill>
                <a:schemeClr val="bg1">
                  <a:lumMod val="65000"/>
                </a:schemeClr>
              </a:solidFill>
              <a:latin typeface="微软雅黑" panose="020B0503020204020204" pitchFamily="34" charset="-122"/>
              <a:ea typeface="微软雅黑" panose="020B0503020204020204" pitchFamily="34" charset="-122"/>
            </a:endParaRPr>
          </a:p>
        </p:txBody>
      </p:sp>
      <p:sp>
        <p:nvSpPr>
          <p:cNvPr id="18" name="等腰三角形 17"/>
          <p:cNvSpPr/>
          <p:nvPr/>
        </p:nvSpPr>
        <p:spPr>
          <a:xfrm rot="5400000">
            <a:off x="4433618" y="669975"/>
            <a:ext cx="192943" cy="166330"/>
          </a:xfrm>
          <a:prstGeom prst="triangle">
            <a:avLst/>
          </a:prstGeom>
          <a:solidFill>
            <a:srgbClr val="004C9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0" name="PA-矩形 4"/>
          <p:cNvSpPr>
            <a:spLocks noChangeArrowheads="1"/>
          </p:cNvSpPr>
          <p:nvPr>
            <p:custDataLst>
              <p:tags r:id="rId2"/>
            </p:custDataLst>
          </p:nvPr>
        </p:nvSpPr>
        <p:spPr bwMode="auto">
          <a:xfrm>
            <a:off x="7122281" y="2132842"/>
            <a:ext cx="3776255" cy="415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pPr>
            <a:r>
              <a:rPr lang="zh-CN" altLang="en-US" dirty="0">
                <a:solidFill>
                  <a:schemeClr val="tx1">
                    <a:lumMod val="65000"/>
                    <a:lumOff val="35000"/>
                  </a:schemeClr>
                </a:solidFill>
                <a:latin typeface="微软雅黑" panose="020B0503020204020204" pitchFamily="34" charset="-122"/>
                <a:ea typeface="微软雅黑" panose="020B0503020204020204" pitchFamily="34" charset="-122"/>
                <a:cs typeface="OPPOSans M" panose="00020600040101010101" pitchFamily="18" charset="-122"/>
                <a:sym typeface="+mn-lt"/>
              </a:rPr>
              <a:t>边缘感知与执行层（硬件终端）</a:t>
            </a:r>
            <a:endParaRPr lang="zh-CN" altLang="en-US" dirty="0">
              <a:solidFill>
                <a:schemeClr val="tx1">
                  <a:lumMod val="65000"/>
                  <a:lumOff val="35000"/>
                </a:schemeClr>
              </a:solidFill>
              <a:latin typeface="微软雅黑" panose="020B0503020204020204" pitchFamily="34" charset="-122"/>
              <a:ea typeface="微软雅黑" panose="020B0503020204020204" pitchFamily="34" charset="-122"/>
              <a:cs typeface="OPPOSans M" panose="00020600040101010101" pitchFamily="18" charset="-122"/>
              <a:sym typeface="+mn-lt"/>
            </a:endParaRPr>
          </a:p>
        </p:txBody>
      </p:sp>
      <p:sp>
        <p:nvSpPr>
          <p:cNvPr id="225" name="PA-矩形 4"/>
          <p:cNvSpPr>
            <a:spLocks noChangeArrowheads="1"/>
          </p:cNvSpPr>
          <p:nvPr>
            <p:custDataLst>
              <p:tags r:id="rId3"/>
            </p:custDataLst>
          </p:nvPr>
        </p:nvSpPr>
        <p:spPr bwMode="auto">
          <a:xfrm>
            <a:off x="7394696" y="3274987"/>
            <a:ext cx="3776255" cy="415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pPr>
            <a:r>
              <a:rPr lang="zh-CN" altLang="en-US" dirty="0">
                <a:solidFill>
                  <a:schemeClr val="tx1">
                    <a:lumMod val="65000"/>
                    <a:lumOff val="35000"/>
                  </a:schemeClr>
                </a:solidFill>
                <a:latin typeface="微软雅黑" panose="020B0503020204020204" pitchFamily="34" charset="-122"/>
                <a:ea typeface="微软雅黑" panose="020B0503020204020204" pitchFamily="34" charset="-122"/>
                <a:cs typeface="OPPOSans M" panose="00020600040101010101" pitchFamily="18" charset="-122"/>
                <a:sym typeface="+mn-lt"/>
              </a:rPr>
              <a:t>智能分析与决策层（云端服务器）</a:t>
            </a:r>
            <a:endParaRPr lang="zh-CN" altLang="en-US" dirty="0">
              <a:solidFill>
                <a:schemeClr val="tx1">
                  <a:lumMod val="65000"/>
                  <a:lumOff val="35000"/>
                </a:schemeClr>
              </a:solidFill>
              <a:latin typeface="微软雅黑" panose="020B0503020204020204" pitchFamily="34" charset="-122"/>
              <a:ea typeface="微软雅黑" panose="020B0503020204020204" pitchFamily="34" charset="-122"/>
              <a:cs typeface="OPPOSans M" panose="00020600040101010101" pitchFamily="18" charset="-122"/>
              <a:sym typeface="+mn-lt"/>
            </a:endParaRPr>
          </a:p>
        </p:txBody>
      </p:sp>
      <p:sp>
        <p:nvSpPr>
          <p:cNvPr id="226" name="PA-矩形 4"/>
          <p:cNvSpPr>
            <a:spLocks noChangeArrowheads="1"/>
          </p:cNvSpPr>
          <p:nvPr>
            <p:custDataLst>
              <p:tags r:id="rId4"/>
            </p:custDataLst>
          </p:nvPr>
        </p:nvSpPr>
        <p:spPr bwMode="auto">
          <a:xfrm>
            <a:off x="7084816" y="4715958"/>
            <a:ext cx="3776255" cy="415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pPr>
            <a:r>
              <a:rPr lang="zh-CN" altLang="en-US" dirty="0">
                <a:solidFill>
                  <a:schemeClr val="tx1">
                    <a:lumMod val="65000"/>
                    <a:lumOff val="35000"/>
                  </a:schemeClr>
                </a:solidFill>
                <a:latin typeface="微软雅黑" panose="020B0503020204020204" pitchFamily="34" charset="-122"/>
                <a:ea typeface="微软雅黑" panose="020B0503020204020204" pitchFamily="34" charset="-122"/>
                <a:cs typeface="OPPOSans M" panose="00020600040101010101" pitchFamily="18" charset="-122"/>
                <a:sym typeface="+mn-lt"/>
              </a:rPr>
              <a:t>应用展示与交互层（前端界面）</a:t>
            </a:r>
            <a:endParaRPr lang="zh-CN" altLang="en-US" dirty="0">
              <a:solidFill>
                <a:schemeClr val="tx1">
                  <a:lumMod val="65000"/>
                  <a:lumOff val="35000"/>
                </a:schemeClr>
              </a:solidFill>
              <a:latin typeface="微软雅黑" panose="020B0503020204020204" pitchFamily="34" charset="-122"/>
              <a:ea typeface="微软雅黑" panose="020B0503020204020204" pitchFamily="34" charset="-122"/>
              <a:cs typeface="OPPOSans M" panose="00020600040101010101" pitchFamily="18" charset="-122"/>
              <a:sym typeface="+mn-lt"/>
            </a:endParaRPr>
          </a:p>
        </p:txBody>
      </p:sp>
      <p:grpSp>
        <p:nvGrpSpPr>
          <p:cNvPr id="210" name="组合 209"/>
          <p:cNvGrpSpPr/>
          <p:nvPr>
            <p:custDataLst>
              <p:tags r:id="rId5"/>
            </p:custDataLst>
          </p:nvPr>
        </p:nvGrpSpPr>
        <p:grpSpPr>
          <a:xfrm>
            <a:off x="6135172" y="2051600"/>
            <a:ext cx="856012" cy="3268786"/>
            <a:chOff x="5747919" y="2002560"/>
            <a:chExt cx="937293" cy="3579169"/>
          </a:xfrm>
        </p:grpSpPr>
        <p:sp>
          <p:nvSpPr>
            <p:cNvPr id="211" name="îṩļíďè"/>
            <p:cNvSpPr/>
            <p:nvPr>
              <p:custDataLst>
                <p:tags r:id="rId6"/>
              </p:custDataLst>
            </p:nvPr>
          </p:nvSpPr>
          <p:spPr>
            <a:xfrm>
              <a:off x="5747919" y="2002560"/>
              <a:ext cx="692424" cy="692424"/>
            </a:xfrm>
            <a:prstGeom prst="ellipse">
              <a:avLst/>
            </a:prstGeom>
            <a:solidFill>
              <a:srgbClr val="5B9BD5"/>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dirty="0">
                <a:latin typeface="微软雅黑" panose="020B0503020204020204" pitchFamily="34" charset="-122"/>
                <a:ea typeface="微软雅黑" panose="020B0503020204020204" pitchFamily="34" charset="-122"/>
              </a:endParaRPr>
            </a:p>
          </p:txBody>
        </p:sp>
        <p:sp>
          <p:nvSpPr>
            <p:cNvPr id="212" name="i$1îḍé"/>
            <p:cNvSpPr/>
            <p:nvPr>
              <p:custDataLst>
                <p:tags r:id="rId7"/>
              </p:custDataLst>
            </p:nvPr>
          </p:nvSpPr>
          <p:spPr>
            <a:xfrm>
              <a:off x="5947510" y="2223268"/>
              <a:ext cx="325689" cy="273702"/>
            </a:xfrm>
            <a:custGeom>
              <a:avLst/>
              <a:gdLst>
                <a:gd name="connsiteX0" fmla="*/ 120521 w 338138"/>
                <a:gd name="connsiteY0" fmla="*/ 168275 h 284163"/>
                <a:gd name="connsiteX1" fmla="*/ 217618 w 338138"/>
                <a:gd name="connsiteY1" fmla="*/ 168275 h 284163"/>
                <a:gd name="connsiteX2" fmla="*/ 233363 w 338138"/>
                <a:gd name="connsiteY2" fmla="*/ 184840 h 284163"/>
                <a:gd name="connsiteX3" fmla="*/ 217618 w 338138"/>
                <a:gd name="connsiteY3" fmla="*/ 200025 h 284163"/>
                <a:gd name="connsiteX4" fmla="*/ 120521 w 338138"/>
                <a:gd name="connsiteY4" fmla="*/ 200025 h 284163"/>
                <a:gd name="connsiteX5" fmla="*/ 104775 w 338138"/>
                <a:gd name="connsiteY5" fmla="*/ 184840 h 284163"/>
                <a:gd name="connsiteX6" fmla="*/ 120521 w 338138"/>
                <a:gd name="connsiteY6" fmla="*/ 168275 h 284163"/>
                <a:gd name="connsiteX7" fmla="*/ 30163 w 338138"/>
                <a:gd name="connsiteY7" fmla="*/ 112712 h 284163"/>
                <a:gd name="connsiteX8" fmla="*/ 30163 w 338138"/>
                <a:gd name="connsiteY8" fmla="*/ 255587 h 284163"/>
                <a:gd name="connsiteX9" fmla="*/ 307976 w 338138"/>
                <a:gd name="connsiteY9" fmla="*/ 255587 h 284163"/>
                <a:gd name="connsiteX10" fmla="*/ 307976 w 338138"/>
                <a:gd name="connsiteY10" fmla="*/ 112712 h 284163"/>
                <a:gd name="connsiteX11" fmla="*/ 57150 w 338138"/>
                <a:gd name="connsiteY11" fmla="*/ 30162 h 284163"/>
                <a:gd name="connsiteX12" fmla="*/ 38100 w 338138"/>
                <a:gd name="connsiteY12" fmla="*/ 84137 h 284163"/>
                <a:gd name="connsiteX13" fmla="*/ 301625 w 338138"/>
                <a:gd name="connsiteY13" fmla="*/ 84137 h 284163"/>
                <a:gd name="connsiteX14" fmla="*/ 280988 w 338138"/>
                <a:gd name="connsiteY14" fmla="*/ 30162 h 284163"/>
                <a:gd name="connsiteX15" fmla="*/ 46230 w 338138"/>
                <a:gd name="connsiteY15" fmla="*/ 0 h 284163"/>
                <a:gd name="connsiteX16" fmla="*/ 291908 w 338138"/>
                <a:gd name="connsiteY16" fmla="*/ 0 h 284163"/>
                <a:gd name="connsiteX17" fmla="*/ 306438 w 338138"/>
                <a:gd name="connsiteY17" fmla="*/ 9209 h 284163"/>
                <a:gd name="connsiteX18" fmla="*/ 336817 w 338138"/>
                <a:gd name="connsiteY18" fmla="*/ 92090 h 284163"/>
                <a:gd name="connsiteX19" fmla="*/ 338138 w 338138"/>
                <a:gd name="connsiteY19" fmla="*/ 94721 h 284163"/>
                <a:gd name="connsiteX20" fmla="*/ 338138 w 338138"/>
                <a:gd name="connsiteY20" fmla="*/ 97352 h 284163"/>
                <a:gd name="connsiteX21" fmla="*/ 338138 w 338138"/>
                <a:gd name="connsiteY21" fmla="*/ 269692 h 284163"/>
                <a:gd name="connsiteX22" fmla="*/ 322288 w 338138"/>
                <a:gd name="connsiteY22" fmla="*/ 284163 h 284163"/>
                <a:gd name="connsiteX23" fmla="*/ 15850 w 338138"/>
                <a:gd name="connsiteY23" fmla="*/ 284163 h 284163"/>
                <a:gd name="connsiteX24" fmla="*/ 0 w 338138"/>
                <a:gd name="connsiteY24" fmla="*/ 269692 h 284163"/>
                <a:gd name="connsiteX25" fmla="*/ 0 w 338138"/>
                <a:gd name="connsiteY25" fmla="*/ 97352 h 284163"/>
                <a:gd name="connsiteX26" fmla="*/ 0 w 338138"/>
                <a:gd name="connsiteY26" fmla="*/ 94721 h 284163"/>
                <a:gd name="connsiteX27" fmla="*/ 1321 w 338138"/>
                <a:gd name="connsiteY27" fmla="*/ 92090 h 284163"/>
                <a:gd name="connsiteX28" fmla="*/ 31700 w 338138"/>
                <a:gd name="connsiteY28" fmla="*/ 9209 h 284163"/>
                <a:gd name="connsiteX29" fmla="*/ 46230 w 338138"/>
                <a:gd name="connsiteY29" fmla="*/ 0 h 284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38138" h="284163">
                  <a:moveTo>
                    <a:pt x="120521" y="168275"/>
                  </a:moveTo>
                  <a:cubicBezTo>
                    <a:pt x="120521" y="168275"/>
                    <a:pt x="120521" y="168275"/>
                    <a:pt x="217618" y="168275"/>
                  </a:cubicBezTo>
                  <a:cubicBezTo>
                    <a:pt x="226803" y="168275"/>
                    <a:pt x="233363" y="175177"/>
                    <a:pt x="233363" y="184840"/>
                  </a:cubicBezTo>
                  <a:cubicBezTo>
                    <a:pt x="233363" y="193123"/>
                    <a:pt x="226803" y="200025"/>
                    <a:pt x="217618" y="200025"/>
                  </a:cubicBezTo>
                  <a:cubicBezTo>
                    <a:pt x="217618" y="200025"/>
                    <a:pt x="217618" y="200025"/>
                    <a:pt x="120521" y="200025"/>
                  </a:cubicBezTo>
                  <a:cubicBezTo>
                    <a:pt x="111336" y="200025"/>
                    <a:pt x="104775" y="193123"/>
                    <a:pt x="104775" y="184840"/>
                  </a:cubicBezTo>
                  <a:cubicBezTo>
                    <a:pt x="104775" y="175177"/>
                    <a:pt x="111336" y="168275"/>
                    <a:pt x="120521" y="168275"/>
                  </a:cubicBezTo>
                  <a:close/>
                  <a:moveTo>
                    <a:pt x="30163" y="112712"/>
                  </a:moveTo>
                  <a:lnTo>
                    <a:pt x="30163" y="255587"/>
                  </a:lnTo>
                  <a:lnTo>
                    <a:pt x="307976" y="255587"/>
                  </a:lnTo>
                  <a:lnTo>
                    <a:pt x="307976" y="112712"/>
                  </a:lnTo>
                  <a:close/>
                  <a:moveTo>
                    <a:pt x="57150" y="30162"/>
                  </a:moveTo>
                  <a:lnTo>
                    <a:pt x="38100" y="84137"/>
                  </a:lnTo>
                  <a:lnTo>
                    <a:pt x="301625" y="84137"/>
                  </a:lnTo>
                  <a:lnTo>
                    <a:pt x="280988" y="30162"/>
                  </a:lnTo>
                  <a:close/>
                  <a:moveTo>
                    <a:pt x="46230" y="0"/>
                  </a:moveTo>
                  <a:cubicBezTo>
                    <a:pt x="46230" y="0"/>
                    <a:pt x="46230" y="0"/>
                    <a:pt x="291908" y="0"/>
                  </a:cubicBezTo>
                  <a:cubicBezTo>
                    <a:pt x="298513" y="0"/>
                    <a:pt x="305117" y="3946"/>
                    <a:pt x="306438" y="9209"/>
                  </a:cubicBezTo>
                  <a:cubicBezTo>
                    <a:pt x="306438" y="9209"/>
                    <a:pt x="306438" y="9209"/>
                    <a:pt x="336817" y="92090"/>
                  </a:cubicBezTo>
                  <a:cubicBezTo>
                    <a:pt x="336817" y="93405"/>
                    <a:pt x="338138" y="93405"/>
                    <a:pt x="338138" y="94721"/>
                  </a:cubicBezTo>
                  <a:cubicBezTo>
                    <a:pt x="338138" y="94721"/>
                    <a:pt x="338138" y="96036"/>
                    <a:pt x="338138" y="97352"/>
                  </a:cubicBezTo>
                  <a:cubicBezTo>
                    <a:pt x="338138" y="97352"/>
                    <a:pt x="338138" y="97352"/>
                    <a:pt x="338138" y="269692"/>
                  </a:cubicBezTo>
                  <a:cubicBezTo>
                    <a:pt x="338138" y="277585"/>
                    <a:pt x="331534" y="284163"/>
                    <a:pt x="322288" y="284163"/>
                  </a:cubicBezTo>
                  <a:cubicBezTo>
                    <a:pt x="322288" y="284163"/>
                    <a:pt x="322288" y="284163"/>
                    <a:pt x="15850" y="284163"/>
                  </a:cubicBezTo>
                  <a:cubicBezTo>
                    <a:pt x="6604" y="284163"/>
                    <a:pt x="0" y="277585"/>
                    <a:pt x="0" y="269692"/>
                  </a:cubicBezTo>
                  <a:cubicBezTo>
                    <a:pt x="0" y="269692"/>
                    <a:pt x="0" y="269692"/>
                    <a:pt x="0" y="97352"/>
                  </a:cubicBezTo>
                  <a:cubicBezTo>
                    <a:pt x="0" y="96036"/>
                    <a:pt x="0" y="94721"/>
                    <a:pt x="0" y="94721"/>
                  </a:cubicBezTo>
                  <a:cubicBezTo>
                    <a:pt x="0" y="93405"/>
                    <a:pt x="1321" y="93405"/>
                    <a:pt x="1321" y="92090"/>
                  </a:cubicBezTo>
                  <a:cubicBezTo>
                    <a:pt x="1321" y="92090"/>
                    <a:pt x="1321" y="92090"/>
                    <a:pt x="31700" y="9209"/>
                  </a:cubicBezTo>
                  <a:cubicBezTo>
                    <a:pt x="33021" y="3946"/>
                    <a:pt x="39625" y="0"/>
                    <a:pt x="46230" y="0"/>
                  </a:cubicBezTo>
                  <a:close/>
                </a:path>
              </a:pathLst>
            </a:custGeom>
            <a:solidFill>
              <a:schemeClr val="bg1"/>
            </a:solidFill>
            <a:ln w="3175"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fontScale="70000" lnSpcReduction="20000"/>
            </a:bodyPr>
            <a:lstStyle/>
            <a:p>
              <a:pPr algn="ctr"/>
              <a:endParaRPr dirty="0">
                <a:latin typeface="微软雅黑" panose="020B0503020204020204" pitchFamily="34" charset="-122"/>
                <a:ea typeface="微软雅黑" panose="020B0503020204020204" pitchFamily="34" charset="-122"/>
              </a:endParaRPr>
            </a:p>
          </p:txBody>
        </p:sp>
        <p:sp>
          <p:nvSpPr>
            <p:cNvPr id="213" name="îṩļíďè"/>
            <p:cNvSpPr/>
            <p:nvPr>
              <p:custDataLst>
                <p:tags r:id="rId8"/>
              </p:custDataLst>
            </p:nvPr>
          </p:nvSpPr>
          <p:spPr>
            <a:xfrm>
              <a:off x="5992788" y="3423782"/>
              <a:ext cx="692424" cy="692424"/>
            </a:xfrm>
            <a:prstGeom prst="ellipse">
              <a:avLst/>
            </a:prstGeom>
            <a:solidFill>
              <a:srgbClr val="5B9BD5"/>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dirty="0">
                <a:latin typeface="微软雅黑" panose="020B0503020204020204" pitchFamily="34" charset="-122"/>
                <a:ea typeface="微软雅黑" panose="020B0503020204020204" pitchFamily="34" charset="-122"/>
              </a:endParaRPr>
            </a:p>
          </p:txBody>
        </p:sp>
        <p:sp>
          <p:nvSpPr>
            <p:cNvPr id="214" name="i$1îḍé"/>
            <p:cNvSpPr/>
            <p:nvPr>
              <p:custDataLst>
                <p:tags r:id="rId9"/>
              </p:custDataLst>
            </p:nvPr>
          </p:nvSpPr>
          <p:spPr>
            <a:xfrm>
              <a:off x="6192379" y="3644490"/>
              <a:ext cx="325689" cy="273702"/>
            </a:xfrm>
            <a:custGeom>
              <a:avLst/>
              <a:gdLst>
                <a:gd name="connsiteX0" fmla="*/ 120521 w 338138"/>
                <a:gd name="connsiteY0" fmla="*/ 168275 h 284163"/>
                <a:gd name="connsiteX1" fmla="*/ 217618 w 338138"/>
                <a:gd name="connsiteY1" fmla="*/ 168275 h 284163"/>
                <a:gd name="connsiteX2" fmla="*/ 233363 w 338138"/>
                <a:gd name="connsiteY2" fmla="*/ 184840 h 284163"/>
                <a:gd name="connsiteX3" fmla="*/ 217618 w 338138"/>
                <a:gd name="connsiteY3" fmla="*/ 200025 h 284163"/>
                <a:gd name="connsiteX4" fmla="*/ 120521 w 338138"/>
                <a:gd name="connsiteY4" fmla="*/ 200025 h 284163"/>
                <a:gd name="connsiteX5" fmla="*/ 104775 w 338138"/>
                <a:gd name="connsiteY5" fmla="*/ 184840 h 284163"/>
                <a:gd name="connsiteX6" fmla="*/ 120521 w 338138"/>
                <a:gd name="connsiteY6" fmla="*/ 168275 h 284163"/>
                <a:gd name="connsiteX7" fmla="*/ 30163 w 338138"/>
                <a:gd name="connsiteY7" fmla="*/ 112712 h 284163"/>
                <a:gd name="connsiteX8" fmla="*/ 30163 w 338138"/>
                <a:gd name="connsiteY8" fmla="*/ 255587 h 284163"/>
                <a:gd name="connsiteX9" fmla="*/ 307976 w 338138"/>
                <a:gd name="connsiteY9" fmla="*/ 255587 h 284163"/>
                <a:gd name="connsiteX10" fmla="*/ 307976 w 338138"/>
                <a:gd name="connsiteY10" fmla="*/ 112712 h 284163"/>
                <a:gd name="connsiteX11" fmla="*/ 57150 w 338138"/>
                <a:gd name="connsiteY11" fmla="*/ 30162 h 284163"/>
                <a:gd name="connsiteX12" fmla="*/ 38100 w 338138"/>
                <a:gd name="connsiteY12" fmla="*/ 84137 h 284163"/>
                <a:gd name="connsiteX13" fmla="*/ 301625 w 338138"/>
                <a:gd name="connsiteY13" fmla="*/ 84137 h 284163"/>
                <a:gd name="connsiteX14" fmla="*/ 280988 w 338138"/>
                <a:gd name="connsiteY14" fmla="*/ 30162 h 284163"/>
                <a:gd name="connsiteX15" fmla="*/ 46230 w 338138"/>
                <a:gd name="connsiteY15" fmla="*/ 0 h 284163"/>
                <a:gd name="connsiteX16" fmla="*/ 291908 w 338138"/>
                <a:gd name="connsiteY16" fmla="*/ 0 h 284163"/>
                <a:gd name="connsiteX17" fmla="*/ 306438 w 338138"/>
                <a:gd name="connsiteY17" fmla="*/ 9209 h 284163"/>
                <a:gd name="connsiteX18" fmla="*/ 336817 w 338138"/>
                <a:gd name="connsiteY18" fmla="*/ 92090 h 284163"/>
                <a:gd name="connsiteX19" fmla="*/ 338138 w 338138"/>
                <a:gd name="connsiteY19" fmla="*/ 94721 h 284163"/>
                <a:gd name="connsiteX20" fmla="*/ 338138 w 338138"/>
                <a:gd name="connsiteY20" fmla="*/ 97352 h 284163"/>
                <a:gd name="connsiteX21" fmla="*/ 338138 w 338138"/>
                <a:gd name="connsiteY21" fmla="*/ 269692 h 284163"/>
                <a:gd name="connsiteX22" fmla="*/ 322288 w 338138"/>
                <a:gd name="connsiteY22" fmla="*/ 284163 h 284163"/>
                <a:gd name="connsiteX23" fmla="*/ 15850 w 338138"/>
                <a:gd name="connsiteY23" fmla="*/ 284163 h 284163"/>
                <a:gd name="connsiteX24" fmla="*/ 0 w 338138"/>
                <a:gd name="connsiteY24" fmla="*/ 269692 h 284163"/>
                <a:gd name="connsiteX25" fmla="*/ 0 w 338138"/>
                <a:gd name="connsiteY25" fmla="*/ 97352 h 284163"/>
                <a:gd name="connsiteX26" fmla="*/ 0 w 338138"/>
                <a:gd name="connsiteY26" fmla="*/ 94721 h 284163"/>
                <a:gd name="connsiteX27" fmla="*/ 1321 w 338138"/>
                <a:gd name="connsiteY27" fmla="*/ 92090 h 284163"/>
                <a:gd name="connsiteX28" fmla="*/ 31700 w 338138"/>
                <a:gd name="connsiteY28" fmla="*/ 9209 h 284163"/>
                <a:gd name="connsiteX29" fmla="*/ 46230 w 338138"/>
                <a:gd name="connsiteY29" fmla="*/ 0 h 284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38138" h="284163">
                  <a:moveTo>
                    <a:pt x="120521" y="168275"/>
                  </a:moveTo>
                  <a:cubicBezTo>
                    <a:pt x="120521" y="168275"/>
                    <a:pt x="120521" y="168275"/>
                    <a:pt x="217618" y="168275"/>
                  </a:cubicBezTo>
                  <a:cubicBezTo>
                    <a:pt x="226803" y="168275"/>
                    <a:pt x="233363" y="175177"/>
                    <a:pt x="233363" y="184840"/>
                  </a:cubicBezTo>
                  <a:cubicBezTo>
                    <a:pt x="233363" y="193123"/>
                    <a:pt x="226803" y="200025"/>
                    <a:pt x="217618" y="200025"/>
                  </a:cubicBezTo>
                  <a:cubicBezTo>
                    <a:pt x="217618" y="200025"/>
                    <a:pt x="217618" y="200025"/>
                    <a:pt x="120521" y="200025"/>
                  </a:cubicBezTo>
                  <a:cubicBezTo>
                    <a:pt x="111336" y="200025"/>
                    <a:pt x="104775" y="193123"/>
                    <a:pt x="104775" y="184840"/>
                  </a:cubicBezTo>
                  <a:cubicBezTo>
                    <a:pt x="104775" y="175177"/>
                    <a:pt x="111336" y="168275"/>
                    <a:pt x="120521" y="168275"/>
                  </a:cubicBezTo>
                  <a:close/>
                  <a:moveTo>
                    <a:pt x="30163" y="112712"/>
                  </a:moveTo>
                  <a:lnTo>
                    <a:pt x="30163" y="255587"/>
                  </a:lnTo>
                  <a:lnTo>
                    <a:pt x="307976" y="255587"/>
                  </a:lnTo>
                  <a:lnTo>
                    <a:pt x="307976" y="112712"/>
                  </a:lnTo>
                  <a:close/>
                  <a:moveTo>
                    <a:pt x="57150" y="30162"/>
                  </a:moveTo>
                  <a:lnTo>
                    <a:pt x="38100" y="84137"/>
                  </a:lnTo>
                  <a:lnTo>
                    <a:pt x="301625" y="84137"/>
                  </a:lnTo>
                  <a:lnTo>
                    <a:pt x="280988" y="30162"/>
                  </a:lnTo>
                  <a:close/>
                  <a:moveTo>
                    <a:pt x="46230" y="0"/>
                  </a:moveTo>
                  <a:cubicBezTo>
                    <a:pt x="46230" y="0"/>
                    <a:pt x="46230" y="0"/>
                    <a:pt x="291908" y="0"/>
                  </a:cubicBezTo>
                  <a:cubicBezTo>
                    <a:pt x="298513" y="0"/>
                    <a:pt x="305117" y="3946"/>
                    <a:pt x="306438" y="9209"/>
                  </a:cubicBezTo>
                  <a:cubicBezTo>
                    <a:pt x="306438" y="9209"/>
                    <a:pt x="306438" y="9209"/>
                    <a:pt x="336817" y="92090"/>
                  </a:cubicBezTo>
                  <a:cubicBezTo>
                    <a:pt x="336817" y="93405"/>
                    <a:pt x="338138" y="93405"/>
                    <a:pt x="338138" y="94721"/>
                  </a:cubicBezTo>
                  <a:cubicBezTo>
                    <a:pt x="338138" y="94721"/>
                    <a:pt x="338138" y="96036"/>
                    <a:pt x="338138" y="97352"/>
                  </a:cubicBezTo>
                  <a:cubicBezTo>
                    <a:pt x="338138" y="97352"/>
                    <a:pt x="338138" y="97352"/>
                    <a:pt x="338138" y="269692"/>
                  </a:cubicBezTo>
                  <a:cubicBezTo>
                    <a:pt x="338138" y="277585"/>
                    <a:pt x="331534" y="284163"/>
                    <a:pt x="322288" y="284163"/>
                  </a:cubicBezTo>
                  <a:cubicBezTo>
                    <a:pt x="322288" y="284163"/>
                    <a:pt x="322288" y="284163"/>
                    <a:pt x="15850" y="284163"/>
                  </a:cubicBezTo>
                  <a:cubicBezTo>
                    <a:pt x="6604" y="284163"/>
                    <a:pt x="0" y="277585"/>
                    <a:pt x="0" y="269692"/>
                  </a:cubicBezTo>
                  <a:cubicBezTo>
                    <a:pt x="0" y="269692"/>
                    <a:pt x="0" y="269692"/>
                    <a:pt x="0" y="97352"/>
                  </a:cubicBezTo>
                  <a:cubicBezTo>
                    <a:pt x="0" y="96036"/>
                    <a:pt x="0" y="94721"/>
                    <a:pt x="0" y="94721"/>
                  </a:cubicBezTo>
                  <a:cubicBezTo>
                    <a:pt x="0" y="93405"/>
                    <a:pt x="1321" y="93405"/>
                    <a:pt x="1321" y="92090"/>
                  </a:cubicBezTo>
                  <a:cubicBezTo>
                    <a:pt x="1321" y="92090"/>
                    <a:pt x="1321" y="92090"/>
                    <a:pt x="31700" y="9209"/>
                  </a:cubicBezTo>
                  <a:cubicBezTo>
                    <a:pt x="33021" y="3946"/>
                    <a:pt x="39625" y="0"/>
                    <a:pt x="46230" y="0"/>
                  </a:cubicBezTo>
                  <a:close/>
                </a:path>
              </a:pathLst>
            </a:custGeom>
            <a:solidFill>
              <a:schemeClr val="bg1"/>
            </a:solidFill>
            <a:ln w="3175"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fontScale="70000" lnSpcReduction="20000"/>
            </a:bodyPr>
            <a:lstStyle/>
            <a:p>
              <a:pPr algn="ctr"/>
              <a:endParaRPr dirty="0">
                <a:latin typeface="微软雅黑" panose="020B0503020204020204" pitchFamily="34" charset="-122"/>
                <a:ea typeface="微软雅黑" panose="020B0503020204020204" pitchFamily="34" charset="-122"/>
              </a:endParaRPr>
            </a:p>
          </p:txBody>
        </p:sp>
        <p:sp>
          <p:nvSpPr>
            <p:cNvPr id="215" name="îṩļíďè"/>
            <p:cNvSpPr/>
            <p:nvPr>
              <p:custDataLst>
                <p:tags r:id="rId10"/>
              </p:custDataLst>
            </p:nvPr>
          </p:nvSpPr>
          <p:spPr>
            <a:xfrm>
              <a:off x="5747919" y="4889305"/>
              <a:ext cx="692424" cy="692424"/>
            </a:xfrm>
            <a:prstGeom prst="ellipse">
              <a:avLst/>
            </a:prstGeom>
            <a:solidFill>
              <a:srgbClr val="5B9BD5"/>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dirty="0">
                <a:latin typeface="微软雅黑" panose="020B0503020204020204" pitchFamily="34" charset="-122"/>
                <a:ea typeface="微软雅黑" panose="020B0503020204020204" pitchFamily="34" charset="-122"/>
              </a:endParaRPr>
            </a:p>
          </p:txBody>
        </p:sp>
        <p:sp>
          <p:nvSpPr>
            <p:cNvPr id="216" name="i$1îḍé"/>
            <p:cNvSpPr/>
            <p:nvPr>
              <p:custDataLst>
                <p:tags r:id="rId11"/>
              </p:custDataLst>
            </p:nvPr>
          </p:nvSpPr>
          <p:spPr>
            <a:xfrm>
              <a:off x="5947510" y="5110013"/>
              <a:ext cx="325689" cy="273702"/>
            </a:xfrm>
            <a:custGeom>
              <a:avLst/>
              <a:gdLst>
                <a:gd name="connsiteX0" fmla="*/ 120521 w 338138"/>
                <a:gd name="connsiteY0" fmla="*/ 168275 h 284163"/>
                <a:gd name="connsiteX1" fmla="*/ 217618 w 338138"/>
                <a:gd name="connsiteY1" fmla="*/ 168275 h 284163"/>
                <a:gd name="connsiteX2" fmla="*/ 233363 w 338138"/>
                <a:gd name="connsiteY2" fmla="*/ 184840 h 284163"/>
                <a:gd name="connsiteX3" fmla="*/ 217618 w 338138"/>
                <a:gd name="connsiteY3" fmla="*/ 200025 h 284163"/>
                <a:gd name="connsiteX4" fmla="*/ 120521 w 338138"/>
                <a:gd name="connsiteY4" fmla="*/ 200025 h 284163"/>
                <a:gd name="connsiteX5" fmla="*/ 104775 w 338138"/>
                <a:gd name="connsiteY5" fmla="*/ 184840 h 284163"/>
                <a:gd name="connsiteX6" fmla="*/ 120521 w 338138"/>
                <a:gd name="connsiteY6" fmla="*/ 168275 h 284163"/>
                <a:gd name="connsiteX7" fmla="*/ 30163 w 338138"/>
                <a:gd name="connsiteY7" fmla="*/ 112712 h 284163"/>
                <a:gd name="connsiteX8" fmla="*/ 30163 w 338138"/>
                <a:gd name="connsiteY8" fmla="*/ 255587 h 284163"/>
                <a:gd name="connsiteX9" fmla="*/ 307976 w 338138"/>
                <a:gd name="connsiteY9" fmla="*/ 255587 h 284163"/>
                <a:gd name="connsiteX10" fmla="*/ 307976 w 338138"/>
                <a:gd name="connsiteY10" fmla="*/ 112712 h 284163"/>
                <a:gd name="connsiteX11" fmla="*/ 57150 w 338138"/>
                <a:gd name="connsiteY11" fmla="*/ 30162 h 284163"/>
                <a:gd name="connsiteX12" fmla="*/ 38100 w 338138"/>
                <a:gd name="connsiteY12" fmla="*/ 84137 h 284163"/>
                <a:gd name="connsiteX13" fmla="*/ 301625 w 338138"/>
                <a:gd name="connsiteY13" fmla="*/ 84137 h 284163"/>
                <a:gd name="connsiteX14" fmla="*/ 280988 w 338138"/>
                <a:gd name="connsiteY14" fmla="*/ 30162 h 284163"/>
                <a:gd name="connsiteX15" fmla="*/ 46230 w 338138"/>
                <a:gd name="connsiteY15" fmla="*/ 0 h 284163"/>
                <a:gd name="connsiteX16" fmla="*/ 291908 w 338138"/>
                <a:gd name="connsiteY16" fmla="*/ 0 h 284163"/>
                <a:gd name="connsiteX17" fmla="*/ 306438 w 338138"/>
                <a:gd name="connsiteY17" fmla="*/ 9209 h 284163"/>
                <a:gd name="connsiteX18" fmla="*/ 336817 w 338138"/>
                <a:gd name="connsiteY18" fmla="*/ 92090 h 284163"/>
                <a:gd name="connsiteX19" fmla="*/ 338138 w 338138"/>
                <a:gd name="connsiteY19" fmla="*/ 94721 h 284163"/>
                <a:gd name="connsiteX20" fmla="*/ 338138 w 338138"/>
                <a:gd name="connsiteY20" fmla="*/ 97352 h 284163"/>
                <a:gd name="connsiteX21" fmla="*/ 338138 w 338138"/>
                <a:gd name="connsiteY21" fmla="*/ 269692 h 284163"/>
                <a:gd name="connsiteX22" fmla="*/ 322288 w 338138"/>
                <a:gd name="connsiteY22" fmla="*/ 284163 h 284163"/>
                <a:gd name="connsiteX23" fmla="*/ 15850 w 338138"/>
                <a:gd name="connsiteY23" fmla="*/ 284163 h 284163"/>
                <a:gd name="connsiteX24" fmla="*/ 0 w 338138"/>
                <a:gd name="connsiteY24" fmla="*/ 269692 h 284163"/>
                <a:gd name="connsiteX25" fmla="*/ 0 w 338138"/>
                <a:gd name="connsiteY25" fmla="*/ 97352 h 284163"/>
                <a:gd name="connsiteX26" fmla="*/ 0 w 338138"/>
                <a:gd name="connsiteY26" fmla="*/ 94721 h 284163"/>
                <a:gd name="connsiteX27" fmla="*/ 1321 w 338138"/>
                <a:gd name="connsiteY27" fmla="*/ 92090 h 284163"/>
                <a:gd name="connsiteX28" fmla="*/ 31700 w 338138"/>
                <a:gd name="connsiteY28" fmla="*/ 9209 h 284163"/>
                <a:gd name="connsiteX29" fmla="*/ 46230 w 338138"/>
                <a:gd name="connsiteY29" fmla="*/ 0 h 284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38138" h="284163">
                  <a:moveTo>
                    <a:pt x="120521" y="168275"/>
                  </a:moveTo>
                  <a:cubicBezTo>
                    <a:pt x="120521" y="168275"/>
                    <a:pt x="120521" y="168275"/>
                    <a:pt x="217618" y="168275"/>
                  </a:cubicBezTo>
                  <a:cubicBezTo>
                    <a:pt x="226803" y="168275"/>
                    <a:pt x="233363" y="175177"/>
                    <a:pt x="233363" y="184840"/>
                  </a:cubicBezTo>
                  <a:cubicBezTo>
                    <a:pt x="233363" y="193123"/>
                    <a:pt x="226803" y="200025"/>
                    <a:pt x="217618" y="200025"/>
                  </a:cubicBezTo>
                  <a:cubicBezTo>
                    <a:pt x="217618" y="200025"/>
                    <a:pt x="217618" y="200025"/>
                    <a:pt x="120521" y="200025"/>
                  </a:cubicBezTo>
                  <a:cubicBezTo>
                    <a:pt x="111336" y="200025"/>
                    <a:pt x="104775" y="193123"/>
                    <a:pt x="104775" y="184840"/>
                  </a:cubicBezTo>
                  <a:cubicBezTo>
                    <a:pt x="104775" y="175177"/>
                    <a:pt x="111336" y="168275"/>
                    <a:pt x="120521" y="168275"/>
                  </a:cubicBezTo>
                  <a:close/>
                  <a:moveTo>
                    <a:pt x="30163" y="112712"/>
                  </a:moveTo>
                  <a:lnTo>
                    <a:pt x="30163" y="255587"/>
                  </a:lnTo>
                  <a:lnTo>
                    <a:pt x="307976" y="255587"/>
                  </a:lnTo>
                  <a:lnTo>
                    <a:pt x="307976" y="112712"/>
                  </a:lnTo>
                  <a:close/>
                  <a:moveTo>
                    <a:pt x="57150" y="30162"/>
                  </a:moveTo>
                  <a:lnTo>
                    <a:pt x="38100" y="84137"/>
                  </a:lnTo>
                  <a:lnTo>
                    <a:pt x="301625" y="84137"/>
                  </a:lnTo>
                  <a:lnTo>
                    <a:pt x="280988" y="30162"/>
                  </a:lnTo>
                  <a:close/>
                  <a:moveTo>
                    <a:pt x="46230" y="0"/>
                  </a:moveTo>
                  <a:cubicBezTo>
                    <a:pt x="46230" y="0"/>
                    <a:pt x="46230" y="0"/>
                    <a:pt x="291908" y="0"/>
                  </a:cubicBezTo>
                  <a:cubicBezTo>
                    <a:pt x="298513" y="0"/>
                    <a:pt x="305117" y="3946"/>
                    <a:pt x="306438" y="9209"/>
                  </a:cubicBezTo>
                  <a:cubicBezTo>
                    <a:pt x="306438" y="9209"/>
                    <a:pt x="306438" y="9209"/>
                    <a:pt x="336817" y="92090"/>
                  </a:cubicBezTo>
                  <a:cubicBezTo>
                    <a:pt x="336817" y="93405"/>
                    <a:pt x="338138" y="93405"/>
                    <a:pt x="338138" y="94721"/>
                  </a:cubicBezTo>
                  <a:cubicBezTo>
                    <a:pt x="338138" y="94721"/>
                    <a:pt x="338138" y="96036"/>
                    <a:pt x="338138" y="97352"/>
                  </a:cubicBezTo>
                  <a:cubicBezTo>
                    <a:pt x="338138" y="97352"/>
                    <a:pt x="338138" y="97352"/>
                    <a:pt x="338138" y="269692"/>
                  </a:cubicBezTo>
                  <a:cubicBezTo>
                    <a:pt x="338138" y="277585"/>
                    <a:pt x="331534" y="284163"/>
                    <a:pt x="322288" y="284163"/>
                  </a:cubicBezTo>
                  <a:cubicBezTo>
                    <a:pt x="322288" y="284163"/>
                    <a:pt x="322288" y="284163"/>
                    <a:pt x="15850" y="284163"/>
                  </a:cubicBezTo>
                  <a:cubicBezTo>
                    <a:pt x="6604" y="284163"/>
                    <a:pt x="0" y="277585"/>
                    <a:pt x="0" y="269692"/>
                  </a:cubicBezTo>
                  <a:cubicBezTo>
                    <a:pt x="0" y="269692"/>
                    <a:pt x="0" y="269692"/>
                    <a:pt x="0" y="97352"/>
                  </a:cubicBezTo>
                  <a:cubicBezTo>
                    <a:pt x="0" y="96036"/>
                    <a:pt x="0" y="94721"/>
                    <a:pt x="0" y="94721"/>
                  </a:cubicBezTo>
                  <a:cubicBezTo>
                    <a:pt x="0" y="93405"/>
                    <a:pt x="1321" y="93405"/>
                    <a:pt x="1321" y="92090"/>
                  </a:cubicBezTo>
                  <a:cubicBezTo>
                    <a:pt x="1321" y="92090"/>
                    <a:pt x="1321" y="92090"/>
                    <a:pt x="31700" y="9209"/>
                  </a:cubicBezTo>
                  <a:cubicBezTo>
                    <a:pt x="33021" y="3946"/>
                    <a:pt x="39625" y="0"/>
                    <a:pt x="46230" y="0"/>
                  </a:cubicBezTo>
                  <a:close/>
                </a:path>
              </a:pathLst>
            </a:custGeom>
            <a:solidFill>
              <a:schemeClr val="bg1"/>
            </a:solidFill>
            <a:ln w="3175"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fontScale="70000" lnSpcReduction="20000"/>
            </a:bodyPr>
            <a:lstStyle/>
            <a:p>
              <a:pPr algn="ctr"/>
              <a:endParaRPr dirty="0">
                <a:latin typeface="微软雅黑" panose="020B0503020204020204" pitchFamily="34" charset="-122"/>
                <a:ea typeface="微软雅黑" panose="020B0503020204020204" pitchFamily="34" charset="-122"/>
              </a:endParaRPr>
            </a:p>
          </p:txBody>
        </p:sp>
      </p:grpSp>
      <p:sp>
        <p:nvSpPr>
          <p:cNvPr id="2" name="文本框 1"/>
          <p:cNvSpPr txBox="1"/>
          <p:nvPr/>
        </p:nvSpPr>
        <p:spPr>
          <a:xfrm>
            <a:off x="919480" y="6113780"/>
            <a:ext cx="2541905" cy="275590"/>
          </a:xfrm>
          <a:prstGeom prst="rect">
            <a:avLst/>
          </a:prstGeom>
          <a:noFill/>
        </p:spPr>
        <p:txBody>
          <a:bodyPr wrap="square" rtlCol="0">
            <a:spAutoFit/>
          </a:bodyPr>
          <a:lstStyle/>
          <a:p>
            <a:r>
              <a:rPr lang="zh-CN" altLang="en-US" sz="1200" b="1">
                <a:solidFill>
                  <a:srgbClr val="004C9E"/>
                </a:solidFill>
                <a:latin typeface="微软雅黑" panose="020B0503020204020204" pitchFamily="34" charset="-122"/>
                <a:ea typeface="微软雅黑" panose="020B0503020204020204" pitchFamily="34" charset="-122"/>
                <a:cs typeface="微软雅黑" panose="020B0503020204020204" pitchFamily="34" charset="-122"/>
              </a:rPr>
              <a:t>耐劳苦</a:t>
            </a:r>
            <a:r>
              <a:rPr lang="en-US" altLang="zh-CN" sz="1200" b="1">
                <a:solidFill>
                  <a:srgbClr val="004C9E"/>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200" b="1">
                <a:solidFill>
                  <a:srgbClr val="004C9E"/>
                </a:solidFill>
                <a:latin typeface="微软雅黑" panose="020B0503020204020204" pitchFamily="34" charset="-122"/>
                <a:ea typeface="微软雅黑" panose="020B0503020204020204" pitchFamily="34" charset="-122"/>
                <a:cs typeface="微软雅黑" panose="020B0503020204020204" pitchFamily="34" charset="-122"/>
              </a:rPr>
              <a:t>尚俭朴</a:t>
            </a:r>
            <a:r>
              <a:rPr lang="en-US" altLang="zh-CN" sz="1200" b="1">
                <a:solidFill>
                  <a:srgbClr val="004C9E"/>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200" b="1">
                <a:solidFill>
                  <a:srgbClr val="004C9E"/>
                </a:solidFill>
                <a:latin typeface="微软雅黑" panose="020B0503020204020204" pitchFamily="34" charset="-122"/>
                <a:ea typeface="微软雅黑" panose="020B0503020204020204" pitchFamily="34" charset="-122"/>
                <a:cs typeface="微软雅黑" panose="020B0503020204020204" pitchFamily="34" charset="-122"/>
              </a:rPr>
              <a:t>勤学业</a:t>
            </a:r>
            <a:r>
              <a:rPr lang="en-US" altLang="zh-CN" sz="1200" b="1">
                <a:solidFill>
                  <a:srgbClr val="004C9E"/>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200" b="1">
                <a:solidFill>
                  <a:srgbClr val="004C9E"/>
                </a:solidFill>
                <a:latin typeface="微软雅黑" panose="020B0503020204020204" pitchFamily="34" charset="-122"/>
                <a:ea typeface="微软雅黑" panose="020B0503020204020204" pitchFamily="34" charset="-122"/>
                <a:cs typeface="微软雅黑" panose="020B0503020204020204" pitchFamily="34" charset="-122"/>
              </a:rPr>
              <a:t>爱国家</a:t>
            </a:r>
            <a:endParaRPr lang="zh-CN" altLang="en-US" sz="1200" b="1">
              <a:solidFill>
                <a:srgbClr val="004C9E"/>
              </a:solidFill>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11" name="图片 10" descr="校徽"/>
          <p:cNvPicPr>
            <a:picLocks noChangeAspect="1"/>
          </p:cNvPicPr>
          <p:nvPr/>
        </p:nvPicPr>
        <p:blipFill>
          <a:blip r:embed="rId12"/>
          <a:stretch>
            <a:fillRect/>
          </a:stretch>
        </p:blipFill>
        <p:spPr>
          <a:xfrm>
            <a:off x="10127615" y="5844540"/>
            <a:ext cx="1259840" cy="397510"/>
          </a:xfrm>
          <a:prstGeom prst="rect">
            <a:avLst/>
          </a:prstGeom>
        </p:spPr>
      </p:pic>
      <p:sp>
        <p:nvSpPr>
          <p:cNvPr id="5" name="文本框 4"/>
          <p:cNvSpPr txBox="1"/>
          <p:nvPr/>
        </p:nvSpPr>
        <p:spPr>
          <a:xfrm>
            <a:off x="1250950" y="2513330"/>
            <a:ext cx="3852545" cy="1919605"/>
          </a:xfrm>
          <a:prstGeom prst="rect">
            <a:avLst/>
          </a:prstGeom>
          <a:noFill/>
        </p:spPr>
        <p:txBody>
          <a:bodyPr wrap="square" rtlCol="0">
            <a:noAutofit/>
          </a:bodyPr>
          <a:lstStyle/>
          <a:p>
            <a:r>
              <a:rPr lang="zh-CN" altLang="en-US"/>
              <a:t>本项目拟采用“边缘感知-云端推理-多终端交互”的三层解耦架构，通过硬件嵌入式开发、深度学习视觉识别与大语言模型（</a:t>
            </a:r>
            <a:r>
              <a:rPr lang="en-US" altLang="zh-CN"/>
              <a:t>LLM）</a:t>
            </a:r>
            <a:r>
              <a:rPr lang="zh-CN" altLang="en-US"/>
              <a:t>决策融合，实现对鱼缸生态系统的全方位智能化管理。</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0"/>
                                        </p:tgtEl>
                                        <p:attrNameLst>
                                          <p:attrName>style.visibility</p:attrName>
                                        </p:attrNameLst>
                                      </p:cBhvr>
                                      <p:to>
                                        <p:strVal val="visible"/>
                                      </p:to>
                                    </p:set>
                                    <p:animEffect transition="in" filter="fade">
                                      <p:cBhvr>
                                        <p:cTn id="7" dur="500"/>
                                        <p:tgtEl>
                                          <p:spTgt spid="2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20"/>
                                        </p:tgtEl>
                                        <p:attrNameLst>
                                          <p:attrName>style.visibility</p:attrName>
                                        </p:attrNameLst>
                                      </p:cBhvr>
                                      <p:to>
                                        <p:strVal val="visible"/>
                                      </p:to>
                                    </p:set>
                                    <p:animEffect transition="in" filter="fade">
                                      <p:cBhvr>
                                        <p:cTn id="10" dur="500"/>
                                        <p:tgtEl>
                                          <p:spTgt spid="22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25"/>
                                        </p:tgtEl>
                                        <p:attrNameLst>
                                          <p:attrName>style.visibility</p:attrName>
                                        </p:attrNameLst>
                                      </p:cBhvr>
                                      <p:to>
                                        <p:strVal val="visible"/>
                                      </p:to>
                                    </p:set>
                                    <p:animEffect transition="in" filter="fade">
                                      <p:cBhvr>
                                        <p:cTn id="13" dur="500"/>
                                        <p:tgtEl>
                                          <p:spTgt spid="22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26"/>
                                        </p:tgtEl>
                                        <p:attrNameLst>
                                          <p:attrName>style.visibility</p:attrName>
                                        </p:attrNameLst>
                                      </p:cBhvr>
                                      <p:to>
                                        <p:strVal val="visible"/>
                                      </p:to>
                                    </p:set>
                                    <p:animEffect transition="in" filter="fade">
                                      <p:cBhvr>
                                        <p:cTn id="16" dur="500"/>
                                        <p:tgtEl>
                                          <p:spTgt spid="2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0" grpId="0"/>
      <p:bldP spid="225" grpId="0"/>
      <p:bldP spid="226"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7" name="剪去单角的矩形 226"/>
          <p:cNvSpPr/>
          <p:nvPr/>
        </p:nvSpPr>
        <p:spPr>
          <a:xfrm rot="16200000">
            <a:off x="4702439" y="-631561"/>
            <a:ext cx="6858000" cy="8121122"/>
          </a:xfrm>
          <a:prstGeom prst="snip1Rect">
            <a:avLst>
              <a:gd name="adj" fmla="val 50000"/>
            </a:avLst>
          </a:prstGeom>
          <a:solidFill>
            <a:srgbClr val="004C9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7" name="组合 6"/>
          <p:cNvGrpSpPr/>
          <p:nvPr/>
        </p:nvGrpSpPr>
        <p:grpSpPr>
          <a:xfrm>
            <a:off x="490537" y="472440"/>
            <a:ext cx="11210925" cy="6019800"/>
            <a:chOff x="490484" y="441960"/>
            <a:chExt cx="11211033" cy="6019801"/>
          </a:xfrm>
        </p:grpSpPr>
        <p:pic>
          <p:nvPicPr>
            <p:cNvPr id="8" name="图片 7"/>
            <p:cNvPicPr>
              <a:picLocks noChangeAspect="1"/>
            </p:cNvPicPr>
            <p:nvPr userDrawn="1"/>
          </p:nvPicPr>
          <p:blipFill rotWithShape="1">
            <a:blip r:embed="rId1">
              <a:extLst>
                <a:ext uri="{28A0092B-C50C-407E-A947-70E740481C1C}">
                  <a14:useLocalDpi xmlns:a14="http://schemas.microsoft.com/office/drawing/2010/main" val="0"/>
                </a:ext>
              </a:extLst>
            </a:blip>
            <a:srcRect l="1515" t="4277" r="530" b="14319"/>
            <a:stretch>
              <a:fillRect/>
            </a:stretch>
          </p:blipFill>
          <p:spPr>
            <a:xfrm>
              <a:off x="490484" y="441960"/>
              <a:ext cx="11211033" cy="6019801"/>
            </a:xfrm>
            <a:prstGeom prst="rect">
              <a:avLst/>
            </a:prstGeom>
            <a:effectLst>
              <a:outerShdw blurRad="355600" dist="139700" dir="2700000" algn="tl" rotWithShape="0">
                <a:prstClr val="black">
                  <a:alpha val="61000"/>
                </a:prstClr>
              </a:outerShdw>
            </a:effectLst>
          </p:spPr>
        </p:pic>
        <p:sp>
          <p:nvSpPr>
            <p:cNvPr id="9" name="矩形 8"/>
            <p:cNvSpPr/>
            <p:nvPr/>
          </p:nvSpPr>
          <p:spPr>
            <a:xfrm>
              <a:off x="490484" y="441960"/>
              <a:ext cx="11211032" cy="6019801"/>
            </a:xfrm>
            <a:prstGeom prst="rect">
              <a:avLst/>
            </a:prstGeom>
            <a:solidFill>
              <a:srgbClr val="FFFEF7">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400" b="1" dirty="0">
                <a:solidFill>
                  <a:srgbClr val="004C9E"/>
                </a:solidFill>
                <a:latin typeface="微软雅黑" panose="020B0503020204020204" pitchFamily="34" charset="-122"/>
                <a:ea typeface="微软雅黑" panose="020B0503020204020204" pitchFamily="34" charset="-122"/>
              </a:endParaRPr>
            </a:p>
          </p:txBody>
        </p:sp>
      </p:grpSp>
      <p:sp>
        <p:nvSpPr>
          <p:cNvPr id="10" name="文本框 9"/>
          <p:cNvSpPr txBox="1"/>
          <p:nvPr/>
        </p:nvSpPr>
        <p:spPr>
          <a:xfrm>
            <a:off x="394507" y="553085"/>
            <a:ext cx="2001520" cy="398780"/>
          </a:xfrm>
          <a:prstGeom prst="rect">
            <a:avLst/>
          </a:prstGeom>
          <a:noFill/>
        </p:spPr>
        <p:txBody>
          <a:bodyPr wrap="square" rtlCol="0">
            <a:spAutoFit/>
          </a:bodyPr>
          <a:lstStyle/>
          <a:p>
            <a:pPr algn="ctr"/>
            <a:r>
              <a:rPr lang="zh-CN" altLang="en-US" sz="2000" b="1" dirty="0">
                <a:solidFill>
                  <a:srgbClr val="A6A6A6"/>
                </a:solidFill>
                <a:latin typeface="微软雅黑" panose="020B0503020204020204" pitchFamily="34" charset="-122"/>
                <a:ea typeface="微软雅黑" panose="020B0503020204020204" pitchFamily="34" charset="-122"/>
              </a:rPr>
              <a:t>立项背景及意义</a:t>
            </a:r>
            <a:endParaRPr lang="zh-CN" altLang="en-US" sz="2000" b="1" dirty="0">
              <a:solidFill>
                <a:srgbClr val="A6A6A6"/>
              </a:solidFill>
              <a:latin typeface="微软雅黑" panose="020B0503020204020204" pitchFamily="34" charset="-122"/>
              <a:ea typeface="微软雅黑" panose="020B0503020204020204" pitchFamily="34" charset="-122"/>
            </a:endParaRPr>
          </a:p>
        </p:txBody>
      </p:sp>
      <p:cxnSp>
        <p:nvCxnSpPr>
          <p:cNvPr id="43" name="直接连接符 42"/>
          <p:cNvCxnSpPr/>
          <p:nvPr/>
        </p:nvCxnSpPr>
        <p:spPr>
          <a:xfrm>
            <a:off x="899088" y="6096082"/>
            <a:ext cx="9058311" cy="4300"/>
          </a:xfrm>
          <a:prstGeom prst="line">
            <a:avLst/>
          </a:prstGeom>
        </p:spPr>
        <p:style>
          <a:lnRef idx="1">
            <a:schemeClr val="accent1"/>
          </a:lnRef>
          <a:fillRef idx="0">
            <a:schemeClr val="accent1"/>
          </a:fillRef>
          <a:effectRef idx="0">
            <a:schemeClr val="accent1"/>
          </a:effectRef>
          <a:fontRef idx="minor">
            <a:schemeClr val="tx1"/>
          </a:fontRef>
        </p:style>
      </p:cxnSp>
      <p:sp>
        <p:nvSpPr>
          <p:cNvPr id="14" name="文本框 13"/>
          <p:cNvSpPr txBox="1"/>
          <p:nvPr/>
        </p:nvSpPr>
        <p:spPr>
          <a:xfrm>
            <a:off x="2445681" y="553085"/>
            <a:ext cx="2001520" cy="398780"/>
          </a:xfrm>
          <a:prstGeom prst="rect">
            <a:avLst/>
          </a:prstGeom>
          <a:noFill/>
        </p:spPr>
        <p:txBody>
          <a:bodyPr wrap="square" rtlCol="0">
            <a:spAutoFit/>
          </a:bodyPr>
          <a:lstStyle/>
          <a:p>
            <a:pPr algn="ctr"/>
            <a:r>
              <a:rPr lang="zh-CN" altLang="en-US" sz="2000" b="1" dirty="0">
                <a:solidFill>
                  <a:schemeClr val="bg1">
                    <a:lumMod val="65000"/>
                  </a:schemeClr>
                </a:solidFill>
                <a:latin typeface="微软雅黑" panose="020B0503020204020204" pitchFamily="34" charset="-122"/>
                <a:ea typeface="微软雅黑" panose="020B0503020204020204" pitchFamily="34" charset="-122"/>
              </a:rPr>
              <a:t>研究内容</a:t>
            </a:r>
            <a:endParaRPr lang="zh-CN" altLang="en-US" sz="2000" b="1" dirty="0">
              <a:solidFill>
                <a:schemeClr val="bg1">
                  <a:lumMod val="65000"/>
                </a:schemeClr>
              </a:solidFill>
              <a:latin typeface="微软雅黑" panose="020B0503020204020204" pitchFamily="34" charset="-122"/>
              <a:ea typeface="微软雅黑" panose="020B0503020204020204" pitchFamily="34" charset="-122"/>
            </a:endParaRPr>
          </a:p>
        </p:txBody>
      </p:sp>
      <p:sp>
        <p:nvSpPr>
          <p:cNvPr id="15" name="文本框 14"/>
          <p:cNvSpPr txBox="1"/>
          <p:nvPr/>
        </p:nvSpPr>
        <p:spPr>
          <a:xfrm>
            <a:off x="4543231" y="553085"/>
            <a:ext cx="2001520" cy="398780"/>
          </a:xfrm>
          <a:prstGeom prst="rect">
            <a:avLst/>
          </a:prstGeom>
          <a:noFill/>
        </p:spPr>
        <p:txBody>
          <a:bodyPr wrap="square" rtlCol="0">
            <a:spAutoFit/>
          </a:bodyPr>
          <a:lstStyle/>
          <a:p>
            <a:pPr algn="ctr"/>
            <a:r>
              <a:rPr lang="zh-CN" altLang="en-US" sz="2000" b="1" dirty="0">
                <a:solidFill>
                  <a:srgbClr val="004C9E"/>
                </a:solidFill>
                <a:latin typeface="微软雅黑" panose="020B0503020204020204" pitchFamily="34" charset="-122"/>
                <a:ea typeface="微软雅黑" panose="020B0503020204020204" pitchFamily="34" charset="-122"/>
              </a:rPr>
              <a:t>拟采用技术路线</a:t>
            </a:r>
            <a:endParaRPr lang="zh-CN" altLang="en-US" sz="2000" b="1" dirty="0">
              <a:solidFill>
                <a:srgbClr val="004C9E"/>
              </a:solidFill>
              <a:latin typeface="微软雅黑" panose="020B0503020204020204" pitchFamily="34" charset="-122"/>
              <a:ea typeface="微软雅黑" panose="020B0503020204020204" pitchFamily="34" charset="-122"/>
            </a:endParaRPr>
          </a:p>
        </p:txBody>
      </p:sp>
      <p:sp>
        <p:nvSpPr>
          <p:cNvPr id="16" name="文本框 15"/>
          <p:cNvSpPr txBox="1"/>
          <p:nvPr/>
        </p:nvSpPr>
        <p:spPr>
          <a:xfrm>
            <a:off x="6485324" y="553085"/>
            <a:ext cx="2755901" cy="398780"/>
          </a:xfrm>
          <a:prstGeom prst="rect">
            <a:avLst/>
          </a:prstGeom>
          <a:noFill/>
        </p:spPr>
        <p:txBody>
          <a:bodyPr wrap="square" rtlCol="0">
            <a:spAutoFit/>
          </a:bodyPr>
          <a:lstStyle/>
          <a:p>
            <a:pPr algn="ctr"/>
            <a:r>
              <a:rPr lang="zh-CN" altLang="en-US" sz="2000" b="1" dirty="0">
                <a:solidFill>
                  <a:schemeClr val="bg1">
                    <a:lumMod val="65000"/>
                  </a:schemeClr>
                </a:solidFill>
                <a:latin typeface="微软雅黑" panose="020B0503020204020204" pitchFamily="34" charset="-122"/>
                <a:ea typeface="微软雅黑" panose="020B0503020204020204" pitchFamily="34" charset="-122"/>
              </a:rPr>
              <a:t>创新与特点</a:t>
            </a:r>
            <a:endParaRPr lang="zh-CN" altLang="en-US" sz="2000" b="1" dirty="0">
              <a:solidFill>
                <a:schemeClr val="bg1">
                  <a:lumMod val="65000"/>
                </a:schemeClr>
              </a:solidFill>
              <a:latin typeface="微软雅黑" panose="020B0503020204020204" pitchFamily="34" charset="-122"/>
              <a:ea typeface="微软雅黑" panose="020B0503020204020204" pitchFamily="34" charset="-122"/>
            </a:endParaRPr>
          </a:p>
        </p:txBody>
      </p:sp>
      <p:sp>
        <p:nvSpPr>
          <p:cNvPr id="17" name="文本框 16"/>
          <p:cNvSpPr txBox="1"/>
          <p:nvPr/>
        </p:nvSpPr>
        <p:spPr>
          <a:xfrm>
            <a:off x="9102720" y="553085"/>
            <a:ext cx="2755901" cy="398780"/>
          </a:xfrm>
          <a:prstGeom prst="rect">
            <a:avLst/>
          </a:prstGeom>
          <a:noFill/>
        </p:spPr>
        <p:txBody>
          <a:bodyPr wrap="square" rtlCol="0">
            <a:spAutoFit/>
          </a:bodyPr>
          <a:lstStyle/>
          <a:p>
            <a:pPr algn="ctr"/>
            <a:r>
              <a:rPr lang="zh-CN" altLang="en-US" sz="2000" b="1" dirty="0">
                <a:solidFill>
                  <a:schemeClr val="bg1">
                    <a:lumMod val="65000"/>
                  </a:schemeClr>
                </a:solidFill>
                <a:latin typeface="微软雅黑" panose="020B0503020204020204" pitchFamily="34" charset="-122"/>
                <a:ea typeface="微软雅黑" panose="020B0503020204020204" pitchFamily="34" charset="-122"/>
              </a:rPr>
              <a:t>时间安排计划</a:t>
            </a:r>
            <a:endParaRPr lang="zh-CN" altLang="en-US" sz="2000" b="1" dirty="0">
              <a:solidFill>
                <a:schemeClr val="bg1">
                  <a:lumMod val="65000"/>
                </a:schemeClr>
              </a:solidFill>
              <a:latin typeface="微软雅黑" panose="020B0503020204020204" pitchFamily="34" charset="-122"/>
              <a:ea typeface="微软雅黑" panose="020B0503020204020204" pitchFamily="34" charset="-122"/>
            </a:endParaRPr>
          </a:p>
        </p:txBody>
      </p:sp>
      <p:sp>
        <p:nvSpPr>
          <p:cNvPr id="18" name="等腰三角形 17"/>
          <p:cNvSpPr/>
          <p:nvPr/>
        </p:nvSpPr>
        <p:spPr>
          <a:xfrm rot="5400000">
            <a:off x="4433618" y="669975"/>
            <a:ext cx="192943" cy="166330"/>
          </a:xfrm>
          <a:prstGeom prst="triangle">
            <a:avLst/>
          </a:prstGeom>
          <a:solidFill>
            <a:srgbClr val="004C9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nvSpPr>
        <p:spPr>
          <a:xfrm>
            <a:off x="919480" y="6113780"/>
            <a:ext cx="2541905" cy="275590"/>
          </a:xfrm>
          <a:prstGeom prst="rect">
            <a:avLst/>
          </a:prstGeom>
          <a:noFill/>
        </p:spPr>
        <p:txBody>
          <a:bodyPr wrap="square" rtlCol="0">
            <a:spAutoFit/>
          </a:bodyPr>
          <a:lstStyle/>
          <a:p>
            <a:r>
              <a:rPr lang="zh-CN" altLang="en-US" sz="1200" b="1">
                <a:solidFill>
                  <a:srgbClr val="004C9E"/>
                </a:solidFill>
                <a:latin typeface="微软雅黑" panose="020B0503020204020204" pitchFamily="34" charset="-122"/>
                <a:ea typeface="微软雅黑" panose="020B0503020204020204" pitchFamily="34" charset="-122"/>
                <a:cs typeface="微软雅黑" panose="020B0503020204020204" pitchFamily="34" charset="-122"/>
              </a:rPr>
              <a:t>耐劳苦</a:t>
            </a:r>
            <a:r>
              <a:rPr lang="en-US" altLang="zh-CN" sz="1200" b="1">
                <a:solidFill>
                  <a:srgbClr val="004C9E"/>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200" b="1">
                <a:solidFill>
                  <a:srgbClr val="004C9E"/>
                </a:solidFill>
                <a:latin typeface="微软雅黑" panose="020B0503020204020204" pitchFamily="34" charset="-122"/>
                <a:ea typeface="微软雅黑" panose="020B0503020204020204" pitchFamily="34" charset="-122"/>
                <a:cs typeface="微软雅黑" panose="020B0503020204020204" pitchFamily="34" charset="-122"/>
              </a:rPr>
              <a:t>尚俭朴</a:t>
            </a:r>
            <a:r>
              <a:rPr lang="en-US" altLang="zh-CN" sz="1200" b="1">
                <a:solidFill>
                  <a:srgbClr val="004C9E"/>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200" b="1">
                <a:solidFill>
                  <a:srgbClr val="004C9E"/>
                </a:solidFill>
                <a:latin typeface="微软雅黑" panose="020B0503020204020204" pitchFamily="34" charset="-122"/>
                <a:ea typeface="微软雅黑" panose="020B0503020204020204" pitchFamily="34" charset="-122"/>
                <a:cs typeface="微软雅黑" panose="020B0503020204020204" pitchFamily="34" charset="-122"/>
              </a:rPr>
              <a:t>勤学业</a:t>
            </a:r>
            <a:r>
              <a:rPr lang="en-US" altLang="zh-CN" sz="1200" b="1">
                <a:solidFill>
                  <a:srgbClr val="004C9E"/>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200" b="1">
                <a:solidFill>
                  <a:srgbClr val="004C9E"/>
                </a:solidFill>
                <a:latin typeface="微软雅黑" panose="020B0503020204020204" pitchFamily="34" charset="-122"/>
                <a:ea typeface="微软雅黑" panose="020B0503020204020204" pitchFamily="34" charset="-122"/>
                <a:cs typeface="微软雅黑" panose="020B0503020204020204" pitchFamily="34" charset="-122"/>
              </a:rPr>
              <a:t>爱国家</a:t>
            </a:r>
            <a:endParaRPr lang="zh-CN" altLang="en-US" sz="1200" b="1">
              <a:solidFill>
                <a:srgbClr val="004C9E"/>
              </a:solidFill>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11" name="图片 10" descr="校徽"/>
          <p:cNvPicPr>
            <a:picLocks noChangeAspect="1"/>
          </p:cNvPicPr>
          <p:nvPr/>
        </p:nvPicPr>
        <p:blipFill>
          <a:blip r:embed="rId2"/>
          <a:stretch>
            <a:fillRect/>
          </a:stretch>
        </p:blipFill>
        <p:spPr>
          <a:xfrm>
            <a:off x="10127615" y="5844540"/>
            <a:ext cx="1259840" cy="397510"/>
          </a:xfrm>
          <a:prstGeom prst="rect">
            <a:avLst/>
          </a:prstGeom>
        </p:spPr>
      </p:pic>
      <p:grpSp>
        <p:nvGrpSpPr>
          <p:cNvPr id="3" name="组合 2"/>
          <p:cNvGrpSpPr/>
          <p:nvPr/>
        </p:nvGrpSpPr>
        <p:grpSpPr>
          <a:xfrm>
            <a:off x="1009650" y="1586230"/>
            <a:ext cx="2871470" cy="3924300"/>
            <a:chOff x="1009628" y="1585088"/>
            <a:chExt cx="2871470" cy="3925590"/>
          </a:xfrm>
        </p:grpSpPr>
        <p:grpSp>
          <p:nvGrpSpPr>
            <p:cNvPr id="22" name="组合 21"/>
            <p:cNvGrpSpPr/>
            <p:nvPr/>
          </p:nvGrpSpPr>
          <p:grpSpPr>
            <a:xfrm>
              <a:off x="1962128" y="1797179"/>
              <a:ext cx="967105" cy="967105"/>
              <a:chOff x="2219325" y="2092325"/>
              <a:chExt cx="967105" cy="967105"/>
            </a:xfrm>
          </p:grpSpPr>
          <p:sp>
            <p:nvSpPr>
              <p:cNvPr id="24" name="椭圆 23"/>
              <p:cNvSpPr/>
              <p:nvPr/>
            </p:nvSpPr>
            <p:spPr>
              <a:xfrm>
                <a:off x="2219325" y="2092325"/>
                <a:ext cx="967105" cy="967105"/>
              </a:xfrm>
              <a:prstGeom prst="ellipse">
                <a:avLst/>
              </a:prstGeom>
              <a:solidFill>
                <a:srgbClr val="004C9E"/>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latin typeface="微软雅黑" panose="020B0503020204020204" pitchFamily="34" charset="-122"/>
                  <a:ea typeface="微软雅黑" panose="020B0503020204020204" pitchFamily="34" charset="-122"/>
                </a:endParaRPr>
              </a:p>
            </p:txBody>
          </p:sp>
          <p:sp>
            <p:nvSpPr>
              <p:cNvPr id="25" name="Freeform 25"/>
              <p:cNvSpPr>
                <a:spLocks noEditPoints="1"/>
              </p:cNvSpPr>
              <p:nvPr/>
            </p:nvSpPr>
            <p:spPr bwMode="auto">
              <a:xfrm>
                <a:off x="2524760" y="2401570"/>
                <a:ext cx="356235" cy="347980"/>
              </a:xfrm>
              <a:custGeom>
                <a:avLst/>
                <a:gdLst>
                  <a:gd name="T0" fmla="*/ 74 w 82"/>
                  <a:gd name="T1" fmla="*/ 6 h 80"/>
                  <a:gd name="T2" fmla="*/ 67 w 82"/>
                  <a:gd name="T3" fmla="*/ 27 h 80"/>
                  <a:gd name="T4" fmla="*/ 65 w 82"/>
                  <a:gd name="T5" fmla="*/ 30 h 80"/>
                  <a:gd name="T6" fmla="*/ 75 w 82"/>
                  <a:gd name="T7" fmla="*/ 71 h 80"/>
                  <a:gd name="T8" fmla="*/ 66 w 82"/>
                  <a:gd name="T9" fmla="*/ 80 h 80"/>
                  <a:gd name="T10" fmla="*/ 44 w 82"/>
                  <a:gd name="T11" fmla="*/ 50 h 80"/>
                  <a:gd name="T12" fmla="*/ 36 w 82"/>
                  <a:gd name="T13" fmla="*/ 57 h 80"/>
                  <a:gd name="T14" fmla="*/ 39 w 82"/>
                  <a:gd name="T15" fmla="*/ 70 h 80"/>
                  <a:gd name="T16" fmla="*/ 34 w 82"/>
                  <a:gd name="T17" fmla="*/ 75 h 80"/>
                  <a:gd name="T18" fmla="*/ 26 w 82"/>
                  <a:gd name="T19" fmla="*/ 61 h 80"/>
                  <a:gd name="T20" fmla="*/ 21 w 82"/>
                  <a:gd name="T21" fmla="*/ 67 h 80"/>
                  <a:gd name="T22" fmla="*/ 16 w 82"/>
                  <a:gd name="T23" fmla="*/ 62 h 80"/>
                  <a:gd name="T24" fmla="*/ 21 w 82"/>
                  <a:gd name="T25" fmla="*/ 57 h 80"/>
                  <a:gd name="T26" fmla="*/ 7 w 82"/>
                  <a:gd name="T27" fmla="*/ 50 h 80"/>
                  <a:gd name="T28" fmla="*/ 12 w 82"/>
                  <a:gd name="T29" fmla="*/ 44 h 80"/>
                  <a:gd name="T30" fmla="*/ 25 w 82"/>
                  <a:gd name="T31" fmla="*/ 47 h 80"/>
                  <a:gd name="T32" fmla="*/ 32 w 82"/>
                  <a:gd name="T33" fmla="*/ 39 h 80"/>
                  <a:gd name="T34" fmla="*/ 0 w 82"/>
                  <a:gd name="T35" fmla="*/ 18 h 80"/>
                  <a:gd name="T36" fmla="*/ 9 w 82"/>
                  <a:gd name="T37" fmla="*/ 8 h 80"/>
                  <a:gd name="T38" fmla="*/ 51 w 82"/>
                  <a:gd name="T39" fmla="*/ 16 h 80"/>
                  <a:gd name="T40" fmla="*/ 53 w 82"/>
                  <a:gd name="T41" fmla="*/ 13 h 80"/>
                  <a:gd name="T42" fmla="*/ 74 w 82"/>
                  <a:gd name="T43" fmla="*/ 6 h 80"/>
                  <a:gd name="T44" fmla="*/ 82 w 82"/>
                  <a:gd name="T45" fmla="*/ 50 h 80"/>
                  <a:gd name="T46" fmla="*/ 74 w 82"/>
                  <a:gd name="T47" fmla="*/ 42 h 80"/>
                  <a:gd name="T48" fmla="*/ 72 w 82"/>
                  <a:gd name="T49" fmla="*/ 44 h 80"/>
                  <a:gd name="T50" fmla="*/ 76 w 82"/>
                  <a:gd name="T51" fmla="*/ 57 h 80"/>
                  <a:gd name="T52" fmla="*/ 82 w 82"/>
                  <a:gd name="T53" fmla="*/ 50 h 80"/>
                  <a:gd name="T54" fmla="*/ 29 w 82"/>
                  <a:gd name="T55" fmla="*/ 0 h 80"/>
                  <a:gd name="T56" fmla="*/ 23 w 82"/>
                  <a:gd name="T57" fmla="*/ 7 h 80"/>
                  <a:gd name="T58" fmla="*/ 36 w 82"/>
                  <a:gd name="T59" fmla="*/ 10 h 80"/>
                  <a:gd name="T60" fmla="*/ 37 w 82"/>
                  <a:gd name="T61" fmla="*/ 8 h 80"/>
                  <a:gd name="T62" fmla="*/ 29 w 82"/>
                  <a:gd name="T6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82" h="80">
                    <a:moveTo>
                      <a:pt x="74" y="6"/>
                    </a:moveTo>
                    <a:cubicBezTo>
                      <a:pt x="76" y="15"/>
                      <a:pt x="74" y="21"/>
                      <a:pt x="67" y="27"/>
                    </a:cubicBezTo>
                    <a:cubicBezTo>
                      <a:pt x="65" y="30"/>
                      <a:pt x="65" y="30"/>
                      <a:pt x="65" y="30"/>
                    </a:cubicBezTo>
                    <a:cubicBezTo>
                      <a:pt x="75" y="71"/>
                      <a:pt x="75" y="71"/>
                      <a:pt x="75" y="71"/>
                    </a:cubicBezTo>
                    <a:cubicBezTo>
                      <a:pt x="66" y="80"/>
                      <a:pt x="66" y="80"/>
                      <a:pt x="66" y="80"/>
                    </a:cubicBezTo>
                    <a:cubicBezTo>
                      <a:pt x="44" y="50"/>
                      <a:pt x="44" y="50"/>
                      <a:pt x="44" y="50"/>
                    </a:cubicBezTo>
                    <a:cubicBezTo>
                      <a:pt x="36" y="57"/>
                      <a:pt x="36" y="57"/>
                      <a:pt x="36" y="57"/>
                    </a:cubicBezTo>
                    <a:cubicBezTo>
                      <a:pt x="39" y="70"/>
                      <a:pt x="39" y="70"/>
                      <a:pt x="39" y="70"/>
                    </a:cubicBezTo>
                    <a:cubicBezTo>
                      <a:pt x="34" y="75"/>
                      <a:pt x="34" y="75"/>
                      <a:pt x="34" y="75"/>
                    </a:cubicBezTo>
                    <a:cubicBezTo>
                      <a:pt x="26" y="61"/>
                      <a:pt x="26" y="61"/>
                      <a:pt x="26" y="61"/>
                    </a:cubicBezTo>
                    <a:cubicBezTo>
                      <a:pt x="21" y="67"/>
                      <a:pt x="21" y="67"/>
                      <a:pt x="21" y="67"/>
                    </a:cubicBezTo>
                    <a:cubicBezTo>
                      <a:pt x="16" y="62"/>
                      <a:pt x="16" y="62"/>
                      <a:pt x="16" y="62"/>
                    </a:cubicBezTo>
                    <a:cubicBezTo>
                      <a:pt x="21" y="57"/>
                      <a:pt x="21" y="57"/>
                      <a:pt x="21" y="57"/>
                    </a:cubicBezTo>
                    <a:cubicBezTo>
                      <a:pt x="7" y="50"/>
                      <a:pt x="7" y="50"/>
                      <a:pt x="7" y="50"/>
                    </a:cubicBezTo>
                    <a:cubicBezTo>
                      <a:pt x="12" y="44"/>
                      <a:pt x="12" y="44"/>
                      <a:pt x="12" y="44"/>
                    </a:cubicBezTo>
                    <a:cubicBezTo>
                      <a:pt x="25" y="47"/>
                      <a:pt x="25" y="47"/>
                      <a:pt x="25" y="47"/>
                    </a:cubicBezTo>
                    <a:cubicBezTo>
                      <a:pt x="32" y="39"/>
                      <a:pt x="32" y="39"/>
                      <a:pt x="32" y="39"/>
                    </a:cubicBezTo>
                    <a:cubicBezTo>
                      <a:pt x="0" y="18"/>
                      <a:pt x="0" y="18"/>
                      <a:pt x="0" y="18"/>
                    </a:cubicBezTo>
                    <a:cubicBezTo>
                      <a:pt x="9" y="8"/>
                      <a:pt x="9" y="8"/>
                      <a:pt x="9" y="8"/>
                    </a:cubicBezTo>
                    <a:cubicBezTo>
                      <a:pt x="51" y="16"/>
                      <a:pt x="51" y="16"/>
                      <a:pt x="51" y="16"/>
                    </a:cubicBezTo>
                    <a:cubicBezTo>
                      <a:pt x="53" y="13"/>
                      <a:pt x="53" y="13"/>
                      <a:pt x="53" y="13"/>
                    </a:cubicBezTo>
                    <a:cubicBezTo>
                      <a:pt x="60" y="5"/>
                      <a:pt x="67" y="4"/>
                      <a:pt x="74" y="6"/>
                    </a:cubicBezTo>
                    <a:close/>
                    <a:moveTo>
                      <a:pt x="82" y="50"/>
                    </a:moveTo>
                    <a:cubicBezTo>
                      <a:pt x="74" y="42"/>
                      <a:pt x="74" y="42"/>
                      <a:pt x="74" y="42"/>
                    </a:cubicBezTo>
                    <a:cubicBezTo>
                      <a:pt x="72" y="44"/>
                      <a:pt x="72" y="44"/>
                      <a:pt x="72" y="44"/>
                    </a:cubicBezTo>
                    <a:cubicBezTo>
                      <a:pt x="76" y="57"/>
                      <a:pt x="76" y="57"/>
                      <a:pt x="76" y="57"/>
                    </a:cubicBezTo>
                    <a:cubicBezTo>
                      <a:pt x="82" y="50"/>
                      <a:pt x="82" y="50"/>
                      <a:pt x="82" y="50"/>
                    </a:cubicBezTo>
                    <a:close/>
                    <a:moveTo>
                      <a:pt x="29" y="0"/>
                    </a:moveTo>
                    <a:cubicBezTo>
                      <a:pt x="23" y="7"/>
                      <a:pt x="23" y="7"/>
                      <a:pt x="23" y="7"/>
                    </a:cubicBezTo>
                    <a:cubicBezTo>
                      <a:pt x="36" y="10"/>
                      <a:pt x="36" y="10"/>
                      <a:pt x="36" y="10"/>
                    </a:cubicBezTo>
                    <a:cubicBezTo>
                      <a:pt x="37" y="8"/>
                      <a:pt x="37" y="8"/>
                      <a:pt x="37" y="8"/>
                    </a:cubicBezTo>
                    <a:lnTo>
                      <a:pt x="29" y="0"/>
                    </a:lnTo>
                    <a:close/>
                  </a:path>
                </a:pathLst>
              </a:custGeom>
              <a:solidFill>
                <a:schemeClr val="bg1"/>
              </a:solidFill>
              <a:ln>
                <a:noFill/>
              </a:ln>
            </p:spPr>
            <p:txBody>
              <a:bodyPr vert="horz" wrap="square" lIns="96430" tIns="48216" rIns="96430" bIns="48216"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20000"/>
                  </a:lnSpc>
                </a:pPr>
                <a:endParaRPr lang="zh-CN" altLang="en-US" sz="950" dirty="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grpSp>
        <p:sp>
          <p:nvSpPr>
            <p:cNvPr id="23" name="剪去单角的矩形 33"/>
            <p:cNvSpPr/>
            <p:nvPr/>
          </p:nvSpPr>
          <p:spPr>
            <a:xfrm>
              <a:off x="1009628" y="1585088"/>
              <a:ext cx="2871470" cy="3925590"/>
            </a:xfrm>
            <a:prstGeom prst="snip1Rect">
              <a:avLst/>
            </a:prstGeom>
            <a:noFill/>
            <a:ln>
              <a:solidFill>
                <a:schemeClr val="bg1">
                  <a:lumMod val="75000"/>
                </a:schemeClr>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26" name="PA-矩形 4"/>
            <p:cNvSpPr>
              <a:spLocks noChangeArrowheads="1"/>
            </p:cNvSpPr>
            <p:nvPr>
              <p:custDataLst>
                <p:tags r:id="rId3"/>
              </p:custDataLst>
            </p:nvPr>
          </p:nvSpPr>
          <p:spPr bwMode="auto">
            <a:xfrm>
              <a:off x="1806612" y="3027608"/>
              <a:ext cx="1418929" cy="307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2000" b="1" dirty="0">
                  <a:solidFill>
                    <a:schemeClr val="tx1">
                      <a:lumMod val="85000"/>
                      <a:lumOff val="15000"/>
                    </a:schemeClr>
                  </a:solidFill>
                  <a:latin typeface="微软雅黑" panose="020B0503020204020204" pitchFamily="34" charset="-122"/>
                  <a:ea typeface="微软雅黑" panose="020B0503020204020204" pitchFamily="34" charset="-122"/>
                  <a:cs typeface="阿里巴巴普惠体 H" panose="00020600040101010101" pitchFamily="18" charset="-122"/>
                  <a:sym typeface="+mn-lt"/>
                </a:rPr>
                <a:t>核心控制器</a:t>
              </a:r>
              <a:endParaRPr lang="zh-CN" altLang="en-US" sz="2000" b="1" dirty="0">
                <a:solidFill>
                  <a:schemeClr val="tx1">
                    <a:lumMod val="85000"/>
                    <a:lumOff val="15000"/>
                  </a:schemeClr>
                </a:solidFill>
                <a:latin typeface="微软雅黑" panose="020B0503020204020204" pitchFamily="34" charset="-122"/>
                <a:ea typeface="微软雅黑" panose="020B0503020204020204" pitchFamily="34" charset="-122"/>
                <a:cs typeface="阿里巴巴普惠体 H" panose="00020600040101010101" pitchFamily="18" charset="-122"/>
                <a:sym typeface="+mn-lt"/>
              </a:endParaRPr>
            </a:p>
          </p:txBody>
        </p:sp>
        <p:sp>
          <p:nvSpPr>
            <p:cNvPr id="27" name="PA-矩形 4"/>
            <p:cNvSpPr>
              <a:spLocks noChangeArrowheads="1"/>
            </p:cNvSpPr>
            <p:nvPr>
              <p:custDataLst>
                <p:tags r:id="rId4"/>
              </p:custDataLst>
            </p:nvPr>
          </p:nvSpPr>
          <p:spPr bwMode="auto">
            <a:xfrm>
              <a:off x="1194255" y="3486778"/>
              <a:ext cx="2531268" cy="1292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pPr>
              <a:r>
                <a:rPr lang="zh-CN" altLang="en-US" sz="1400" dirty="0">
                  <a:solidFill>
                    <a:schemeClr val="tx1">
                      <a:lumMod val="65000"/>
                      <a:lumOff val="35000"/>
                    </a:schemeClr>
                  </a:solidFill>
                  <a:latin typeface="微软雅黑" panose="020B0503020204020204" pitchFamily="34" charset="-122"/>
                  <a:ea typeface="微软雅黑" panose="020B0503020204020204" pitchFamily="34" charset="-122"/>
                  <a:cs typeface="OPPOSans M" panose="00020600040101010101" pitchFamily="18" charset="-122"/>
                  <a:sym typeface="+mn-lt"/>
                </a:rPr>
                <a:t>采用 </a:t>
              </a:r>
              <a:r>
                <a:rPr lang="en-US" altLang="zh-CN" sz="1400" dirty="0">
                  <a:solidFill>
                    <a:schemeClr val="tx1">
                      <a:lumMod val="65000"/>
                      <a:lumOff val="35000"/>
                    </a:schemeClr>
                  </a:solidFill>
                  <a:latin typeface="微软雅黑" panose="020B0503020204020204" pitchFamily="34" charset="-122"/>
                  <a:ea typeface="微软雅黑" panose="020B0503020204020204" pitchFamily="34" charset="-122"/>
                  <a:cs typeface="OPPOSans M" panose="00020600040101010101" pitchFamily="18" charset="-122"/>
                  <a:sym typeface="+mn-lt"/>
                </a:rPr>
                <a:t>ESP32-CAM </a:t>
              </a:r>
              <a:r>
                <a:rPr lang="zh-CN" altLang="en-US" sz="1400" dirty="0">
                  <a:solidFill>
                    <a:schemeClr val="tx1">
                      <a:lumMod val="65000"/>
                      <a:lumOff val="35000"/>
                    </a:schemeClr>
                  </a:solidFill>
                  <a:latin typeface="微软雅黑" panose="020B0503020204020204" pitchFamily="34" charset="-122"/>
                  <a:ea typeface="微软雅黑" panose="020B0503020204020204" pitchFamily="34" charset="-122"/>
                  <a:cs typeface="OPPOSans M" panose="00020600040101010101" pitchFamily="18" charset="-122"/>
                  <a:sym typeface="+mn-lt"/>
                </a:rPr>
                <a:t>开发板，利用其集成的 </a:t>
              </a:r>
              <a:r>
                <a:rPr lang="en-US" altLang="zh-CN" sz="1400" dirty="0">
                  <a:solidFill>
                    <a:schemeClr val="tx1">
                      <a:lumMod val="65000"/>
                      <a:lumOff val="35000"/>
                    </a:schemeClr>
                  </a:solidFill>
                  <a:latin typeface="微软雅黑" panose="020B0503020204020204" pitchFamily="34" charset="-122"/>
                  <a:ea typeface="微软雅黑" panose="020B0503020204020204" pitchFamily="34" charset="-122"/>
                  <a:cs typeface="OPPOSans M" panose="00020600040101010101" pitchFamily="18" charset="-122"/>
                  <a:sym typeface="+mn-lt"/>
                </a:rPr>
                <a:t>Wi-Fi </a:t>
              </a:r>
              <a:r>
                <a:rPr lang="zh-CN" altLang="en-US" sz="1400" dirty="0">
                  <a:solidFill>
                    <a:schemeClr val="tx1">
                      <a:lumMod val="65000"/>
                      <a:lumOff val="35000"/>
                    </a:schemeClr>
                  </a:solidFill>
                  <a:latin typeface="微软雅黑" panose="020B0503020204020204" pitchFamily="34" charset="-122"/>
                  <a:ea typeface="微软雅黑" panose="020B0503020204020204" pitchFamily="34" charset="-122"/>
                  <a:cs typeface="OPPOSans M" panose="00020600040101010101" pitchFamily="18" charset="-122"/>
                  <a:sym typeface="+mn-lt"/>
                </a:rPr>
                <a:t>模块与摄像头接口，实现视音频采集与传感器数据上报。</a:t>
              </a:r>
              <a:endParaRPr lang="zh-CN" altLang="en-US" sz="1400" dirty="0">
                <a:solidFill>
                  <a:schemeClr val="tx1">
                    <a:lumMod val="65000"/>
                    <a:lumOff val="35000"/>
                  </a:schemeClr>
                </a:solidFill>
                <a:latin typeface="微软雅黑" panose="020B0503020204020204" pitchFamily="34" charset="-122"/>
                <a:ea typeface="微软雅黑" panose="020B0503020204020204" pitchFamily="34" charset="-122"/>
                <a:cs typeface="OPPOSans M" panose="00020600040101010101" pitchFamily="18" charset="-122"/>
                <a:sym typeface="+mn-lt"/>
              </a:endParaRPr>
            </a:p>
          </p:txBody>
        </p:sp>
      </p:grpSp>
      <p:grpSp>
        <p:nvGrpSpPr>
          <p:cNvPr id="4" name="组合 3"/>
          <p:cNvGrpSpPr/>
          <p:nvPr/>
        </p:nvGrpSpPr>
        <p:grpSpPr>
          <a:xfrm>
            <a:off x="4606903" y="1585088"/>
            <a:ext cx="2871470" cy="3925590"/>
            <a:chOff x="4606903" y="1585088"/>
            <a:chExt cx="2871470" cy="3925590"/>
          </a:xfrm>
        </p:grpSpPr>
        <p:sp>
          <p:nvSpPr>
            <p:cNvPr id="29" name="剪去单角的矩形 41"/>
            <p:cNvSpPr/>
            <p:nvPr/>
          </p:nvSpPr>
          <p:spPr>
            <a:xfrm>
              <a:off x="4606903" y="1585088"/>
              <a:ext cx="2871470" cy="3925590"/>
            </a:xfrm>
            <a:prstGeom prst="snip1Rect">
              <a:avLst/>
            </a:prstGeom>
            <a:noFill/>
            <a:ln>
              <a:solidFill>
                <a:schemeClr val="bg1">
                  <a:lumMod val="75000"/>
                </a:schemeClr>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grpSp>
          <p:nvGrpSpPr>
            <p:cNvPr id="30" name="组合 29"/>
            <p:cNvGrpSpPr/>
            <p:nvPr/>
          </p:nvGrpSpPr>
          <p:grpSpPr>
            <a:xfrm>
              <a:off x="5559403" y="1797179"/>
              <a:ext cx="967105" cy="967105"/>
              <a:chOff x="5816600" y="2092325"/>
              <a:chExt cx="967105" cy="967105"/>
            </a:xfrm>
          </p:grpSpPr>
          <p:sp>
            <p:nvSpPr>
              <p:cNvPr id="31" name="椭圆 30"/>
              <p:cNvSpPr/>
              <p:nvPr/>
            </p:nvSpPr>
            <p:spPr>
              <a:xfrm>
                <a:off x="5816600" y="2092325"/>
                <a:ext cx="967105" cy="967105"/>
              </a:xfrm>
              <a:prstGeom prst="ellipse">
                <a:avLst/>
              </a:prstGeom>
              <a:solidFill>
                <a:srgbClr val="5B9BD5"/>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latin typeface="微软雅黑" panose="020B0503020204020204" pitchFamily="34" charset="-122"/>
                  <a:ea typeface="微软雅黑" panose="020B0503020204020204" pitchFamily="34" charset="-122"/>
                </a:endParaRPr>
              </a:p>
            </p:txBody>
          </p:sp>
          <p:sp>
            <p:nvSpPr>
              <p:cNvPr id="32" name="Freeform 24"/>
              <p:cNvSpPr>
                <a:spLocks noEditPoints="1"/>
              </p:cNvSpPr>
              <p:nvPr/>
            </p:nvSpPr>
            <p:spPr bwMode="auto">
              <a:xfrm>
                <a:off x="6129655" y="2385060"/>
                <a:ext cx="398780" cy="382270"/>
              </a:xfrm>
              <a:custGeom>
                <a:avLst/>
                <a:gdLst>
                  <a:gd name="T0" fmla="*/ 80 w 198"/>
                  <a:gd name="T1" fmla="*/ 39 h 190"/>
                  <a:gd name="T2" fmla="*/ 32 w 198"/>
                  <a:gd name="T3" fmla="*/ 39 h 190"/>
                  <a:gd name="T4" fmla="*/ 24 w 198"/>
                  <a:gd name="T5" fmla="*/ 52 h 190"/>
                  <a:gd name="T6" fmla="*/ 32 w 198"/>
                  <a:gd name="T7" fmla="*/ 65 h 190"/>
                  <a:gd name="T8" fmla="*/ 80 w 198"/>
                  <a:gd name="T9" fmla="*/ 65 h 190"/>
                  <a:gd name="T10" fmla="*/ 80 w 198"/>
                  <a:gd name="T11" fmla="*/ 39 h 190"/>
                  <a:gd name="T12" fmla="*/ 80 w 198"/>
                  <a:gd name="T13" fmla="*/ 39 h 190"/>
                  <a:gd name="T14" fmla="*/ 114 w 198"/>
                  <a:gd name="T15" fmla="*/ 65 h 190"/>
                  <a:gd name="T16" fmla="*/ 170 w 198"/>
                  <a:gd name="T17" fmla="*/ 65 h 190"/>
                  <a:gd name="T18" fmla="*/ 177 w 198"/>
                  <a:gd name="T19" fmla="*/ 65 h 190"/>
                  <a:gd name="T20" fmla="*/ 179 w 198"/>
                  <a:gd name="T21" fmla="*/ 69 h 190"/>
                  <a:gd name="T22" fmla="*/ 194 w 198"/>
                  <a:gd name="T23" fmla="*/ 93 h 190"/>
                  <a:gd name="T24" fmla="*/ 198 w 198"/>
                  <a:gd name="T25" fmla="*/ 99 h 190"/>
                  <a:gd name="T26" fmla="*/ 194 w 198"/>
                  <a:gd name="T27" fmla="*/ 103 h 190"/>
                  <a:gd name="T28" fmla="*/ 179 w 198"/>
                  <a:gd name="T29" fmla="*/ 127 h 190"/>
                  <a:gd name="T30" fmla="*/ 177 w 198"/>
                  <a:gd name="T31" fmla="*/ 134 h 190"/>
                  <a:gd name="T32" fmla="*/ 170 w 198"/>
                  <a:gd name="T33" fmla="*/ 134 h 190"/>
                  <a:gd name="T34" fmla="*/ 114 w 198"/>
                  <a:gd name="T35" fmla="*/ 134 h 190"/>
                  <a:gd name="T36" fmla="*/ 114 w 198"/>
                  <a:gd name="T37" fmla="*/ 164 h 190"/>
                  <a:gd name="T38" fmla="*/ 164 w 198"/>
                  <a:gd name="T39" fmla="*/ 164 h 190"/>
                  <a:gd name="T40" fmla="*/ 164 w 198"/>
                  <a:gd name="T41" fmla="*/ 190 h 190"/>
                  <a:gd name="T42" fmla="*/ 37 w 198"/>
                  <a:gd name="T43" fmla="*/ 190 h 190"/>
                  <a:gd name="T44" fmla="*/ 37 w 198"/>
                  <a:gd name="T45" fmla="*/ 164 h 190"/>
                  <a:gd name="T46" fmla="*/ 82 w 198"/>
                  <a:gd name="T47" fmla="*/ 164 h 190"/>
                  <a:gd name="T48" fmla="*/ 82 w 198"/>
                  <a:gd name="T49" fmla="*/ 86 h 190"/>
                  <a:gd name="T50" fmla="*/ 26 w 198"/>
                  <a:gd name="T51" fmla="*/ 86 h 190"/>
                  <a:gd name="T52" fmla="*/ 19 w 198"/>
                  <a:gd name="T53" fmla="*/ 86 h 190"/>
                  <a:gd name="T54" fmla="*/ 17 w 198"/>
                  <a:gd name="T55" fmla="*/ 80 h 190"/>
                  <a:gd name="T56" fmla="*/ 2 w 198"/>
                  <a:gd name="T57" fmla="*/ 56 h 190"/>
                  <a:gd name="T58" fmla="*/ 0 w 198"/>
                  <a:gd name="T59" fmla="*/ 52 h 190"/>
                  <a:gd name="T60" fmla="*/ 2 w 198"/>
                  <a:gd name="T61" fmla="*/ 45 h 190"/>
                  <a:gd name="T62" fmla="*/ 17 w 198"/>
                  <a:gd name="T63" fmla="*/ 21 h 190"/>
                  <a:gd name="T64" fmla="*/ 19 w 198"/>
                  <a:gd name="T65" fmla="*/ 17 h 190"/>
                  <a:gd name="T66" fmla="*/ 26 w 198"/>
                  <a:gd name="T67" fmla="*/ 17 h 190"/>
                  <a:gd name="T68" fmla="*/ 82 w 198"/>
                  <a:gd name="T69" fmla="*/ 17 h 190"/>
                  <a:gd name="T70" fmla="*/ 82 w 198"/>
                  <a:gd name="T71" fmla="*/ 13 h 190"/>
                  <a:gd name="T72" fmla="*/ 99 w 198"/>
                  <a:gd name="T73" fmla="*/ 0 h 190"/>
                  <a:gd name="T74" fmla="*/ 114 w 198"/>
                  <a:gd name="T75" fmla="*/ 13 h 190"/>
                  <a:gd name="T76" fmla="*/ 114 w 198"/>
                  <a:gd name="T77" fmla="*/ 65 h 190"/>
                  <a:gd name="T78" fmla="*/ 114 w 198"/>
                  <a:gd name="T79" fmla="*/ 65 h 190"/>
                  <a:gd name="T80" fmla="*/ 166 w 198"/>
                  <a:gd name="T81" fmla="*/ 84 h 190"/>
                  <a:gd name="T82" fmla="*/ 116 w 198"/>
                  <a:gd name="T83" fmla="*/ 84 h 190"/>
                  <a:gd name="T84" fmla="*/ 116 w 198"/>
                  <a:gd name="T85" fmla="*/ 112 h 190"/>
                  <a:gd name="T86" fmla="*/ 166 w 198"/>
                  <a:gd name="T87" fmla="*/ 112 h 190"/>
                  <a:gd name="T88" fmla="*/ 175 w 198"/>
                  <a:gd name="T89" fmla="*/ 99 h 190"/>
                  <a:gd name="T90" fmla="*/ 166 w 198"/>
                  <a:gd name="T91" fmla="*/ 84 h 1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98" h="190">
                    <a:moveTo>
                      <a:pt x="80" y="39"/>
                    </a:moveTo>
                    <a:lnTo>
                      <a:pt x="32" y="39"/>
                    </a:lnTo>
                    <a:lnTo>
                      <a:pt x="24" y="52"/>
                    </a:lnTo>
                    <a:lnTo>
                      <a:pt x="32" y="65"/>
                    </a:lnTo>
                    <a:lnTo>
                      <a:pt x="80" y="65"/>
                    </a:lnTo>
                    <a:lnTo>
                      <a:pt x="80" y="39"/>
                    </a:lnTo>
                    <a:lnTo>
                      <a:pt x="80" y="39"/>
                    </a:lnTo>
                    <a:close/>
                    <a:moveTo>
                      <a:pt x="114" y="65"/>
                    </a:moveTo>
                    <a:lnTo>
                      <a:pt x="170" y="65"/>
                    </a:lnTo>
                    <a:lnTo>
                      <a:pt x="177" y="65"/>
                    </a:lnTo>
                    <a:lnTo>
                      <a:pt x="179" y="69"/>
                    </a:lnTo>
                    <a:lnTo>
                      <a:pt x="194" y="93"/>
                    </a:lnTo>
                    <a:lnTo>
                      <a:pt x="198" y="99"/>
                    </a:lnTo>
                    <a:lnTo>
                      <a:pt x="194" y="103"/>
                    </a:lnTo>
                    <a:lnTo>
                      <a:pt x="179" y="127"/>
                    </a:lnTo>
                    <a:lnTo>
                      <a:pt x="177" y="134"/>
                    </a:lnTo>
                    <a:lnTo>
                      <a:pt x="170" y="134"/>
                    </a:lnTo>
                    <a:lnTo>
                      <a:pt x="114" y="134"/>
                    </a:lnTo>
                    <a:lnTo>
                      <a:pt x="114" y="164"/>
                    </a:lnTo>
                    <a:lnTo>
                      <a:pt x="164" y="164"/>
                    </a:lnTo>
                    <a:lnTo>
                      <a:pt x="164" y="190"/>
                    </a:lnTo>
                    <a:lnTo>
                      <a:pt x="37" y="190"/>
                    </a:lnTo>
                    <a:lnTo>
                      <a:pt x="37" y="164"/>
                    </a:lnTo>
                    <a:lnTo>
                      <a:pt x="82" y="164"/>
                    </a:lnTo>
                    <a:lnTo>
                      <a:pt x="82" y="86"/>
                    </a:lnTo>
                    <a:lnTo>
                      <a:pt x="26" y="86"/>
                    </a:lnTo>
                    <a:lnTo>
                      <a:pt x="19" y="86"/>
                    </a:lnTo>
                    <a:lnTo>
                      <a:pt x="17" y="80"/>
                    </a:lnTo>
                    <a:lnTo>
                      <a:pt x="2" y="56"/>
                    </a:lnTo>
                    <a:lnTo>
                      <a:pt x="0" y="52"/>
                    </a:lnTo>
                    <a:lnTo>
                      <a:pt x="2" y="45"/>
                    </a:lnTo>
                    <a:lnTo>
                      <a:pt x="17" y="21"/>
                    </a:lnTo>
                    <a:lnTo>
                      <a:pt x="19" y="17"/>
                    </a:lnTo>
                    <a:lnTo>
                      <a:pt x="26" y="17"/>
                    </a:lnTo>
                    <a:lnTo>
                      <a:pt x="82" y="17"/>
                    </a:lnTo>
                    <a:lnTo>
                      <a:pt x="82" y="13"/>
                    </a:lnTo>
                    <a:lnTo>
                      <a:pt x="99" y="0"/>
                    </a:lnTo>
                    <a:lnTo>
                      <a:pt x="114" y="13"/>
                    </a:lnTo>
                    <a:lnTo>
                      <a:pt x="114" y="65"/>
                    </a:lnTo>
                    <a:lnTo>
                      <a:pt x="114" y="65"/>
                    </a:lnTo>
                    <a:close/>
                    <a:moveTo>
                      <a:pt x="166" y="84"/>
                    </a:moveTo>
                    <a:lnTo>
                      <a:pt x="116" y="84"/>
                    </a:lnTo>
                    <a:lnTo>
                      <a:pt x="116" y="112"/>
                    </a:lnTo>
                    <a:lnTo>
                      <a:pt x="166" y="112"/>
                    </a:lnTo>
                    <a:lnTo>
                      <a:pt x="175" y="99"/>
                    </a:lnTo>
                    <a:lnTo>
                      <a:pt x="166" y="84"/>
                    </a:lnTo>
                    <a:close/>
                  </a:path>
                </a:pathLst>
              </a:custGeom>
              <a:solidFill>
                <a:schemeClr val="bg1"/>
              </a:solidFill>
              <a:ln>
                <a:noFill/>
              </a:ln>
            </p:spPr>
            <p:txBody>
              <a:bodyPr vert="horz" wrap="square" lIns="96430" tIns="48216" rIns="96430" bIns="48216"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20000"/>
                  </a:lnSpc>
                </a:pPr>
                <a:endParaRPr lang="zh-CN" altLang="en-US" sz="950" dirty="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grpSp>
        <p:sp>
          <p:nvSpPr>
            <p:cNvPr id="38" name="PA-矩形 4"/>
            <p:cNvSpPr>
              <a:spLocks noChangeArrowheads="1"/>
            </p:cNvSpPr>
            <p:nvPr>
              <p:custDataLst>
                <p:tags r:id="rId5"/>
              </p:custDataLst>
            </p:nvPr>
          </p:nvSpPr>
          <p:spPr bwMode="auto">
            <a:xfrm>
              <a:off x="5400712" y="3027657"/>
              <a:ext cx="1418929" cy="307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2000" b="1" dirty="0">
                  <a:solidFill>
                    <a:schemeClr val="tx1">
                      <a:lumMod val="85000"/>
                      <a:lumOff val="15000"/>
                    </a:schemeClr>
                  </a:solidFill>
                  <a:latin typeface="微软雅黑" panose="020B0503020204020204" pitchFamily="34" charset="-122"/>
                  <a:ea typeface="微软雅黑" panose="020B0503020204020204" pitchFamily="34" charset="-122"/>
                  <a:cs typeface="阿里巴巴普惠体 H" panose="00020600040101010101" pitchFamily="18" charset="-122"/>
                  <a:sym typeface="+mn-lt"/>
                </a:rPr>
                <a:t>传感器融合</a:t>
              </a:r>
              <a:endParaRPr lang="zh-CN" altLang="en-US" sz="2000" b="1" dirty="0">
                <a:solidFill>
                  <a:schemeClr val="tx1">
                    <a:lumMod val="85000"/>
                    <a:lumOff val="15000"/>
                  </a:schemeClr>
                </a:solidFill>
                <a:latin typeface="微软雅黑" panose="020B0503020204020204" pitchFamily="34" charset="-122"/>
                <a:ea typeface="微软雅黑" panose="020B0503020204020204" pitchFamily="34" charset="-122"/>
                <a:cs typeface="阿里巴巴普惠体 H" panose="00020600040101010101" pitchFamily="18" charset="-122"/>
                <a:sym typeface="+mn-lt"/>
              </a:endParaRPr>
            </a:p>
          </p:txBody>
        </p:sp>
        <p:sp>
          <p:nvSpPr>
            <p:cNvPr id="6" name="PA-矩形 4"/>
            <p:cNvSpPr>
              <a:spLocks noChangeArrowheads="1"/>
            </p:cNvSpPr>
            <p:nvPr>
              <p:custDataLst>
                <p:tags r:id="rId6"/>
              </p:custDataLst>
            </p:nvPr>
          </p:nvSpPr>
          <p:spPr bwMode="auto">
            <a:xfrm>
              <a:off x="4799229" y="3335226"/>
              <a:ext cx="2531268" cy="19386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pPr>
              <a:r>
                <a:rPr lang="zh-CN" altLang="en-US" sz="1400" dirty="0">
                  <a:solidFill>
                    <a:schemeClr val="tx1">
                      <a:lumMod val="65000"/>
                      <a:lumOff val="35000"/>
                    </a:schemeClr>
                  </a:solidFill>
                  <a:latin typeface="微软雅黑" panose="020B0503020204020204" pitchFamily="34" charset="-122"/>
                  <a:ea typeface="微软雅黑" panose="020B0503020204020204" pitchFamily="34" charset="-122"/>
                  <a:cs typeface="OPPOSans M" panose="00020600040101010101" pitchFamily="18" charset="-122"/>
                  <a:sym typeface="+mn-lt"/>
                </a:rPr>
                <a:t>水质监测：集成 </a:t>
              </a:r>
              <a:r>
                <a:rPr lang="en-US" altLang="zh-CN" sz="1400" dirty="0">
                  <a:solidFill>
                    <a:schemeClr val="tx1">
                      <a:lumMod val="65000"/>
                      <a:lumOff val="35000"/>
                    </a:schemeClr>
                  </a:solidFill>
                  <a:latin typeface="微软雅黑" panose="020B0503020204020204" pitchFamily="34" charset="-122"/>
                  <a:ea typeface="微软雅黑" panose="020B0503020204020204" pitchFamily="34" charset="-122"/>
                  <a:cs typeface="OPPOSans M" panose="00020600040101010101" pitchFamily="18" charset="-122"/>
                  <a:sym typeface="+mn-lt"/>
                </a:rPr>
                <a:t>pH </a:t>
              </a:r>
              <a:r>
                <a:rPr lang="zh-CN" altLang="en-US" sz="1400" dirty="0">
                  <a:solidFill>
                    <a:schemeClr val="tx1">
                      <a:lumMod val="65000"/>
                      <a:lumOff val="35000"/>
                    </a:schemeClr>
                  </a:solidFill>
                  <a:latin typeface="微软雅黑" panose="020B0503020204020204" pitchFamily="34" charset="-122"/>
                  <a:ea typeface="微软雅黑" panose="020B0503020204020204" pitchFamily="34" charset="-122"/>
                  <a:cs typeface="OPPOSans M" panose="00020600040101010101" pitchFamily="18" charset="-122"/>
                  <a:sym typeface="+mn-lt"/>
                </a:rPr>
                <a:t>模拟传感器与 </a:t>
              </a:r>
              <a:r>
                <a:rPr lang="en-US" altLang="zh-CN" sz="1400" dirty="0">
                  <a:solidFill>
                    <a:schemeClr val="tx1">
                      <a:lumMod val="65000"/>
                      <a:lumOff val="35000"/>
                    </a:schemeClr>
                  </a:solidFill>
                  <a:latin typeface="微软雅黑" panose="020B0503020204020204" pitchFamily="34" charset="-122"/>
                  <a:ea typeface="微软雅黑" panose="020B0503020204020204" pitchFamily="34" charset="-122"/>
                  <a:cs typeface="OPPOSans M" panose="00020600040101010101" pitchFamily="18" charset="-122"/>
                  <a:sym typeface="+mn-lt"/>
                </a:rPr>
                <a:t>DS18B20 </a:t>
              </a:r>
              <a:r>
                <a:rPr lang="zh-CN" altLang="en-US" sz="1400" dirty="0">
                  <a:solidFill>
                    <a:schemeClr val="tx1">
                      <a:lumMod val="65000"/>
                      <a:lumOff val="35000"/>
                    </a:schemeClr>
                  </a:solidFill>
                  <a:latin typeface="微软雅黑" panose="020B0503020204020204" pitchFamily="34" charset="-122"/>
                  <a:ea typeface="微软雅黑" panose="020B0503020204020204" pitchFamily="34" charset="-122"/>
                  <a:cs typeface="OPPOSans M" panose="00020600040101010101" pitchFamily="18" charset="-122"/>
                  <a:sym typeface="+mn-lt"/>
                </a:rPr>
                <a:t>防水温度传感器。</a:t>
              </a:r>
              <a:endParaRPr lang="en-US" altLang="zh-CN" sz="1400" dirty="0">
                <a:solidFill>
                  <a:schemeClr val="tx1">
                    <a:lumMod val="65000"/>
                    <a:lumOff val="35000"/>
                  </a:schemeClr>
                </a:solidFill>
                <a:latin typeface="微软雅黑" panose="020B0503020204020204" pitchFamily="34" charset="-122"/>
                <a:ea typeface="微软雅黑" panose="020B0503020204020204" pitchFamily="34" charset="-122"/>
                <a:cs typeface="OPPOSans M" panose="00020600040101010101" pitchFamily="18" charset="-122"/>
                <a:sym typeface="+mn-lt"/>
              </a:endParaRPr>
            </a:p>
            <a:p>
              <a:pPr eaLnBrk="1" hangingPunct="1">
                <a:lnSpc>
                  <a:spcPct val="150000"/>
                </a:lnSpc>
              </a:pPr>
              <a:r>
                <a:rPr lang="zh-CN" altLang="en-US" sz="1400" dirty="0">
                  <a:solidFill>
                    <a:schemeClr val="tx1">
                      <a:lumMod val="65000"/>
                      <a:lumOff val="35000"/>
                    </a:schemeClr>
                  </a:solidFill>
                  <a:latin typeface="微软雅黑" panose="020B0503020204020204" pitchFamily="34" charset="-122"/>
                  <a:ea typeface="微软雅黑" panose="020B0503020204020204" pitchFamily="34" charset="-122"/>
                  <a:cs typeface="OPPOSans M" panose="00020600040101010101" pitchFamily="18" charset="-122"/>
                  <a:sym typeface="+mn-lt"/>
                </a:rPr>
                <a:t>数据预处理：在嵌入式端（</a:t>
              </a:r>
              <a:r>
                <a:rPr lang="en-US" altLang="zh-CN" sz="1400" dirty="0">
                  <a:solidFill>
                    <a:schemeClr val="tx1">
                      <a:lumMod val="65000"/>
                      <a:lumOff val="35000"/>
                    </a:schemeClr>
                  </a:solidFill>
                  <a:latin typeface="微软雅黑" panose="020B0503020204020204" pitchFamily="34" charset="-122"/>
                  <a:ea typeface="微软雅黑" panose="020B0503020204020204" pitchFamily="34" charset="-122"/>
                  <a:cs typeface="OPPOSans M" panose="00020600040101010101" pitchFamily="18" charset="-122"/>
                  <a:sym typeface="+mn-lt"/>
                </a:rPr>
                <a:t>C++）</a:t>
              </a:r>
              <a:r>
                <a:rPr lang="zh-CN" altLang="en-US" sz="1400" dirty="0">
                  <a:solidFill>
                    <a:schemeClr val="tx1">
                      <a:lumMod val="65000"/>
                      <a:lumOff val="35000"/>
                    </a:schemeClr>
                  </a:solidFill>
                  <a:latin typeface="微软雅黑" panose="020B0503020204020204" pitchFamily="34" charset="-122"/>
                  <a:ea typeface="微软雅黑" panose="020B0503020204020204" pitchFamily="34" charset="-122"/>
                  <a:cs typeface="OPPOSans M" panose="00020600040101010101" pitchFamily="18" charset="-122"/>
                  <a:sym typeface="+mn-lt"/>
                </a:rPr>
                <a:t>实现基于滑动平均滤波的信号平滑算法，消除 </a:t>
              </a:r>
              <a:r>
                <a:rPr lang="en-US" altLang="zh-CN" sz="1400" dirty="0">
                  <a:solidFill>
                    <a:schemeClr val="tx1">
                      <a:lumMod val="65000"/>
                      <a:lumOff val="35000"/>
                    </a:schemeClr>
                  </a:solidFill>
                  <a:latin typeface="微软雅黑" panose="020B0503020204020204" pitchFamily="34" charset="-122"/>
                  <a:ea typeface="微软雅黑" panose="020B0503020204020204" pitchFamily="34" charset="-122"/>
                  <a:cs typeface="OPPOSans M" panose="00020600040101010101" pitchFamily="18" charset="-122"/>
                  <a:sym typeface="+mn-lt"/>
                </a:rPr>
                <a:t>pH </a:t>
              </a:r>
              <a:r>
                <a:rPr lang="zh-CN" altLang="en-US" sz="1400" dirty="0">
                  <a:solidFill>
                    <a:schemeClr val="tx1">
                      <a:lumMod val="65000"/>
                      <a:lumOff val="35000"/>
                    </a:schemeClr>
                  </a:solidFill>
                  <a:latin typeface="微软雅黑" panose="020B0503020204020204" pitchFamily="34" charset="-122"/>
                  <a:ea typeface="微软雅黑" panose="020B0503020204020204" pitchFamily="34" charset="-122"/>
                  <a:cs typeface="OPPOSans M" panose="00020600040101010101" pitchFamily="18" charset="-122"/>
                  <a:sym typeface="+mn-lt"/>
                </a:rPr>
                <a:t>电极因电磁干扰产生的瞬时噪声。</a:t>
              </a:r>
              <a:endParaRPr lang="zh-CN" altLang="en-US" sz="1400" dirty="0">
                <a:solidFill>
                  <a:schemeClr val="tx1">
                    <a:lumMod val="65000"/>
                    <a:lumOff val="35000"/>
                  </a:schemeClr>
                </a:solidFill>
                <a:latin typeface="微软雅黑" panose="020B0503020204020204" pitchFamily="34" charset="-122"/>
                <a:ea typeface="微软雅黑" panose="020B0503020204020204" pitchFamily="34" charset="-122"/>
                <a:cs typeface="OPPOSans M" panose="00020600040101010101" pitchFamily="18" charset="-122"/>
                <a:sym typeface="+mn-lt"/>
              </a:endParaRPr>
            </a:p>
          </p:txBody>
        </p:sp>
      </p:grpSp>
      <p:grpSp>
        <p:nvGrpSpPr>
          <p:cNvPr id="12" name="组合 11"/>
          <p:cNvGrpSpPr/>
          <p:nvPr/>
        </p:nvGrpSpPr>
        <p:grpSpPr>
          <a:xfrm>
            <a:off x="8204178" y="1585088"/>
            <a:ext cx="2871470" cy="3925590"/>
            <a:chOff x="8204178" y="1585088"/>
            <a:chExt cx="2871470" cy="3925590"/>
          </a:xfrm>
        </p:grpSpPr>
        <p:sp>
          <p:nvSpPr>
            <p:cNvPr id="34" name="剪去单角的矩形 48"/>
            <p:cNvSpPr/>
            <p:nvPr/>
          </p:nvSpPr>
          <p:spPr>
            <a:xfrm>
              <a:off x="8204178" y="1585088"/>
              <a:ext cx="2871470" cy="3925590"/>
            </a:xfrm>
            <a:prstGeom prst="snip1Rect">
              <a:avLst/>
            </a:prstGeom>
            <a:noFill/>
            <a:ln>
              <a:solidFill>
                <a:schemeClr val="bg1">
                  <a:lumMod val="75000"/>
                </a:schemeClr>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grpSp>
          <p:nvGrpSpPr>
            <p:cNvPr id="35" name="组合 34"/>
            <p:cNvGrpSpPr/>
            <p:nvPr/>
          </p:nvGrpSpPr>
          <p:grpSpPr>
            <a:xfrm>
              <a:off x="9156678" y="1797179"/>
              <a:ext cx="967105" cy="967105"/>
              <a:chOff x="9413875" y="2092325"/>
              <a:chExt cx="967105" cy="967105"/>
            </a:xfrm>
          </p:grpSpPr>
          <p:sp>
            <p:nvSpPr>
              <p:cNvPr id="36" name="椭圆 35"/>
              <p:cNvSpPr/>
              <p:nvPr/>
            </p:nvSpPr>
            <p:spPr>
              <a:xfrm>
                <a:off x="9413875" y="2092325"/>
                <a:ext cx="967105" cy="967105"/>
              </a:xfrm>
              <a:prstGeom prst="ellipse">
                <a:avLst/>
              </a:prstGeom>
              <a:solidFill>
                <a:srgbClr val="004C9E"/>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latin typeface="微软雅黑" panose="020B0503020204020204" pitchFamily="34" charset="-122"/>
                  <a:ea typeface="微软雅黑" panose="020B0503020204020204" pitchFamily="34" charset="-122"/>
                </a:endParaRPr>
              </a:p>
            </p:txBody>
          </p:sp>
          <p:sp>
            <p:nvSpPr>
              <p:cNvPr id="37" name="Freeform 26"/>
              <p:cNvSpPr>
                <a:spLocks noEditPoints="1"/>
              </p:cNvSpPr>
              <p:nvPr/>
            </p:nvSpPr>
            <p:spPr bwMode="auto">
              <a:xfrm>
                <a:off x="9759950" y="2372360"/>
                <a:ext cx="334010" cy="404495"/>
              </a:xfrm>
              <a:custGeom>
                <a:avLst/>
                <a:gdLst>
                  <a:gd name="T0" fmla="*/ 0 w 77"/>
                  <a:gd name="T1" fmla="*/ 85 h 93"/>
                  <a:gd name="T2" fmla="*/ 30 w 77"/>
                  <a:gd name="T3" fmla="*/ 20 h 93"/>
                  <a:gd name="T4" fmla="*/ 38 w 77"/>
                  <a:gd name="T5" fmla="*/ 26 h 93"/>
                  <a:gd name="T6" fmla="*/ 39 w 77"/>
                  <a:gd name="T7" fmla="*/ 27 h 93"/>
                  <a:gd name="T8" fmla="*/ 39 w 77"/>
                  <a:gd name="T9" fmla="*/ 27 h 93"/>
                  <a:gd name="T10" fmla="*/ 40 w 77"/>
                  <a:gd name="T11" fmla="*/ 27 h 93"/>
                  <a:gd name="T12" fmla="*/ 40 w 77"/>
                  <a:gd name="T13" fmla="*/ 28 h 93"/>
                  <a:gd name="T14" fmla="*/ 40 w 77"/>
                  <a:gd name="T15" fmla="*/ 28 h 93"/>
                  <a:gd name="T16" fmla="*/ 41 w 77"/>
                  <a:gd name="T17" fmla="*/ 28 h 93"/>
                  <a:gd name="T18" fmla="*/ 41 w 77"/>
                  <a:gd name="T19" fmla="*/ 29 h 93"/>
                  <a:gd name="T20" fmla="*/ 42 w 77"/>
                  <a:gd name="T21" fmla="*/ 29 h 93"/>
                  <a:gd name="T22" fmla="*/ 42 w 77"/>
                  <a:gd name="T23" fmla="*/ 29 h 93"/>
                  <a:gd name="T24" fmla="*/ 43 w 77"/>
                  <a:gd name="T25" fmla="*/ 29 h 93"/>
                  <a:gd name="T26" fmla="*/ 43 w 77"/>
                  <a:gd name="T27" fmla="*/ 30 h 93"/>
                  <a:gd name="T28" fmla="*/ 43 w 77"/>
                  <a:gd name="T29" fmla="*/ 30 h 93"/>
                  <a:gd name="T30" fmla="*/ 48 w 77"/>
                  <a:gd name="T31" fmla="*/ 33 h 93"/>
                  <a:gd name="T32" fmla="*/ 48 w 77"/>
                  <a:gd name="T33" fmla="*/ 33 h 93"/>
                  <a:gd name="T34" fmla="*/ 49 w 77"/>
                  <a:gd name="T35" fmla="*/ 34 h 93"/>
                  <a:gd name="T36" fmla="*/ 49 w 77"/>
                  <a:gd name="T37" fmla="*/ 34 h 93"/>
                  <a:gd name="T38" fmla="*/ 50 w 77"/>
                  <a:gd name="T39" fmla="*/ 34 h 93"/>
                  <a:gd name="T40" fmla="*/ 50 w 77"/>
                  <a:gd name="T41" fmla="*/ 35 h 93"/>
                  <a:gd name="T42" fmla="*/ 50 w 77"/>
                  <a:gd name="T43" fmla="*/ 35 h 93"/>
                  <a:gd name="T44" fmla="*/ 51 w 77"/>
                  <a:gd name="T45" fmla="*/ 35 h 93"/>
                  <a:gd name="T46" fmla="*/ 51 w 77"/>
                  <a:gd name="T47" fmla="*/ 36 h 93"/>
                  <a:gd name="T48" fmla="*/ 52 w 77"/>
                  <a:gd name="T49" fmla="*/ 36 h 93"/>
                  <a:gd name="T50" fmla="*/ 52 w 77"/>
                  <a:gd name="T51" fmla="*/ 36 h 93"/>
                  <a:gd name="T52" fmla="*/ 53 w 77"/>
                  <a:gd name="T53" fmla="*/ 37 h 93"/>
                  <a:gd name="T54" fmla="*/ 53 w 77"/>
                  <a:gd name="T55" fmla="*/ 37 h 93"/>
                  <a:gd name="T56" fmla="*/ 48 w 77"/>
                  <a:gd name="T57" fmla="*/ 79 h 93"/>
                  <a:gd name="T58" fmla="*/ 7 w 77"/>
                  <a:gd name="T59" fmla="*/ 91 h 93"/>
                  <a:gd name="T60" fmla="*/ 35 w 77"/>
                  <a:gd name="T61" fmla="*/ 64 h 93"/>
                  <a:gd name="T62" fmla="*/ 19 w 77"/>
                  <a:gd name="T63" fmla="*/ 53 h 93"/>
                  <a:gd name="T64" fmla="*/ 3 w 77"/>
                  <a:gd name="T65" fmla="*/ 88 h 93"/>
                  <a:gd name="T66" fmla="*/ 73 w 77"/>
                  <a:gd name="T67" fmla="*/ 93 h 93"/>
                  <a:gd name="T68" fmla="*/ 54 w 77"/>
                  <a:gd name="T69" fmla="*/ 83 h 93"/>
                  <a:gd name="T70" fmla="*/ 69 w 77"/>
                  <a:gd name="T71" fmla="*/ 42 h 93"/>
                  <a:gd name="T72" fmla="*/ 34 w 77"/>
                  <a:gd name="T73" fmla="*/ 0 h 93"/>
                  <a:gd name="T74" fmla="*/ 69 w 77"/>
                  <a:gd name="T75" fmla="*/ 42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77" h="93">
                    <a:moveTo>
                      <a:pt x="3" y="88"/>
                    </a:moveTo>
                    <a:cubicBezTo>
                      <a:pt x="2" y="87"/>
                      <a:pt x="1" y="86"/>
                      <a:pt x="0" y="85"/>
                    </a:cubicBezTo>
                    <a:cubicBezTo>
                      <a:pt x="0" y="72"/>
                      <a:pt x="0" y="58"/>
                      <a:pt x="0" y="45"/>
                    </a:cubicBezTo>
                    <a:cubicBezTo>
                      <a:pt x="12" y="40"/>
                      <a:pt x="21" y="32"/>
                      <a:pt x="30" y="20"/>
                    </a:cubicBezTo>
                    <a:cubicBezTo>
                      <a:pt x="38" y="26"/>
                      <a:pt x="38" y="26"/>
                      <a:pt x="38" y="26"/>
                    </a:cubicBezTo>
                    <a:cubicBezTo>
                      <a:pt x="38" y="26"/>
                      <a:pt x="38" y="26"/>
                      <a:pt x="38" y="26"/>
                    </a:cubicBezTo>
                    <a:cubicBezTo>
                      <a:pt x="38" y="27"/>
                      <a:pt x="38" y="27"/>
                      <a:pt x="38" y="27"/>
                    </a:cubicBezTo>
                    <a:cubicBezTo>
                      <a:pt x="39" y="27"/>
                      <a:pt x="39" y="27"/>
                      <a:pt x="39" y="27"/>
                    </a:cubicBezTo>
                    <a:cubicBezTo>
                      <a:pt x="39" y="27"/>
                      <a:pt x="39" y="27"/>
                      <a:pt x="39" y="27"/>
                    </a:cubicBezTo>
                    <a:cubicBezTo>
                      <a:pt x="39" y="27"/>
                      <a:pt x="39" y="27"/>
                      <a:pt x="39" y="27"/>
                    </a:cubicBezTo>
                    <a:cubicBezTo>
                      <a:pt x="39" y="27"/>
                      <a:pt x="39" y="27"/>
                      <a:pt x="39" y="27"/>
                    </a:cubicBezTo>
                    <a:cubicBezTo>
                      <a:pt x="40" y="27"/>
                      <a:pt x="40" y="27"/>
                      <a:pt x="40" y="27"/>
                    </a:cubicBezTo>
                    <a:cubicBezTo>
                      <a:pt x="40" y="27"/>
                      <a:pt x="40" y="27"/>
                      <a:pt x="40" y="27"/>
                    </a:cubicBezTo>
                    <a:cubicBezTo>
                      <a:pt x="40" y="28"/>
                      <a:pt x="40" y="28"/>
                      <a:pt x="40" y="28"/>
                    </a:cubicBezTo>
                    <a:cubicBezTo>
                      <a:pt x="40" y="28"/>
                      <a:pt x="40" y="28"/>
                      <a:pt x="40" y="28"/>
                    </a:cubicBezTo>
                    <a:cubicBezTo>
                      <a:pt x="40" y="28"/>
                      <a:pt x="40" y="28"/>
                      <a:pt x="40" y="28"/>
                    </a:cubicBezTo>
                    <a:cubicBezTo>
                      <a:pt x="41" y="28"/>
                      <a:pt x="41" y="28"/>
                      <a:pt x="41" y="28"/>
                    </a:cubicBezTo>
                    <a:cubicBezTo>
                      <a:pt x="41" y="28"/>
                      <a:pt x="41" y="28"/>
                      <a:pt x="41" y="28"/>
                    </a:cubicBezTo>
                    <a:cubicBezTo>
                      <a:pt x="41" y="28"/>
                      <a:pt x="41" y="28"/>
                      <a:pt x="41" y="28"/>
                    </a:cubicBezTo>
                    <a:cubicBezTo>
                      <a:pt x="41" y="29"/>
                      <a:pt x="41" y="29"/>
                      <a:pt x="41" y="29"/>
                    </a:cubicBezTo>
                    <a:cubicBezTo>
                      <a:pt x="42" y="29"/>
                      <a:pt x="42" y="29"/>
                      <a:pt x="42" y="29"/>
                    </a:cubicBezTo>
                    <a:cubicBezTo>
                      <a:pt x="42" y="29"/>
                      <a:pt x="42" y="29"/>
                      <a:pt x="42" y="29"/>
                    </a:cubicBezTo>
                    <a:cubicBezTo>
                      <a:pt x="42" y="29"/>
                      <a:pt x="42" y="29"/>
                      <a:pt x="42" y="29"/>
                    </a:cubicBezTo>
                    <a:cubicBezTo>
                      <a:pt x="42" y="29"/>
                      <a:pt x="42" y="29"/>
                      <a:pt x="42" y="29"/>
                    </a:cubicBezTo>
                    <a:cubicBezTo>
                      <a:pt x="42" y="29"/>
                      <a:pt x="42" y="29"/>
                      <a:pt x="42" y="29"/>
                    </a:cubicBezTo>
                    <a:cubicBezTo>
                      <a:pt x="43" y="29"/>
                      <a:pt x="43" y="29"/>
                      <a:pt x="43" y="29"/>
                    </a:cubicBezTo>
                    <a:cubicBezTo>
                      <a:pt x="43" y="30"/>
                      <a:pt x="43" y="30"/>
                      <a:pt x="43" y="30"/>
                    </a:cubicBezTo>
                    <a:cubicBezTo>
                      <a:pt x="43" y="30"/>
                      <a:pt x="43" y="30"/>
                      <a:pt x="43" y="30"/>
                    </a:cubicBezTo>
                    <a:cubicBezTo>
                      <a:pt x="43" y="30"/>
                      <a:pt x="43" y="30"/>
                      <a:pt x="43" y="30"/>
                    </a:cubicBezTo>
                    <a:cubicBezTo>
                      <a:pt x="43" y="30"/>
                      <a:pt x="43" y="30"/>
                      <a:pt x="43" y="30"/>
                    </a:cubicBezTo>
                    <a:cubicBezTo>
                      <a:pt x="44" y="30"/>
                      <a:pt x="44" y="30"/>
                      <a:pt x="44" y="30"/>
                    </a:cubicBezTo>
                    <a:cubicBezTo>
                      <a:pt x="48" y="33"/>
                      <a:pt x="48" y="33"/>
                      <a:pt x="48" y="33"/>
                    </a:cubicBezTo>
                    <a:cubicBezTo>
                      <a:pt x="48" y="33"/>
                      <a:pt x="48" y="33"/>
                      <a:pt x="48" y="33"/>
                    </a:cubicBezTo>
                    <a:cubicBezTo>
                      <a:pt x="48" y="33"/>
                      <a:pt x="48" y="33"/>
                      <a:pt x="48" y="33"/>
                    </a:cubicBezTo>
                    <a:cubicBezTo>
                      <a:pt x="48" y="34"/>
                      <a:pt x="48" y="34"/>
                      <a:pt x="48" y="34"/>
                    </a:cubicBezTo>
                    <a:cubicBezTo>
                      <a:pt x="49" y="34"/>
                      <a:pt x="49" y="34"/>
                      <a:pt x="49" y="34"/>
                    </a:cubicBezTo>
                    <a:cubicBezTo>
                      <a:pt x="49" y="34"/>
                      <a:pt x="49" y="34"/>
                      <a:pt x="49" y="34"/>
                    </a:cubicBezTo>
                    <a:cubicBezTo>
                      <a:pt x="49" y="34"/>
                      <a:pt x="49" y="34"/>
                      <a:pt x="49" y="34"/>
                    </a:cubicBezTo>
                    <a:cubicBezTo>
                      <a:pt x="49" y="34"/>
                      <a:pt x="49" y="34"/>
                      <a:pt x="49" y="34"/>
                    </a:cubicBezTo>
                    <a:cubicBezTo>
                      <a:pt x="50" y="34"/>
                      <a:pt x="50" y="34"/>
                      <a:pt x="50" y="34"/>
                    </a:cubicBezTo>
                    <a:cubicBezTo>
                      <a:pt x="50" y="35"/>
                      <a:pt x="50" y="35"/>
                      <a:pt x="50" y="35"/>
                    </a:cubicBezTo>
                    <a:cubicBezTo>
                      <a:pt x="50" y="35"/>
                      <a:pt x="50" y="35"/>
                      <a:pt x="50" y="35"/>
                    </a:cubicBezTo>
                    <a:cubicBezTo>
                      <a:pt x="50" y="35"/>
                      <a:pt x="50" y="35"/>
                      <a:pt x="50" y="35"/>
                    </a:cubicBezTo>
                    <a:cubicBezTo>
                      <a:pt x="50" y="35"/>
                      <a:pt x="50" y="35"/>
                      <a:pt x="50" y="35"/>
                    </a:cubicBezTo>
                    <a:cubicBezTo>
                      <a:pt x="51" y="35"/>
                      <a:pt x="51" y="35"/>
                      <a:pt x="51" y="35"/>
                    </a:cubicBezTo>
                    <a:cubicBezTo>
                      <a:pt x="51" y="35"/>
                      <a:pt x="51" y="35"/>
                      <a:pt x="51" y="35"/>
                    </a:cubicBezTo>
                    <a:cubicBezTo>
                      <a:pt x="51" y="35"/>
                      <a:pt x="51" y="35"/>
                      <a:pt x="51" y="35"/>
                    </a:cubicBezTo>
                    <a:cubicBezTo>
                      <a:pt x="51" y="36"/>
                      <a:pt x="51" y="36"/>
                      <a:pt x="51" y="36"/>
                    </a:cubicBezTo>
                    <a:cubicBezTo>
                      <a:pt x="52" y="36"/>
                      <a:pt x="52" y="36"/>
                      <a:pt x="52" y="36"/>
                    </a:cubicBezTo>
                    <a:cubicBezTo>
                      <a:pt x="52" y="36"/>
                      <a:pt x="52" y="36"/>
                      <a:pt x="52" y="36"/>
                    </a:cubicBezTo>
                    <a:cubicBezTo>
                      <a:pt x="52" y="36"/>
                      <a:pt x="52" y="36"/>
                      <a:pt x="52" y="36"/>
                    </a:cubicBezTo>
                    <a:cubicBezTo>
                      <a:pt x="52" y="36"/>
                      <a:pt x="52" y="36"/>
                      <a:pt x="52" y="36"/>
                    </a:cubicBezTo>
                    <a:cubicBezTo>
                      <a:pt x="52" y="36"/>
                      <a:pt x="52" y="36"/>
                      <a:pt x="52" y="36"/>
                    </a:cubicBezTo>
                    <a:cubicBezTo>
                      <a:pt x="53" y="37"/>
                      <a:pt x="53" y="37"/>
                      <a:pt x="53" y="37"/>
                    </a:cubicBezTo>
                    <a:cubicBezTo>
                      <a:pt x="53" y="37"/>
                      <a:pt x="53" y="37"/>
                      <a:pt x="53" y="37"/>
                    </a:cubicBezTo>
                    <a:cubicBezTo>
                      <a:pt x="53" y="37"/>
                      <a:pt x="53" y="37"/>
                      <a:pt x="53" y="37"/>
                    </a:cubicBezTo>
                    <a:cubicBezTo>
                      <a:pt x="62" y="43"/>
                      <a:pt x="62" y="43"/>
                      <a:pt x="62" y="43"/>
                    </a:cubicBezTo>
                    <a:cubicBezTo>
                      <a:pt x="53" y="55"/>
                      <a:pt x="49" y="67"/>
                      <a:pt x="48" y="79"/>
                    </a:cubicBezTo>
                    <a:cubicBezTo>
                      <a:pt x="36" y="84"/>
                      <a:pt x="23" y="88"/>
                      <a:pt x="11" y="93"/>
                    </a:cubicBezTo>
                    <a:cubicBezTo>
                      <a:pt x="9" y="92"/>
                      <a:pt x="8" y="91"/>
                      <a:pt x="7" y="91"/>
                    </a:cubicBezTo>
                    <a:cubicBezTo>
                      <a:pt x="23" y="68"/>
                      <a:pt x="23" y="68"/>
                      <a:pt x="23" y="68"/>
                    </a:cubicBezTo>
                    <a:cubicBezTo>
                      <a:pt x="27" y="69"/>
                      <a:pt x="32" y="68"/>
                      <a:pt x="35" y="64"/>
                    </a:cubicBezTo>
                    <a:cubicBezTo>
                      <a:pt x="38" y="60"/>
                      <a:pt x="37" y="54"/>
                      <a:pt x="32" y="51"/>
                    </a:cubicBezTo>
                    <a:cubicBezTo>
                      <a:pt x="28" y="47"/>
                      <a:pt x="22" y="49"/>
                      <a:pt x="19" y="53"/>
                    </a:cubicBezTo>
                    <a:cubicBezTo>
                      <a:pt x="16" y="57"/>
                      <a:pt x="16" y="62"/>
                      <a:pt x="19" y="65"/>
                    </a:cubicBezTo>
                    <a:cubicBezTo>
                      <a:pt x="3" y="88"/>
                      <a:pt x="3" y="88"/>
                      <a:pt x="3" y="88"/>
                    </a:cubicBezTo>
                    <a:close/>
                    <a:moveTo>
                      <a:pt x="27" y="93"/>
                    </a:moveTo>
                    <a:cubicBezTo>
                      <a:pt x="73" y="93"/>
                      <a:pt x="73" y="93"/>
                      <a:pt x="73" y="93"/>
                    </a:cubicBezTo>
                    <a:cubicBezTo>
                      <a:pt x="73" y="83"/>
                      <a:pt x="73" y="83"/>
                      <a:pt x="73" y="83"/>
                    </a:cubicBezTo>
                    <a:cubicBezTo>
                      <a:pt x="54" y="83"/>
                      <a:pt x="54" y="83"/>
                      <a:pt x="54" y="83"/>
                    </a:cubicBezTo>
                    <a:cubicBezTo>
                      <a:pt x="27" y="93"/>
                      <a:pt x="27" y="93"/>
                      <a:pt x="27" y="93"/>
                    </a:cubicBezTo>
                    <a:close/>
                    <a:moveTo>
                      <a:pt x="69" y="42"/>
                    </a:moveTo>
                    <a:cubicBezTo>
                      <a:pt x="77" y="31"/>
                      <a:pt x="77" y="31"/>
                      <a:pt x="77" y="31"/>
                    </a:cubicBezTo>
                    <a:cubicBezTo>
                      <a:pt x="34" y="0"/>
                      <a:pt x="34" y="0"/>
                      <a:pt x="34" y="0"/>
                    </a:cubicBezTo>
                    <a:cubicBezTo>
                      <a:pt x="26" y="12"/>
                      <a:pt x="26" y="12"/>
                      <a:pt x="26" y="12"/>
                    </a:cubicBezTo>
                    <a:lnTo>
                      <a:pt x="69" y="42"/>
                    </a:lnTo>
                    <a:close/>
                  </a:path>
                </a:pathLst>
              </a:custGeom>
              <a:solidFill>
                <a:schemeClr val="bg1"/>
              </a:solidFill>
              <a:ln>
                <a:noFill/>
              </a:ln>
            </p:spPr>
            <p:txBody>
              <a:bodyPr vert="horz" wrap="square" lIns="96430" tIns="48216" rIns="96430" bIns="48216"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20000"/>
                  </a:lnSpc>
                </a:pPr>
                <a:endParaRPr lang="zh-CN" altLang="en-US" sz="950" dirty="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grpSp>
        <p:sp>
          <p:nvSpPr>
            <p:cNvPr id="40" name="PA-矩形 4"/>
            <p:cNvSpPr>
              <a:spLocks noChangeArrowheads="1"/>
            </p:cNvSpPr>
            <p:nvPr>
              <p:custDataLst>
                <p:tags r:id="rId7"/>
              </p:custDataLst>
            </p:nvPr>
          </p:nvSpPr>
          <p:spPr bwMode="auto">
            <a:xfrm>
              <a:off x="8982112" y="3027657"/>
              <a:ext cx="1418929" cy="307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2000" b="1" dirty="0">
                  <a:solidFill>
                    <a:schemeClr val="tx1">
                      <a:lumMod val="85000"/>
                      <a:lumOff val="15000"/>
                    </a:schemeClr>
                  </a:solidFill>
                  <a:latin typeface="微软雅黑" panose="020B0503020204020204" pitchFamily="34" charset="-122"/>
                  <a:ea typeface="微软雅黑" panose="020B0503020204020204" pitchFamily="34" charset="-122"/>
                  <a:cs typeface="阿里巴巴普惠体 H" panose="00020600040101010101" pitchFamily="18" charset="-122"/>
                  <a:sym typeface="+mn-lt"/>
                </a:rPr>
                <a:t>通信协议</a:t>
              </a:r>
              <a:endParaRPr lang="zh-CN" altLang="en-US" sz="2000" b="1" dirty="0">
                <a:solidFill>
                  <a:schemeClr val="tx1">
                    <a:lumMod val="85000"/>
                    <a:lumOff val="15000"/>
                  </a:schemeClr>
                </a:solidFill>
                <a:latin typeface="微软雅黑" panose="020B0503020204020204" pitchFamily="34" charset="-122"/>
                <a:ea typeface="微软雅黑" panose="020B0503020204020204" pitchFamily="34" charset="-122"/>
                <a:cs typeface="阿里巴巴普惠体 H" panose="00020600040101010101" pitchFamily="18" charset="-122"/>
                <a:sym typeface="+mn-lt"/>
              </a:endParaRPr>
            </a:p>
          </p:txBody>
        </p:sp>
        <p:sp>
          <p:nvSpPr>
            <p:cNvPr id="13" name="PA-矩形 4"/>
            <p:cNvSpPr>
              <a:spLocks noChangeArrowheads="1"/>
            </p:cNvSpPr>
            <p:nvPr>
              <p:custDataLst>
                <p:tags r:id="rId8"/>
              </p:custDataLst>
            </p:nvPr>
          </p:nvSpPr>
          <p:spPr bwMode="auto">
            <a:xfrm>
              <a:off x="8404124" y="3648598"/>
              <a:ext cx="2531268" cy="9690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pPr>
              <a:r>
                <a:rPr lang="zh-CN" altLang="en-US" sz="1400" dirty="0">
                  <a:solidFill>
                    <a:schemeClr val="tx1">
                      <a:lumMod val="65000"/>
                      <a:lumOff val="35000"/>
                    </a:schemeClr>
                  </a:solidFill>
                  <a:latin typeface="微软雅黑" panose="020B0503020204020204" pitchFamily="34" charset="-122"/>
                  <a:ea typeface="微软雅黑" panose="020B0503020204020204" pitchFamily="34" charset="-122"/>
                  <a:cs typeface="OPPOSans M" panose="00020600040101010101" pitchFamily="18" charset="-122"/>
                  <a:sym typeface="+mn-lt"/>
                </a:rPr>
                <a:t>采用 </a:t>
              </a:r>
              <a:r>
                <a:rPr lang="en-US" altLang="zh-CN" sz="1400" dirty="0">
                  <a:solidFill>
                    <a:schemeClr val="tx1">
                      <a:lumMod val="65000"/>
                      <a:lumOff val="35000"/>
                    </a:schemeClr>
                  </a:solidFill>
                  <a:latin typeface="微软雅黑" panose="020B0503020204020204" pitchFamily="34" charset="-122"/>
                  <a:ea typeface="微软雅黑" panose="020B0503020204020204" pitchFamily="34" charset="-122"/>
                  <a:cs typeface="OPPOSans M" panose="00020600040101010101" pitchFamily="18" charset="-122"/>
                  <a:sym typeface="+mn-lt"/>
                </a:rPr>
                <a:t>MQTT/HTTP </a:t>
              </a:r>
              <a:r>
                <a:rPr lang="zh-CN" altLang="en-US" sz="1400" dirty="0">
                  <a:solidFill>
                    <a:schemeClr val="tx1">
                      <a:lumMod val="65000"/>
                      <a:lumOff val="35000"/>
                    </a:schemeClr>
                  </a:solidFill>
                  <a:latin typeface="微软雅黑" panose="020B0503020204020204" pitchFamily="34" charset="-122"/>
                  <a:ea typeface="微软雅黑" panose="020B0503020204020204" pitchFamily="34" charset="-122"/>
                  <a:cs typeface="OPPOSans M" panose="00020600040101010101" pitchFamily="18" charset="-122"/>
                  <a:sym typeface="+mn-lt"/>
                </a:rPr>
                <a:t>协议将结构化数据（数值）与非结构化数据（图片）定时推送到后端服务器。</a:t>
              </a:r>
              <a:endParaRPr lang="zh-CN" altLang="en-US" sz="1400" dirty="0">
                <a:solidFill>
                  <a:schemeClr val="tx1">
                    <a:lumMod val="65000"/>
                    <a:lumOff val="35000"/>
                  </a:schemeClr>
                </a:solidFill>
                <a:latin typeface="微软雅黑" panose="020B0503020204020204" pitchFamily="34" charset="-122"/>
                <a:ea typeface="微软雅黑" panose="020B0503020204020204" pitchFamily="34" charset="-122"/>
                <a:cs typeface="OPPOSans M" panose="00020600040101010101" pitchFamily="18" charset="-122"/>
                <a:sym typeface="+mn-lt"/>
              </a:endParaRPr>
            </a:p>
          </p:txBody>
        </p:sp>
      </p:grpSp>
      <p:sp>
        <p:nvSpPr>
          <p:cNvPr id="20" name="文本框 19"/>
          <p:cNvSpPr txBox="1"/>
          <p:nvPr/>
        </p:nvSpPr>
        <p:spPr>
          <a:xfrm>
            <a:off x="1009650" y="1069340"/>
            <a:ext cx="4117340" cy="398780"/>
          </a:xfrm>
          <a:prstGeom prst="rect">
            <a:avLst/>
          </a:prstGeom>
          <a:noFill/>
        </p:spPr>
        <p:txBody>
          <a:bodyPr wrap="square" rtlCol="0">
            <a:spAutoFit/>
          </a:bodyPr>
          <a:lstStyle/>
          <a:p>
            <a:r>
              <a:rPr lang="zh-CN" altLang="en-US" sz="2000" b="1"/>
              <a:t>一、边缘感知与执行层（硬件终端）</a:t>
            </a:r>
            <a:endParaRPr lang="zh-CN" altLang="en-US" sz="2000" b="1"/>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1000"/>
                                        <p:tgtEl>
                                          <p:spTgt spid="4"/>
                                        </p:tgtEl>
                                      </p:cBhvr>
                                    </p:animEffect>
                                    <p:anim calcmode="lin" valueType="num">
                                      <p:cBhvr>
                                        <p:cTn id="15" dur="1000" fill="hold"/>
                                        <p:tgtEl>
                                          <p:spTgt spid="4"/>
                                        </p:tgtEl>
                                        <p:attrNameLst>
                                          <p:attrName>ppt_x</p:attrName>
                                        </p:attrNameLst>
                                      </p:cBhvr>
                                      <p:tavLst>
                                        <p:tav tm="0">
                                          <p:val>
                                            <p:strVal val="#ppt_x"/>
                                          </p:val>
                                        </p:tav>
                                        <p:tav tm="100000">
                                          <p:val>
                                            <p:strVal val="#ppt_x"/>
                                          </p:val>
                                        </p:tav>
                                      </p:tavLst>
                                    </p:anim>
                                    <p:anim calcmode="lin" valueType="num">
                                      <p:cBhvr>
                                        <p:cTn id="16"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1000"/>
                                        <p:tgtEl>
                                          <p:spTgt spid="12"/>
                                        </p:tgtEl>
                                      </p:cBhvr>
                                    </p:animEffect>
                                    <p:anim calcmode="lin" valueType="num">
                                      <p:cBhvr>
                                        <p:cTn id="22" dur="1000" fill="hold"/>
                                        <p:tgtEl>
                                          <p:spTgt spid="12"/>
                                        </p:tgtEl>
                                        <p:attrNameLst>
                                          <p:attrName>ppt_x</p:attrName>
                                        </p:attrNameLst>
                                      </p:cBhvr>
                                      <p:tavLst>
                                        <p:tav tm="0">
                                          <p:val>
                                            <p:strVal val="#ppt_x"/>
                                          </p:val>
                                        </p:tav>
                                        <p:tav tm="100000">
                                          <p:val>
                                            <p:strVal val="#ppt_x"/>
                                          </p:val>
                                        </p:tav>
                                      </p:tavLst>
                                    </p:anim>
                                    <p:anim calcmode="lin" valueType="num">
                                      <p:cBhvr>
                                        <p:cTn id="23"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7" name="剪去单角的矩形 226"/>
          <p:cNvSpPr/>
          <p:nvPr/>
        </p:nvSpPr>
        <p:spPr>
          <a:xfrm rot="16200000">
            <a:off x="4702439" y="-631561"/>
            <a:ext cx="6858000" cy="8121122"/>
          </a:xfrm>
          <a:prstGeom prst="snip1Rect">
            <a:avLst>
              <a:gd name="adj" fmla="val 50000"/>
            </a:avLst>
          </a:prstGeom>
          <a:solidFill>
            <a:srgbClr val="004C9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7" name="组合 6"/>
          <p:cNvGrpSpPr/>
          <p:nvPr/>
        </p:nvGrpSpPr>
        <p:grpSpPr>
          <a:xfrm>
            <a:off x="490537" y="472440"/>
            <a:ext cx="11210925" cy="6019800"/>
            <a:chOff x="490484" y="441960"/>
            <a:chExt cx="11211033" cy="6019801"/>
          </a:xfrm>
        </p:grpSpPr>
        <p:pic>
          <p:nvPicPr>
            <p:cNvPr id="8" name="图片 7"/>
            <p:cNvPicPr>
              <a:picLocks noChangeAspect="1"/>
            </p:cNvPicPr>
            <p:nvPr userDrawn="1"/>
          </p:nvPicPr>
          <p:blipFill rotWithShape="1">
            <a:blip r:embed="rId1">
              <a:extLst>
                <a:ext uri="{28A0092B-C50C-407E-A947-70E740481C1C}">
                  <a14:useLocalDpi xmlns:a14="http://schemas.microsoft.com/office/drawing/2010/main" val="0"/>
                </a:ext>
              </a:extLst>
            </a:blip>
            <a:srcRect l="1515" t="4277" r="530" b="14319"/>
            <a:stretch>
              <a:fillRect/>
            </a:stretch>
          </p:blipFill>
          <p:spPr>
            <a:xfrm>
              <a:off x="490484" y="441960"/>
              <a:ext cx="11211033" cy="6019801"/>
            </a:xfrm>
            <a:prstGeom prst="rect">
              <a:avLst/>
            </a:prstGeom>
            <a:effectLst>
              <a:outerShdw blurRad="355600" dist="139700" dir="2700000" algn="tl" rotWithShape="0">
                <a:prstClr val="black">
                  <a:alpha val="61000"/>
                </a:prstClr>
              </a:outerShdw>
            </a:effectLst>
          </p:spPr>
        </p:pic>
        <p:sp>
          <p:nvSpPr>
            <p:cNvPr id="9" name="矩形 8"/>
            <p:cNvSpPr/>
            <p:nvPr/>
          </p:nvSpPr>
          <p:spPr>
            <a:xfrm>
              <a:off x="490484" y="441960"/>
              <a:ext cx="11211032" cy="6019801"/>
            </a:xfrm>
            <a:prstGeom prst="rect">
              <a:avLst/>
            </a:prstGeom>
            <a:solidFill>
              <a:srgbClr val="FFFEF7">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400" b="1" dirty="0">
                <a:solidFill>
                  <a:srgbClr val="004C9E"/>
                </a:solidFill>
                <a:latin typeface="微软雅黑" panose="020B0503020204020204" pitchFamily="34" charset="-122"/>
                <a:ea typeface="微软雅黑" panose="020B0503020204020204" pitchFamily="34" charset="-122"/>
              </a:endParaRPr>
            </a:p>
          </p:txBody>
        </p:sp>
      </p:grpSp>
      <p:sp>
        <p:nvSpPr>
          <p:cNvPr id="10" name="文本框 9"/>
          <p:cNvSpPr txBox="1"/>
          <p:nvPr/>
        </p:nvSpPr>
        <p:spPr>
          <a:xfrm>
            <a:off x="394507" y="553085"/>
            <a:ext cx="2001520" cy="398780"/>
          </a:xfrm>
          <a:prstGeom prst="rect">
            <a:avLst/>
          </a:prstGeom>
          <a:noFill/>
        </p:spPr>
        <p:txBody>
          <a:bodyPr wrap="square" rtlCol="0">
            <a:spAutoFit/>
          </a:bodyPr>
          <a:lstStyle/>
          <a:p>
            <a:pPr algn="ctr"/>
            <a:r>
              <a:rPr lang="zh-CN" altLang="en-US" sz="2000" b="1" dirty="0">
                <a:solidFill>
                  <a:srgbClr val="A6A6A6"/>
                </a:solidFill>
                <a:latin typeface="微软雅黑" panose="020B0503020204020204" pitchFamily="34" charset="-122"/>
                <a:ea typeface="微软雅黑" panose="020B0503020204020204" pitchFamily="34" charset="-122"/>
              </a:rPr>
              <a:t>立项背景及意义</a:t>
            </a:r>
            <a:endParaRPr lang="zh-CN" altLang="en-US" sz="2000" b="1" dirty="0">
              <a:solidFill>
                <a:srgbClr val="A6A6A6"/>
              </a:solidFill>
              <a:latin typeface="微软雅黑" panose="020B0503020204020204" pitchFamily="34" charset="-122"/>
              <a:ea typeface="微软雅黑" panose="020B0503020204020204" pitchFamily="34" charset="-122"/>
            </a:endParaRPr>
          </a:p>
        </p:txBody>
      </p:sp>
      <p:cxnSp>
        <p:nvCxnSpPr>
          <p:cNvPr id="43" name="直接连接符 42"/>
          <p:cNvCxnSpPr/>
          <p:nvPr/>
        </p:nvCxnSpPr>
        <p:spPr>
          <a:xfrm>
            <a:off x="899088" y="6096082"/>
            <a:ext cx="9058311" cy="4300"/>
          </a:xfrm>
          <a:prstGeom prst="line">
            <a:avLst/>
          </a:prstGeom>
        </p:spPr>
        <p:style>
          <a:lnRef idx="1">
            <a:schemeClr val="accent1"/>
          </a:lnRef>
          <a:fillRef idx="0">
            <a:schemeClr val="accent1"/>
          </a:fillRef>
          <a:effectRef idx="0">
            <a:schemeClr val="accent1"/>
          </a:effectRef>
          <a:fontRef idx="minor">
            <a:schemeClr val="tx1"/>
          </a:fontRef>
        </p:style>
      </p:cxnSp>
      <p:sp>
        <p:nvSpPr>
          <p:cNvPr id="14" name="文本框 13"/>
          <p:cNvSpPr txBox="1"/>
          <p:nvPr/>
        </p:nvSpPr>
        <p:spPr>
          <a:xfrm>
            <a:off x="2445681" y="553085"/>
            <a:ext cx="2001520" cy="398780"/>
          </a:xfrm>
          <a:prstGeom prst="rect">
            <a:avLst/>
          </a:prstGeom>
          <a:noFill/>
        </p:spPr>
        <p:txBody>
          <a:bodyPr wrap="square" rtlCol="0">
            <a:spAutoFit/>
          </a:bodyPr>
          <a:lstStyle/>
          <a:p>
            <a:pPr algn="ctr"/>
            <a:r>
              <a:rPr lang="zh-CN" altLang="en-US" sz="2000" b="1" dirty="0">
                <a:solidFill>
                  <a:schemeClr val="bg1">
                    <a:lumMod val="65000"/>
                  </a:schemeClr>
                </a:solidFill>
                <a:latin typeface="微软雅黑" panose="020B0503020204020204" pitchFamily="34" charset="-122"/>
                <a:ea typeface="微软雅黑" panose="020B0503020204020204" pitchFamily="34" charset="-122"/>
              </a:rPr>
              <a:t>研究内容</a:t>
            </a:r>
            <a:endParaRPr lang="zh-CN" altLang="en-US" sz="2000" b="1" dirty="0">
              <a:solidFill>
                <a:schemeClr val="bg1">
                  <a:lumMod val="65000"/>
                </a:schemeClr>
              </a:solidFill>
              <a:latin typeface="微软雅黑" panose="020B0503020204020204" pitchFamily="34" charset="-122"/>
              <a:ea typeface="微软雅黑" panose="020B0503020204020204" pitchFamily="34" charset="-122"/>
            </a:endParaRPr>
          </a:p>
        </p:txBody>
      </p:sp>
      <p:sp>
        <p:nvSpPr>
          <p:cNvPr id="15" name="文本框 14"/>
          <p:cNvSpPr txBox="1"/>
          <p:nvPr/>
        </p:nvSpPr>
        <p:spPr>
          <a:xfrm>
            <a:off x="4543231" y="553085"/>
            <a:ext cx="2001520" cy="398780"/>
          </a:xfrm>
          <a:prstGeom prst="rect">
            <a:avLst/>
          </a:prstGeom>
          <a:noFill/>
        </p:spPr>
        <p:txBody>
          <a:bodyPr wrap="square" rtlCol="0">
            <a:spAutoFit/>
          </a:bodyPr>
          <a:lstStyle/>
          <a:p>
            <a:pPr algn="ctr"/>
            <a:r>
              <a:rPr lang="zh-CN" altLang="en-US" sz="2000" b="1" dirty="0">
                <a:solidFill>
                  <a:srgbClr val="004C9E"/>
                </a:solidFill>
                <a:latin typeface="微软雅黑" panose="020B0503020204020204" pitchFamily="34" charset="-122"/>
                <a:ea typeface="微软雅黑" panose="020B0503020204020204" pitchFamily="34" charset="-122"/>
              </a:rPr>
              <a:t>拟采用技术路线</a:t>
            </a:r>
            <a:endParaRPr lang="zh-CN" altLang="en-US" sz="2000" b="1" dirty="0">
              <a:solidFill>
                <a:srgbClr val="004C9E"/>
              </a:solidFill>
              <a:latin typeface="微软雅黑" panose="020B0503020204020204" pitchFamily="34" charset="-122"/>
              <a:ea typeface="微软雅黑" panose="020B0503020204020204" pitchFamily="34" charset="-122"/>
            </a:endParaRPr>
          </a:p>
        </p:txBody>
      </p:sp>
      <p:sp>
        <p:nvSpPr>
          <p:cNvPr id="16" name="文本框 15"/>
          <p:cNvSpPr txBox="1"/>
          <p:nvPr/>
        </p:nvSpPr>
        <p:spPr>
          <a:xfrm>
            <a:off x="6485324" y="553085"/>
            <a:ext cx="2755901" cy="398780"/>
          </a:xfrm>
          <a:prstGeom prst="rect">
            <a:avLst/>
          </a:prstGeom>
          <a:noFill/>
        </p:spPr>
        <p:txBody>
          <a:bodyPr wrap="square" rtlCol="0">
            <a:spAutoFit/>
          </a:bodyPr>
          <a:lstStyle/>
          <a:p>
            <a:pPr algn="ctr"/>
            <a:r>
              <a:rPr lang="zh-CN" altLang="en-US" sz="2000" b="1" dirty="0">
                <a:solidFill>
                  <a:schemeClr val="bg1">
                    <a:lumMod val="65000"/>
                  </a:schemeClr>
                </a:solidFill>
                <a:latin typeface="微软雅黑" panose="020B0503020204020204" pitchFamily="34" charset="-122"/>
                <a:ea typeface="微软雅黑" panose="020B0503020204020204" pitchFamily="34" charset="-122"/>
              </a:rPr>
              <a:t>创新与特点</a:t>
            </a:r>
            <a:endParaRPr lang="zh-CN" altLang="en-US" sz="2000" b="1" dirty="0">
              <a:solidFill>
                <a:schemeClr val="bg1">
                  <a:lumMod val="65000"/>
                </a:schemeClr>
              </a:solidFill>
              <a:latin typeface="微软雅黑" panose="020B0503020204020204" pitchFamily="34" charset="-122"/>
              <a:ea typeface="微软雅黑" panose="020B0503020204020204" pitchFamily="34" charset="-122"/>
            </a:endParaRPr>
          </a:p>
        </p:txBody>
      </p:sp>
      <p:sp>
        <p:nvSpPr>
          <p:cNvPr id="17" name="文本框 16"/>
          <p:cNvSpPr txBox="1"/>
          <p:nvPr/>
        </p:nvSpPr>
        <p:spPr>
          <a:xfrm>
            <a:off x="9102720" y="553085"/>
            <a:ext cx="2755901" cy="398780"/>
          </a:xfrm>
          <a:prstGeom prst="rect">
            <a:avLst/>
          </a:prstGeom>
          <a:noFill/>
        </p:spPr>
        <p:txBody>
          <a:bodyPr wrap="square" rtlCol="0">
            <a:spAutoFit/>
          </a:bodyPr>
          <a:lstStyle/>
          <a:p>
            <a:pPr algn="ctr"/>
            <a:r>
              <a:rPr lang="zh-CN" altLang="en-US" sz="2000" b="1" dirty="0">
                <a:solidFill>
                  <a:schemeClr val="bg1">
                    <a:lumMod val="65000"/>
                  </a:schemeClr>
                </a:solidFill>
                <a:latin typeface="微软雅黑" panose="020B0503020204020204" pitchFamily="34" charset="-122"/>
                <a:ea typeface="微软雅黑" panose="020B0503020204020204" pitchFamily="34" charset="-122"/>
              </a:rPr>
              <a:t>时间安排计划</a:t>
            </a:r>
            <a:endParaRPr lang="zh-CN" altLang="en-US" sz="2000" b="1" dirty="0">
              <a:solidFill>
                <a:schemeClr val="bg1">
                  <a:lumMod val="65000"/>
                </a:schemeClr>
              </a:solidFill>
              <a:latin typeface="微软雅黑" panose="020B0503020204020204" pitchFamily="34" charset="-122"/>
              <a:ea typeface="微软雅黑" panose="020B0503020204020204" pitchFamily="34" charset="-122"/>
            </a:endParaRPr>
          </a:p>
        </p:txBody>
      </p:sp>
      <p:sp>
        <p:nvSpPr>
          <p:cNvPr id="18" name="等腰三角形 17"/>
          <p:cNvSpPr/>
          <p:nvPr/>
        </p:nvSpPr>
        <p:spPr>
          <a:xfrm rot="5400000">
            <a:off x="4433618" y="669975"/>
            <a:ext cx="192943" cy="166330"/>
          </a:xfrm>
          <a:prstGeom prst="triangle">
            <a:avLst/>
          </a:prstGeom>
          <a:solidFill>
            <a:srgbClr val="004C9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nvSpPr>
        <p:spPr>
          <a:xfrm>
            <a:off x="919480" y="6113780"/>
            <a:ext cx="2541905" cy="275590"/>
          </a:xfrm>
          <a:prstGeom prst="rect">
            <a:avLst/>
          </a:prstGeom>
          <a:noFill/>
        </p:spPr>
        <p:txBody>
          <a:bodyPr wrap="square" rtlCol="0">
            <a:spAutoFit/>
          </a:bodyPr>
          <a:lstStyle/>
          <a:p>
            <a:r>
              <a:rPr lang="zh-CN" altLang="en-US" sz="1200" b="1">
                <a:solidFill>
                  <a:srgbClr val="004C9E"/>
                </a:solidFill>
                <a:latin typeface="微软雅黑" panose="020B0503020204020204" pitchFamily="34" charset="-122"/>
                <a:ea typeface="微软雅黑" panose="020B0503020204020204" pitchFamily="34" charset="-122"/>
                <a:cs typeface="微软雅黑" panose="020B0503020204020204" pitchFamily="34" charset="-122"/>
              </a:rPr>
              <a:t>耐劳苦</a:t>
            </a:r>
            <a:r>
              <a:rPr lang="en-US" altLang="zh-CN" sz="1200" b="1">
                <a:solidFill>
                  <a:srgbClr val="004C9E"/>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200" b="1">
                <a:solidFill>
                  <a:srgbClr val="004C9E"/>
                </a:solidFill>
                <a:latin typeface="微软雅黑" panose="020B0503020204020204" pitchFamily="34" charset="-122"/>
                <a:ea typeface="微软雅黑" panose="020B0503020204020204" pitchFamily="34" charset="-122"/>
                <a:cs typeface="微软雅黑" panose="020B0503020204020204" pitchFamily="34" charset="-122"/>
              </a:rPr>
              <a:t>尚俭朴</a:t>
            </a:r>
            <a:r>
              <a:rPr lang="en-US" altLang="zh-CN" sz="1200" b="1">
                <a:solidFill>
                  <a:srgbClr val="004C9E"/>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200" b="1">
                <a:solidFill>
                  <a:srgbClr val="004C9E"/>
                </a:solidFill>
                <a:latin typeface="微软雅黑" panose="020B0503020204020204" pitchFamily="34" charset="-122"/>
                <a:ea typeface="微软雅黑" panose="020B0503020204020204" pitchFamily="34" charset="-122"/>
                <a:cs typeface="微软雅黑" panose="020B0503020204020204" pitchFamily="34" charset="-122"/>
              </a:rPr>
              <a:t>勤学业</a:t>
            </a:r>
            <a:r>
              <a:rPr lang="en-US" altLang="zh-CN" sz="1200" b="1">
                <a:solidFill>
                  <a:srgbClr val="004C9E"/>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200" b="1">
                <a:solidFill>
                  <a:srgbClr val="004C9E"/>
                </a:solidFill>
                <a:latin typeface="微软雅黑" panose="020B0503020204020204" pitchFamily="34" charset="-122"/>
                <a:ea typeface="微软雅黑" panose="020B0503020204020204" pitchFamily="34" charset="-122"/>
                <a:cs typeface="微软雅黑" panose="020B0503020204020204" pitchFamily="34" charset="-122"/>
              </a:rPr>
              <a:t>爱国家</a:t>
            </a:r>
            <a:endParaRPr lang="zh-CN" altLang="en-US" sz="1200" b="1">
              <a:solidFill>
                <a:srgbClr val="004C9E"/>
              </a:solidFill>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11" name="图片 10" descr="校徽"/>
          <p:cNvPicPr>
            <a:picLocks noChangeAspect="1"/>
          </p:cNvPicPr>
          <p:nvPr/>
        </p:nvPicPr>
        <p:blipFill>
          <a:blip r:embed="rId2"/>
          <a:stretch>
            <a:fillRect/>
          </a:stretch>
        </p:blipFill>
        <p:spPr>
          <a:xfrm>
            <a:off x="10127615" y="5844540"/>
            <a:ext cx="1259840" cy="397510"/>
          </a:xfrm>
          <a:prstGeom prst="rect">
            <a:avLst/>
          </a:prstGeom>
        </p:spPr>
      </p:pic>
      <p:sp>
        <p:nvSpPr>
          <p:cNvPr id="20" name="文本框 19"/>
          <p:cNvSpPr txBox="1"/>
          <p:nvPr/>
        </p:nvSpPr>
        <p:spPr>
          <a:xfrm>
            <a:off x="1009650" y="1069340"/>
            <a:ext cx="4457065" cy="398780"/>
          </a:xfrm>
          <a:prstGeom prst="rect">
            <a:avLst/>
          </a:prstGeom>
          <a:noFill/>
        </p:spPr>
        <p:txBody>
          <a:bodyPr wrap="square" rtlCol="0">
            <a:spAutoFit/>
          </a:bodyPr>
          <a:lstStyle/>
          <a:p>
            <a:r>
              <a:rPr lang="zh-CN" altLang="en-US" sz="2000" b="1"/>
              <a:t>二、智能分析与决策层（云端服务器）</a:t>
            </a:r>
            <a:endParaRPr lang="zh-CN" altLang="en-US" sz="2000" b="1"/>
          </a:p>
        </p:txBody>
      </p:sp>
      <p:grpSp>
        <p:nvGrpSpPr>
          <p:cNvPr id="3" name="组合 2"/>
          <p:cNvGrpSpPr/>
          <p:nvPr/>
        </p:nvGrpSpPr>
        <p:grpSpPr>
          <a:xfrm>
            <a:off x="1884023" y="1585723"/>
            <a:ext cx="2871470" cy="3925590"/>
            <a:chOff x="1009628" y="1585088"/>
            <a:chExt cx="2871470" cy="3925590"/>
          </a:xfrm>
        </p:grpSpPr>
        <p:sp>
          <p:nvSpPr>
            <p:cNvPr id="25" name="Freeform 25"/>
            <p:cNvSpPr>
              <a:spLocks noEditPoints="1"/>
            </p:cNvSpPr>
            <p:nvPr/>
          </p:nvSpPr>
          <p:spPr bwMode="auto">
            <a:xfrm>
              <a:off x="2267563" y="2106424"/>
              <a:ext cx="356235" cy="347980"/>
            </a:xfrm>
            <a:custGeom>
              <a:avLst/>
              <a:gdLst>
                <a:gd name="T0" fmla="*/ 74 w 82"/>
                <a:gd name="T1" fmla="*/ 6 h 80"/>
                <a:gd name="T2" fmla="*/ 67 w 82"/>
                <a:gd name="T3" fmla="*/ 27 h 80"/>
                <a:gd name="T4" fmla="*/ 65 w 82"/>
                <a:gd name="T5" fmla="*/ 30 h 80"/>
                <a:gd name="T6" fmla="*/ 75 w 82"/>
                <a:gd name="T7" fmla="*/ 71 h 80"/>
                <a:gd name="T8" fmla="*/ 66 w 82"/>
                <a:gd name="T9" fmla="*/ 80 h 80"/>
                <a:gd name="T10" fmla="*/ 44 w 82"/>
                <a:gd name="T11" fmla="*/ 50 h 80"/>
                <a:gd name="T12" fmla="*/ 36 w 82"/>
                <a:gd name="T13" fmla="*/ 57 h 80"/>
                <a:gd name="T14" fmla="*/ 39 w 82"/>
                <a:gd name="T15" fmla="*/ 70 h 80"/>
                <a:gd name="T16" fmla="*/ 34 w 82"/>
                <a:gd name="T17" fmla="*/ 75 h 80"/>
                <a:gd name="T18" fmla="*/ 26 w 82"/>
                <a:gd name="T19" fmla="*/ 61 h 80"/>
                <a:gd name="T20" fmla="*/ 21 w 82"/>
                <a:gd name="T21" fmla="*/ 67 h 80"/>
                <a:gd name="T22" fmla="*/ 16 w 82"/>
                <a:gd name="T23" fmla="*/ 62 h 80"/>
                <a:gd name="T24" fmla="*/ 21 w 82"/>
                <a:gd name="T25" fmla="*/ 57 h 80"/>
                <a:gd name="T26" fmla="*/ 7 w 82"/>
                <a:gd name="T27" fmla="*/ 50 h 80"/>
                <a:gd name="T28" fmla="*/ 12 w 82"/>
                <a:gd name="T29" fmla="*/ 44 h 80"/>
                <a:gd name="T30" fmla="*/ 25 w 82"/>
                <a:gd name="T31" fmla="*/ 47 h 80"/>
                <a:gd name="T32" fmla="*/ 32 w 82"/>
                <a:gd name="T33" fmla="*/ 39 h 80"/>
                <a:gd name="T34" fmla="*/ 0 w 82"/>
                <a:gd name="T35" fmla="*/ 18 h 80"/>
                <a:gd name="T36" fmla="*/ 9 w 82"/>
                <a:gd name="T37" fmla="*/ 8 h 80"/>
                <a:gd name="T38" fmla="*/ 51 w 82"/>
                <a:gd name="T39" fmla="*/ 16 h 80"/>
                <a:gd name="T40" fmla="*/ 53 w 82"/>
                <a:gd name="T41" fmla="*/ 13 h 80"/>
                <a:gd name="T42" fmla="*/ 74 w 82"/>
                <a:gd name="T43" fmla="*/ 6 h 80"/>
                <a:gd name="T44" fmla="*/ 82 w 82"/>
                <a:gd name="T45" fmla="*/ 50 h 80"/>
                <a:gd name="T46" fmla="*/ 74 w 82"/>
                <a:gd name="T47" fmla="*/ 42 h 80"/>
                <a:gd name="T48" fmla="*/ 72 w 82"/>
                <a:gd name="T49" fmla="*/ 44 h 80"/>
                <a:gd name="T50" fmla="*/ 76 w 82"/>
                <a:gd name="T51" fmla="*/ 57 h 80"/>
                <a:gd name="T52" fmla="*/ 82 w 82"/>
                <a:gd name="T53" fmla="*/ 50 h 80"/>
                <a:gd name="T54" fmla="*/ 29 w 82"/>
                <a:gd name="T55" fmla="*/ 0 h 80"/>
                <a:gd name="T56" fmla="*/ 23 w 82"/>
                <a:gd name="T57" fmla="*/ 7 h 80"/>
                <a:gd name="T58" fmla="*/ 36 w 82"/>
                <a:gd name="T59" fmla="*/ 10 h 80"/>
                <a:gd name="T60" fmla="*/ 37 w 82"/>
                <a:gd name="T61" fmla="*/ 8 h 80"/>
                <a:gd name="T62" fmla="*/ 29 w 82"/>
                <a:gd name="T6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82" h="80">
                  <a:moveTo>
                    <a:pt x="74" y="6"/>
                  </a:moveTo>
                  <a:cubicBezTo>
                    <a:pt x="76" y="15"/>
                    <a:pt x="74" y="21"/>
                    <a:pt x="67" y="27"/>
                  </a:cubicBezTo>
                  <a:cubicBezTo>
                    <a:pt x="65" y="30"/>
                    <a:pt x="65" y="30"/>
                    <a:pt x="65" y="30"/>
                  </a:cubicBezTo>
                  <a:cubicBezTo>
                    <a:pt x="75" y="71"/>
                    <a:pt x="75" y="71"/>
                    <a:pt x="75" y="71"/>
                  </a:cubicBezTo>
                  <a:cubicBezTo>
                    <a:pt x="66" y="80"/>
                    <a:pt x="66" y="80"/>
                    <a:pt x="66" y="80"/>
                  </a:cubicBezTo>
                  <a:cubicBezTo>
                    <a:pt x="44" y="50"/>
                    <a:pt x="44" y="50"/>
                    <a:pt x="44" y="50"/>
                  </a:cubicBezTo>
                  <a:cubicBezTo>
                    <a:pt x="36" y="57"/>
                    <a:pt x="36" y="57"/>
                    <a:pt x="36" y="57"/>
                  </a:cubicBezTo>
                  <a:cubicBezTo>
                    <a:pt x="39" y="70"/>
                    <a:pt x="39" y="70"/>
                    <a:pt x="39" y="70"/>
                  </a:cubicBezTo>
                  <a:cubicBezTo>
                    <a:pt x="34" y="75"/>
                    <a:pt x="34" y="75"/>
                    <a:pt x="34" y="75"/>
                  </a:cubicBezTo>
                  <a:cubicBezTo>
                    <a:pt x="26" y="61"/>
                    <a:pt x="26" y="61"/>
                    <a:pt x="26" y="61"/>
                  </a:cubicBezTo>
                  <a:cubicBezTo>
                    <a:pt x="21" y="67"/>
                    <a:pt x="21" y="67"/>
                    <a:pt x="21" y="67"/>
                  </a:cubicBezTo>
                  <a:cubicBezTo>
                    <a:pt x="16" y="62"/>
                    <a:pt x="16" y="62"/>
                    <a:pt x="16" y="62"/>
                  </a:cubicBezTo>
                  <a:cubicBezTo>
                    <a:pt x="21" y="57"/>
                    <a:pt x="21" y="57"/>
                    <a:pt x="21" y="57"/>
                  </a:cubicBezTo>
                  <a:cubicBezTo>
                    <a:pt x="7" y="50"/>
                    <a:pt x="7" y="50"/>
                    <a:pt x="7" y="50"/>
                  </a:cubicBezTo>
                  <a:cubicBezTo>
                    <a:pt x="12" y="44"/>
                    <a:pt x="12" y="44"/>
                    <a:pt x="12" y="44"/>
                  </a:cubicBezTo>
                  <a:cubicBezTo>
                    <a:pt x="25" y="47"/>
                    <a:pt x="25" y="47"/>
                    <a:pt x="25" y="47"/>
                  </a:cubicBezTo>
                  <a:cubicBezTo>
                    <a:pt x="32" y="39"/>
                    <a:pt x="32" y="39"/>
                    <a:pt x="32" y="39"/>
                  </a:cubicBezTo>
                  <a:cubicBezTo>
                    <a:pt x="0" y="18"/>
                    <a:pt x="0" y="18"/>
                    <a:pt x="0" y="18"/>
                  </a:cubicBezTo>
                  <a:cubicBezTo>
                    <a:pt x="9" y="8"/>
                    <a:pt x="9" y="8"/>
                    <a:pt x="9" y="8"/>
                  </a:cubicBezTo>
                  <a:cubicBezTo>
                    <a:pt x="51" y="16"/>
                    <a:pt x="51" y="16"/>
                    <a:pt x="51" y="16"/>
                  </a:cubicBezTo>
                  <a:cubicBezTo>
                    <a:pt x="53" y="13"/>
                    <a:pt x="53" y="13"/>
                    <a:pt x="53" y="13"/>
                  </a:cubicBezTo>
                  <a:cubicBezTo>
                    <a:pt x="60" y="5"/>
                    <a:pt x="67" y="4"/>
                    <a:pt x="74" y="6"/>
                  </a:cubicBezTo>
                  <a:close/>
                  <a:moveTo>
                    <a:pt x="82" y="50"/>
                  </a:moveTo>
                  <a:cubicBezTo>
                    <a:pt x="74" y="42"/>
                    <a:pt x="74" y="42"/>
                    <a:pt x="74" y="42"/>
                  </a:cubicBezTo>
                  <a:cubicBezTo>
                    <a:pt x="72" y="44"/>
                    <a:pt x="72" y="44"/>
                    <a:pt x="72" y="44"/>
                  </a:cubicBezTo>
                  <a:cubicBezTo>
                    <a:pt x="76" y="57"/>
                    <a:pt x="76" y="57"/>
                    <a:pt x="76" y="57"/>
                  </a:cubicBezTo>
                  <a:cubicBezTo>
                    <a:pt x="82" y="50"/>
                    <a:pt x="82" y="50"/>
                    <a:pt x="82" y="50"/>
                  </a:cubicBezTo>
                  <a:close/>
                  <a:moveTo>
                    <a:pt x="29" y="0"/>
                  </a:moveTo>
                  <a:cubicBezTo>
                    <a:pt x="23" y="7"/>
                    <a:pt x="23" y="7"/>
                    <a:pt x="23" y="7"/>
                  </a:cubicBezTo>
                  <a:cubicBezTo>
                    <a:pt x="36" y="10"/>
                    <a:pt x="36" y="10"/>
                    <a:pt x="36" y="10"/>
                  </a:cubicBezTo>
                  <a:cubicBezTo>
                    <a:pt x="37" y="8"/>
                    <a:pt x="37" y="8"/>
                    <a:pt x="37" y="8"/>
                  </a:cubicBezTo>
                  <a:lnTo>
                    <a:pt x="29" y="0"/>
                  </a:lnTo>
                  <a:close/>
                </a:path>
              </a:pathLst>
            </a:custGeom>
            <a:solidFill>
              <a:schemeClr val="bg1"/>
            </a:solidFill>
            <a:ln>
              <a:noFill/>
            </a:ln>
          </p:spPr>
          <p:txBody>
            <a:bodyPr vert="horz" wrap="square" lIns="96430" tIns="48216" rIns="96430" bIns="48216"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20000"/>
                </a:lnSpc>
              </a:pPr>
              <a:endParaRPr lang="zh-CN" altLang="en-US" sz="950" dirty="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3" name="剪去单角的矩形 33"/>
            <p:cNvSpPr/>
            <p:nvPr/>
          </p:nvSpPr>
          <p:spPr>
            <a:xfrm>
              <a:off x="1009628" y="1585088"/>
              <a:ext cx="2871470" cy="3925590"/>
            </a:xfrm>
            <a:prstGeom prst="snip1Rect">
              <a:avLst/>
            </a:prstGeom>
            <a:noFill/>
            <a:ln>
              <a:solidFill>
                <a:schemeClr val="bg1">
                  <a:lumMod val="75000"/>
                </a:schemeClr>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26" name="PA-矩形 4"/>
            <p:cNvSpPr>
              <a:spLocks noChangeArrowheads="1"/>
            </p:cNvSpPr>
            <p:nvPr>
              <p:custDataLst>
                <p:tags r:id="rId3"/>
              </p:custDataLst>
            </p:nvPr>
          </p:nvSpPr>
          <p:spPr bwMode="auto">
            <a:xfrm>
              <a:off x="1438253" y="1910843"/>
              <a:ext cx="1975485" cy="5441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0">
              <a:no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b="1" dirty="0">
                  <a:solidFill>
                    <a:schemeClr val="tx1">
                      <a:lumMod val="85000"/>
                      <a:lumOff val="15000"/>
                    </a:schemeClr>
                  </a:solidFill>
                  <a:latin typeface="微软雅黑" panose="020B0503020204020204" pitchFamily="34" charset="-122"/>
                  <a:ea typeface="微软雅黑" panose="020B0503020204020204" pitchFamily="34" charset="-122"/>
                  <a:cs typeface="阿里巴巴普惠体 H" panose="00020600040101010101" pitchFamily="18" charset="-122"/>
                  <a:sym typeface="+mn-lt"/>
                </a:rPr>
                <a:t>多模态感知分析</a:t>
              </a:r>
              <a:endParaRPr lang="zh-CN" altLang="en-US" b="1" dirty="0">
                <a:solidFill>
                  <a:schemeClr val="tx1">
                    <a:lumMod val="85000"/>
                    <a:lumOff val="15000"/>
                  </a:schemeClr>
                </a:solidFill>
                <a:latin typeface="微软雅黑" panose="020B0503020204020204" pitchFamily="34" charset="-122"/>
                <a:ea typeface="微软雅黑" panose="020B0503020204020204" pitchFamily="34" charset="-122"/>
                <a:cs typeface="阿里巴巴普惠体 H" panose="00020600040101010101" pitchFamily="18" charset="-122"/>
                <a:sym typeface="+mn-lt"/>
              </a:endParaRPr>
            </a:p>
          </p:txBody>
        </p:sp>
        <p:sp>
          <p:nvSpPr>
            <p:cNvPr id="27" name="PA-矩形 4"/>
            <p:cNvSpPr>
              <a:spLocks noChangeArrowheads="1"/>
            </p:cNvSpPr>
            <p:nvPr>
              <p:custDataLst>
                <p:tags r:id="rId4"/>
              </p:custDataLst>
            </p:nvPr>
          </p:nvSpPr>
          <p:spPr bwMode="auto">
            <a:xfrm>
              <a:off x="1194255" y="2447178"/>
              <a:ext cx="2531268" cy="290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pPr>
              <a:r>
                <a:rPr lang="zh-CN" altLang="en-US" sz="1400" dirty="0">
                  <a:solidFill>
                    <a:schemeClr val="tx1">
                      <a:lumMod val="65000"/>
                      <a:lumOff val="35000"/>
                    </a:schemeClr>
                  </a:solidFill>
                  <a:latin typeface="微软雅黑" panose="020B0503020204020204" pitchFamily="34" charset="-122"/>
                  <a:ea typeface="微软雅黑" panose="020B0503020204020204" pitchFamily="34" charset="-122"/>
                  <a:cs typeface="OPPOSans M" panose="00020600040101010101" pitchFamily="18" charset="-122"/>
                  <a:sym typeface="+mn-lt"/>
                </a:rPr>
                <a:t>视觉识别：部署轻量化 </a:t>
              </a:r>
              <a:r>
                <a:rPr lang="en-US" altLang="zh-CN" sz="1400" dirty="0">
                  <a:solidFill>
                    <a:schemeClr val="tx1">
                      <a:lumMod val="65000"/>
                      <a:lumOff val="35000"/>
                    </a:schemeClr>
                  </a:solidFill>
                  <a:latin typeface="微软雅黑" panose="020B0503020204020204" pitchFamily="34" charset="-122"/>
                  <a:ea typeface="微软雅黑" panose="020B0503020204020204" pitchFamily="34" charset="-122"/>
                  <a:cs typeface="OPPOSans M" panose="00020600040101010101" pitchFamily="18" charset="-122"/>
                  <a:sym typeface="+mn-lt"/>
                </a:rPr>
                <a:t>YOLOv8 </a:t>
              </a:r>
              <a:r>
                <a:rPr lang="zh-CN" altLang="en-US" sz="1400" dirty="0">
                  <a:solidFill>
                    <a:schemeClr val="tx1">
                      <a:lumMod val="65000"/>
                      <a:lumOff val="35000"/>
                    </a:schemeClr>
                  </a:solidFill>
                  <a:latin typeface="微软雅黑" panose="020B0503020204020204" pitchFamily="34" charset="-122"/>
                  <a:ea typeface="微软雅黑" panose="020B0503020204020204" pitchFamily="34" charset="-122"/>
                  <a:cs typeface="OPPOSans M" panose="00020600040101010101" pitchFamily="18" charset="-122"/>
                  <a:sym typeface="+mn-lt"/>
                </a:rPr>
                <a:t>模型进行鱼只目标检测与活跃度计数。</a:t>
              </a:r>
              <a:endParaRPr lang="zh-CN" altLang="en-US" sz="1400" dirty="0">
                <a:solidFill>
                  <a:schemeClr val="tx1">
                    <a:lumMod val="65000"/>
                    <a:lumOff val="35000"/>
                  </a:schemeClr>
                </a:solidFill>
                <a:latin typeface="微软雅黑" panose="020B0503020204020204" pitchFamily="34" charset="-122"/>
                <a:ea typeface="微软雅黑" panose="020B0503020204020204" pitchFamily="34" charset="-122"/>
                <a:cs typeface="OPPOSans M" panose="00020600040101010101" pitchFamily="18" charset="-122"/>
                <a:sym typeface="+mn-lt"/>
              </a:endParaRPr>
            </a:p>
            <a:p>
              <a:pPr eaLnBrk="1" hangingPunct="1">
                <a:lnSpc>
                  <a:spcPct val="150000"/>
                </a:lnSpc>
              </a:pPr>
              <a:endParaRPr lang="en-US" altLang="zh-CN" sz="1400" dirty="0">
                <a:solidFill>
                  <a:schemeClr val="tx1">
                    <a:lumMod val="65000"/>
                    <a:lumOff val="35000"/>
                  </a:schemeClr>
                </a:solidFill>
                <a:latin typeface="微软雅黑" panose="020B0503020204020204" pitchFamily="34" charset="-122"/>
                <a:ea typeface="微软雅黑" panose="020B0503020204020204" pitchFamily="34" charset="-122"/>
                <a:cs typeface="OPPOSans M" panose="00020600040101010101" pitchFamily="18" charset="-122"/>
                <a:sym typeface="+mn-lt"/>
              </a:endParaRPr>
            </a:p>
            <a:p>
              <a:pPr eaLnBrk="1" hangingPunct="1">
                <a:lnSpc>
                  <a:spcPct val="150000"/>
                </a:lnSpc>
              </a:pPr>
              <a:r>
                <a:rPr lang="zh-CN" altLang="en-US" sz="1400" dirty="0">
                  <a:solidFill>
                    <a:schemeClr val="tx1">
                      <a:lumMod val="65000"/>
                      <a:lumOff val="35000"/>
                    </a:schemeClr>
                  </a:solidFill>
                  <a:latin typeface="微软雅黑" panose="020B0503020204020204" pitchFamily="34" charset="-122"/>
                  <a:ea typeface="微软雅黑" panose="020B0503020204020204" pitchFamily="34" charset="-122"/>
                  <a:cs typeface="OPPOSans M" panose="00020600040101010101" pitchFamily="18" charset="-122"/>
                  <a:sym typeface="+mn-lt"/>
                </a:rPr>
                <a:t>语义理解：接入 </a:t>
              </a:r>
              <a:r>
                <a:rPr lang="en-US" altLang="zh-CN" sz="1400" dirty="0">
                  <a:solidFill>
                    <a:schemeClr val="tx1">
                      <a:lumMod val="65000"/>
                      <a:lumOff val="35000"/>
                    </a:schemeClr>
                  </a:solidFill>
                  <a:latin typeface="微软雅黑" panose="020B0503020204020204" pitchFamily="34" charset="-122"/>
                  <a:ea typeface="微软雅黑" panose="020B0503020204020204" pitchFamily="34" charset="-122"/>
                  <a:cs typeface="OPPOSans M" panose="00020600040101010101" pitchFamily="18" charset="-122"/>
                  <a:sym typeface="+mn-lt"/>
                </a:rPr>
                <a:t>LLaVA/Qwen-VL </a:t>
              </a:r>
              <a:r>
                <a:rPr lang="zh-CN" altLang="en-US" sz="1400" dirty="0">
                  <a:solidFill>
                    <a:schemeClr val="tx1">
                      <a:lumMod val="65000"/>
                      <a:lumOff val="35000"/>
                    </a:schemeClr>
                  </a:solidFill>
                  <a:latin typeface="微软雅黑" panose="020B0503020204020204" pitchFamily="34" charset="-122"/>
                  <a:ea typeface="微软雅黑" panose="020B0503020204020204" pitchFamily="34" charset="-122"/>
                  <a:cs typeface="OPPOSans M" panose="00020600040101010101" pitchFamily="18" charset="-122"/>
                  <a:sym typeface="+mn-lt"/>
                </a:rPr>
                <a:t>等多模态视觉大模型，对鱼缸画面进行语义描述（如：水质浑浊度评估、鱼只异常行为描述）。</a:t>
              </a:r>
              <a:endParaRPr lang="zh-CN" altLang="en-US" sz="1400" dirty="0">
                <a:solidFill>
                  <a:schemeClr val="tx1">
                    <a:lumMod val="65000"/>
                    <a:lumOff val="35000"/>
                  </a:schemeClr>
                </a:solidFill>
                <a:latin typeface="微软雅黑" panose="020B0503020204020204" pitchFamily="34" charset="-122"/>
                <a:ea typeface="微软雅黑" panose="020B0503020204020204" pitchFamily="34" charset="-122"/>
                <a:cs typeface="OPPOSans M" panose="00020600040101010101" pitchFamily="18" charset="-122"/>
                <a:sym typeface="+mn-lt"/>
              </a:endParaRPr>
            </a:p>
          </p:txBody>
        </p:sp>
      </p:grpSp>
      <p:grpSp>
        <p:nvGrpSpPr>
          <p:cNvPr id="4" name="组合 3"/>
          <p:cNvGrpSpPr/>
          <p:nvPr/>
        </p:nvGrpSpPr>
        <p:grpSpPr>
          <a:xfrm>
            <a:off x="6734153" y="1560958"/>
            <a:ext cx="2871470" cy="3925590"/>
            <a:chOff x="4606903" y="1585088"/>
            <a:chExt cx="2871470" cy="3925590"/>
          </a:xfrm>
        </p:grpSpPr>
        <p:sp>
          <p:nvSpPr>
            <p:cNvPr id="29" name="剪去单角的矩形 41"/>
            <p:cNvSpPr/>
            <p:nvPr/>
          </p:nvSpPr>
          <p:spPr>
            <a:xfrm>
              <a:off x="4606903" y="1585088"/>
              <a:ext cx="2871470" cy="3925590"/>
            </a:xfrm>
            <a:prstGeom prst="snip1Rect">
              <a:avLst/>
            </a:prstGeom>
            <a:noFill/>
            <a:ln>
              <a:solidFill>
                <a:schemeClr val="bg1">
                  <a:lumMod val="75000"/>
                </a:schemeClr>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32" name="Freeform 24"/>
            <p:cNvSpPr>
              <a:spLocks noEditPoints="1"/>
            </p:cNvSpPr>
            <p:nvPr/>
          </p:nvSpPr>
          <p:spPr bwMode="auto">
            <a:xfrm>
              <a:off x="5872458" y="2089914"/>
              <a:ext cx="398780" cy="382270"/>
            </a:xfrm>
            <a:custGeom>
              <a:avLst/>
              <a:gdLst>
                <a:gd name="T0" fmla="*/ 80 w 198"/>
                <a:gd name="T1" fmla="*/ 39 h 190"/>
                <a:gd name="T2" fmla="*/ 32 w 198"/>
                <a:gd name="T3" fmla="*/ 39 h 190"/>
                <a:gd name="T4" fmla="*/ 24 w 198"/>
                <a:gd name="T5" fmla="*/ 52 h 190"/>
                <a:gd name="T6" fmla="*/ 32 w 198"/>
                <a:gd name="T7" fmla="*/ 65 h 190"/>
                <a:gd name="T8" fmla="*/ 80 w 198"/>
                <a:gd name="T9" fmla="*/ 65 h 190"/>
                <a:gd name="T10" fmla="*/ 80 w 198"/>
                <a:gd name="T11" fmla="*/ 39 h 190"/>
                <a:gd name="T12" fmla="*/ 80 w 198"/>
                <a:gd name="T13" fmla="*/ 39 h 190"/>
                <a:gd name="T14" fmla="*/ 114 w 198"/>
                <a:gd name="T15" fmla="*/ 65 h 190"/>
                <a:gd name="T16" fmla="*/ 170 w 198"/>
                <a:gd name="T17" fmla="*/ 65 h 190"/>
                <a:gd name="T18" fmla="*/ 177 w 198"/>
                <a:gd name="T19" fmla="*/ 65 h 190"/>
                <a:gd name="T20" fmla="*/ 179 w 198"/>
                <a:gd name="T21" fmla="*/ 69 h 190"/>
                <a:gd name="T22" fmla="*/ 194 w 198"/>
                <a:gd name="T23" fmla="*/ 93 h 190"/>
                <a:gd name="T24" fmla="*/ 198 w 198"/>
                <a:gd name="T25" fmla="*/ 99 h 190"/>
                <a:gd name="T26" fmla="*/ 194 w 198"/>
                <a:gd name="T27" fmla="*/ 103 h 190"/>
                <a:gd name="T28" fmla="*/ 179 w 198"/>
                <a:gd name="T29" fmla="*/ 127 h 190"/>
                <a:gd name="T30" fmla="*/ 177 w 198"/>
                <a:gd name="T31" fmla="*/ 134 h 190"/>
                <a:gd name="T32" fmla="*/ 170 w 198"/>
                <a:gd name="T33" fmla="*/ 134 h 190"/>
                <a:gd name="T34" fmla="*/ 114 w 198"/>
                <a:gd name="T35" fmla="*/ 134 h 190"/>
                <a:gd name="T36" fmla="*/ 114 w 198"/>
                <a:gd name="T37" fmla="*/ 164 h 190"/>
                <a:gd name="T38" fmla="*/ 164 w 198"/>
                <a:gd name="T39" fmla="*/ 164 h 190"/>
                <a:gd name="T40" fmla="*/ 164 w 198"/>
                <a:gd name="T41" fmla="*/ 190 h 190"/>
                <a:gd name="T42" fmla="*/ 37 w 198"/>
                <a:gd name="T43" fmla="*/ 190 h 190"/>
                <a:gd name="T44" fmla="*/ 37 w 198"/>
                <a:gd name="T45" fmla="*/ 164 h 190"/>
                <a:gd name="T46" fmla="*/ 82 w 198"/>
                <a:gd name="T47" fmla="*/ 164 h 190"/>
                <a:gd name="T48" fmla="*/ 82 w 198"/>
                <a:gd name="T49" fmla="*/ 86 h 190"/>
                <a:gd name="T50" fmla="*/ 26 w 198"/>
                <a:gd name="T51" fmla="*/ 86 h 190"/>
                <a:gd name="T52" fmla="*/ 19 w 198"/>
                <a:gd name="T53" fmla="*/ 86 h 190"/>
                <a:gd name="T54" fmla="*/ 17 w 198"/>
                <a:gd name="T55" fmla="*/ 80 h 190"/>
                <a:gd name="T56" fmla="*/ 2 w 198"/>
                <a:gd name="T57" fmla="*/ 56 h 190"/>
                <a:gd name="T58" fmla="*/ 0 w 198"/>
                <a:gd name="T59" fmla="*/ 52 h 190"/>
                <a:gd name="T60" fmla="*/ 2 w 198"/>
                <a:gd name="T61" fmla="*/ 45 h 190"/>
                <a:gd name="T62" fmla="*/ 17 w 198"/>
                <a:gd name="T63" fmla="*/ 21 h 190"/>
                <a:gd name="T64" fmla="*/ 19 w 198"/>
                <a:gd name="T65" fmla="*/ 17 h 190"/>
                <a:gd name="T66" fmla="*/ 26 w 198"/>
                <a:gd name="T67" fmla="*/ 17 h 190"/>
                <a:gd name="T68" fmla="*/ 82 w 198"/>
                <a:gd name="T69" fmla="*/ 17 h 190"/>
                <a:gd name="T70" fmla="*/ 82 w 198"/>
                <a:gd name="T71" fmla="*/ 13 h 190"/>
                <a:gd name="T72" fmla="*/ 99 w 198"/>
                <a:gd name="T73" fmla="*/ 0 h 190"/>
                <a:gd name="T74" fmla="*/ 114 w 198"/>
                <a:gd name="T75" fmla="*/ 13 h 190"/>
                <a:gd name="T76" fmla="*/ 114 w 198"/>
                <a:gd name="T77" fmla="*/ 65 h 190"/>
                <a:gd name="T78" fmla="*/ 114 w 198"/>
                <a:gd name="T79" fmla="*/ 65 h 190"/>
                <a:gd name="T80" fmla="*/ 166 w 198"/>
                <a:gd name="T81" fmla="*/ 84 h 190"/>
                <a:gd name="T82" fmla="*/ 116 w 198"/>
                <a:gd name="T83" fmla="*/ 84 h 190"/>
                <a:gd name="T84" fmla="*/ 116 w 198"/>
                <a:gd name="T85" fmla="*/ 112 h 190"/>
                <a:gd name="T86" fmla="*/ 166 w 198"/>
                <a:gd name="T87" fmla="*/ 112 h 190"/>
                <a:gd name="T88" fmla="*/ 175 w 198"/>
                <a:gd name="T89" fmla="*/ 99 h 190"/>
                <a:gd name="T90" fmla="*/ 166 w 198"/>
                <a:gd name="T91" fmla="*/ 84 h 1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98" h="190">
                  <a:moveTo>
                    <a:pt x="80" y="39"/>
                  </a:moveTo>
                  <a:lnTo>
                    <a:pt x="32" y="39"/>
                  </a:lnTo>
                  <a:lnTo>
                    <a:pt x="24" y="52"/>
                  </a:lnTo>
                  <a:lnTo>
                    <a:pt x="32" y="65"/>
                  </a:lnTo>
                  <a:lnTo>
                    <a:pt x="80" y="65"/>
                  </a:lnTo>
                  <a:lnTo>
                    <a:pt x="80" y="39"/>
                  </a:lnTo>
                  <a:lnTo>
                    <a:pt x="80" y="39"/>
                  </a:lnTo>
                  <a:close/>
                  <a:moveTo>
                    <a:pt x="114" y="65"/>
                  </a:moveTo>
                  <a:lnTo>
                    <a:pt x="170" y="65"/>
                  </a:lnTo>
                  <a:lnTo>
                    <a:pt x="177" y="65"/>
                  </a:lnTo>
                  <a:lnTo>
                    <a:pt x="179" y="69"/>
                  </a:lnTo>
                  <a:lnTo>
                    <a:pt x="194" y="93"/>
                  </a:lnTo>
                  <a:lnTo>
                    <a:pt x="198" y="99"/>
                  </a:lnTo>
                  <a:lnTo>
                    <a:pt x="194" y="103"/>
                  </a:lnTo>
                  <a:lnTo>
                    <a:pt x="179" y="127"/>
                  </a:lnTo>
                  <a:lnTo>
                    <a:pt x="177" y="134"/>
                  </a:lnTo>
                  <a:lnTo>
                    <a:pt x="170" y="134"/>
                  </a:lnTo>
                  <a:lnTo>
                    <a:pt x="114" y="134"/>
                  </a:lnTo>
                  <a:lnTo>
                    <a:pt x="114" y="164"/>
                  </a:lnTo>
                  <a:lnTo>
                    <a:pt x="164" y="164"/>
                  </a:lnTo>
                  <a:lnTo>
                    <a:pt x="164" y="190"/>
                  </a:lnTo>
                  <a:lnTo>
                    <a:pt x="37" y="190"/>
                  </a:lnTo>
                  <a:lnTo>
                    <a:pt x="37" y="164"/>
                  </a:lnTo>
                  <a:lnTo>
                    <a:pt x="82" y="164"/>
                  </a:lnTo>
                  <a:lnTo>
                    <a:pt x="82" y="86"/>
                  </a:lnTo>
                  <a:lnTo>
                    <a:pt x="26" y="86"/>
                  </a:lnTo>
                  <a:lnTo>
                    <a:pt x="19" y="86"/>
                  </a:lnTo>
                  <a:lnTo>
                    <a:pt x="17" y="80"/>
                  </a:lnTo>
                  <a:lnTo>
                    <a:pt x="2" y="56"/>
                  </a:lnTo>
                  <a:lnTo>
                    <a:pt x="0" y="52"/>
                  </a:lnTo>
                  <a:lnTo>
                    <a:pt x="2" y="45"/>
                  </a:lnTo>
                  <a:lnTo>
                    <a:pt x="17" y="21"/>
                  </a:lnTo>
                  <a:lnTo>
                    <a:pt x="19" y="17"/>
                  </a:lnTo>
                  <a:lnTo>
                    <a:pt x="26" y="17"/>
                  </a:lnTo>
                  <a:lnTo>
                    <a:pt x="82" y="17"/>
                  </a:lnTo>
                  <a:lnTo>
                    <a:pt x="82" y="13"/>
                  </a:lnTo>
                  <a:lnTo>
                    <a:pt x="99" y="0"/>
                  </a:lnTo>
                  <a:lnTo>
                    <a:pt x="114" y="13"/>
                  </a:lnTo>
                  <a:lnTo>
                    <a:pt x="114" y="65"/>
                  </a:lnTo>
                  <a:lnTo>
                    <a:pt x="114" y="65"/>
                  </a:lnTo>
                  <a:close/>
                  <a:moveTo>
                    <a:pt x="166" y="84"/>
                  </a:moveTo>
                  <a:lnTo>
                    <a:pt x="116" y="84"/>
                  </a:lnTo>
                  <a:lnTo>
                    <a:pt x="116" y="112"/>
                  </a:lnTo>
                  <a:lnTo>
                    <a:pt x="166" y="112"/>
                  </a:lnTo>
                  <a:lnTo>
                    <a:pt x="175" y="99"/>
                  </a:lnTo>
                  <a:lnTo>
                    <a:pt x="166" y="84"/>
                  </a:lnTo>
                  <a:close/>
                </a:path>
              </a:pathLst>
            </a:custGeom>
            <a:solidFill>
              <a:schemeClr val="bg1"/>
            </a:solidFill>
            <a:ln>
              <a:noFill/>
            </a:ln>
          </p:spPr>
          <p:txBody>
            <a:bodyPr vert="horz" wrap="square" lIns="96430" tIns="48216" rIns="96430" bIns="48216"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20000"/>
                </a:lnSpc>
              </a:pPr>
              <a:endParaRPr lang="zh-CN" altLang="en-US" sz="950" dirty="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8" name="PA-矩形 4"/>
            <p:cNvSpPr>
              <a:spLocks noChangeArrowheads="1"/>
            </p:cNvSpPr>
            <p:nvPr>
              <p:custDataLst>
                <p:tags r:id="rId5"/>
              </p:custDataLst>
            </p:nvPr>
          </p:nvSpPr>
          <p:spPr bwMode="auto">
            <a:xfrm>
              <a:off x="4898368" y="1930528"/>
              <a:ext cx="2353310" cy="5537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b="1" dirty="0">
                  <a:solidFill>
                    <a:schemeClr val="tx1">
                      <a:lumMod val="85000"/>
                      <a:lumOff val="15000"/>
                    </a:schemeClr>
                  </a:solidFill>
                  <a:latin typeface="微软雅黑" panose="020B0503020204020204" pitchFamily="34" charset="-122"/>
                  <a:ea typeface="微软雅黑" panose="020B0503020204020204" pitchFamily="34" charset="-122"/>
                  <a:cs typeface="阿里巴巴普惠体 H" panose="00020600040101010101" pitchFamily="18" charset="-122"/>
                  <a:sym typeface="+mn-lt"/>
                </a:rPr>
                <a:t>基于 </a:t>
              </a:r>
              <a:r>
                <a:rPr lang="en-US" altLang="zh-CN" b="1" dirty="0">
                  <a:solidFill>
                    <a:schemeClr val="tx1">
                      <a:lumMod val="85000"/>
                      <a:lumOff val="15000"/>
                    </a:schemeClr>
                  </a:solidFill>
                  <a:latin typeface="微软雅黑" panose="020B0503020204020204" pitchFamily="34" charset="-122"/>
                  <a:ea typeface="微软雅黑" panose="020B0503020204020204" pitchFamily="34" charset="-122"/>
                  <a:cs typeface="阿里巴巴普惠体 H" panose="00020600040101010101" pitchFamily="18" charset="-122"/>
                  <a:sym typeface="+mn-lt"/>
                </a:rPr>
                <a:t>LLM </a:t>
              </a:r>
              <a:r>
                <a:rPr lang="zh-CN" altLang="en-US" b="1" dirty="0">
                  <a:solidFill>
                    <a:schemeClr val="tx1">
                      <a:lumMod val="85000"/>
                      <a:lumOff val="15000"/>
                    </a:schemeClr>
                  </a:solidFill>
                  <a:latin typeface="微软雅黑" panose="020B0503020204020204" pitchFamily="34" charset="-122"/>
                  <a:ea typeface="微软雅黑" panose="020B0503020204020204" pitchFamily="34" charset="-122"/>
                  <a:cs typeface="阿里巴巴普惠体 H" panose="00020600040101010101" pitchFamily="18" charset="-122"/>
                  <a:sym typeface="+mn-lt"/>
                </a:rPr>
                <a:t>的养殖专家系统</a:t>
              </a:r>
              <a:endParaRPr lang="zh-CN" altLang="en-US" b="1" dirty="0">
                <a:solidFill>
                  <a:schemeClr val="tx1">
                    <a:lumMod val="85000"/>
                    <a:lumOff val="15000"/>
                  </a:schemeClr>
                </a:solidFill>
                <a:latin typeface="微软雅黑" panose="020B0503020204020204" pitchFamily="34" charset="-122"/>
                <a:ea typeface="微软雅黑" panose="020B0503020204020204" pitchFamily="34" charset="-122"/>
                <a:cs typeface="阿里巴巴普惠体 H" panose="00020600040101010101" pitchFamily="18" charset="-122"/>
                <a:sym typeface="+mn-lt"/>
              </a:endParaRPr>
            </a:p>
          </p:txBody>
        </p:sp>
        <p:sp>
          <p:nvSpPr>
            <p:cNvPr id="44" name="PA-矩形 4"/>
            <p:cNvSpPr>
              <a:spLocks noChangeArrowheads="1"/>
            </p:cNvSpPr>
            <p:nvPr>
              <p:custDataLst>
                <p:tags r:id="rId6"/>
              </p:custDataLst>
            </p:nvPr>
          </p:nvSpPr>
          <p:spPr bwMode="auto">
            <a:xfrm>
              <a:off x="4806214" y="2484009"/>
              <a:ext cx="2531268" cy="290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pPr>
              <a:r>
                <a:rPr lang="zh-CN" altLang="en-US" sz="1400" dirty="0">
                  <a:solidFill>
                    <a:schemeClr val="tx1">
                      <a:lumMod val="65000"/>
                      <a:lumOff val="35000"/>
                    </a:schemeClr>
                  </a:solidFill>
                  <a:latin typeface="微软雅黑" panose="020B0503020204020204" pitchFamily="34" charset="-122"/>
                  <a:ea typeface="微软雅黑" panose="020B0503020204020204" pitchFamily="34" charset="-122"/>
                  <a:cs typeface="OPPOSans M" panose="00020600040101010101" pitchFamily="18" charset="-122"/>
                  <a:sym typeface="+mn-lt"/>
                </a:rPr>
                <a:t>构建 </a:t>
              </a:r>
              <a:r>
                <a:rPr lang="en-US" altLang="zh-CN" sz="1400" dirty="0">
                  <a:solidFill>
                    <a:schemeClr val="tx1">
                      <a:lumMod val="65000"/>
                      <a:lumOff val="35000"/>
                    </a:schemeClr>
                  </a:solidFill>
                  <a:latin typeface="微软雅黑" panose="020B0503020204020204" pitchFamily="34" charset="-122"/>
                  <a:ea typeface="微软雅黑" panose="020B0503020204020204" pitchFamily="34" charset="-122"/>
                  <a:cs typeface="OPPOSans M" panose="00020600040101010101" pitchFamily="18" charset="-122"/>
                  <a:sym typeface="+mn-lt"/>
                </a:rPr>
                <a:t>RAG (</a:t>
              </a:r>
              <a:r>
                <a:rPr lang="zh-CN" altLang="en-US" sz="1400" dirty="0">
                  <a:solidFill>
                    <a:schemeClr val="tx1">
                      <a:lumMod val="65000"/>
                      <a:lumOff val="35000"/>
                    </a:schemeClr>
                  </a:solidFill>
                  <a:latin typeface="微软雅黑" panose="020B0503020204020204" pitchFamily="34" charset="-122"/>
                  <a:ea typeface="微软雅黑" panose="020B0503020204020204" pitchFamily="34" charset="-122"/>
                  <a:cs typeface="OPPOSans M" panose="00020600040101010101" pitchFamily="18" charset="-122"/>
                  <a:sym typeface="+mn-lt"/>
                </a:rPr>
                <a:t>检索增强生成) 知识库，将专业书籍向量化。</a:t>
              </a:r>
              <a:endParaRPr lang="zh-CN" altLang="en-US" sz="1400" dirty="0">
                <a:solidFill>
                  <a:schemeClr val="tx1">
                    <a:lumMod val="65000"/>
                    <a:lumOff val="35000"/>
                  </a:schemeClr>
                </a:solidFill>
                <a:latin typeface="微软雅黑" panose="020B0503020204020204" pitchFamily="34" charset="-122"/>
                <a:ea typeface="微软雅黑" panose="020B0503020204020204" pitchFamily="34" charset="-122"/>
                <a:cs typeface="OPPOSans M" panose="00020600040101010101" pitchFamily="18" charset="-122"/>
                <a:sym typeface="+mn-lt"/>
              </a:endParaRPr>
            </a:p>
            <a:p>
              <a:pPr eaLnBrk="1" hangingPunct="1">
                <a:lnSpc>
                  <a:spcPct val="150000"/>
                </a:lnSpc>
              </a:pPr>
              <a:endParaRPr lang="en-US" altLang="zh-CN" sz="1400" dirty="0">
                <a:solidFill>
                  <a:schemeClr val="tx1">
                    <a:lumMod val="65000"/>
                    <a:lumOff val="35000"/>
                  </a:schemeClr>
                </a:solidFill>
                <a:latin typeface="微软雅黑" panose="020B0503020204020204" pitchFamily="34" charset="-122"/>
                <a:ea typeface="微软雅黑" panose="020B0503020204020204" pitchFamily="34" charset="-122"/>
                <a:cs typeface="OPPOSans M" panose="00020600040101010101" pitchFamily="18" charset="-122"/>
                <a:sym typeface="+mn-lt"/>
              </a:endParaRPr>
            </a:p>
            <a:p>
              <a:pPr eaLnBrk="1" hangingPunct="1">
                <a:lnSpc>
                  <a:spcPct val="150000"/>
                </a:lnSpc>
              </a:pPr>
              <a:r>
                <a:rPr lang="zh-CN" altLang="en-US" sz="1400" dirty="0">
                  <a:solidFill>
                    <a:schemeClr val="tx1">
                      <a:lumMod val="65000"/>
                      <a:lumOff val="35000"/>
                    </a:schemeClr>
                  </a:solidFill>
                  <a:latin typeface="微软雅黑" panose="020B0503020204020204" pitchFamily="34" charset="-122"/>
                  <a:ea typeface="微软雅黑" panose="020B0503020204020204" pitchFamily="34" charset="-122"/>
                  <a:cs typeface="OPPOSans M" panose="00020600040101010101" pitchFamily="18" charset="-122"/>
                  <a:sym typeface="+mn-lt"/>
                </a:rPr>
                <a:t>将传感器实时数据与视觉分析结论作为 </a:t>
              </a:r>
              <a:r>
                <a:rPr lang="en-US" altLang="zh-CN" sz="1400" dirty="0">
                  <a:solidFill>
                    <a:schemeClr val="tx1">
                      <a:lumMod val="65000"/>
                      <a:lumOff val="35000"/>
                    </a:schemeClr>
                  </a:solidFill>
                  <a:latin typeface="微软雅黑" panose="020B0503020204020204" pitchFamily="34" charset="-122"/>
                  <a:ea typeface="微软雅黑" panose="020B0503020204020204" pitchFamily="34" charset="-122"/>
                  <a:cs typeface="OPPOSans M" panose="00020600040101010101" pitchFamily="18" charset="-122"/>
                  <a:sym typeface="+mn-lt"/>
                </a:rPr>
                <a:t>Prompt </a:t>
              </a:r>
              <a:r>
                <a:rPr lang="zh-CN" altLang="en-US" sz="1400" dirty="0">
                  <a:solidFill>
                    <a:schemeClr val="tx1">
                      <a:lumMod val="65000"/>
                      <a:lumOff val="35000"/>
                    </a:schemeClr>
                  </a:solidFill>
                  <a:latin typeface="微软雅黑" panose="020B0503020204020204" pitchFamily="34" charset="-122"/>
                  <a:ea typeface="微软雅黑" panose="020B0503020204020204" pitchFamily="34" charset="-122"/>
                  <a:cs typeface="OPPOSans M" panose="00020600040101010101" pitchFamily="18" charset="-122"/>
                  <a:sym typeface="+mn-lt"/>
                </a:rPr>
                <a:t>输入，调用大模型生成针对性的养殖建议（如：“当前 </a:t>
              </a:r>
              <a:r>
                <a:rPr lang="en-US" altLang="zh-CN" sz="1400" dirty="0">
                  <a:solidFill>
                    <a:schemeClr val="tx1">
                      <a:lumMod val="65000"/>
                      <a:lumOff val="35000"/>
                    </a:schemeClr>
                  </a:solidFill>
                  <a:latin typeface="微软雅黑" panose="020B0503020204020204" pitchFamily="34" charset="-122"/>
                  <a:ea typeface="微软雅黑" panose="020B0503020204020204" pitchFamily="34" charset="-122"/>
                  <a:cs typeface="OPPOSans M" panose="00020600040101010101" pitchFamily="18" charset="-122"/>
                  <a:sym typeface="+mn-lt"/>
                </a:rPr>
                <a:t>pH </a:t>
              </a:r>
              <a:r>
                <a:rPr lang="zh-CN" altLang="en-US" sz="1400" dirty="0">
                  <a:solidFill>
                    <a:schemeClr val="tx1">
                      <a:lumMod val="65000"/>
                      <a:lumOff val="35000"/>
                    </a:schemeClr>
                  </a:solidFill>
                  <a:latin typeface="微软雅黑" panose="020B0503020204020204" pitchFamily="34" charset="-122"/>
                  <a:ea typeface="微软雅黑" panose="020B0503020204020204" pitchFamily="34" charset="-122"/>
                  <a:cs typeface="OPPOSans M" panose="00020600040101010101" pitchFamily="18" charset="-122"/>
                  <a:sym typeface="+mn-lt"/>
                </a:rPr>
                <a:t>跌至 6.0，结合视觉检测到鱼只缩鳍，建议立刻分批换水并添加缓冲剂”）。</a:t>
              </a:r>
              <a:endParaRPr lang="zh-CN" altLang="en-US" sz="1400" dirty="0">
                <a:solidFill>
                  <a:schemeClr val="tx1">
                    <a:lumMod val="65000"/>
                    <a:lumOff val="35000"/>
                  </a:schemeClr>
                </a:solidFill>
                <a:latin typeface="微软雅黑" panose="020B0503020204020204" pitchFamily="34" charset="-122"/>
                <a:ea typeface="微软雅黑" panose="020B0503020204020204" pitchFamily="34" charset="-122"/>
                <a:cs typeface="OPPOSans M" panose="00020600040101010101" pitchFamily="18" charset="-122"/>
                <a:sym typeface="+mn-lt"/>
              </a:endParaRPr>
            </a:p>
          </p:txBody>
        </p:sp>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1000"/>
                                        <p:tgtEl>
                                          <p:spTgt spid="4"/>
                                        </p:tgtEl>
                                      </p:cBhvr>
                                    </p:animEffect>
                                    <p:anim calcmode="lin" valueType="num">
                                      <p:cBhvr>
                                        <p:cTn id="15" dur="1000" fill="hold"/>
                                        <p:tgtEl>
                                          <p:spTgt spid="4"/>
                                        </p:tgtEl>
                                        <p:attrNameLst>
                                          <p:attrName>ppt_x</p:attrName>
                                        </p:attrNameLst>
                                      </p:cBhvr>
                                      <p:tavLst>
                                        <p:tav tm="0">
                                          <p:val>
                                            <p:strVal val="#ppt_x"/>
                                          </p:val>
                                        </p:tav>
                                        <p:tav tm="100000">
                                          <p:val>
                                            <p:strVal val="#ppt_x"/>
                                          </p:val>
                                        </p:tav>
                                      </p:tavLst>
                                    </p:anim>
                                    <p:anim calcmode="lin" valueType="num">
                                      <p:cBhvr>
                                        <p:cTn id="16"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7" name="剪去单角的矩形 226"/>
          <p:cNvSpPr/>
          <p:nvPr/>
        </p:nvSpPr>
        <p:spPr>
          <a:xfrm rot="16200000">
            <a:off x="4702439" y="-631561"/>
            <a:ext cx="6858000" cy="8121122"/>
          </a:xfrm>
          <a:prstGeom prst="snip1Rect">
            <a:avLst>
              <a:gd name="adj" fmla="val 50000"/>
            </a:avLst>
          </a:prstGeom>
          <a:solidFill>
            <a:srgbClr val="004C9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7" name="组合 6"/>
          <p:cNvGrpSpPr/>
          <p:nvPr/>
        </p:nvGrpSpPr>
        <p:grpSpPr>
          <a:xfrm>
            <a:off x="490537" y="472440"/>
            <a:ext cx="11210925" cy="6019800"/>
            <a:chOff x="490484" y="441960"/>
            <a:chExt cx="11211033" cy="6019801"/>
          </a:xfrm>
        </p:grpSpPr>
        <p:pic>
          <p:nvPicPr>
            <p:cNvPr id="8" name="图片 7"/>
            <p:cNvPicPr>
              <a:picLocks noChangeAspect="1"/>
            </p:cNvPicPr>
            <p:nvPr userDrawn="1"/>
          </p:nvPicPr>
          <p:blipFill rotWithShape="1">
            <a:blip r:embed="rId1">
              <a:extLst>
                <a:ext uri="{28A0092B-C50C-407E-A947-70E740481C1C}">
                  <a14:useLocalDpi xmlns:a14="http://schemas.microsoft.com/office/drawing/2010/main" val="0"/>
                </a:ext>
              </a:extLst>
            </a:blip>
            <a:srcRect l="1515" t="4277" r="530" b="14319"/>
            <a:stretch>
              <a:fillRect/>
            </a:stretch>
          </p:blipFill>
          <p:spPr>
            <a:xfrm>
              <a:off x="490484" y="441960"/>
              <a:ext cx="11211033" cy="6019801"/>
            </a:xfrm>
            <a:prstGeom prst="rect">
              <a:avLst/>
            </a:prstGeom>
            <a:effectLst>
              <a:outerShdw blurRad="355600" dist="139700" dir="2700000" algn="tl" rotWithShape="0">
                <a:prstClr val="black">
                  <a:alpha val="61000"/>
                </a:prstClr>
              </a:outerShdw>
            </a:effectLst>
          </p:spPr>
        </p:pic>
        <p:sp>
          <p:nvSpPr>
            <p:cNvPr id="9" name="矩形 8"/>
            <p:cNvSpPr/>
            <p:nvPr/>
          </p:nvSpPr>
          <p:spPr>
            <a:xfrm>
              <a:off x="490484" y="441960"/>
              <a:ext cx="11211032" cy="6019801"/>
            </a:xfrm>
            <a:prstGeom prst="rect">
              <a:avLst/>
            </a:prstGeom>
            <a:solidFill>
              <a:srgbClr val="FFFEF7">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400" b="1" dirty="0">
                <a:solidFill>
                  <a:srgbClr val="004C9E"/>
                </a:solidFill>
                <a:latin typeface="微软雅黑" panose="020B0503020204020204" pitchFamily="34" charset="-122"/>
                <a:ea typeface="微软雅黑" panose="020B0503020204020204" pitchFamily="34" charset="-122"/>
              </a:endParaRPr>
            </a:p>
          </p:txBody>
        </p:sp>
      </p:grpSp>
      <p:sp>
        <p:nvSpPr>
          <p:cNvPr id="10" name="文本框 9"/>
          <p:cNvSpPr txBox="1"/>
          <p:nvPr/>
        </p:nvSpPr>
        <p:spPr>
          <a:xfrm>
            <a:off x="394507" y="553085"/>
            <a:ext cx="2001520" cy="398780"/>
          </a:xfrm>
          <a:prstGeom prst="rect">
            <a:avLst/>
          </a:prstGeom>
          <a:noFill/>
        </p:spPr>
        <p:txBody>
          <a:bodyPr wrap="square" rtlCol="0">
            <a:spAutoFit/>
          </a:bodyPr>
          <a:lstStyle/>
          <a:p>
            <a:pPr algn="ctr"/>
            <a:r>
              <a:rPr lang="zh-CN" altLang="en-US" sz="2000" b="1" dirty="0">
                <a:solidFill>
                  <a:srgbClr val="A6A6A6"/>
                </a:solidFill>
                <a:latin typeface="微软雅黑" panose="020B0503020204020204" pitchFamily="34" charset="-122"/>
                <a:ea typeface="微软雅黑" panose="020B0503020204020204" pitchFamily="34" charset="-122"/>
              </a:rPr>
              <a:t>立项背景及意义</a:t>
            </a:r>
            <a:endParaRPr lang="zh-CN" altLang="en-US" sz="2000" b="1" dirty="0">
              <a:solidFill>
                <a:srgbClr val="A6A6A6"/>
              </a:solidFill>
              <a:latin typeface="微软雅黑" panose="020B0503020204020204" pitchFamily="34" charset="-122"/>
              <a:ea typeface="微软雅黑" panose="020B0503020204020204" pitchFamily="34" charset="-122"/>
            </a:endParaRPr>
          </a:p>
        </p:txBody>
      </p:sp>
      <p:cxnSp>
        <p:nvCxnSpPr>
          <p:cNvPr id="43" name="直接连接符 42"/>
          <p:cNvCxnSpPr/>
          <p:nvPr/>
        </p:nvCxnSpPr>
        <p:spPr>
          <a:xfrm>
            <a:off x="899088" y="6096082"/>
            <a:ext cx="9058311" cy="4300"/>
          </a:xfrm>
          <a:prstGeom prst="line">
            <a:avLst/>
          </a:prstGeom>
        </p:spPr>
        <p:style>
          <a:lnRef idx="1">
            <a:schemeClr val="accent1"/>
          </a:lnRef>
          <a:fillRef idx="0">
            <a:schemeClr val="accent1"/>
          </a:fillRef>
          <a:effectRef idx="0">
            <a:schemeClr val="accent1"/>
          </a:effectRef>
          <a:fontRef idx="minor">
            <a:schemeClr val="tx1"/>
          </a:fontRef>
        </p:style>
      </p:cxnSp>
      <p:sp>
        <p:nvSpPr>
          <p:cNvPr id="14" name="文本框 13"/>
          <p:cNvSpPr txBox="1"/>
          <p:nvPr/>
        </p:nvSpPr>
        <p:spPr>
          <a:xfrm>
            <a:off x="2445681" y="553085"/>
            <a:ext cx="2001520" cy="398780"/>
          </a:xfrm>
          <a:prstGeom prst="rect">
            <a:avLst/>
          </a:prstGeom>
          <a:noFill/>
        </p:spPr>
        <p:txBody>
          <a:bodyPr wrap="square" rtlCol="0">
            <a:spAutoFit/>
          </a:bodyPr>
          <a:lstStyle/>
          <a:p>
            <a:pPr algn="ctr"/>
            <a:r>
              <a:rPr lang="zh-CN" altLang="en-US" sz="2000" b="1" dirty="0">
                <a:solidFill>
                  <a:schemeClr val="bg1">
                    <a:lumMod val="65000"/>
                  </a:schemeClr>
                </a:solidFill>
                <a:latin typeface="微软雅黑" panose="020B0503020204020204" pitchFamily="34" charset="-122"/>
                <a:ea typeface="微软雅黑" panose="020B0503020204020204" pitchFamily="34" charset="-122"/>
              </a:rPr>
              <a:t>研究内容</a:t>
            </a:r>
            <a:endParaRPr lang="zh-CN" altLang="en-US" sz="2000" b="1" dirty="0">
              <a:solidFill>
                <a:schemeClr val="bg1">
                  <a:lumMod val="65000"/>
                </a:schemeClr>
              </a:solidFill>
              <a:latin typeface="微软雅黑" panose="020B0503020204020204" pitchFamily="34" charset="-122"/>
              <a:ea typeface="微软雅黑" panose="020B0503020204020204" pitchFamily="34" charset="-122"/>
            </a:endParaRPr>
          </a:p>
        </p:txBody>
      </p:sp>
      <p:sp>
        <p:nvSpPr>
          <p:cNvPr id="15" name="文本框 14"/>
          <p:cNvSpPr txBox="1"/>
          <p:nvPr/>
        </p:nvSpPr>
        <p:spPr>
          <a:xfrm>
            <a:off x="4543231" y="553085"/>
            <a:ext cx="2001520" cy="398780"/>
          </a:xfrm>
          <a:prstGeom prst="rect">
            <a:avLst/>
          </a:prstGeom>
          <a:noFill/>
        </p:spPr>
        <p:txBody>
          <a:bodyPr wrap="square" rtlCol="0">
            <a:spAutoFit/>
          </a:bodyPr>
          <a:lstStyle/>
          <a:p>
            <a:pPr algn="ctr"/>
            <a:r>
              <a:rPr lang="zh-CN" altLang="en-US" sz="2000" b="1" dirty="0">
                <a:solidFill>
                  <a:srgbClr val="004C9E"/>
                </a:solidFill>
                <a:latin typeface="微软雅黑" panose="020B0503020204020204" pitchFamily="34" charset="-122"/>
                <a:ea typeface="微软雅黑" panose="020B0503020204020204" pitchFamily="34" charset="-122"/>
              </a:rPr>
              <a:t>拟采用技术路线</a:t>
            </a:r>
            <a:endParaRPr lang="zh-CN" altLang="en-US" sz="2000" b="1" dirty="0">
              <a:solidFill>
                <a:srgbClr val="004C9E"/>
              </a:solidFill>
              <a:latin typeface="微软雅黑" panose="020B0503020204020204" pitchFamily="34" charset="-122"/>
              <a:ea typeface="微软雅黑" panose="020B0503020204020204" pitchFamily="34" charset="-122"/>
            </a:endParaRPr>
          </a:p>
        </p:txBody>
      </p:sp>
      <p:sp>
        <p:nvSpPr>
          <p:cNvPr id="16" name="文本框 15"/>
          <p:cNvSpPr txBox="1"/>
          <p:nvPr/>
        </p:nvSpPr>
        <p:spPr>
          <a:xfrm>
            <a:off x="6485324" y="553085"/>
            <a:ext cx="2755901" cy="398780"/>
          </a:xfrm>
          <a:prstGeom prst="rect">
            <a:avLst/>
          </a:prstGeom>
          <a:noFill/>
        </p:spPr>
        <p:txBody>
          <a:bodyPr wrap="square" rtlCol="0">
            <a:spAutoFit/>
          </a:bodyPr>
          <a:lstStyle/>
          <a:p>
            <a:pPr algn="ctr"/>
            <a:r>
              <a:rPr lang="zh-CN" altLang="en-US" sz="2000" b="1" dirty="0">
                <a:solidFill>
                  <a:schemeClr val="bg1">
                    <a:lumMod val="65000"/>
                  </a:schemeClr>
                </a:solidFill>
                <a:latin typeface="微软雅黑" panose="020B0503020204020204" pitchFamily="34" charset="-122"/>
                <a:ea typeface="微软雅黑" panose="020B0503020204020204" pitchFamily="34" charset="-122"/>
              </a:rPr>
              <a:t>创新与特点</a:t>
            </a:r>
            <a:endParaRPr lang="zh-CN" altLang="en-US" sz="2000" b="1" dirty="0">
              <a:solidFill>
                <a:schemeClr val="bg1">
                  <a:lumMod val="65000"/>
                </a:schemeClr>
              </a:solidFill>
              <a:latin typeface="微软雅黑" panose="020B0503020204020204" pitchFamily="34" charset="-122"/>
              <a:ea typeface="微软雅黑" panose="020B0503020204020204" pitchFamily="34" charset="-122"/>
            </a:endParaRPr>
          </a:p>
        </p:txBody>
      </p:sp>
      <p:sp>
        <p:nvSpPr>
          <p:cNvPr id="17" name="文本框 16"/>
          <p:cNvSpPr txBox="1"/>
          <p:nvPr/>
        </p:nvSpPr>
        <p:spPr>
          <a:xfrm>
            <a:off x="9102720" y="553085"/>
            <a:ext cx="2755901" cy="398780"/>
          </a:xfrm>
          <a:prstGeom prst="rect">
            <a:avLst/>
          </a:prstGeom>
          <a:noFill/>
        </p:spPr>
        <p:txBody>
          <a:bodyPr wrap="square" rtlCol="0">
            <a:spAutoFit/>
          </a:bodyPr>
          <a:lstStyle/>
          <a:p>
            <a:pPr algn="ctr"/>
            <a:r>
              <a:rPr lang="zh-CN" altLang="en-US" sz="2000" b="1" dirty="0">
                <a:solidFill>
                  <a:schemeClr val="bg1">
                    <a:lumMod val="65000"/>
                  </a:schemeClr>
                </a:solidFill>
                <a:latin typeface="微软雅黑" panose="020B0503020204020204" pitchFamily="34" charset="-122"/>
                <a:ea typeface="微软雅黑" panose="020B0503020204020204" pitchFamily="34" charset="-122"/>
              </a:rPr>
              <a:t>时间安排计划</a:t>
            </a:r>
            <a:endParaRPr lang="zh-CN" altLang="en-US" sz="2000" b="1" dirty="0">
              <a:solidFill>
                <a:schemeClr val="bg1">
                  <a:lumMod val="65000"/>
                </a:schemeClr>
              </a:solidFill>
              <a:latin typeface="微软雅黑" panose="020B0503020204020204" pitchFamily="34" charset="-122"/>
              <a:ea typeface="微软雅黑" panose="020B0503020204020204" pitchFamily="34" charset="-122"/>
            </a:endParaRPr>
          </a:p>
        </p:txBody>
      </p:sp>
      <p:sp>
        <p:nvSpPr>
          <p:cNvPr id="18" name="等腰三角形 17"/>
          <p:cNvSpPr/>
          <p:nvPr/>
        </p:nvSpPr>
        <p:spPr>
          <a:xfrm rot="5400000">
            <a:off x="4433618" y="669975"/>
            <a:ext cx="192943" cy="166330"/>
          </a:xfrm>
          <a:prstGeom prst="triangle">
            <a:avLst/>
          </a:prstGeom>
          <a:solidFill>
            <a:srgbClr val="004C9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nvSpPr>
        <p:spPr>
          <a:xfrm>
            <a:off x="919480" y="6113780"/>
            <a:ext cx="2541905" cy="275590"/>
          </a:xfrm>
          <a:prstGeom prst="rect">
            <a:avLst/>
          </a:prstGeom>
          <a:noFill/>
        </p:spPr>
        <p:txBody>
          <a:bodyPr wrap="square" rtlCol="0">
            <a:spAutoFit/>
          </a:bodyPr>
          <a:lstStyle/>
          <a:p>
            <a:r>
              <a:rPr lang="zh-CN" altLang="en-US" sz="1200" b="1">
                <a:solidFill>
                  <a:srgbClr val="004C9E"/>
                </a:solidFill>
                <a:latin typeface="微软雅黑" panose="020B0503020204020204" pitchFamily="34" charset="-122"/>
                <a:ea typeface="微软雅黑" panose="020B0503020204020204" pitchFamily="34" charset="-122"/>
                <a:cs typeface="微软雅黑" panose="020B0503020204020204" pitchFamily="34" charset="-122"/>
              </a:rPr>
              <a:t>耐劳苦</a:t>
            </a:r>
            <a:r>
              <a:rPr lang="en-US" altLang="zh-CN" sz="1200" b="1">
                <a:solidFill>
                  <a:srgbClr val="004C9E"/>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200" b="1">
                <a:solidFill>
                  <a:srgbClr val="004C9E"/>
                </a:solidFill>
                <a:latin typeface="微软雅黑" panose="020B0503020204020204" pitchFamily="34" charset="-122"/>
                <a:ea typeface="微软雅黑" panose="020B0503020204020204" pitchFamily="34" charset="-122"/>
                <a:cs typeface="微软雅黑" panose="020B0503020204020204" pitchFamily="34" charset="-122"/>
              </a:rPr>
              <a:t>尚俭朴</a:t>
            </a:r>
            <a:r>
              <a:rPr lang="en-US" altLang="zh-CN" sz="1200" b="1">
                <a:solidFill>
                  <a:srgbClr val="004C9E"/>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200" b="1">
                <a:solidFill>
                  <a:srgbClr val="004C9E"/>
                </a:solidFill>
                <a:latin typeface="微软雅黑" panose="020B0503020204020204" pitchFamily="34" charset="-122"/>
                <a:ea typeface="微软雅黑" panose="020B0503020204020204" pitchFamily="34" charset="-122"/>
                <a:cs typeface="微软雅黑" panose="020B0503020204020204" pitchFamily="34" charset="-122"/>
              </a:rPr>
              <a:t>勤学业</a:t>
            </a:r>
            <a:r>
              <a:rPr lang="en-US" altLang="zh-CN" sz="1200" b="1">
                <a:solidFill>
                  <a:srgbClr val="004C9E"/>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200" b="1">
                <a:solidFill>
                  <a:srgbClr val="004C9E"/>
                </a:solidFill>
                <a:latin typeface="微软雅黑" panose="020B0503020204020204" pitchFamily="34" charset="-122"/>
                <a:ea typeface="微软雅黑" panose="020B0503020204020204" pitchFamily="34" charset="-122"/>
                <a:cs typeface="微软雅黑" panose="020B0503020204020204" pitchFamily="34" charset="-122"/>
              </a:rPr>
              <a:t>爱国家</a:t>
            </a:r>
            <a:endParaRPr lang="zh-CN" altLang="en-US" sz="1200" b="1">
              <a:solidFill>
                <a:srgbClr val="004C9E"/>
              </a:solidFill>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11" name="图片 10" descr="校徽"/>
          <p:cNvPicPr>
            <a:picLocks noChangeAspect="1"/>
          </p:cNvPicPr>
          <p:nvPr/>
        </p:nvPicPr>
        <p:blipFill>
          <a:blip r:embed="rId2"/>
          <a:stretch>
            <a:fillRect/>
          </a:stretch>
        </p:blipFill>
        <p:spPr>
          <a:xfrm>
            <a:off x="10127615" y="5844540"/>
            <a:ext cx="1259840" cy="397510"/>
          </a:xfrm>
          <a:prstGeom prst="rect">
            <a:avLst/>
          </a:prstGeom>
        </p:spPr>
      </p:pic>
      <p:sp>
        <p:nvSpPr>
          <p:cNvPr id="20" name="文本框 19"/>
          <p:cNvSpPr txBox="1"/>
          <p:nvPr/>
        </p:nvSpPr>
        <p:spPr>
          <a:xfrm>
            <a:off x="1009650" y="1069340"/>
            <a:ext cx="4457065" cy="398780"/>
          </a:xfrm>
          <a:prstGeom prst="rect">
            <a:avLst/>
          </a:prstGeom>
          <a:noFill/>
        </p:spPr>
        <p:txBody>
          <a:bodyPr wrap="square" rtlCol="0">
            <a:spAutoFit/>
          </a:bodyPr>
          <a:lstStyle/>
          <a:p>
            <a:r>
              <a:rPr lang="zh-CN" altLang="en-US" sz="2000" b="1"/>
              <a:t>三、应用展示与交互层（前端界面）</a:t>
            </a:r>
            <a:endParaRPr lang="zh-CN" altLang="en-US" sz="2000" b="1"/>
          </a:p>
        </p:txBody>
      </p:sp>
      <p:grpSp>
        <p:nvGrpSpPr>
          <p:cNvPr id="3" name="组合 2"/>
          <p:cNvGrpSpPr/>
          <p:nvPr/>
        </p:nvGrpSpPr>
        <p:grpSpPr>
          <a:xfrm>
            <a:off x="2220573" y="1687958"/>
            <a:ext cx="2871470" cy="3925590"/>
            <a:chOff x="4606903" y="1585088"/>
            <a:chExt cx="2871470" cy="3925590"/>
          </a:xfrm>
        </p:grpSpPr>
        <p:sp>
          <p:nvSpPr>
            <p:cNvPr id="29" name="剪去单角的矩形 41"/>
            <p:cNvSpPr/>
            <p:nvPr/>
          </p:nvSpPr>
          <p:spPr>
            <a:xfrm>
              <a:off x="4606903" y="1585088"/>
              <a:ext cx="2871470" cy="3925590"/>
            </a:xfrm>
            <a:prstGeom prst="snip1Rect">
              <a:avLst/>
            </a:prstGeom>
            <a:noFill/>
            <a:ln>
              <a:solidFill>
                <a:schemeClr val="bg1">
                  <a:lumMod val="75000"/>
                </a:schemeClr>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grpSp>
          <p:nvGrpSpPr>
            <p:cNvPr id="30" name="组合 29"/>
            <p:cNvGrpSpPr/>
            <p:nvPr/>
          </p:nvGrpSpPr>
          <p:grpSpPr>
            <a:xfrm>
              <a:off x="5559403" y="1797179"/>
              <a:ext cx="967105" cy="967105"/>
              <a:chOff x="5816600" y="2092325"/>
              <a:chExt cx="967105" cy="967105"/>
            </a:xfrm>
          </p:grpSpPr>
          <p:sp>
            <p:nvSpPr>
              <p:cNvPr id="31" name="椭圆 30"/>
              <p:cNvSpPr/>
              <p:nvPr/>
            </p:nvSpPr>
            <p:spPr>
              <a:xfrm>
                <a:off x="5816600" y="2092325"/>
                <a:ext cx="967105" cy="967105"/>
              </a:xfrm>
              <a:prstGeom prst="ellipse">
                <a:avLst/>
              </a:prstGeom>
              <a:solidFill>
                <a:srgbClr val="5B9BD5"/>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latin typeface="微软雅黑" panose="020B0503020204020204" pitchFamily="34" charset="-122"/>
                  <a:ea typeface="微软雅黑" panose="020B0503020204020204" pitchFamily="34" charset="-122"/>
                </a:endParaRPr>
              </a:p>
            </p:txBody>
          </p:sp>
          <p:sp>
            <p:nvSpPr>
              <p:cNvPr id="32" name="Freeform 24"/>
              <p:cNvSpPr>
                <a:spLocks noEditPoints="1"/>
              </p:cNvSpPr>
              <p:nvPr/>
            </p:nvSpPr>
            <p:spPr bwMode="auto">
              <a:xfrm>
                <a:off x="6129655" y="2385060"/>
                <a:ext cx="398780" cy="382270"/>
              </a:xfrm>
              <a:custGeom>
                <a:avLst/>
                <a:gdLst>
                  <a:gd name="T0" fmla="*/ 80 w 198"/>
                  <a:gd name="T1" fmla="*/ 39 h 190"/>
                  <a:gd name="T2" fmla="*/ 32 w 198"/>
                  <a:gd name="T3" fmla="*/ 39 h 190"/>
                  <a:gd name="T4" fmla="*/ 24 w 198"/>
                  <a:gd name="T5" fmla="*/ 52 h 190"/>
                  <a:gd name="T6" fmla="*/ 32 w 198"/>
                  <a:gd name="T7" fmla="*/ 65 h 190"/>
                  <a:gd name="T8" fmla="*/ 80 w 198"/>
                  <a:gd name="T9" fmla="*/ 65 h 190"/>
                  <a:gd name="T10" fmla="*/ 80 w 198"/>
                  <a:gd name="T11" fmla="*/ 39 h 190"/>
                  <a:gd name="T12" fmla="*/ 80 w 198"/>
                  <a:gd name="T13" fmla="*/ 39 h 190"/>
                  <a:gd name="T14" fmla="*/ 114 w 198"/>
                  <a:gd name="T15" fmla="*/ 65 h 190"/>
                  <a:gd name="T16" fmla="*/ 170 w 198"/>
                  <a:gd name="T17" fmla="*/ 65 h 190"/>
                  <a:gd name="T18" fmla="*/ 177 w 198"/>
                  <a:gd name="T19" fmla="*/ 65 h 190"/>
                  <a:gd name="T20" fmla="*/ 179 w 198"/>
                  <a:gd name="T21" fmla="*/ 69 h 190"/>
                  <a:gd name="T22" fmla="*/ 194 w 198"/>
                  <a:gd name="T23" fmla="*/ 93 h 190"/>
                  <a:gd name="T24" fmla="*/ 198 w 198"/>
                  <a:gd name="T25" fmla="*/ 99 h 190"/>
                  <a:gd name="T26" fmla="*/ 194 w 198"/>
                  <a:gd name="T27" fmla="*/ 103 h 190"/>
                  <a:gd name="T28" fmla="*/ 179 w 198"/>
                  <a:gd name="T29" fmla="*/ 127 h 190"/>
                  <a:gd name="T30" fmla="*/ 177 w 198"/>
                  <a:gd name="T31" fmla="*/ 134 h 190"/>
                  <a:gd name="T32" fmla="*/ 170 w 198"/>
                  <a:gd name="T33" fmla="*/ 134 h 190"/>
                  <a:gd name="T34" fmla="*/ 114 w 198"/>
                  <a:gd name="T35" fmla="*/ 134 h 190"/>
                  <a:gd name="T36" fmla="*/ 114 w 198"/>
                  <a:gd name="T37" fmla="*/ 164 h 190"/>
                  <a:gd name="T38" fmla="*/ 164 w 198"/>
                  <a:gd name="T39" fmla="*/ 164 h 190"/>
                  <a:gd name="T40" fmla="*/ 164 w 198"/>
                  <a:gd name="T41" fmla="*/ 190 h 190"/>
                  <a:gd name="T42" fmla="*/ 37 w 198"/>
                  <a:gd name="T43" fmla="*/ 190 h 190"/>
                  <a:gd name="T44" fmla="*/ 37 w 198"/>
                  <a:gd name="T45" fmla="*/ 164 h 190"/>
                  <a:gd name="T46" fmla="*/ 82 w 198"/>
                  <a:gd name="T47" fmla="*/ 164 h 190"/>
                  <a:gd name="T48" fmla="*/ 82 w 198"/>
                  <a:gd name="T49" fmla="*/ 86 h 190"/>
                  <a:gd name="T50" fmla="*/ 26 w 198"/>
                  <a:gd name="T51" fmla="*/ 86 h 190"/>
                  <a:gd name="T52" fmla="*/ 19 w 198"/>
                  <a:gd name="T53" fmla="*/ 86 h 190"/>
                  <a:gd name="T54" fmla="*/ 17 w 198"/>
                  <a:gd name="T55" fmla="*/ 80 h 190"/>
                  <a:gd name="T56" fmla="*/ 2 w 198"/>
                  <a:gd name="T57" fmla="*/ 56 h 190"/>
                  <a:gd name="T58" fmla="*/ 0 w 198"/>
                  <a:gd name="T59" fmla="*/ 52 h 190"/>
                  <a:gd name="T60" fmla="*/ 2 w 198"/>
                  <a:gd name="T61" fmla="*/ 45 h 190"/>
                  <a:gd name="T62" fmla="*/ 17 w 198"/>
                  <a:gd name="T63" fmla="*/ 21 h 190"/>
                  <a:gd name="T64" fmla="*/ 19 w 198"/>
                  <a:gd name="T65" fmla="*/ 17 h 190"/>
                  <a:gd name="T66" fmla="*/ 26 w 198"/>
                  <a:gd name="T67" fmla="*/ 17 h 190"/>
                  <a:gd name="T68" fmla="*/ 82 w 198"/>
                  <a:gd name="T69" fmla="*/ 17 h 190"/>
                  <a:gd name="T70" fmla="*/ 82 w 198"/>
                  <a:gd name="T71" fmla="*/ 13 h 190"/>
                  <a:gd name="T72" fmla="*/ 99 w 198"/>
                  <a:gd name="T73" fmla="*/ 0 h 190"/>
                  <a:gd name="T74" fmla="*/ 114 w 198"/>
                  <a:gd name="T75" fmla="*/ 13 h 190"/>
                  <a:gd name="T76" fmla="*/ 114 w 198"/>
                  <a:gd name="T77" fmla="*/ 65 h 190"/>
                  <a:gd name="T78" fmla="*/ 114 w 198"/>
                  <a:gd name="T79" fmla="*/ 65 h 190"/>
                  <a:gd name="T80" fmla="*/ 166 w 198"/>
                  <a:gd name="T81" fmla="*/ 84 h 190"/>
                  <a:gd name="T82" fmla="*/ 116 w 198"/>
                  <a:gd name="T83" fmla="*/ 84 h 190"/>
                  <a:gd name="T84" fmla="*/ 116 w 198"/>
                  <a:gd name="T85" fmla="*/ 112 h 190"/>
                  <a:gd name="T86" fmla="*/ 166 w 198"/>
                  <a:gd name="T87" fmla="*/ 112 h 190"/>
                  <a:gd name="T88" fmla="*/ 175 w 198"/>
                  <a:gd name="T89" fmla="*/ 99 h 190"/>
                  <a:gd name="T90" fmla="*/ 166 w 198"/>
                  <a:gd name="T91" fmla="*/ 84 h 1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98" h="190">
                    <a:moveTo>
                      <a:pt x="80" y="39"/>
                    </a:moveTo>
                    <a:lnTo>
                      <a:pt x="32" y="39"/>
                    </a:lnTo>
                    <a:lnTo>
                      <a:pt x="24" y="52"/>
                    </a:lnTo>
                    <a:lnTo>
                      <a:pt x="32" y="65"/>
                    </a:lnTo>
                    <a:lnTo>
                      <a:pt x="80" y="65"/>
                    </a:lnTo>
                    <a:lnTo>
                      <a:pt x="80" y="39"/>
                    </a:lnTo>
                    <a:lnTo>
                      <a:pt x="80" y="39"/>
                    </a:lnTo>
                    <a:close/>
                    <a:moveTo>
                      <a:pt x="114" y="65"/>
                    </a:moveTo>
                    <a:lnTo>
                      <a:pt x="170" y="65"/>
                    </a:lnTo>
                    <a:lnTo>
                      <a:pt x="177" y="65"/>
                    </a:lnTo>
                    <a:lnTo>
                      <a:pt x="179" y="69"/>
                    </a:lnTo>
                    <a:lnTo>
                      <a:pt x="194" y="93"/>
                    </a:lnTo>
                    <a:lnTo>
                      <a:pt x="198" y="99"/>
                    </a:lnTo>
                    <a:lnTo>
                      <a:pt x="194" y="103"/>
                    </a:lnTo>
                    <a:lnTo>
                      <a:pt x="179" y="127"/>
                    </a:lnTo>
                    <a:lnTo>
                      <a:pt x="177" y="134"/>
                    </a:lnTo>
                    <a:lnTo>
                      <a:pt x="170" y="134"/>
                    </a:lnTo>
                    <a:lnTo>
                      <a:pt x="114" y="134"/>
                    </a:lnTo>
                    <a:lnTo>
                      <a:pt x="114" y="164"/>
                    </a:lnTo>
                    <a:lnTo>
                      <a:pt x="164" y="164"/>
                    </a:lnTo>
                    <a:lnTo>
                      <a:pt x="164" y="190"/>
                    </a:lnTo>
                    <a:lnTo>
                      <a:pt x="37" y="190"/>
                    </a:lnTo>
                    <a:lnTo>
                      <a:pt x="37" y="164"/>
                    </a:lnTo>
                    <a:lnTo>
                      <a:pt x="82" y="164"/>
                    </a:lnTo>
                    <a:lnTo>
                      <a:pt x="82" y="86"/>
                    </a:lnTo>
                    <a:lnTo>
                      <a:pt x="26" y="86"/>
                    </a:lnTo>
                    <a:lnTo>
                      <a:pt x="19" y="86"/>
                    </a:lnTo>
                    <a:lnTo>
                      <a:pt x="17" y="80"/>
                    </a:lnTo>
                    <a:lnTo>
                      <a:pt x="2" y="56"/>
                    </a:lnTo>
                    <a:lnTo>
                      <a:pt x="0" y="52"/>
                    </a:lnTo>
                    <a:lnTo>
                      <a:pt x="2" y="45"/>
                    </a:lnTo>
                    <a:lnTo>
                      <a:pt x="17" y="21"/>
                    </a:lnTo>
                    <a:lnTo>
                      <a:pt x="19" y="17"/>
                    </a:lnTo>
                    <a:lnTo>
                      <a:pt x="26" y="17"/>
                    </a:lnTo>
                    <a:lnTo>
                      <a:pt x="82" y="17"/>
                    </a:lnTo>
                    <a:lnTo>
                      <a:pt x="82" y="13"/>
                    </a:lnTo>
                    <a:lnTo>
                      <a:pt x="99" y="0"/>
                    </a:lnTo>
                    <a:lnTo>
                      <a:pt x="114" y="13"/>
                    </a:lnTo>
                    <a:lnTo>
                      <a:pt x="114" y="65"/>
                    </a:lnTo>
                    <a:lnTo>
                      <a:pt x="114" y="65"/>
                    </a:lnTo>
                    <a:close/>
                    <a:moveTo>
                      <a:pt x="166" y="84"/>
                    </a:moveTo>
                    <a:lnTo>
                      <a:pt x="116" y="84"/>
                    </a:lnTo>
                    <a:lnTo>
                      <a:pt x="116" y="112"/>
                    </a:lnTo>
                    <a:lnTo>
                      <a:pt x="166" y="112"/>
                    </a:lnTo>
                    <a:lnTo>
                      <a:pt x="175" y="99"/>
                    </a:lnTo>
                    <a:lnTo>
                      <a:pt x="166" y="84"/>
                    </a:lnTo>
                    <a:close/>
                  </a:path>
                </a:pathLst>
              </a:custGeom>
              <a:solidFill>
                <a:schemeClr val="bg1"/>
              </a:solidFill>
              <a:ln>
                <a:noFill/>
              </a:ln>
            </p:spPr>
            <p:txBody>
              <a:bodyPr vert="horz" wrap="square" lIns="96430" tIns="48216" rIns="96430" bIns="48216"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20000"/>
                  </a:lnSpc>
                </a:pPr>
                <a:endParaRPr lang="zh-CN" altLang="en-US" sz="950" dirty="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grpSp>
        <p:sp>
          <p:nvSpPr>
            <p:cNvPr id="38" name="PA-矩形 4"/>
            <p:cNvSpPr>
              <a:spLocks noChangeArrowheads="1"/>
            </p:cNvSpPr>
            <p:nvPr>
              <p:custDataLst>
                <p:tags r:id="rId3"/>
              </p:custDataLst>
            </p:nvPr>
          </p:nvSpPr>
          <p:spPr bwMode="auto">
            <a:xfrm>
              <a:off x="5332708" y="3043048"/>
              <a:ext cx="1666240" cy="2768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b="1" dirty="0">
                  <a:solidFill>
                    <a:schemeClr val="tx1">
                      <a:lumMod val="85000"/>
                      <a:lumOff val="15000"/>
                    </a:schemeClr>
                  </a:solidFill>
                  <a:latin typeface="微软雅黑" panose="020B0503020204020204" pitchFamily="34" charset="-122"/>
                  <a:ea typeface="微软雅黑" panose="020B0503020204020204" pitchFamily="34" charset="-122"/>
                  <a:cs typeface="阿里巴巴普惠体 H" panose="00020600040101010101" pitchFamily="18" charset="-122"/>
                  <a:sym typeface="+mn-lt"/>
                </a:rPr>
                <a:t>Web </a:t>
              </a:r>
              <a:r>
                <a:rPr lang="zh-CN" altLang="en-US" b="1" dirty="0">
                  <a:solidFill>
                    <a:schemeClr val="tx1">
                      <a:lumMod val="85000"/>
                      <a:lumOff val="15000"/>
                    </a:schemeClr>
                  </a:solidFill>
                  <a:latin typeface="微软雅黑" panose="020B0503020204020204" pitchFamily="34" charset="-122"/>
                  <a:ea typeface="微软雅黑" panose="020B0503020204020204" pitchFamily="34" charset="-122"/>
                  <a:cs typeface="阿里巴巴普惠体 H" panose="00020600040101010101" pitchFamily="18" charset="-122"/>
                  <a:sym typeface="+mn-lt"/>
                </a:rPr>
                <a:t>监控面板</a:t>
              </a:r>
              <a:endParaRPr lang="zh-CN" altLang="en-US" b="1" dirty="0">
                <a:solidFill>
                  <a:schemeClr val="tx1">
                    <a:lumMod val="85000"/>
                    <a:lumOff val="15000"/>
                  </a:schemeClr>
                </a:solidFill>
                <a:latin typeface="微软雅黑" panose="020B0503020204020204" pitchFamily="34" charset="-122"/>
                <a:ea typeface="微软雅黑" panose="020B0503020204020204" pitchFamily="34" charset="-122"/>
                <a:cs typeface="阿里巴巴普惠体 H" panose="00020600040101010101" pitchFamily="18" charset="-122"/>
                <a:sym typeface="+mn-lt"/>
              </a:endParaRPr>
            </a:p>
          </p:txBody>
        </p:sp>
        <p:sp>
          <p:nvSpPr>
            <p:cNvPr id="44" name="PA-矩形 4"/>
            <p:cNvSpPr>
              <a:spLocks noChangeArrowheads="1"/>
            </p:cNvSpPr>
            <p:nvPr>
              <p:custDataLst>
                <p:tags r:id="rId4"/>
              </p:custDataLst>
            </p:nvPr>
          </p:nvSpPr>
          <p:spPr bwMode="auto">
            <a:xfrm>
              <a:off x="4806214" y="3486991"/>
              <a:ext cx="2531268" cy="1292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pPr>
              <a:r>
                <a:rPr lang="zh-CN" altLang="en-US" sz="1400" dirty="0">
                  <a:solidFill>
                    <a:schemeClr val="tx1">
                      <a:lumMod val="65000"/>
                      <a:lumOff val="35000"/>
                    </a:schemeClr>
                  </a:solidFill>
                  <a:latin typeface="微软雅黑" panose="020B0503020204020204" pitchFamily="34" charset="-122"/>
                  <a:ea typeface="微软雅黑" panose="020B0503020204020204" pitchFamily="34" charset="-122"/>
                  <a:cs typeface="OPPOSans M" panose="00020600040101010101" pitchFamily="18" charset="-122"/>
                  <a:sym typeface="+mn-lt"/>
                </a:rPr>
                <a:t>基于 </a:t>
              </a:r>
              <a:r>
                <a:rPr lang="en-US" altLang="zh-CN" sz="1400" dirty="0">
                  <a:solidFill>
                    <a:schemeClr val="tx1">
                      <a:lumMod val="65000"/>
                      <a:lumOff val="35000"/>
                    </a:schemeClr>
                  </a:solidFill>
                  <a:latin typeface="微软雅黑" panose="020B0503020204020204" pitchFamily="34" charset="-122"/>
                  <a:ea typeface="微软雅黑" panose="020B0503020204020204" pitchFamily="34" charset="-122"/>
                  <a:cs typeface="OPPOSans M" panose="00020600040101010101" pitchFamily="18" charset="-122"/>
                  <a:sym typeface="+mn-lt"/>
                </a:rPr>
                <a:t>Vue 3 + Vite + Element Plus </a:t>
              </a:r>
              <a:r>
                <a:rPr lang="zh-CN" altLang="en-US" sz="1400" dirty="0">
                  <a:solidFill>
                    <a:schemeClr val="tx1">
                      <a:lumMod val="65000"/>
                      <a:lumOff val="35000"/>
                    </a:schemeClr>
                  </a:solidFill>
                  <a:latin typeface="微软雅黑" panose="020B0503020204020204" pitchFamily="34" charset="-122"/>
                  <a:ea typeface="微软雅黑" panose="020B0503020204020204" pitchFamily="34" charset="-122"/>
                  <a:cs typeface="OPPOSans M" panose="00020600040101010101" pitchFamily="18" charset="-122"/>
                  <a:sym typeface="+mn-lt"/>
                </a:rPr>
                <a:t>构建响应式前端，实现监控画面实时回传与历史环境曲线可视化。</a:t>
              </a:r>
              <a:endParaRPr lang="zh-CN" altLang="en-US" sz="1400" dirty="0">
                <a:solidFill>
                  <a:schemeClr val="tx1">
                    <a:lumMod val="65000"/>
                    <a:lumOff val="35000"/>
                  </a:schemeClr>
                </a:solidFill>
                <a:latin typeface="微软雅黑" panose="020B0503020204020204" pitchFamily="34" charset="-122"/>
                <a:ea typeface="微软雅黑" panose="020B0503020204020204" pitchFamily="34" charset="-122"/>
                <a:cs typeface="OPPOSans M" panose="00020600040101010101" pitchFamily="18" charset="-122"/>
                <a:sym typeface="+mn-lt"/>
              </a:endParaRPr>
            </a:p>
          </p:txBody>
        </p:sp>
      </p:grpSp>
      <p:grpSp>
        <p:nvGrpSpPr>
          <p:cNvPr id="4" name="组合 3"/>
          <p:cNvGrpSpPr/>
          <p:nvPr/>
        </p:nvGrpSpPr>
        <p:grpSpPr>
          <a:xfrm>
            <a:off x="6819243" y="1687958"/>
            <a:ext cx="2871470" cy="3925590"/>
            <a:chOff x="8204178" y="1585088"/>
            <a:chExt cx="2871470" cy="3925590"/>
          </a:xfrm>
        </p:grpSpPr>
        <p:sp>
          <p:nvSpPr>
            <p:cNvPr id="34" name="剪去单角的矩形 48"/>
            <p:cNvSpPr/>
            <p:nvPr/>
          </p:nvSpPr>
          <p:spPr>
            <a:xfrm>
              <a:off x="8204178" y="1585088"/>
              <a:ext cx="2871470" cy="3925590"/>
            </a:xfrm>
            <a:prstGeom prst="snip1Rect">
              <a:avLst/>
            </a:prstGeom>
            <a:noFill/>
            <a:ln>
              <a:solidFill>
                <a:schemeClr val="bg1">
                  <a:lumMod val="75000"/>
                </a:schemeClr>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grpSp>
          <p:nvGrpSpPr>
            <p:cNvPr id="35" name="组合 34"/>
            <p:cNvGrpSpPr/>
            <p:nvPr/>
          </p:nvGrpSpPr>
          <p:grpSpPr>
            <a:xfrm>
              <a:off x="9156678" y="1797179"/>
              <a:ext cx="967105" cy="967105"/>
              <a:chOff x="9413875" y="2092325"/>
              <a:chExt cx="967105" cy="967105"/>
            </a:xfrm>
          </p:grpSpPr>
          <p:sp>
            <p:nvSpPr>
              <p:cNvPr id="36" name="椭圆 35"/>
              <p:cNvSpPr/>
              <p:nvPr/>
            </p:nvSpPr>
            <p:spPr>
              <a:xfrm>
                <a:off x="9413875" y="2092325"/>
                <a:ext cx="967105" cy="967105"/>
              </a:xfrm>
              <a:prstGeom prst="ellipse">
                <a:avLst/>
              </a:prstGeom>
              <a:solidFill>
                <a:srgbClr val="004C9E"/>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latin typeface="微软雅黑" panose="020B0503020204020204" pitchFamily="34" charset="-122"/>
                  <a:ea typeface="微软雅黑" panose="020B0503020204020204" pitchFamily="34" charset="-122"/>
                </a:endParaRPr>
              </a:p>
            </p:txBody>
          </p:sp>
          <p:sp>
            <p:nvSpPr>
              <p:cNvPr id="37" name="Freeform 26"/>
              <p:cNvSpPr>
                <a:spLocks noEditPoints="1"/>
              </p:cNvSpPr>
              <p:nvPr/>
            </p:nvSpPr>
            <p:spPr bwMode="auto">
              <a:xfrm>
                <a:off x="9759950" y="2372360"/>
                <a:ext cx="334010" cy="404495"/>
              </a:xfrm>
              <a:custGeom>
                <a:avLst/>
                <a:gdLst>
                  <a:gd name="T0" fmla="*/ 0 w 77"/>
                  <a:gd name="T1" fmla="*/ 85 h 93"/>
                  <a:gd name="T2" fmla="*/ 30 w 77"/>
                  <a:gd name="T3" fmla="*/ 20 h 93"/>
                  <a:gd name="T4" fmla="*/ 38 w 77"/>
                  <a:gd name="T5" fmla="*/ 26 h 93"/>
                  <a:gd name="T6" fmla="*/ 39 w 77"/>
                  <a:gd name="T7" fmla="*/ 27 h 93"/>
                  <a:gd name="T8" fmla="*/ 39 w 77"/>
                  <a:gd name="T9" fmla="*/ 27 h 93"/>
                  <a:gd name="T10" fmla="*/ 40 w 77"/>
                  <a:gd name="T11" fmla="*/ 27 h 93"/>
                  <a:gd name="T12" fmla="*/ 40 w 77"/>
                  <a:gd name="T13" fmla="*/ 28 h 93"/>
                  <a:gd name="T14" fmla="*/ 40 w 77"/>
                  <a:gd name="T15" fmla="*/ 28 h 93"/>
                  <a:gd name="T16" fmla="*/ 41 w 77"/>
                  <a:gd name="T17" fmla="*/ 28 h 93"/>
                  <a:gd name="T18" fmla="*/ 41 w 77"/>
                  <a:gd name="T19" fmla="*/ 29 h 93"/>
                  <a:gd name="T20" fmla="*/ 42 w 77"/>
                  <a:gd name="T21" fmla="*/ 29 h 93"/>
                  <a:gd name="T22" fmla="*/ 42 w 77"/>
                  <a:gd name="T23" fmla="*/ 29 h 93"/>
                  <a:gd name="T24" fmla="*/ 43 w 77"/>
                  <a:gd name="T25" fmla="*/ 29 h 93"/>
                  <a:gd name="T26" fmla="*/ 43 w 77"/>
                  <a:gd name="T27" fmla="*/ 30 h 93"/>
                  <a:gd name="T28" fmla="*/ 43 w 77"/>
                  <a:gd name="T29" fmla="*/ 30 h 93"/>
                  <a:gd name="T30" fmla="*/ 48 w 77"/>
                  <a:gd name="T31" fmla="*/ 33 h 93"/>
                  <a:gd name="T32" fmla="*/ 48 w 77"/>
                  <a:gd name="T33" fmla="*/ 33 h 93"/>
                  <a:gd name="T34" fmla="*/ 49 w 77"/>
                  <a:gd name="T35" fmla="*/ 34 h 93"/>
                  <a:gd name="T36" fmla="*/ 49 w 77"/>
                  <a:gd name="T37" fmla="*/ 34 h 93"/>
                  <a:gd name="T38" fmla="*/ 50 w 77"/>
                  <a:gd name="T39" fmla="*/ 34 h 93"/>
                  <a:gd name="T40" fmla="*/ 50 w 77"/>
                  <a:gd name="T41" fmla="*/ 35 h 93"/>
                  <a:gd name="T42" fmla="*/ 50 w 77"/>
                  <a:gd name="T43" fmla="*/ 35 h 93"/>
                  <a:gd name="T44" fmla="*/ 51 w 77"/>
                  <a:gd name="T45" fmla="*/ 35 h 93"/>
                  <a:gd name="T46" fmla="*/ 51 w 77"/>
                  <a:gd name="T47" fmla="*/ 36 h 93"/>
                  <a:gd name="T48" fmla="*/ 52 w 77"/>
                  <a:gd name="T49" fmla="*/ 36 h 93"/>
                  <a:gd name="T50" fmla="*/ 52 w 77"/>
                  <a:gd name="T51" fmla="*/ 36 h 93"/>
                  <a:gd name="T52" fmla="*/ 53 w 77"/>
                  <a:gd name="T53" fmla="*/ 37 h 93"/>
                  <a:gd name="T54" fmla="*/ 53 w 77"/>
                  <a:gd name="T55" fmla="*/ 37 h 93"/>
                  <a:gd name="T56" fmla="*/ 48 w 77"/>
                  <a:gd name="T57" fmla="*/ 79 h 93"/>
                  <a:gd name="T58" fmla="*/ 7 w 77"/>
                  <a:gd name="T59" fmla="*/ 91 h 93"/>
                  <a:gd name="T60" fmla="*/ 35 w 77"/>
                  <a:gd name="T61" fmla="*/ 64 h 93"/>
                  <a:gd name="T62" fmla="*/ 19 w 77"/>
                  <a:gd name="T63" fmla="*/ 53 h 93"/>
                  <a:gd name="T64" fmla="*/ 3 w 77"/>
                  <a:gd name="T65" fmla="*/ 88 h 93"/>
                  <a:gd name="T66" fmla="*/ 73 w 77"/>
                  <a:gd name="T67" fmla="*/ 93 h 93"/>
                  <a:gd name="T68" fmla="*/ 54 w 77"/>
                  <a:gd name="T69" fmla="*/ 83 h 93"/>
                  <a:gd name="T70" fmla="*/ 69 w 77"/>
                  <a:gd name="T71" fmla="*/ 42 h 93"/>
                  <a:gd name="T72" fmla="*/ 34 w 77"/>
                  <a:gd name="T73" fmla="*/ 0 h 93"/>
                  <a:gd name="T74" fmla="*/ 69 w 77"/>
                  <a:gd name="T75" fmla="*/ 42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77" h="93">
                    <a:moveTo>
                      <a:pt x="3" y="88"/>
                    </a:moveTo>
                    <a:cubicBezTo>
                      <a:pt x="2" y="87"/>
                      <a:pt x="1" y="86"/>
                      <a:pt x="0" y="85"/>
                    </a:cubicBezTo>
                    <a:cubicBezTo>
                      <a:pt x="0" y="72"/>
                      <a:pt x="0" y="58"/>
                      <a:pt x="0" y="45"/>
                    </a:cubicBezTo>
                    <a:cubicBezTo>
                      <a:pt x="12" y="40"/>
                      <a:pt x="21" y="32"/>
                      <a:pt x="30" y="20"/>
                    </a:cubicBezTo>
                    <a:cubicBezTo>
                      <a:pt x="38" y="26"/>
                      <a:pt x="38" y="26"/>
                      <a:pt x="38" y="26"/>
                    </a:cubicBezTo>
                    <a:cubicBezTo>
                      <a:pt x="38" y="26"/>
                      <a:pt x="38" y="26"/>
                      <a:pt x="38" y="26"/>
                    </a:cubicBezTo>
                    <a:cubicBezTo>
                      <a:pt x="38" y="27"/>
                      <a:pt x="38" y="27"/>
                      <a:pt x="38" y="27"/>
                    </a:cubicBezTo>
                    <a:cubicBezTo>
                      <a:pt x="39" y="27"/>
                      <a:pt x="39" y="27"/>
                      <a:pt x="39" y="27"/>
                    </a:cubicBezTo>
                    <a:cubicBezTo>
                      <a:pt x="39" y="27"/>
                      <a:pt x="39" y="27"/>
                      <a:pt x="39" y="27"/>
                    </a:cubicBezTo>
                    <a:cubicBezTo>
                      <a:pt x="39" y="27"/>
                      <a:pt x="39" y="27"/>
                      <a:pt x="39" y="27"/>
                    </a:cubicBezTo>
                    <a:cubicBezTo>
                      <a:pt x="39" y="27"/>
                      <a:pt x="39" y="27"/>
                      <a:pt x="39" y="27"/>
                    </a:cubicBezTo>
                    <a:cubicBezTo>
                      <a:pt x="40" y="27"/>
                      <a:pt x="40" y="27"/>
                      <a:pt x="40" y="27"/>
                    </a:cubicBezTo>
                    <a:cubicBezTo>
                      <a:pt x="40" y="27"/>
                      <a:pt x="40" y="27"/>
                      <a:pt x="40" y="27"/>
                    </a:cubicBezTo>
                    <a:cubicBezTo>
                      <a:pt x="40" y="28"/>
                      <a:pt x="40" y="28"/>
                      <a:pt x="40" y="28"/>
                    </a:cubicBezTo>
                    <a:cubicBezTo>
                      <a:pt x="40" y="28"/>
                      <a:pt x="40" y="28"/>
                      <a:pt x="40" y="28"/>
                    </a:cubicBezTo>
                    <a:cubicBezTo>
                      <a:pt x="40" y="28"/>
                      <a:pt x="40" y="28"/>
                      <a:pt x="40" y="28"/>
                    </a:cubicBezTo>
                    <a:cubicBezTo>
                      <a:pt x="41" y="28"/>
                      <a:pt x="41" y="28"/>
                      <a:pt x="41" y="28"/>
                    </a:cubicBezTo>
                    <a:cubicBezTo>
                      <a:pt x="41" y="28"/>
                      <a:pt x="41" y="28"/>
                      <a:pt x="41" y="28"/>
                    </a:cubicBezTo>
                    <a:cubicBezTo>
                      <a:pt x="41" y="28"/>
                      <a:pt x="41" y="28"/>
                      <a:pt x="41" y="28"/>
                    </a:cubicBezTo>
                    <a:cubicBezTo>
                      <a:pt x="41" y="29"/>
                      <a:pt x="41" y="29"/>
                      <a:pt x="41" y="29"/>
                    </a:cubicBezTo>
                    <a:cubicBezTo>
                      <a:pt x="42" y="29"/>
                      <a:pt x="42" y="29"/>
                      <a:pt x="42" y="29"/>
                    </a:cubicBezTo>
                    <a:cubicBezTo>
                      <a:pt x="42" y="29"/>
                      <a:pt x="42" y="29"/>
                      <a:pt x="42" y="29"/>
                    </a:cubicBezTo>
                    <a:cubicBezTo>
                      <a:pt x="42" y="29"/>
                      <a:pt x="42" y="29"/>
                      <a:pt x="42" y="29"/>
                    </a:cubicBezTo>
                    <a:cubicBezTo>
                      <a:pt x="42" y="29"/>
                      <a:pt x="42" y="29"/>
                      <a:pt x="42" y="29"/>
                    </a:cubicBezTo>
                    <a:cubicBezTo>
                      <a:pt x="42" y="29"/>
                      <a:pt x="42" y="29"/>
                      <a:pt x="42" y="29"/>
                    </a:cubicBezTo>
                    <a:cubicBezTo>
                      <a:pt x="43" y="29"/>
                      <a:pt x="43" y="29"/>
                      <a:pt x="43" y="29"/>
                    </a:cubicBezTo>
                    <a:cubicBezTo>
                      <a:pt x="43" y="30"/>
                      <a:pt x="43" y="30"/>
                      <a:pt x="43" y="30"/>
                    </a:cubicBezTo>
                    <a:cubicBezTo>
                      <a:pt x="43" y="30"/>
                      <a:pt x="43" y="30"/>
                      <a:pt x="43" y="30"/>
                    </a:cubicBezTo>
                    <a:cubicBezTo>
                      <a:pt x="43" y="30"/>
                      <a:pt x="43" y="30"/>
                      <a:pt x="43" y="30"/>
                    </a:cubicBezTo>
                    <a:cubicBezTo>
                      <a:pt x="43" y="30"/>
                      <a:pt x="43" y="30"/>
                      <a:pt x="43" y="30"/>
                    </a:cubicBezTo>
                    <a:cubicBezTo>
                      <a:pt x="44" y="30"/>
                      <a:pt x="44" y="30"/>
                      <a:pt x="44" y="30"/>
                    </a:cubicBezTo>
                    <a:cubicBezTo>
                      <a:pt x="48" y="33"/>
                      <a:pt x="48" y="33"/>
                      <a:pt x="48" y="33"/>
                    </a:cubicBezTo>
                    <a:cubicBezTo>
                      <a:pt x="48" y="33"/>
                      <a:pt x="48" y="33"/>
                      <a:pt x="48" y="33"/>
                    </a:cubicBezTo>
                    <a:cubicBezTo>
                      <a:pt x="48" y="33"/>
                      <a:pt x="48" y="33"/>
                      <a:pt x="48" y="33"/>
                    </a:cubicBezTo>
                    <a:cubicBezTo>
                      <a:pt x="48" y="34"/>
                      <a:pt x="48" y="34"/>
                      <a:pt x="48" y="34"/>
                    </a:cubicBezTo>
                    <a:cubicBezTo>
                      <a:pt x="49" y="34"/>
                      <a:pt x="49" y="34"/>
                      <a:pt x="49" y="34"/>
                    </a:cubicBezTo>
                    <a:cubicBezTo>
                      <a:pt x="49" y="34"/>
                      <a:pt x="49" y="34"/>
                      <a:pt x="49" y="34"/>
                    </a:cubicBezTo>
                    <a:cubicBezTo>
                      <a:pt x="49" y="34"/>
                      <a:pt x="49" y="34"/>
                      <a:pt x="49" y="34"/>
                    </a:cubicBezTo>
                    <a:cubicBezTo>
                      <a:pt x="49" y="34"/>
                      <a:pt x="49" y="34"/>
                      <a:pt x="49" y="34"/>
                    </a:cubicBezTo>
                    <a:cubicBezTo>
                      <a:pt x="50" y="34"/>
                      <a:pt x="50" y="34"/>
                      <a:pt x="50" y="34"/>
                    </a:cubicBezTo>
                    <a:cubicBezTo>
                      <a:pt x="50" y="35"/>
                      <a:pt x="50" y="35"/>
                      <a:pt x="50" y="35"/>
                    </a:cubicBezTo>
                    <a:cubicBezTo>
                      <a:pt x="50" y="35"/>
                      <a:pt x="50" y="35"/>
                      <a:pt x="50" y="35"/>
                    </a:cubicBezTo>
                    <a:cubicBezTo>
                      <a:pt x="50" y="35"/>
                      <a:pt x="50" y="35"/>
                      <a:pt x="50" y="35"/>
                    </a:cubicBezTo>
                    <a:cubicBezTo>
                      <a:pt x="50" y="35"/>
                      <a:pt x="50" y="35"/>
                      <a:pt x="50" y="35"/>
                    </a:cubicBezTo>
                    <a:cubicBezTo>
                      <a:pt x="51" y="35"/>
                      <a:pt x="51" y="35"/>
                      <a:pt x="51" y="35"/>
                    </a:cubicBezTo>
                    <a:cubicBezTo>
                      <a:pt x="51" y="35"/>
                      <a:pt x="51" y="35"/>
                      <a:pt x="51" y="35"/>
                    </a:cubicBezTo>
                    <a:cubicBezTo>
                      <a:pt x="51" y="35"/>
                      <a:pt x="51" y="35"/>
                      <a:pt x="51" y="35"/>
                    </a:cubicBezTo>
                    <a:cubicBezTo>
                      <a:pt x="51" y="36"/>
                      <a:pt x="51" y="36"/>
                      <a:pt x="51" y="36"/>
                    </a:cubicBezTo>
                    <a:cubicBezTo>
                      <a:pt x="52" y="36"/>
                      <a:pt x="52" y="36"/>
                      <a:pt x="52" y="36"/>
                    </a:cubicBezTo>
                    <a:cubicBezTo>
                      <a:pt x="52" y="36"/>
                      <a:pt x="52" y="36"/>
                      <a:pt x="52" y="36"/>
                    </a:cubicBezTo>
                    <a:cubicBezTo>
                      <a:pt x="52" y="36"/>
                      <a:pt x="52" y="36"/>
                      <a:pt x="52" y="36"/>
                    </a:cubicBezTo>
                    <a:cubicBezTo>
                      <a:pt x="52" y="36"/>
                      <a:pt x="52" y="36"/>
                      <a:pt x="52" y="36"/>
                    </a:cubicBezTo>
                    <a:cubicBezTo>
                      <a:pt x="52" y="36"/>
                      <a:pt x="52" y="36"/>
                      <a:pt x="52" y="36"/>
                    </a:cubicBezTo>
                    <a:cubicBezTo>
                      <a:pt x="53" y="37"/>
                      <a:pt x="53" y="37"/>
                      <a:pt x="53" y="37"/>
                    </a:cubicBezTo>
                    <a:cubicBezTo>
                      <a:pt x="53" y="37"/>
                      <a:pt x="53" y="37"/>
                      <a:pt x="53" y="37"/>
                    </a:cubicBezTo>
                    <a:cubicBezTo>
                      <a:pt x="53" y="37"/>
                      <a:pt x="53" y="37"/>
                      <a:pt x="53" y="37"/>
                    </a:cubicBezTo>
                    <a:cubicBezTo>
                      <a:pt x="62" y="43"/>
                      <a:pt x="62" y="43"/>
                      <a:pt x="62" y="43"/>
                    </a:cubicBezTo>
                    <a:cubicBezTo>
                      <a:pt x="53" y="55"/>
                      <a:pt x="49" y="67"/>
                      <a:pt x="48" y="79"/>
                    </a:cubicBezTo>
                    <a:cubicBezTo>
                      <a:pt x="36" y="84"/>
                      <a:pt x="23" y="88"/>
                      <a:pt x="11" y="93"/>
                    </a:cubicBezTo>
                    <a:cubicBezTo>
                      <a:pt x="9" y="92"/>
                      <a:pt x="8" y="91"/>
                      <a:pt x="7" y="91"/>
                    </a:cubicBezTo>
                    <a:cubicBezTo>
                      <a:pt x="23" y="68"/>
                      <a:pt x="23" y="68"/>
                      <a:pt x="23" y="68"/>
                    </a:cubicBezTo>
                    <a:cubicBezTo>
                      <a:pt x="27" y="69"/>
                      <a:pt x="32" y="68"/>
                      <a:pt x="35" y="64"/>
                    </a:cubicBezTo>
                    <a:cubicBezTo>
                      <a:pt x="38" y="60"/>
                      <a:pt x="37" y="54"/>
                      <a:pt x="32" y="51"/>
                    </a:cubicBezTo>
                    <a:cubicBezTo>
                      <a:pt x="28" y="47"/>
                      <a:pt x="22" y="49"/>
                      <a:pt x="19" y="53"/>
                    </a:cubicBezTo>
                    <a:cubicBezTo>
                      <a:pt x="16" y="57"/>
                      <a:pt x="16" y="62"/>
                      <a:pt x="19" y="65"/>
                    </a:cubicBezTo>
                    <a:cubicBezTo>
                      <a:pt x="3" y="88"/>
                      <a:pt x="3" y="88"/>
                      <a:pt x="3" y="88"/>
                    </a:cubicBezTo>
                    <a:close/>
                    <a:moveTo>
                      <a:pt x="27" y="93"/>
                    </a:moveTo>
                    <a:cubicBezTo>
                      <a:pt x="73" y="93"/>
                      <a:pt x="73" y="93"/>
                      <a:pt x="73" y="93"/>
                    </a:cubicBezTo>
                    <a:cubicBezTo>
                      <a:pt x="73" y="83"/>
                      <a:pt x="73" y="83"/>
                      <a:pt x="73" y="83"/>
                    </a:cubicBezTo>
                    <a:cubicBezTo>
                      <a:pt x="54" y="83"/>
                      <a:pt x="54" y="83"/>
                      <a:pt x="54" y="83"/>
                    </a:cubicBezTo>
                    <a:cubicBezTo>
                      <a:pt x="27" y="93"/>
                      <a:pt x="27" y="93"/>
                      <a:pt x="27" y="93"/>
                    </a:cubicBezTo>
                    <a:close/>
                    <a:moveTo>
                      <a:pt x="69" y="42"/>
                    </a:moveTo>
                    <a:cubicBezTo>
                      <a:pt x="77" y="31"/>
                      <a:pt x="77" y="31"/>
                      <a:pt x="77" y="31"/>
                    </a:cubicBezTo>
                    <a:cubicBezTo>
                      <a:pt x="34" y="0"/>
                      <a:pt x="34" y="0"/>
                      <a:pt x="34" y="0"/>
                    </a:cubicBezTo>
                    <a:cubicBezTo>
                      <a:pt x="26" y="12"/>
                      <a:pt x="26" y="12"/>
                      <a:pt x="26" y="12"/>
                    </a:cubicBezTo>
                    <a:lnTo>
                      <a:pt x="69" y="42"/>
                    </a:lnTo>
                    <a:close/>
                  </a:path>
                </a:pathLst>
              </a:custGeom>
              <a:solidFill>
                <a:schemeClr val="bg1"/>
              </a:solidFill>
              <a:ln>
                <a:noFill/>
              </a:ln>
            </p:spPr>
            <p:txBody>
              <a:bodyPr vert="horz" wrap="square" lIns="96430" tIns="48216" rIns="96430" bIns="48216"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20000"/>
                  </a:lnSpc>
                </a:pPr>
                <a:endParaRPr lang="zh-CN" altLang="en-US" sz="950" dirty="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grpSp>
        <p:sp>
          <p:nvSpPr>
            <p:cNvPr id="40" name="PA-矩形 4"/>
            <p:cNvSpPr>
              <a:spLocks noChangeArrowheads="1"/>
            </p:cNvSpPr>
            <p:nvPr>
              <p:custDataLst>
                <p:tags r:id="rId5"/>
              </p:custDataLst>
            </p:nvPr>
          </p:nvSpPr>
          <p:spPr bwMode="auto">
            <a:xfrm>
              <a:off x="8982112" y="3042897"/>
              <a:ext cx="1418929" cy="2768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b="1" dirty="0">
                  <a:solidFill>
                    <a:schemeClr val="tx1">
                      <a:lumMod val="85000"/>
                      <a:lumOff val="15000"/>
                    </a:schemeClr>
                  </a:solidFill>
                  <a:latin typeface="微软雅黑" panose="020B0503020204020204" pitchFamily="34" charset="-122"/>
                  <a:ea typeface="微软雅黑" panose="020B0503020204020204" pitchFamily="34" charset="-122"/>
                  <a:cs typeface="阿里巴巴普惠体 H" panose="00020600040101010101" pitchFamily="18" charset="-122"/>
                  <a:sym typeface="+mn-lt"/>
                </a:rPr>
                <a:t>预警推送</a:t>
              </a:r>
              <a:endParaRPr lang="zh-CN" altLang="en-US" b="1" dirty="0">
                <a:solidFill>
                  <a:schemeClr val="tx1">
                    <a:lumMod val="85000"/>
                    <a:lumOff val="15000"/>
                  </a:schemeClr>
                </a:solidFill>
                <a:latin typeface="微软雅黑" panose="020B0503020204020204" pitchFamily="34" charset="-122"/>
                <a:ea typeface="微软雅黑" panose="020B0503020204020204" pitchFamily="34" charset="-122"/>
                <a:cs typeface="阿里巴巴普惠体 H" panose="00020600040101010101" pitchFamily="18" charset="-122"/>
                <a:sym typeface="+mn-lt"/>
              </a:endParaRPr>
            </a:p>
          </p:txBody>
        </p:sp>
        <p:sp>
          <p:nvSpPr>
            <p:cNvPr id="45" name="PA-矩形 4"/>
            <p:cNvSpPr>
              <a:spLocks noChangeArrowheads="1"/>
            </p:cNvSpPr>
            <p:nvPr>
              <p:custDataLst>
                <p:tags r:id="rId6"/>
              </p:custDataLst>
            </p:nvPr>
          </p:nvSpPr>
          <p:spPr bwMode="auto">
            <a:xfrm>
              <a:off x="8404124" y="3648598"/>
              <a:ext cx="2531268" cy="9690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pPr>
              <a:r>
                <a:rPr lang="zh-CN" altLang="en-US" sz="1400" dirty="0">
                  <a:solidFill>
                    <a:schemeClr val="tx1">
                      <a:lumMod val="65000"/>
                      <a:lumOff val="35000"/>
                    </a:schemeClr>
                  </a:solidFill>
                  <a:latin typeface="微软雅黑" panose="020B0503020204020204" pitchFamily="34" charset="-122"/>
                  <a:ea typeface="微软雅黑" panose="020B0503020204020204" pitchFamily="34" charset="-122"/>
                  <a:cs typeface="OPPOSans M" panose="00020600040101010101" pitchFamily="18" charset="-122"/>
                  <a:sym typeface="+mn-lt"/>
                </a:rPr>
                <a:t>通过 </a:t>
              </a:r>
              <a:r>
                <a:rPr lang="en-US" altLang="zh-CN" sz="1400" dirty="0">
                  <a:solidFill>
                    <a:schemeClr val="tx1">
                      <a:lumMod val="65000"/>
                      <a:lumOff val="35000"/>
                    </a:schemeClr>
                  </a:solidFill>
                  <a:latin typeface="微软雅黑" panose="020B0503020204020204" pitchFamily="34" charset="-122"/>
                  <a:ea typeface="微软雅黑" panose="020B0503020204020204" pitchFamily="34" charset="-122"/>
                  <a:cs typeface="OPPOSans M" panose="00020600040101010101" pitchFamily="18" charset="-122"/>
                  <a:sym typeface="+mn-lt"/>
                </a:rPr>
                <a:t>WebSocket </a:t>
              </a:r>
              <a:r>
                <a:rPr lang="zh-CN" altLang="en-US" sz="1400" dirty="0">
                  <a:solidFill>
                    <a:schemeClr val="tx1">
                      <a:lumMod val="65000"/>
                      <a:lumOff val="35000"/>
                    </a:schemeClr>
                  </a:solidFill>
                  <a:latin typeface="微软雅黑" panose="020B0503020204020204" pitchFamily="34" charset="-122"/>
                  <a:ea typeface="微软雅黑" panose="020B0503020204020204" pitchFamily="34" charset="-122"/>
                  <a:cs typeface="OPPOSans M" panose="00020600040101010101" pitchFamily="18" charset="-122"/>
                  <a:sym typeface="+mn-lt"/>
                </a:rPr>
                <a:t>实现异常状态（水温过高、</a:t>
              </a:r>
              <a:r>
                <a:rPr lang="en-US" altLang="zh-CN" sz="1400" dirty="0">
                  <a:solidFill>
                    <a:schemeClr val="tx1">
                      <a:lumMod val="65000"/>
                      <a:lumOff val="35000"/>
                    </a:schemeClr>
                  </a:solidFill>
                  <a:latin typeface="微软雅黑" panose="020B0503020204020204" pitchFamily="34" charset="-122"/>
                  <a:ea typeface="微软雅黑" panose="020B0503020204020204" pitchFamily="34" charset="-122"/>
                  <a:cs typeface="OPPOSans M" panose="00020600040101010101" pitchFamily="18" charset="-122"/>
                  <a:sym typeface="+mn-lt"/>
                </a:rPr>
                <a:t>pH </a:t>
              </a:r>
              <a:r>
                <a:rPr lang="zh-CN" altLang="en-US" sz="1400" dirty="0">
                  <a:solidFill>
                    <a:schemeClr val="tx1">
                      <a:lumMod val="65000"/>
                      <a:lumOff val="35000"/>
                    </a:schemeClr>
                  </a:solidFill>
                  <a:latin typeface="微软雅黑" panose="020B0503020204020204" pitchFamily="34" charset="-122"/>
                  <a:ea typeface="微软雅黑" panose="020B0503020204020204" pitchFamily="34" charset="-122"/>
                  <a:cs typeface="OPPOSans M" panose="00020600040101010101" pitchFamily="18" charset="-122"/>
                  <a:sym typeface="+mn-lt"/>
                </a:rPr>
                <a:t>骤变）的毫秒级报警推送。</a:t>
              </a:r>
              <a:endParaRPr lang="zh-CN" altLang="en-US" sz="1400" dirty="0">
                <a:solidFill>
                  <a:schemeClr val="tx1">
                    <a:lumMod val="65000"/>
                    <a:lumOff val="35000"/>
                  </a:schemeClr>
                </a:solidFill>
                <a:latin typeface="微软雅黑" panose="020B0503020204020204" pitchFamily="34" charset="-122"/>
                <a:ea typeface="微软雅黑" panose="020B0503020204020204" pitchFamily="34" charset="-122"/>
                <a:cs typeface="OPPOSans M" panose="00020600040101010101" pitchFamily="18" charset="-122"/>
                <a:sym typeface="+mn-lt"/>
              </a:endParaRPr>
            </a:p>
          </p:txBody>
        </p:sp>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1000"/>
                                        <p:tgtEl>
                                          <p:spTgt spid="4"/>
                                        </p:tgtEl>
                                      </p:cBhvr>
                                    </p:animEffect>
                                    <p:anim calcmode="lin" valueType="num">
                                      <p:cBhvr>
                                        <p:cTn id="15" dur="1000" fill="hold"/>
                                        <p:tgtEl>
                                          <p:spTgt spid="4"/>
                                        </p:tgtEl>
                                        <p:attrNameLst>
                                          <p:attrName>ppt_x</p:attrName>
                                        </p:attrNameLst>
                                      </p:cBhvr>
                                      <p:tavLst>
                                        <p:tav tm="0">
                                          <p:val>
                                            <p:strVal val="#ppt_x"/>
                                          </p:val>
                                        </p:tav>
                                        <p:tav tm="100000">
                                          <p:val>
                                            <p:strVal val="#ppt_x"/>
                                          </p:val>
                                        </p:tav>
                                      </p:tavLst>
                                    </p:anim>
                                    <p:anim calcmode="lin" valueType="num">
                                      <p:cBhvr>
                                        <p:cTn id="16"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7" name="剪去单角的矩形 226"/>
          <p:cNvSpPr/>
          <p:nvPr/>
        </p:nvSpPr>
        <p:spPr>
          <a:xfrm rot="16200000">
            <a:off x="4702439" y="-631561"/>
            <a:ext cx="6858000" cy="8121122"/>
          </a:xfrm>
          <a:prstGeom prst="snip1Rect">
            <a:avLst>
              <a:gd name="adj" fmla="val 50000"/>
            </a:avLst>
          </a:prstGeom>
          <a:solidFill>
            <a:srgbClr val="004C9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7" name="组合 6"/>
          <p:cNvGrpSpPr/>
          <p:nvPr/>
        </p:nvGrpSpPr>
        <p:grpSpPr>
          <a:xfrm>
            <a:off x="490537" y="472440"/>
            <a:ext cx="11210925" cy="6019800"/>
            <a:chOff x="490484" y="441960"/>
            <a:chExt cx="11211033" cy="6019801"/>
          </a:xfrm>
        </p:grpSpPr>
        <p:pic>
          <p:nvPicPr>
            <p:cNvPr id="8" name="图片 7"/>
            <p:cNvPicPr>
              <a:picLocks noChangeAspect="1"/>
            </p:cNvPicPr>
            <p:nvPr userDrawn="1"/>
          </p:nvPicPr>
          <p:blipFill rotWithShape="1">
            <a:blip r:embed="rId1">
              <a:extLst>
                <a:ext uri="{28A0092B-C50C-407E-A947-70E740481C1C}">
                  <a14:useLocalDpi xmlns:a14="http://schemas.microsoft.com/office/drawing/2010/main" val="0"/>
                </a:ext>
              </a:extLst>
            </a:blip>
            <a:srcRect l="1515" t="4277" r="530" b="14319"/>
            <a:stretch>
              <a:fillRect/>
            </a:stretch>
          </p:blipFill>
          <p:spPr>
            <a:xfrm>
              <a:off x="490484" y="441960"/>
              <a:ext cx="11211033" cy="6019801"/>
            </a:xfrm>
            <a:prstGeom prst="rect">
              <a:avLst/>
            </a:prstGeom>
            <a:effectLst>
              <a:outerShdw blurRad="355600" dist="139700" dir="2700000" algn="tl" rotWithShape="0">
                <a:prstClr val="black">
                  <a:alpha val="61000"/>
                </a:prstClr>
              </a:outerShdw>
            </a:effectLst>
          </p:spPr>
        </p:pic>
        <p:sp>
          <p:nvSpPr>
            <p:cNvPr id="9" name="矩形 8"/>
            <p:cNvSpPr/>
            <p:nvPr/>
          </p:nvSpPr>
          <p:spPr>
            <a:xfrm>
              <a:off x="490484" y="441960"/>
              <a:ext cx="11211032" cy="6019801"/>
            </a:xfrm>
            <a:prstGeom prst="rect">
              <a:avLst/>
            </a:prstGeom>
            <a:solidFill>
              <a:srgbClr val="FFFEF7">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400" b="1" dirty="0">
                <a:solidFill>
                  <a:srgbClr val="004C9E"/>
                </a:solidFill>
                <a:latin typeface="微软雅黑" panose="020B0503020204020204" pitchFamily="34" charset="-122"/>
                <a:ea typeface="微软雅黑" panose="020B0503020204020204" pitchFamily="34" charset="-122"/>
              </a:endParaRPr>
            </a:p>
          </p:txBody>
        </p:sp>
      </p:grpSp>
      <p:sp>
        <p:nvSpPr>
          <p:cNvPr id="10" name="文本框 9"/>
          <p:cNvSpPr txBox="1"/>
          <p:nvPr/>
        </p:nvSpPr>
        <p:spPr>
          <a:xfrm>
            <a:off x="394507" y="553085"/>
            <a:ext cx="2001520" cy="398780"/>
          </a:xfrm>
          <a:prstGeom prst="rect">
            <a:avLst/>
          </a:prstGeom>
          <a:noFill/>
        </p:spPr>
        <p:txBody>
          <a:bodyPr wrap="square" rtlCol="0">
            <a:spAutoFit/>
          </a:bodyPr>
          <a:lstStyle/>
          <a:p>
            <a:pPr algn="ctr"/>
            <a:r>
              <a:rPr lang="zh-CN" altLang="en-US" sz="2000" b="1" dirty="0">
                <a:solidFill>
                  <a:srgbClr val="A6A6A6"/>
                </a:solidFill>
                <a:latin typeface="微软雅黑" panose="020B0503020204020204" pitchFamily="34" charset="-122"/>
                <a:ea typeface="微软雅黑" panose="020B0503020204020204" pitchFamily="34" charset="-122"/>
              </a:rPr>
              <a:t>立项背景及意义</a:t>
            </a:r>
            <a:endParaRPr lang="zh-CN" altLang="en-US" sz="2000" b="1" dirty="0">
              <a:solidFill>
                <a:srgbClr val="A6A6A6"/>
              </a:solidFill>
              <a:latin typeface="微软雅黑" panose="020B0503020204020204" pitchFamily="34" charset="-122"/>
              <a:ea typeface="微软雅黑" panose="020B0503020204020204" pitchFamily="34" charset="-122"/>
            </a:endParaRPr>
          </a:p>
        </p:txBody>
      </p:sp>
      <p:cxnSp>
        <p:nvCxnSpPr>
          <p:cNvPr id="43" name="直接连接符 42"/>
          <p:cNvCxnSpPr/>
          <p:nvPr/>
        </p:nvCxnSpPr>
        <p:spPr>
          <a:xfrm>
            <a:off x="899088" y="6096082"/>
            <a:ext cx="9058311" cy="4300"/>
          </a:xfrm>
          <a:prstGeom prst="line">
            <a:avLst/>
          </a:prstGeom>
        </p:spPr>
        <p:style>
          <a:lnRef idx="1">
            <a:schemeClr val="accent1"/>
          </a:lnRef>
          <a:fillRef idx="0">
            <a:schemeClr val="accent1"/>
          </a:fillRef>
          <a:effectRef idx="0">
            <a:schemeClr val="accent1"/>
          </a:effectRef>
          <a:fontRef idx="minor">
            <a:schemeClr val="tx1"/>
          </a:fontRef>
        </p:style>
      </p:cxnSp>
      <p:sp>
        <p:nvSpPr>
          <p:cNvPr id="14" name="文本框 13"/>
          <p:cNvSpPr txBox="1"/>
          <p:nvPr/>
        </p:nvSpPr>
        <p:spPr>
          <a:xfrm>
            <a:off x="2445681" y="553085"/>
            <a:ext cx="2001520" cy="398780"/>
          </a:xfrm>
          <a:prstGeom prst="rect">
            <a:avLst/>
          </a:prstGeom>
          <a:noFill/>
        </p:spPr>
        <p:txBody>
          <a:bodyPr wrap="square" rtlCol="0">
            <a:spAutoFit/>
          </a:bodyPr>
          <a:lstStyle/>
          <a:p>
            <a:pPr algn="ctr"/>
            <a:r>
              <a:rPr lang="zh-CN" altLang="en-US" sz="2000" b="1" dirty="0">
                <a:solidFill>
                  <a:schemeClr val="bg1">
                    <a:lumMod val="65000"/>
                  </a:schemeClr>
                </a:solidFill>
                <a:latin typeface="微软雅黑" panose="020B0503020204020204" pitchFamily="34" charset="-122"/>
                <a:ea typeface="微软雅黑" panose="020B0503020204020204" pitchFamily="34" charset="-122"/>
              </a:rPr>
              <a:t>研究内容</a:t>
            </a:r>
            <a:endParaRPr lang="zh-CN" altLang="en-US" sz="2000" b="1" dirty="0">
              <a:solidFill>
                <a:schemeClr val="bg1">
                  <a:lumMod val="65000"/>
                </a:schemeClr>
              </a:solidFill>
              <a:latin typeface="微软雅黑" panose="020B0503020204020204" pitchFamily="34" charset="-122"/>
              <a:ea typeface="微软雅黑" panose="020B0503020204020204" pitchFamily="34" charset="-122"/>
            </a:endParaRPr>
          </a:p>
        </p:txBody>
      </p:sp>
      <p:sp>
        <p:nvSpPr>
          <p:cNvPr id="15" name="文本框 14"/>
          <p:cNvSpPr txBox="1"/>
          <p:nvPr/>
        </p:nvSpPr>
        <p:spPr>
          <a:xfrm>
            <a:off x="4543231" y="553085"/>
            <a:ext cx="2001520" cy="398780"/>
          </a:xfrm>
          <a:prstGeom prst="rect">
            <a:avLst/>
          </a:prstGeom>
          <a:noFill/>
        </p:spPr>
        <p:txBody>
          <a:bodyPr wrap="square" rtlCol="0">
            <a:spAutoFit/>
          </a:bodyPr>
          <a:lstStyle/>
          <a:p>
            <a:pPr algn="ctr"/>
            <a:r>
              <a:rPr lang="zh-CN" altLang="en-US" sz="2000" b="1" dirty="0">
                <a:solidFill>
                  <a:srgbClr val="004C9E"/>
                </a:solidFill>
                <a:latin typeface="微软雅黑" panose="020B0503020204020204" pitchFamily="34" charset="-122"/>
                <a:ea typeface="微软雅黑" panose="020B0503020204020204" pitchFamily="34" charset="-122"/>
              </a:rPr>
              <a:t>拟采用技术路线</a:t>
            </a:r>
            <a:endParaRPr lang="zh-CN" altLang="en-US" sz="2000" b="1" dirty="0">
              <a:solidFill>
                <a:srgbClr val="004C9E"/>
              </a:solidFill>
              <a:latin typeface="微软雅黑" panose="020B0503020204020204" pitchFamily="34" charset="-122"/>
              <a:ea typeface="微软雅黑" panose="020B0503020204020204" pitchFamily="34" charset="-122"/>
            </a:endParaRPr>
          </a:p>
        </p:txBody>
      </p:sp>
      <p:sp>
        <p:nvSpPr>
          <p:cNvPr id="16" name="文本框 15"/>
          <p:cNvSpPr txBox="1"/>
          <p:nvPr/>
        </p:nvSpPr>
        <p:spPr>
          <a:xfrm>
            <a:off x="6485324" y="553085"/>
            <a:ext cx="2755901" cy="398780"/>
          </a:xfrm>
          <a:prstGeom prst="rect">
            <a:avLst/>
          </a:prstGeom>
          <a:noFill/>
        </p:spPr>
        <p:txBody>
          <a:bodyPr wrap="square" rtlCol="0">
            <a:spAutoFit/>
          </a:bodyPr>
          <a:lstStyle/>
          <a:p>
            <a:pPr algn="ctr"/>
            <a:r>
              <a:rPr lang="zh-CN" altLang="en-US" sz="2000" b="1" dirty="0">
                <a:solidFill>
                  <a:schemeClr val="bg1">
                    <a:lumMod val="65000"/>
                  </a:schemeClr>
                </a:solidFill>
                <a:latin typeface="微软雅黑" panose="020B0503020204020204" pitchFamily="34" charset="-122"/>
                <a:ea typeface="微软雅黑" panose="020B0503020204020204" pitchFamily="34" charset="-122"/>
              </a:rPr>
              <a:t>创新与特点</a:t>
            </a:r>
            <a:endParaRPr lang="zh-CN" altLang="en-US" sz="2000" b="1" dirty="0">
              <a:solidFill>
                <a:schemeClr val="bg1">
                  <a:lumMod val="65000"/>
                </a:schemeClr>
              </a:solidFill>
              <a:latin typeface="微软雅黑" panose="020B0503020204020204" pitchFamily="34" charset="-122"/>
              <a:ea typeface="微软雅黑" panose="020B0503020204020204" pitchFamily="34" charset="-122"/>
            </a:endParaRPr>
          </a:p>
        </p:txBody>
      </p:sp>
      <p:sp>
        <p:nvSpPr>
          <p:cNvPr id="17" name="文本框 16"/>
          <p:cNvSpPr txBox="1"/>
          <p:nvPr/>
        </p:nvSpPr>
        <p:spPr>
          <a:xfrm>
            <a:off x="9102720" y="553085"/>
            <a:ext cx="2755901" cy="398780"/>
          </a:xfrm>
          <a:prstGeom prst="rect">
            <a:avLst/>
          </a:prstGeom>
          <a:noFill/>
        </p:spPr>
        <p:txBody>
          <a:bodyPr wrap="square" rtlCol="0">
            <a:spAutoFit/>
          </a:bodyPr>
          <a:lstStyle/>
          <a:p>
            <a:pPr algn="ctr"/>
            <a:r>
              <a:rPr lang="zh-CN" altLang="en-US" sz="2000" b="1" dirty="0">
                <a:solidFill>
                  <a:schemeClr val="bg1">
                    <a:lumMod val="65000"/>
                  </a:schemeClr>
                </a:solidFill>
                <a:latin typeface="微软雅黑" panose="020B0503020204020204" pitchFamily="34" charset="-122"/>
                <a:ea typeface="微软雅黑" panose="020B0503020204020204" pitchFamily="34" charset="-122"/>
              </a:rPr>
              <a:t>时间安排计划</a:t>
            </a:r>
            <a:endParaRPr lang="zh-CN" altLang="en-US" sz="2000" b="1" dirty="0">
              <a:solidFill>
                <a:schemeClr val="bg1">
                  <a:lumMod val="65000"/>
                </a:schemeClr>
              </a:solidFill>
              <a:latin typeface="微软雅黑" panose="020B0503020204020204" pitchFamily="34" charset="-122"/>
              <a:ea typeface="微软雅黑" panose="020B0503020204020204" pitchFamily="34" charset="-122"/>
            </a:endParaRPr>
          </a:p>
        </p:txBody>
      </p:sp>
      <p:sp>
        <p:nvSpPr>
          <p:cNvPr id="18" name="等腰三角形 17"/>
          <p:cNvSpPr/>
          <p:nvPr/>
        </p:nvSpPr>
        <p:spPr>
          <a:xfrm rot="5400000">
            <a:off x="4433618" y="669975"/>
            <a:ext cx="192943" cy="166330"/>
          </a:xfrm>
          <a:prstGeom prst="triangle">
            <a:avLst/>
          </a:prstGeom>
          <a:solidFill>
            <a:srgbClr val="004C9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nvSpPr>
        <p:spPr>
          <a:xfrm>
            <a:off x="919480" y="6113780"/>
            <a:ext cx="2541905" cy="275590"/>
          </a:xfrm>
          <a:prstGeom prst="rect">
            <a:avLst/>
          </a:prstGeom>
          <a:noFill/>
        </p:spPr>
        <p:txBody>
          <a:bodyPr wrap="square" rtlCol="0">
            <a:spAutoFit/>
          </a:bodyPr>
          <a:lstStyle/>
          <a:p>
            <a:r>
              <a:rPr lang="zh-CN" altLang="en-US" sz="1200" b="1">
                <a:solidFill>
                  <a:srgbClr val="004C9E"/>
                </a:solidFill>
                <a:latin typeface="微软雅黑" panose="020B0503020204020204" pitchFamily="34" charset="-122"/>
                <a:ea typeface="微软雅黑" panose="020B0503020204020204" pitchFamily="34" charset="-122"/>
                <a:cs typeface="微软雅黑" panose="020B0503020204020204" pitchFamily="34" charset="-122"/>
              </a:rPr>
              <a:t>耐劳苦</a:t>
            </a:r>
            <a:r>
              <a:rPr lang="en-US" altLang="zh-CN" sz="1200" b="1">
                <a:solidFill>
                  <a:srgbClr val="004C9E"/>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200" b="1">
                <a:solidFill>
                  <a:srgbClr val="004C9E"/>
                </a:solidFill>
                <a:latin typeface="微软雅黑" panose="020B0503020204020204" pitchFamily="34" charset="-122"/>
                <a:ea typeface="微软雅黑" panose="020B0503020204020204" pitchFamily="34" charset="-122"/>
                <a:cs typeface="微软雅黑" panose="020B0503020204020204" pitchFamily="34" charset="-122"/>
              </a:rPr>
              <a:t>尚俭朴</a:t>
            </a:r>
            <a:r>
              <a:rPr lang="en-US" altLang="zh-CN" sz="1200" b="1">
                <a:solidFill>
                  <a:srgbClr val="004C9E"/>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200" b="1">
                <a:solidFill>
                  <a:srgbClr val="004C9E"/>
                </a:solidFill>
                <a:latin typeface="微软雅黑" panose="020B0503020204020204" pitchFamily="34" charset="-122"/>
                <a:ea typeface="微软雅黑" panose="020B0503020204020204" pitchFamily="34" charset="-122"/>
                <a:cs typeface="微软雅黑" panose="020B0503020204020204" pitchFamily="34" charset="-122"/>
              </a:rPr>
              <a:t>勤学业</a:t>
            </a:r>
            <a:r>
              <a:rPr lang="en-US" altLang="zh-CN" sz="1200" b="1">
                <a:solidFill>
                  <a:srgbClr val="004C9E"/>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200" b="1">
                <a:solidFill>
                  <a:srgbClr val="004C9E"/>
                </a:solidFill>
                <a:latin typeface="微软雅黑" panose="020B0503020204020204" pitchFamily="34" charset="-122"/>
                <a:ea typeface="微软雅黑" panose="020B0503020204020204" pitchFamily="34" charset="-122"/>
                <a:cs typeface="微软雅黑" panose="020B0503020204020204" pitchFamily="34" charset="-122"/>
              </a:rPr>
              <a:t>爱国家</a:t>
            </a:r>
            <a:endParaRPr lang="zh-CN" altLang="en-US" sz="1200" b="1">
              <a:solidFill>
                <a:srgbClr val="004C9E"/>
              </a:solidFill>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11" name="图片 10" descr="校徽"/>
          <p:cNvPicPr>
            <a:picLocks noChangeAspect="1"/>
          </p:cNvPicPr>
          <p:nvPr/>
        </p:nvPicPr>
        <p:blipFill>
          <a:blip r:embed="rId2"/>
          <a:stretch>
            <a:fillRect/>
          </a:stretch>
        </p:blipFill>
        <p:spPr>
          <a:xfrm>
            <a:off x="10127615" y="5844540"/>
            <a:ext cx="1259840" cy="397510"/>
          </a:xfrm>
          <a:prstGeom prst="rect">
            <a:avLst/>
          </a:prstGeom>
        </p:spPr>
      </p:pic>
      <p:sp>
        <p:nvSpPr>
          <p:cNvPr id="3" name="文本框 2"/>
          <p:cNvSpPr txBox="1"/>
          <p:nvPr/>
        </p:nvSpPr>
        <p:spPr>
          <a:xfrm>
            <a:off x="970280" y="1224915"/>
            <a:ext cx="3147060" cy="398780"/>
          </a:xfrm>
          <a:prstGeom prst="rect">
            <a:avLst/>
          </a:prstGeom>
          <a:noFill/>
        </p:spPr>
        <p:txBody>
          <a:bodyPr wrap="square" rtlCol="0">
            <a:spAutoFit/>
          </a:bodyPr>
          <a:lstStyle/>
          <a:p>
            <a:r>
              <a:rPr lang="zh-CN" altLang="en-US" sz="2000" b="1"/>
              <a:t>可行性分析</a:t>
            </a:r>
            <a:r>
              <a:rPr lang="en-US" altLang="zh-CN" sz="2000" b="1"/>
              <a:t>--</a:t>
            </a:r>
            <a:r>
              <a:rPr lang="zh-CN" altLang="en-US" sz="2000" b="1"/>
              <a:t>技术可行性</a:t>
            </a:r>
            <a:endParaRPr lang="zh-CN" altLang="en-US" sz="2000" b="1"/>
          </a:p>
        </p:txBody>
      </p:sp>
      <p:grpSp>
        <p:nvGrpSpPr>
          <p:cNvPr id="4" name="组合 3"/>
          <p:cNvGrpSpPr/>
          <p:nvPr>
            <p:custDataLst>
              <p:tags r:id="rId3"/>
            </p:custDataLst>
          </p:nvPr>
        </p:nvGrpSpPr>
        <p:grpSpPr>
          <a:xfrm>
            <a:off x="2959379" y="1539490"/>
            <a:ext cx="7924672" cy="1064826"/>
            <a:chOff x="2959379" y="1539490"/>
            <a:chExt cx="7924672" cy="1064826"/>
          </a:xfrm>
        </p:grpSpPr>
        <p:sp>
          <p:nvSpPr>
            <p:cNvPr id="42" name="PA-任意多边形 10"/>
            <p:cNvSpPr/>
            <p:nvPr>
              <p:custDataLst>
                <p:tags r:id="rId4"/>
              </p:custDataLst>
            </p:nvPr>
          </p:nvSpPr>
          <p:spPr>
            <a:xfrm>
              <a:off x="4127907" y="1539490"/>
              <a:ext cx="6756144" cy="1064826"/>
            </a:xfrm>
            <a:custGeom>
              <a:avLst/>
              <a:gdLst>
                <a:gd name="connsiteX0" fmla="*/ 377357 w 5739194"/>
                <a:gd name="connsiteY0" fmla="*/ 0 h 904546"/>
                <a:gd name="connsiteX1" fmla="*/ 5484456 w 5739194"/>
                <a:gd name="connsiteY1" fmla="*/ 0 h 904546"/>
                <a:gd name="connsiteX2" fmla="*/ 5739194 w 5739194"/>
                <a:gd name="connsiteY2" fmla="*/ 254738 h 904546"/>
                <a:gd name="connsiteX3" fmla="*/ 5739194 w 5739194"/>
                <a:gd name="connsiteY3" fmla="*/ 649808 h 904546"/>
                <a:gd name="connsiteX4" fmla="*/ 5484456 w 5739194"/>
                <a:gd name="connsiteY4" fmla="*/ 904546 h 904546"/>
                <a:gd name="connsiteX5" fmla="*/ 377357 w 5739194"/>
                <a:gd name="connsiteY5" fmla="*/ 904546 h 904546"/>
                <a:gd name="connsiteX6" fmla="*/ 122619 w 5739194"/>
                <a:gd name="connsiteY6" fmla="*/ 649808 h 904546"/>
                <a:gd name="connsiteX7" fmla="*/ 122619 w 5739194"/>
                <a:gd name="connsiteY7" fmla="*/ 523392 h 904546"/>
                <a:gd name="connsiteX8" fmla="*/ 0 w 5739194"/>
                <a:gd name="connsiteY8" fmla="*/ 452272 h 904546"/>
                <a:gd name="connsiteX9" fmla="*/ 122619 w 5739194"/>
                <a:gd name="connsiteY9" fmla="*/ 381153 h 904546"/>
                <a:gd name="connsiteX10" fmla="*/ 122619 w 5739194"/>
                <a:gd name="connsiteY10" fmla="*/ 254738 h 904546"/>
                <a:gd name="connsiteX11" fmla="*/ 377357 w 5739194"/>
                <a:gd name="connsiteY11" fmla="*/ 0 h 9045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739194" h="904546">
                  <a:moveTo>
                    <a:pt x="377357" y="0"/>
                  </a:moveTo>
                  <a:lnTo>
                    <a:pt x="5484456" y="0"/>
                  </a:lnTo>
                  <a:cubicBezTo>
                    <a:pt x="5625144" y="0"/>
                    <a:pt x="5739194" y="114050"/>
                    <a:pt x="5739194" y="254738"/>
                  </a:cubicBezTo>
                  <a:lnTo>
                    <a:pt x="5739194" y="649808"/>
                  </a:lnTo>
                  <a:cubicBezTo>
                    <a:pt x="5739194" y="790496"/>
                    <a:pt x="5625144" y="904546"/>
                    <a:pt x="5484456" y="904546"/>
                  </a:cubicBezTo>
                  <a:lnTo>
                    <a:pt x="377357" y="904546"/>
                  </a:lnTo>
                  <a:cubicBezTo>
                    <a:pt x="236669" y="904546"/>
                    <a:pt x="122619" y="790496"/>
                    <a:pt x="122619" y="649808"/>
                  </a:cubicBezTo>
                  <a:lnTo>
                    <a:pt x="122619" y="523392"/>
                  </a:lnTo>
                  <a:lnTo>
                    <a:pt x="0" y="452272"/>
                  </a:lnTo>
                  <a:lnTo>
                    <a:pt x="122619" y="381153"/>
                  </a:lnTo>
                  <a:lnTo>
                    <a:pt x="122619" y="254738"/>
                  </a:lnTo>
                  <a:cubicBezTo>
                    <a:pt x="122619" y="114050"/>
                    <a:pt x="236669" y="0"/>
                    <a:pt x="377357" y="0"/>
                  </a:cubicBezTo>
                  <a:close/>
                </a:path>
              </a:pathLst>
            </a:custGeom>
            <a:solidFill>
              <a:srgbClr val="004C9E"/>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latin typeface="微软雅黑" panose="020B0503020204020204" pitchFamily="34" charset="-122"/>
                <a:ea typeface="微软雅黑" panose="020B0503020204020204" pitchFamily="34" charset="-122"/>
              </a:endParaRPr>
            </a:p>
          </p:txBody>
        </p:sp>
        <p:sp>
          <p:nvSpPr>
            <p:cNvPr id="46" name="PA-矩形 4"/>
            <p:cNvSpPr>
              <a:spLocks noChangeArrowheads="1"/>
            </p:cNvSpPr>
            <p:nvPr>
              <p:custDataLst>
                <p:tags r:id="rId5"/>
              </p:custDataLst>
            </p:nvPr>
          </p:nvSpPr>
          <p:spPr bwMode="auto">
            <a:xfrm>
              <a:off x="4389855" y="1917730"/>
              <a:ext cx="2835791" cy="307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000" b="1" dirty="0">
                  <a:solidFill>
                    <a:schemeClr val="bg1"/>
                  </a:solidFill>
                  <a:latin typeface="微软雅黑" panose="020B0503020204020204" pitchFamily="34" charset="-122"/>
                  <a:ea typeface="微软雅黑" panose="020B0503020204020204" pitchFamily="34" charset="-122"/>
                  <a:cs typeface="阿里巴巴普惠体 H" panose="00020600040101010101" pitchFamily="18" charset="-122"/>
                  <a:sym typeface="+mn-lt"/>
                </a:rPr>
                <a:t>硬件采集端</a:t>
              </a:r>
              <a:endParaRPr lang="zh-CN" altLang="en-US" sz="2000" b="1" dirty="0">
                <a:solidFill>
                  <a:schemeClr val="bg1"/>
                </a:solidFill>
                <a:latin typeface="微软雅黑" panose="020B0503020204020204" pitchFamily="34" charset="-122"/>
                <a:ea typeface="微软雅黑" panose="020B0503020204020204" pitchFamily="34" charset="-122"/>
                <a:cs typeface="阿里巴巴普惠体 H" panose="00020600040101010101" pitchFamily="18" charset="-122"/>
                <a:sym typeface="+mn-lt"/>
              </a:endParaRPr>
            </a:p>
          </p:txBody>
        </p:sp>
        <p:sp>
          <p:nvSpPr>
            <p:cNvPr id="47" name="PA-矩形 4"/>
            <p:cNvSpPr>
              <a:spLocks noChangeArrowheads="1"/>
            </p:cNvSpPr>
            <p:nvPr>
              <p:custDataLst>
                <p:tags r:id="rId6"/>
              </p:custDataLst>
            </p:nvPr>
          </p:nvSpPr>
          <p:spPr bwMode="auto">
            <a:xfrm>
              <a:off x="5851625" y="1556962"/>
              <a:ext cx="4829354" cy="9690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pPr>
              <a:r>
                <a:rPr lang="en-US" altLang="zh-CN" sz="1400" dirty="0">
                  <a:solidFill>
                    <a:schemeClr val="bg1"/>
                  </a:solidFill>
                  <a:latin typeface="微软雅黑" panose="020B0503020204020204" pitchFamily="34" charset="-122"/>
                  <a:ea typeface="微软雅黑" panose="020B0503020204020204" pitchFamily="34" charset="-122"/>
                  <a:cs typeface="OPPOSans M" panose="00020600040101010101" pitchFamily="18" charset="-122"/>
                  <a:sym typeface="+mn-lt"/>
                </a:rPr>
                <a:t>ESP32-CAM </a:t>
              </a:r>
              <a:r>
                <a:rPr lang="zh-CN" altLang="en-US" sz="1400" dirty="0">
                  <a:solidFill>
                    <a:schemeClr val="bg1"/>
                  </a:solidFill>
                  <a:latin typeface="微软雅黑" panose="020B0503020204020204" pitchFamily="34" charset="-122"/>
                  <a:ea typeface="微软雅黑" panose="020B0503020204020204" pitchFamily="34" charset="-122"/>
                  <a:cs typeface="OPPOSans M" panose="00020600040101010101" pitchFamily="18" charset="-122"/>
                  <a:sym typeface="+mn-lt"/>
                </a:rPr>
                <a:t>是一款成熟的开源硬件，拥有完善的 </a:t>
              </a:r>
              <a:r>
                <a:rPr lang="en-US" altLang="zh-CN" sz="1400" dirty="0">
                  <a:solidFill>
                    <a:schemeClr val="bg1"/>
                  </a:solidFill>
                  <a:latin typeface="微软雅黑" panose="020B0503020204020204" pitchFamily="34" charset="-122"/>
                  <a:ea typeface="微软雅黑" panose="020B0503020204020204" pitchFamily="34" charset="-122"/>
                  <a:cs typeface="OPPOSans M" panose="00020600040101010101" pitchFamily="18" charset="-122"/>
                  <a:sym typeface="+mn-lt"/>
                </a:rPr>
                <a:t>Arduino </a:t>
              </a:r>
              <a:r>
                <a:rPr lang="zh-CN" altLang="en-US" sz="1400" dirty="0">
                  <a:solidFill>
                    <a:schemeClr val="bg1"/>
                  </a:solidFill>
                  <a:latin typeface="微软雅黑" panose="020B0503020204020204" pitchFamily="34" charset="-122"/>
                  <a:ea typeface="微软雅黑" panose="020B0503020204020204" pitchFamily="34" charset="-122"/>
                  <a:cs typeface="OPPOSans M" panose="00020600040101010101" pitchFamily="18" charset="-122"/>
                  <a:sym typeface="+mn-lt"/>
                </a:rPr>
                <a:t>及 </a:t>
              </a:r>
              <a:r>
                <a:rPr lang="en-US" altLang="zh-CN" sz="1400" dirty="0">
                  <a:solidFill>
                    <a:schemeClr val="bg1"/>
                  </a:solidFill>
                  <a:latin typeface="微软雅黑" panose="020B0503020204020204" pitchFamily="34" charset="-122"/>
                  <a:ea typeface="微软雅黑" panose="020B0503020204020204" pitchFamily="34" charset="-122"/>
                  <a:cs typeface="OPPOSans M" panose="00020600040101010101" pitchFamily="18" charset="-122"/>
                  <a:sym typeface="+mn-lt"/>
                </a:rPr>
                <a:t>ESP-IDF </a:t>
              </a:r>
              <a:r>
                <a:rPr lang="zh-CN" altLang="en-US" sz="1400" dirty="0">
                  <a:solidFill>
                    <a:schemeClr val="bg1"/>
                  </a:solidFill>
                  <a:latin typeface="微软雅黑" panose="020B0503020204020204" pitchFamily="34" charset="-122"/>
                  <a:ea typeface="微软雅黑" panose="020B0503020204020204" pitchFamily="34" charset="-122"/>
                  <a:cs typeface="OPPOSans M" panose="00020600040101010101" pitchFamily="18" charset="-122"/>
                  <a:sym typeface="+mn-lt"/>
                </a:rPr>
                <a:t>开发生态。针对 </a:t>
              </a:r>
              <a:r>
                <a:rPr lang="en-US" altLang="zh-CN" sz="1400" dirty="0">
                  <a:solidFill>
                    <a:schemeClr val="bg1"/>
                  </a:solidFill>
                  <a:latin typeface="微软雅黑" panose="020B0503020204020204" pitchFamily="34" charset="-122"/>
                  <a:ea typeface="微软雅黑" panose="020B0503020204020204" pitchFamily="34" charset="-122"/>
                  <a:cs typeface="OPPOSans M" panose="00020600040101010101" pitchFamily="18" charset="-122"/>
                  <a:sym typeface="+mn-lt"/>
                </a:rPr>
                <a:t>DS18B20</a:t>
              </a:r>
              <a:r>
                <a:rPr lang="zh-CN" altLang="en-US" sz="1400" dirty="0">
                  <a:solidFill>
                    <a:schemeClr val="bg1"/>
                  </a:solidFill>
                  <a:latin typeface="微软雅黑" panose="020B0503020204020204" pitchFamily="34" charset="-122"/>
                  <a:ea typeface="微软雅黑" panose="020B0503020204020204" pitchFamily="34" charset="-122"/>
                  <a:cs typeface="OPPOSans M" panose="00020600040101010101" pitchFamily="18" charset="-122"/>
                  <a:sym typeface="+mn-lt"/>
                </a:rPr>
                <a:t>和 </a:t>
              </a:r>
              <a:r>
                <a:rPr lang="en-US" altLang="zh-CN" sz="1400" dirty="0">
                  <a:solidFill>
                    <a:schemeClr val="bg1"/>
                  </a:solidFill>
                  <a:latin typeface="微软雅黑" panose="020B0503020204020204" pitchFamily="34" charset="-122"/>
                  <a:ea typeface="微软雅黑" panose="020B0503020204020204" pitchFamily="34" charset="-122"/>
                  <a:cs typeface="OPPOSans M" panose="00020600040101010101" pitchFamily="18" charset="-122"/>
                  <a:sym typeface="+mn-lt"/>
                </a:rPr>
                <a:t>pH </a:t>
              </a:r>
              <a:r>
                <a:rPr lang="zh-CN" altLang="en-US" sz="1400" dirty="0">
                  <a:solidFill>
                    <a:schemeClr val="bg1"/>
                  </a:solidFill>
                  <a:latin typeface="微软雅黑" panose="020B0503020204020204" pitchFamily="34" charset="-122"/>
                  <a:ea typeface="微软雅黑" panose="020B0503020204020204" pitchFamily="34" charset="-122"/>
                  <a:cs typeface="OPPOSans M" panose="00020600040101010101" pitchFamily="18" charset="-122"/>
                  <a:sym typeface="+mn-lt"/>
                </a:rPr>
                <a:t>传感器的 </a:t>
              </a:r>
              <a:r>
                <a:rPr lang="en-US" altLang="zh-CN" sz="1400" dirty="0">
                  <a:solidFill>
                    <a:schemeClr val="bg1"/>
                  </a:solidFill>
                  <a:latin typeface="微软雅黑" panose="020B0503020204020204" pitchFamily="34" charset="-122"/>
                  <a:ea typeface="微软雅黑" panose="020B0503020204020204" pitchFamily="34" charset="-122"/>
                  <a:cs typeface="OPPOSans M" panose="00020600040101010101" pitchFamily="18" charset="-122"/>
                  <a:sym typeface="+mn-lt"/>
                </a:rPr>
                <a:t>C++ </a:t>
              </a:r>
              <a:r>
                <a:rPr lang="zh-CN" altLang="en-US" sz="1400" dirty="0">
                  <a:solidFill>
                    <a:schemeClr val="bg1"/>
                  </a:solidFill>
                  <a:latin typeface="微软雅黑" panose="020B0503020204020204" pitchFamily="34" charset="-122"/>
                  <a:ea typeface="微软雅黑" panose="020B0503020204020204" pitchFamily="34" charset="-122"/>
                  <a:cs typeface="OPPOSans M" panose="00020600040101010101" pitchFamily="18" charset="-122"/>
                  <a:sym typeface="+mn-lt"/>
                </a:rPr>
                <a:t>驱动库非常丰富，具备底层开发的可行性。</a:t>
              </a:r>
              <a:endParaRPr lang="zh-CN" altLang="en-US" sz="1400" dirty="0">
                <a:solidFill>
                  <a:schemeClr val="bg1"/>
                </a:solidFill>
                <a:latin typeface="微软雅黑" panose="020B0503020204020204" pitchFamily="34" charset="-122"/>
                <a:ea typeface="微软雅黑" panose="020B0503020204020204" pitchFamily="34" charset="-122"/>
                <a:cs typeface="OPPOSans M" panose="00020600040101010101" pitchFamily="18" charset="-122"/>
                <a:sym typeface="+mn-lt"/>
              </a:endParaRPr>
            </a:p>
          </p:txBody>
        </p:sp>
        <p:sp>
          <p:nvSpPr>
            <p:cNvPr id="52" name="椭圆 51"/>
            <p:cNvSpPr/>
            <p:nvPr>
              <p:custDataLst>
                <p:tags r:id="rId7"/>
              </p:custDataLst>
            </p:nvPr>
          </p:nvSpPr>
          <p:spPr>
            <a:xfrm>
              <a:off x="2959379" y="1677216"/>
              <a:ext cx="863600" cy="863600"/>
            </a:xfrm>
            <a:prstGeom prst="ellipse">
              <a:avLst/>
            </a:prstGeom>
            <a:solidFill>
              <a:srgbClr val="5B9BD5"/>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altLang="zh-CN" b="1" dirty="0">
                  <a:latin typeface="微软雅黑" panose="020B0503020204020204" pitchFamily="34" charset="-122"/>
                  <a:ea typeface="微软雅黑" panose="020B0503020204020204" pitchFamily="34" charset="-122"/>
                </a:rPr>
                <a:t>01</a:t>
              </a:r>
              <a:endParaRPr lang="zh-CN" altLang="en-US" b="1" dirty="0">
                <a:latin typeface="微软雅黑" panose="020B0503020204020204" pitchFamily="34" charset="-122"/>
                <a:ea typeface="微软雅黑" panose="020B0503020204020204" pitchFamily="34" charset="-122"/>
              </a:endParaRPr>
            </a:p>
          </p:txBody>
        </p:sp>
      </p:grpSp>
      <p:grpSp>
        <p:nvGrpSpPr>
          <p:cNvPr id="5" name="组合 4"/>
          <p:cNvGrpSpPr/>
          <p:nvPr>
            <p:custDataLst>
              <p:tags r:id="rId8"/>
            </p:custDataLst>
          </p:nvPr>
        </p:nvGrpSpPr>
        <p:grpSpPr>
          <a:xfrm>
            <a:off x="1194079" y="3101590"/>
            <a:ext cx="7886572" cy="1064826"/>
            <a:chOff x="1194079" y="3101590"/>
            <a:chExt cx="7886572" cy="1064826"/>
          </a:xfrm>
        </p:grpSpPr>
        <p:sp>
          <p:nvSpPr>
            <p:cNvPr id="44" name="PA-任意多边形 10"/>
            <p:cNvSpPr/>
            <p:nvPr>
              <p:custDataLst>
                <p:tags r:id="rId9"/>
              </p:custDataLst>
            </p:nvPr>
          </p:nvSpPr>
          <p:spPr>
            <a:xfrm>
              <a:off x="2324507" y="3101590"/>
              <a:ext cx="6756144" cy="1064826"/>
            </a:xfrm>
            <a:custGeom>
              <a:avLst/>
              <a:gdLst>
                <a:gd name="connsiteX0" fmla="*/ 377357 w 5739194"/>
                <a:gd name="connsiteY0" fmla="*/ 0 h 904546"/>
                <a:gd name="connsiteX1" fmla="*/ 5484456 w 5739194"/>
                <a:gd name="connsiteY1" fmla="*/ 0 h 904546"/>
                <a:gd name="connsiteX2" fmla="*/ 5739194 w 5739194"/>
                <a:gd name="connsiteY2" fmla="*/ 254738 h 904546"/>
                <a:gd name="connsiteX3" fmla="*/ 5739194 w 5739194"/>
                <a:gd name="connsiteY3" fmla="*/ 649808 h 904546"/>
                <a:gd name="connsiteX4" fmla="*/ 5484456 w 5739194"/>
                <a:gd name="connsiteY4" fmla="*/ 904546 h 904546"/>
                <a:gd name="connsiteX5" fmla="*/ 377357 w 5739194"/>
                <a:gd name="connsiteY5" fmla="*/ 904546 h 904546"/>
                <a:gd name="connsiteX6" fmla="*/ 122619 w 5739194"/>
                <a:gd name="connsiteY6" fmla="*/ 649808 h 904546"/>
                <a:gd name="connsiteX7" fmla="*/ 122619 w 5739194"/>
                <a:gd name="connsiteY7" fmla="*/ 523392 h 904546"/>
                <a:gd name="connsiteX8" fmla="*/ 0 w 5739194"/>
                <a:gd name="connsiteY8" fmla="*/ 452272 h 904546"/>
                <a:gd name="connsiteX9" fmla="*/ 122619 w 5739194"/>
                <a:gd name="connsiteY9" fmla="*/ 381153 h 904546"/>
                <a:gd name="connsiteX10" fmla="*/ 122619 w 5739194"/>
                <a:gd name="connsiteY10" fmla="*/ 254738 h 904546"/>
                <a:gd name="connsiteX11" fmla="*/ 377357 w 5739194"/>
                <a:gd name="connsiteY11" fmla="*/ 0 h 9045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739194" h="904546">
                  <a:moveTo>
                    <a:pt x="377357" y="0"/>
                  </a:moveTo>
                  <a:lnTo>
                    <a:pt x="5484456" y="0"/>
                  </a:lnTo>
                  <a:cubicBezTo>
                    <a:pt x="5625144" y="0"/>
                    <a:pt x="5739194" y="114050"/>
                    <a:pt x="5739194" y="254738"/>
                  </a:cubicBezTo>
                  <a:lnTo>
                    <a:pt x="5739194" y="649808"/>
                  </a:lnTo>
                  <a:cubicBezTo>
                    <a:pt x="5739194" y="790496"/>
                    <a:pt x="5625144" y="904546"/>
                    <a:pt x="5484456" y="904546"/>
                  </a:cubicBezTo>
                  <a:lnTo>
                    <a:pt x="377357" y="904546"/>
                  </a:lnTo>
                  <a:cubicBezTo>
                    <a:pt x="236669" y="904546"/>
                    <a:pt x="122619" y="790496"/>
                    <a:pt x="122619" y="649808"/>
                  </a:cubicBezTo>
                  <a:lnTo>
                    <a:pt x="122619" y="523392"/>
                  </a:lnTo>
                  <a:lnTo>
                    <a:pt x="0" y="452272"/>
                  </a:lnTo>
                  <a:lnTo>
                    <a:pt x="122619" y="381153"/>
                  </a:lnTo>
                  <a:lnTo>
                    <a:pt x="122619" y="254738"/>
                  </a:lnTo>
                  <a:cubicBezTo>
                    <a:pt x="122619" y="114050"/>
                    <a:pt x="236669" y="0"/>
                    <a:pt x="377357" y="0"/>
                  </a:cubicBezTo>
                  <a:close/>
                </a:path>
              </a:pathLst>
            </a:custGeom>
            <a:solidFill>
              <a:srgbClr val="5B9BD5"/>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latin typeface="微软雅黑" panose="020B0503020204020204" pitchFamily="34" charset="-122"/>
                <a:ea typeface="微软雅黑" panose="020B0503020204020204" pitchFamily="34" charset="-122"/>
              </a:endParaRPr>
            </a:p>
          </p:txBody>
        </p:sp>
        <p:sp>
          <p:nvSpPr>
            <p:cNvPr id="54" name="椭圆 53"/>
            <p:cNvSpPr/>
            <p:nvPr>
              <p:custDataLst>
                <p:tags r:id="rId10"/>
              </p:custDataLst>
            </p:nvPr>
          </p:nvSpPr>
          <p:spPr>
            <a:xfrm>
              <a:off x="1194079" y="3202203"/>
              <a:ext cx="863600" cy="863600"/>
            </a:xfrm>
            <a:prstGeom prst="ellipse">
              <a:avLst/>
            </a:prstGeom>
            <a:solidFill>
              <a:srgbClr val="004C9E"/>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altLang="zh-CN" b="1" dirty="0">
                  <a:latin typeface="微软雅黑" panose="020B0503020204020204" pitchFamily="34" charset="-122"/>
                  <a:ea typeface="微软雅黑" panose="020B0503020204020204" pitchFamily="34" charset="-122"/>
                </a:rPr>
                <a:t>02</a:t>
              </a:r>
              <a:endParaRPr lang="zh-CN" altLang="en-US" b="1" dirty="0">
                <a:latin typeface="微软雅黑" panose="020B0503020204020204" pitchFamily="34" charset="-122"/>
                <a:ea typeface="微软雅黑" panose="020B0503020204020204" pitchFamily="34" charset="-122"/>
              </a:endParaRPr>
            </a:p>
          </p:txBody>
        </p:sp>
        <p:sp>
          <p:nvSpPr>
            <p:cNvPr id="55" name="PA-矩形 4"/>
            <p:cNvSpPr>
              <a:spLocks noChangeArrowheads="1"/>
            </p:cNvSpPr>
            <p:nvPr>
              <p:custDataLst>
                <p:tags r:id="rId11"/>
              </p:custDataLst>
            </p:nvPr>
          </p:nvSpPr>
          <p:spPr bwMode="auto">
            <a:xfrm>
              <a:off x="2550401" y="3480723"/>
              <a:ext cx="2835791" cy="307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000" b="1" dirty="0">
                  <a:solidFill>
                    <a:schemeClr val="bg1"/>
                  </a:solidFill>
                  <a:latin typeface="微软雅黑" panose="020B0503020204020204" pitchFamily="34" charset="-122"/>
                  <a:ea typeface="微软雅黑" panose="020B0503020204020204" pitchFamily="34" charset="-122"/>
                  <a:cs typeface="阿里巴巴普惠体 H" panose="00020600040101010101" pitchFamily="18" charset="-122"/>
                  <a:sym typeface="+mn-lt"/>
                </a:rPr>
                <a:t>算法与模型端</a:t>
              </a:r>
              <a:endParaRPr lang="zh-CN" altLang="en-US" sz="2000" b="1" dirty="0">
                <a:solidFill>
                  <a:schemeClr val="bg1"/>
                </a:solidFill>
                <a:latin typeface="微软雅黑" panose="020B0503020204020204" pitchFamily="34" charset="-122"/>
                <a:ea typeface="微软雅黑" panose="020B0503020204020204" pitchFamily="34" charset="-122"/>
                <a:cs typeface="阿里巴巴普惠体 H" panose="00020600040101010101" pitchFamily="18" charset="-122"/>
                <a:sym typeface="+mn-lt"/>
              </a:endParaRPr>
            </a:p>
          </p:txBody>
        </p:sp>
        <p:sp>
          <p:nvSpPr>
            <p:cNvPr id="56" name="PA-矩形 4"/>
            <p:cNvSpPr>
              <a:spLocks noChangeArrowheads="1"/>
            </p:cNvSpPr>
            <p:nvPr>
              <p:custDataLst>
                <p:tags r:id="rId12"/>
              </p:custDataLst>
            </p:nvPr>
          </p:nvSpPr>
          <p:spPr bwMode="auto">
            <a:xfrm>
              <a:off x="4228109" y="3281930"/>
              <a:ext cx="4742815" cy="691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0">
              <a:no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pPr>
              <a:r>
                <a:rPr lang="zh-CN" altLang="en-US" sz="1400" dirty="0">
                  <a:solidFill>
                    <a:schemeClr val="bg1"/>
                  </a:solidFill>
                  <a:latin typeface="微软雅黑" panose="020B0503020204020204" pitchFamily="34" charset="-122"/>
                  <a:ea typeface="微软雅黑" panose="020B0503020204020204" pitchFamily="34" charset="-122"/>
                  <a:cs typeface="OPPOSans M" panose="00020600040101010101" pitchFamily="18" charset="-122"/>
                  <a:sym typeface="+mn-lt"/>
                </a:rPr>
                <a:t>YOLOv8/v10 轻量化视觉模型部署成熟，本项目鱼类检测计数算力可控；同时可调用多模态云端接口，依托本地部署视觉大模型，实现智能决策。</a:t>
              </a:r>
              <a:endParaRPr lang="zh-CN" altLang="en-US" sz="1400" dirty="0">
                <a:solidFill>
                  <a:schemeClr val="bg1"/>
                </a:solidFill>
                <a:latin typeface="微软雅黑" panose="020B0503020204020204" pitchFamily="34" charset="-122"/>
                <a:ea typeface="微软雅黑" panose="020B0503020204020204" pitchFamily="34" charset="-122"/>
                <a:cs typeface="OPPOSans M" panose="00020600040101010101" pitchFamily="18" charset="-122"/>
                <a:sym typeface="+mn-lt"/>
              </a:endParaRPr>
            </a:p>
          </p:txBody>
        </p:sp>
      </p:grpSp>
      <p:grpSp>
        <p:nvGrpSpPr>
          <p:cNvPr id="6" name="组合 5"/>
          <p:cNvGrpSpPr/>
          <p:nvPr>
            <p:custDataLst>
              <p:tags r:id="rId13"/>
            </p:custDataLst>
          </p:nvPr>
        </p:nvGrpSpPr>
        <p:grpSpPr>
          <a:xfrm>
            <a:off x="2730779" y="4649634"/>
            <a:ext cx="7835772" cy="1066182"/>
            <a:chOff x="2730779" y="4649634"/>
            <a:chExt cx="7835772" cy="1066182"/>
          </a:xfrm>
        </p:grpSpPr>
        <p:sp>
          <p:nvSpPr>
            <p:cNvPr id="45" name="PA-任意多边形 10"/>
            <p:cNvSpPr/>
            <p:nvPr>
              <p:custDataLst>
                <p:tags r:id="rId14"/>
              </p:custDataLst>
            </p:nvPr>
          </p:nvSpPr>
          <p:spPr>
            <a:xfrm>
              <a:off x="3810407" y="4650990"/>
              <a:ext cx="6756144" cy="1064826"/>
            </a:xfrm>
            <a:custGeom>
              <a:avLst/>
              <a:gdLst>
                <a:gd name="connsiteX0" fmla="*/ 377357 w 5739194"/>
                <a:gd name="connsiteY0" fmla="*/ 0 h 904546"/>
                <a:gd name="connsiteX1" fmla="*/ 5484456 w 5739194"/>
                <a:gd name="connsiteY1" fmla="*/ 0 h 904546"/>
                <a:gd name="connsiteX2" fmla="*/ 5739194 w 5739194"/>
                <a:gd name="connsiteY2" fmla="*/ 254738 h 904546"/>
                <a:gd name="connsiteX3" fmla="*/ 5739194 w 5739194"/>
                <a:gd name="connsiteY3" fmla="*/ 649808 h 904546"/>
                <a:gd name="connsiteX4" fmla="*/ 5484456 w 5739194"/>
                <a:gd name="connsiteY4" fmla="*/ 904546 h 904546"/>
                <a:gd name="connsiteX5" fmla="*/ 377357 w 5739194"/>
                <a:gd name="connsiteY5" fmla="*/ 904546 h 904546"/>
                <a:gd name="connsiteX6" fmla="*/ 122619 w 5739194"/>
                <a:gd name="connsiteY6" fmla="*/ 649808 h 904546"/>
                <a:gd name="connsiteX7" fmla="*/ 122619 w 5739194"/>
                <a:gd name="connsiteY7" fmla="*/ 523392 h 904546"/>
                <a:gd name="connsiteX8" fmla="*/ 0 w 5739194"/>
                <a:gd name="connsiteY8" fmla="*/ 452272 h 904546"/>
                <a:gd name="connsiteX9" fmla="*/ 122619 w 5739194"/>
                <a:gd name="connsiteY9" fmla="*/ 381153 h 904546"/>
                <a:gd name="connsiteX10" fmla="*/ 122619 w 5739194"/>
                <a:gd name="connsiteY10" fmla="*/ 254738 h 904546"/>
                <a:gd name="connsiteX11" fmla="*/ 377357 w 5739194"/>
                <a:gd name="connsiteY11" fmla="*/ 0 h 9045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739194" h="904546">
                  <a:moveTo>
                    <a:pt x="377357" y="0"/>
                  </a:moveTo>
                  <a:lnTo>
                    <a:pt x="5484456" y="0"/>
                  </a:lnTo>
                  <a:cubicBezTo>
                    <a:pt x="5625144" y="0"/>
                    <a:pt x="5739194" y="114050"/>
                    <a:pt x="5739194" y="254738"/>
                  </a:cubicBezTo>
                  <a:lnTo>
                    <a:pt x="5739194" y="649808"/>
                  </a:lnTo>
                  <a:cubicBezTo>
                    <a:pt x="5739194" y="790496"/>
                    <a:pt x="5625144" y="904546"/>
                    <a:pt x="5484456" y="904546"/>
                  </a:cubicBezTo>
                  <a:lnTo>
                    <a:pt x="377357" y="904546"/>
                  </a:lnTo>
                  <a:cubicBezTo>
                    <a:pt x="236669" y="904546"/>
                    <a:pt x="122619" y="790496"/>
                    <a:pt x="122619" y="649808"/>
                  </a:cubicBezTo>
                  <a:lnTo>
                    <a:pt x="122619" y="523392"/>
                  </a:lnTo>
                  <a:lnTo>
                    <a:pt x="0" y="452272"/>
                  </a:lnTo>
                  <a:lnTo>
                    <a:pt x="122619" y="381153"/>
                  </a:lnTo>
                  <a:lnTo>
                    <a:pt x="122619" y="254738"/>
                  </a:lnTo>
                  <a:cubicBezTo>
                    <a:pt x="122619" y="114050"/>
                    <a:pt x="236669" y="0"/>
                    <a:pt x="377357" y="0"/>
                  </a:cubicBezTo>
                  <a:close/>
                </a:path>
              </a:pathLst>
            </a:custGeom>
            <a:solidFill>
              <a:srgbClr val="004C9E"/>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latin typeface="微软雅黑" panose="020B0503020204020204" pitchFamily="34" charset="-122"/>
                <a:ea typeface="微软雅黑" panose="020B0503020204020204" pitchFamily="34" charset="-122"/>
              </a:endParaRPr>
            </a:p>
          </p:txBody>
        </p:sp>
        <p:sp>
          <p:nvSpPr>
            <p:cNvPr id="53" name="椭圆 52"/>
            <p:cNvSpPr/>
            <p:nvPr>
              <p:custDataLst>
                <p:tags r:id="rId15"/>
              </p:custDataLst>
            </p:nvPr>
          </p:nvSpPr>
          <p:spPr>
            <a:xfrm>
              <a:off x="2730779" y="4801416"/>
              <a:ext cx="863600" cy="863600"/>
            </a:xfrm>
            <a:prstGeom prst="ellipse">
              <a:avLst/>
            </a:prstGeom>
            <a:solidFill>
              <a:srgbClr val="5B9BD5"/>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altLang="zh-CN" b="1" dirty="0">
                  <a:latin typeface="微软雅黑" panose="020B0503020204020204" pitchFamily="34" charset="-122"/>
                  <a:ea typeface="微软雅黑" panose="020B0503020204020204" pitchFamily="34" charset="-122"/>
                </a:rPr>
                <a:t>03</a:t>
              </a:r>
              <a:endParaRPr lang="zh-CN" altLang="en-US" b="1" dirty="0">
                <a:latin typeface="微软雅黑" panose="020B0503020204020204" pitchFamily="34" charset="-122"/>
                <a:ea typeface="微软雅黑" panose="020B0503020204020204" pitchFamily="34" charset="-122"/>
              </a:endParaRPr>
            </a:p>
          </p:txBody>
        </p:sp>
        <p:sp>
          <p:nvSpPr>
            <p:cNvPr id="57" name="PA-矩形 4"/>
            <p:cNvSpPr>
              <a:spLocks noChangeArrowheads="1"/>
            </p:cNvSpPr>
            <p:nvPr>
              <p:custDataLst>
                <p:tags r:id="rId16"/>
              </p:custDataLst>
            </p:nvPr>
          </p:nvSpPr>
          <p:spPr bwMode="auto">
            <a:xfrm>
              <a:off x="4010515" y="5030087"/>
              <a:ext cx="2835791" cy="307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000" b="1" dirty="0">
                  <a:solidFill>
                    <a:schemeClr val="bg1"/>
                  </a:solidFill>
                  <a:latin typeface="微软雅黑" panose="020B0503020204020204" pitchFamily="34" charset="-122"/>
                  <a:ea typeface="微软雅黑" panose="020B0503020204020204" pitchFamily="34" charset="-122"/>
                  <a:cs typeface="阿里巴巴普惠体 H" panose="00020600040101010101" pitchFamily="18" charset="-122"/>
                  <a:sym typeface="+mn-lt"/>
                </a:rPr>
                <a:t>前后端架构</a:t>
              </a:r>
              <a:endParaRPr lang="zh-CN" altLang="en-US" sz="2000" b="1" dirty="0">
                <a:solidFill>
                  <a:schemeClr val="bg1"/>
                </a:solidFill>
                <a:latin typeface="微软雅黑" panose="020B0503020204020204" pitchFamily="34" charset="-122"/>
                <a:ea typeface="微软雅黑" panose="020B0503020204020204" pitchFamily="34" charset="-122"/>
                <a:cs typeface="阿里巴巴普惠体 H" panose="00020600040101010101" pitchFamily="18" charset="-122"/>
                <a:sym typeface="+mn-lt"/>
              </a:endParaRPr>
            </a:p>
          </p:txBody>
        </p:sp>
        <p:sp>
          <p:nvSpPr>
            <p:cNvPr id="58" name="PA-矩形 4"/>
            <p:cNvSpPr>
              <a:spLocks noChangeArrowheads="1"/>
            </p:cNvSpPr>
            <p:nvPr>
              <p:custDataLst>
                <p:tags r:id="rId17"/>
              </p:custDataLst>
            </p:nvPr>
          </p:nvSpPr>
          <p:spPr bwMode="auto">
            <a:xfrm>
              <a:off x="5484985" y="4649634"/>
              <a:ext cx="4829354" cy="9690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pPr>
              <a:r>
                <a:rPr lang="zh-CN" altLang="en-US" sz="1400" dirty="0">
                  <a:solidFill>
                    <a:schemeClr val="bg1"/>
                  </a:solidFill>
                  <a:latin typeface="微软雅黑" panose="020B0503020204020204" pitchFamily="34" charset="-122"/>
                  <a:ea typeface="微软雅黑" panose="020B0503020204020204" pitchFamily="34" charset="-122"/>
                  <a:cs typeface="OPPOSans M" panose="00020600040101010101" pitchFamily="18" charset="-122"/>
                  <a:sym typeface="+mn-lt"/>
                </a:rPr>
                <a:t>采用主流的 </a:t>
              </a:r>
              <a:r>
                <a:rPr lang="en-US" altLang="zh-CN" sz="1400" dirty="0">
                  <a:solidFill>
                    <a:schemeClr val="bg1"/>
                  </a:solidFill>
                  <a:latin typeface="微软雅黑" panose="020B0503020204020204" pitchFamily="34" charset="-122"/>
                  <a:ea typeface="微软雅黑" panose="020B0503020204020204" pitchFamily="34" charset="-122"/>
                  <a:cs typeface="OPPOSans M" panose="00020600040101010101" pitchFamily="18" charset="-122"/>
                  <a:sym typeface="+mn-lt"/>
                </a:rPr>
                <a:t>Flask/FastAPI (Python) </a:t>
              </a:r>
              <a:r>
                <a:rPr lang="zh-CN" altLang="en-US" sz="1400" dirty="0">
                  <a:solidFill>
                    <a:schemeClr val="bg1"/>
                  </a:solidFill>
                  <a:latin typeface="微软雅黑" panose="020B0503020204020204" pitchFamily="34" charset="-122"/>
                  <a:ea typeface="微软雅黑" panose="020B0503020204020204" pitchFamily="34" charset="-122"/>
                  <a:cs typeface="OPPOSans M" panose="00020600040101010101" pitchFamily="18" charset="-122"/>
                  <a:sym typeface="+mn-lt"/>
                </a:rPr>
                <a:t>后端与 </a:t>
              </a:r>
              <a:r>
                <a:rPr lang="en-US" altLang="zh-CN" sz="1400" dirty="0">
                  <a:solidFill>
                    <a:schemeClr val="bg1"/>
                  </a:solidFill>
                  <a:latin typeface="微软雅黑" panose="020B0503020204020204" pitchFamily="34" charset="-122"/>
                  <a:ea typeface="微软雅黑" panose="020B0503020204020204" pitchFamily="34" charset="-122"/>
                  <a:cs typeface="OPPOSans M" panose="00020600040101010101" pitchFamily="18" charset="-122"/>
                  <a:sym typeface="+mn-lt"/>
                </a:rPr>
                <a:t>Vue 3 </a:t>
              </a:r>
              <a:r>
                <a:rPr lang="zh-CN" altLang="en-US" sz="1400" dirty="0">
                  <a:solidFill>
                    <a:schemeClr val="bg1"/>
                  </a:solidFill>
                  <a:latin typeface="微软雅黑" panose="020B0503020204020204" pitchFamily="34" charset="-122"/>
                  <a:ea typeface="微软雅黑" panose="020B0503020204020204" pitchFamily="34" charset="-122"/>
                  <a:cs typeface="OPPOSans M" panose="00020600040101010101" pitchFamily="18" charset="-122"/>
                  <a:sym typeface="+mn-lt"/>
                </a:rPr>
                <a:t>前端框架。这类全栈技术栈在处理 </a:t>
              </a:r>
              <a:r>
                <a:rPr lang="en-US" altLang="zh-CN" sz="1400" dirty="0">
                  <a:solidFill>
                    <a:schemeClr val="bg1"/>
                  </a:solidFill>
                  <a:latin typeface="微软雅黑" panose="020B0503020204020204" pitchFamily="34" charset="-122"/>
                  <a:ea typeface="微软雅黑" panose="020B0503020204020204" pitchFamily="34" charset="-122"/>
                  <a:cs typeface="OPPOSans M" panose="00020600040101010101" pitchFamily="18" charset="-122"/>
                  <a:sym typeface="+mn-lt"/>
                </a:rPr>
                <a:t>IoT </a:t>
              </a:r>
              <a:r>
                <a:rPr lang="zh-CN" altLang="en-US" sz="1400" dirty="0">
                  <a:solidFill>
                    <a:schemeClr val="bg1"/>
                  </a:solidFill>
                  <a:latin typeface="微软雅黑" panose="020B0503020204020204" pitchFamily="34" charset="-122"/>
                  <a:ea typeface="微软雅黑" panose="020B0503020204020204" pitchFamily="34" charset="-122"/>
                  <a:cs typeface="OPPOSans M" panose="00020600040101010101" pitchFamily="18" charset="-122"/>
                  <a:sym typeface="+mn-lt"/>
                </a:rPr>
                <a:t>数据流和实时监控方面有大量的开源案例可供参考。</a:t>
              </a:r>
              <a:endParaRPr lang="zh-CN" altLang="en-US" sz="1400" dirty="0">
                <a:solidFill>
                  <a:schemeClr val="bg1"/>
                </a:solidFill>
                <a:latin typeface="微软雅黑" panose="020B0503020204020204" pitchFamily="34" charset="-122"/>
                <a:ea typeface="微软雅黑" panose="020B0503020204020204" pitchFamily="34" charset="-122"/>
                <a:cs typeface="OPPOSans M" panose="00020600040101010101" pitchFamily="18" charset="-122"/>
                <a:sym typeface="+mn-lt"/>
              </a:endParaRPr>
            </a:p>
          </p:txBody>
        </p:sp>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p:cTn id="13" dur="500" fill="hold"/>
                                        <p:tgtEl>
                                          <p:spTgt spid="5"/>
                                        </p:tgtEl>
                                        <p:attrNameLst>
                                          <p:attrName>ppt_w</p:attrName>
                                        </p:attrNameLst>
                                      </p:cBhvr>
                                      <p:tavLst>
                                        <p:tav tm="0">
                                          <p:val>
                                            <p:fltVal val="0"/>
                                          </p:val>
                                        </p:tav>
                                        <p:tav tm="100000">
                                          <p:val>
                                            <p:strVal val="#ppt_w"/>
                                          </p:val>
                                        </p:tav>
                                      </p:tavLst>
                                    </p:anim>
                                    <p:anim calcmode="lin" valueType="num">
                                      <p:cBhvr>
                                        <p:cTn id="14" dur="500" fill="hold"/>
                                        <p:tgtEl>
                                          <p:spTgt spid="5"/>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p:cTn id="19" dur="500" fill="hold"/>
                                        <p:tgtEl>
                                          <p:spTgt spid="6"/>
                                        </p:tgtEl>
                                        <p:attrNameLst>
                                          <p:attrName>ppt_w</p:attrName>
                                        </p:attrNameLst>
                                      </p:cBhvr>
                                      <p:tavLst>
                                        <p:tav tm="0">
                                          <p:val>
                                            <p:fltVal val="0"/>
                                          </p:val>
                                        </p:tav>
                                        <p:tav tm="100000">
                                          <p:val>
                                            <p:strVal val="#ppt_w"/>
                                          </p:val>
                                        </p:tav>
                                      </p:tavLst>
                                    </p:anim>
                                    <p:anim calcmode="lin" valueType="num">
                                      <p:cBhvr>
                                        <p:cTn id="20" dur="500" fill="hold"/>
                                        <p:tgtEl>
                                          <p:spTgt spid="6"/>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7" name="剪去单角的矩形 226"/>
          <p:cNvSpPr/>
          <p:nvPr/>
        </p:nvSpPr>
        <p:spPr>
          <a:xfrm rot="16200000">
            <a:off x="4702439" y="-631561"/>
            <a:ext cx="6858000" cy="8121122"/>
          </a:xfrm>
          <a:prstGeom prst="snip1Rect">
            <a:avLst>
              <a:gd name="adj" fmla="val 50000"/>
            </a:avLst>
          </a:prstGeom>
          <a:solidFill>
            <a:srgbClr val="004C9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7" name="组合 6"/>
          <p:cNvGrpSpPr/>
          <p:nvPr/>
        </p:nvGrpSpPr>
        <p:grpSpPr>
          <a:xfrm>
            <a:off x="490537" y="472440"/>
            <a:ext cx="11210925" cy="6019800"/>
            <a:chOff x="490484" y="441960"/>
            <a:chExt cx="11211033" cy="6019801"/>
          </a:xfrm>
        </p:grpSpPr>
        <p:pic>
          <p:nvPicPr>
            <p:cNvPr id="8" name="图片 7"/>
            <p:cNvPicPr>
              <a:picLocks noChangeAspect="1"/>
            </p:cNvPicPr>
            <p:nvPr userDrawn="1"/>
          </p:nvPicPr>
          <p:blipFill rotWithShape="1">
            <a:blip r:embed="rId1">
              <a:extLst>
                <a:ext uri="{28A0092B-C50C-407E-A947-70E740481C1C}">
                  <a14:useLocalDpi xmlns:a14="http://schemas.microsoft.com/office/drawing/2010/main" val="0"/>
                </a:ext>
              </a:extLst>
            </a:blip>
            <a:srcRect l="1515" t="4277" r="530" b="14319"/>
            <a:stretch>
              <a:fillRect/>
            </a:stretch>
          </p:blipFill>
          <p:spPr>
            <a:xfrm>
              <a:off x="490484" y="441960"/>
              <a:ext cx="11211033" cy="6019801"/>
            </a:xfrm>
            <a:prstGeom prst="rect">
              <a:avLst/>
            </a:prstGeom>
            <a:effectLst>
              <a:outerShdw blurRad="355600" dist="139700" dir="2700000" algn="tl" rotWithShape="0">
                <a:prstClr val="black">
                  <a:alpha val="61000"/>
                </a:prstClr>
              </a:outerShdw>
            </a:effectLst>
          </p:spPr>
        </p:pic>
        <p:sp>
          <p:nvSpPr>
            <p:cNvPr id="9" name="矩形 8"/>
            <p:cNvSpPr/>
            <p:nvPr/>
          </p:nvSpPr>
          <p:spPr>
            <a:xfrm>
              <a:off x="490484" y="441960"/>
              <a:ext cx="11211032" cy="6019801"/>
            </a:xfrm>
            <a:prstGeom prst="rect">
              <a:avLst/>
            </a:prstGeom>
            <a:solidFill>
              <a:srgbClr val="FFFEF7">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400" b="1" dirty="0">
                <a:solidFill>
                  <a:srgbClr val="004C9E"/>
                </a:solidFill>
                <a:latin typeface="微软雅黑" panose="020B0503020204020204" pitchFamily="34" charset="-122"/>
                <a:ea typeface="微软雅黑" panose="020B0503020204020204" pitchFamily="34" charset="-122"/>
              </a:endParaRPr>
            </a:p>
          </p:txBody>
        </p:sp>
      </p:grpSp>
      <p:sp>
        <p:nvSpPr>
          <p:cNvPr id="10" name="文本框 9"/>
          <p:cNvSpPr txBox="1"/>
          <p:nvPr/>
        </p:nvSpPr>
        <p:spPr>
          <a:xfrm>
            <a:off x="394507" y="553085"/>
            <a:ext cx="2001520" cy="398780"/>
          </a:xfrm>
          <a:prstGeom prst="rect">
            <a:avLst/>
          </a:prstGeom>
          <a:noFill/>
        </p:spPr>
        <p:txBody>
          <a:bodyPr wrap="square" rtlCol="0">
            <a:spAutoFit/>
          </a:bodyPr>
          <a:lstStyle/>
          <a:p>
            <a:pPr algn="ctr"/>
            <a:r>
              <a:rPr lang="zh-CN" altLang="en-US" sz="2000" b="1" dirty="0">
                <a:solidFill>
                  <a:srgbClr val="A6A6A6"/>
                </a:solidFill>
                <a:latin typeface="微软雅黑" panose="020B0503020204020204" pitchFamily="34" charset="-122"/>
                <a:ea typeface="微软雅黑" panose="020B0503020204020204" pitchFamily="34" charset="-122"/>
              </a:rPr>
              <a:t>立项背景及意义</a:t>
            </a:r>
            <a:endParaRPr lang="zh-CN" altLang="en-US" sz="2000" b="1" dirty="0">
              <a:solidFill>
                <a:srgbClr val="A6A6A6"/>
              </a:solidFill>
              <a:latin typeface="微软雅黑" panose="020B0503020204020204" pitchFamily="34" charset="-122"/>
              <a:ea typeface="微软雅黑" panose="020B0503020204020204" pitchFamily="34" charset="-122"/>
            </a:endParaRPr>
          </a:p>
        </p:txBody>
      </p:sp>
      <p:cxnSp>
        <p:nvCxnSpPr>
          <p:cNvPr id="43" name="直接连接符 42"/>
          <p:cNvCxnSpPr/>
          <p:nvPr/>
        </p:nvCxnSpPr>
        <p:spPr>
          <a:xfrm>
            <a:off x="899088" y="6096082"/>
            <a:ext cx="9058311" cy="4300"/>
          </a:xfrm>
          <a:prstGeom prst="line">
            <a:avLst/>
          </a:prstGeom>
        </p:spPr>
        <p:style>
          <a:lnRef idx="1">
            <a:schemeClr val="accent1"/>
          </a:lnRef>
          <a:fillRef idx="0">
            <a:schemeClr val="accent1"/>
          </a:fillRef>
          <a:effectRef idx="0">
            <a:schemeClr val="accent1"/>
          </a:effectRef>
          <a:fontRef idx="minor">
            <a:schemeClr val="tx1"/>
          </a:fontRef>
        </p:style>
      </p:cxnSp>
      <p:sp>
        <p:nvSpPr>
          <p:cNvPr id="14" name="文本框 13"/>
          <p:cNvSpPr txBox="1"/>
          <p:nvPr/>
        </p:nvSpPr>
        <p:spPr>
          <a:xfrm>
            <a:off x="2445681" y="553085"/>
            <a:ext cx="2001520" cy="398780"/>
          </a:xfrm>
          <a:prstGeom prst="rect">
            <a:avLst/>
          </a:prstGeom>
          <a:noFill/>
        </p:spPr>
        <p:txBody>
          <a:bodyPr wrap="square" rtlCol="0">
            <a:spAutoFit/>
          </a:bodyPr>
          <a:lstStyle/>
          <a:p>
            <a:pPr algn="ctr"/>
            <a:r>
              <a:rPr lang="zh-CN" altLang="en-US" sz="2000" b="1" dirty="0">
                <a:solidFill>
                  <a:schemeClr val="bg1">
                    <a:lumMod val="65000"/>
                  </a:schemeClr>
                </a:solidFill>
                <a:latin typeface="微软雅黑" panose="020B0503020204020204" pitchFamily="34" charset="-122"/>
                <a:ea typeface="微软雅黑" panose="020B0503020204020204" pitchFamily="34" charset="-122"/>
              </a:rPr>
              <a:t>研究内容</a:t>
            </a:r>
            <a:endParaRPr lang="zh-CN" altLang="en-US" sz="2000" b="1" dirty="0">
              <a:solidFill>
                <a:schemeClr val="bg1">
                  <a:lumMod val="65000"/>
                </a:schemeClr>
              </a:solidFill>
              <a:latin typeface="微软雅黑" panose="020B0503020204020204" pitchFamily="34" charset="-122"/>
              <a:ea typeface="微软雅黑" panose="020B0503020204020204" pitchFamily="34" charset="-122"/>
            </a:endParaRPr>
          </a:p>
        </p:txBody>
      </p:sp>
      <p:sp>
        <p:nvSpPr>
          <p:cNvPr id="15" name="文本框 14"/>
          <p:cNvSpPr txBox="1"/>
          <p:nvPr/>
        </p:nvSpPr>
        <p:spPr>
          <a:xfrm>
            <a:off x="4543231" y="553085"/>
            <a:ext cx="2001520" cy="398780"/>
          </a:xfrm>
          <a:prstGeom prst="rect">
            <a:avLst/>
          </a:prstGeom>
          <a:noFill/>
        </p:spPr>
        <p:txBody>
          <a:bodyPr wrap="square" rtlCol="0">
            <a:spAutoFit/>
          </a:bodyPr>
          <a:lstStyle/>
          <a:p>
            <a:pPr algn="ctr"/>
            <a:r>
              <a:rPr lang="zh-CN" altLang="en-US" sz="2000" b="1" dirty="0">
                <a:solidFill>
                  <a:srgbClr val="004C9E"/>
                </a:solidFill>
                <a:latin typeface="微软雅黑" panose="020B0503020204020204" pitchFamily="34" charset="-122"/>
                <a:ea typeface="微软雅黑" panose="020B0503020204020204" pitchFamily="34" charset="-122"/>
              </a:rPr>
              <a:t>拟采用技术路线</a:t>
            </a:r>
            <a:endParaRPr lang="zh-CN" altLang="en-US" sz="2000" b="1" dirty="0">
              <a:solidFill>
                <a:srgbClr val="004C9E"/>
              </a:solidFill>
              <a:latin typeface="微软雅黑" panose="020B0503020204020204" pitchFamily="34" charset="-122"/>
              <a:ea typeface="微软雅黑" panose="020B0503020204020204" pitchFamily="34" charset="-122"/>
            </a:endParaRPr>
          </a:p>
        </p:txBody>
      </p:sp>
      <p:sp>
        <p:nvSpPr>
          <p:cNvPr id="16" name="文本框 15"/>
          <p:cNvSpPr txBox="1"/>
          <p:nvPr/>
        </p:nvSpPr>
        <p:spPr>
          <a:xfrm>
            <a:off x="6485324" y="553085"/>
            <a:ext cx="2755901" cy="398780"/>
          </a:xfrm>
          <a:prstGeom prst="rect">
            <a:avLst/>
          </a:prstGeom>
          <a:noFill/>
        </p:spPr>
        <p:txBody>
          <a:bodyPr wrap="square" rtlCol="0">
            <a:spAutoFit/>
          </a:bodyPr>
          <a:lstStyle/>
          <a:p>
            <a:pPr algn="ctr"/>
            <a:r>
              <a:rPr lang="zh-CN" altLang="en-US" sz="2000" b="1" dirty="0">
                <a:solidFill>
                  <a:schemeClr val="bg1">
                    <a:lumMod val="65000"/>
                  </a:schemeClr>
                </a:solidFill>
                <a:latin typeface="微软雅黑" panose="020B0503020204020204" pitchFamily="34" charset="-122"/>
                <a:ea typeface="微软雅黑" panose="020B0503020204020204" pitchFamily="34" charset="-122"/>
              </a:rPr>
              <a:t>创新与特点</a:t>
            </a:r>
            <a:endParaRPr lang="zh-CN" altLang="en-US" sz="2000" b="1" dirty="0">
              <a:solidFill>
                <a:schemeClr val="bg1">
                  <a:lumMod val="65000"/>
                </a:schemeClr>
              </a:solidFill>
              <a:latin typeface="微软雅黑" panose="020B0503020204020204" pitchFamily="34" charset="-122"/>
              <a:ea typeface="微软雅黑" panose="020B0503020204020204" pitchFamily="34" charset="-122"/>
            </a:endParaRPr>
          </a:p>
        </p:txBody>
      </p:sp>
      <p:sp>
        <p:nvSpPr>
          <p:cNvPr id="17" name="文本框 16"/>
          <p:cNvSpPr txBox="1"/>
          <p:nvPr/>
        </p:nvSpPr>
        <p:spPr>
          <a:xfrm>
            <a:off x="9102720" y="553085"/>
            <a:ext cx="2755901" cy="398780"/>
          </a:xfrm>
          <a:prstGeom prst="rect">
            <a:avLst/>
          </a:prstGeom>
          <a:noFill/>
        </p:spPr>
        <p:txBody>
          <a:bodyPr wrap="square" rtlCol="0">
            <a:spAutoFit/>
          </a:bodyPr>
          <a:lstStyle/>
          <a:p>
            <a:pPr algn="ctr"/>
            <a:r>
              <a:rPr lang="zh-CN" altLang="en-US" sz="2000" b="1" dirty="0">
                <a:solidFill>
                  <a:schemeClr val="bg1">
                    <a:lumMod val="65000"/>
                  </a:schemeClr>
                </a:solidFill>
                <a:latin typeface="微软雅黑" panose="020B0503020204020204" pitchFamily="34" charset="-122"/>
                <a:ea typeface="微软雅黑" panose="020B0503020204020204" pitchFamily="34" charset="-122"/>
              </a:rPr>
              <a:t>时间安排计划</a:t>
            </a:r>
            <a:endParaRPr lang="zh-CN" altLang="en-US" sz="2000" b="1" dirty="0">
              <a:solidFill>
                <a:schemeClr val="bg1">
                  <a:lumMod val="65000"/>
                </a:schemeClr>
              </a:solidFill>
              <a:latin typeface="微软雅黑" panose="020B0503020204020204" pitchFamily="34" charset="-122"/>
              <a:ea typeface="微软雅黑" panose="020B0503020204020204" pitchFamily="34" charset="-122"/>
            </a:endParaRPr>
          </a:p>
        </p:txBody>
      </p:sp>
      <p:sp>
        <p:nvSpPr>
          <p:cNvPr id="18" name="等腰三角形 17"/>
          <p:cNvSpPr/>
          <p:nvPr/>
        </p:nvSpPr>
        <p:spPr>
          <a:xfrm rot="5400000">
            <a:off x="4433618" y="669975"/>
            <a:ext cx="192943" cy="166330"/>
          </a:xfrm>
          <a:prstGeom prst="triangle">
            <a:avLst/>
          </a:prstGeom>
          <a:solidFill>
            <a:srgbClr val="004C9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nvSpPr>
        <p:spPr>
          <a:xfrm>
            <a:off x="919480" y="6113780"/>
            <a:ext cx="2541905" cy="275590"/>
          </a:xfrm>
          <a:prstGeom prst="rect">
            <a:avLst/>
          </a:prstGeom>
          <a:noFill/>
        </p:spPr>
        <p:txBody>
          <a:bodyPr wrap="square" rtlCol="0">
            <a:spAutoFit/>
          </a:bodyPr>
          <a:lstStyle/>
          <a:p>
            <a:r>
              <a:rPr lang="zh-CN" altLang="en-US" sz="1200" b="1">
                <a:solidFill>
                  <a:srgbClr val="004C9E"/>
                </a:solidFill>
                <a:latin typeface="微软雅黑" panose="020B0503020204020204" pitchFamily="34" charset="-122"/>
                <a:ea typeface="微软雅黑" panose="020B0503020204020204" pitchFamily="34" charset="-122"/>
                <a:cs typeface="微软雅黑" panose="020B0503020204020204" pitchFamily="34" charset="-122"/>
              </a:rPr>
              <a:t>耐劳苦</a:t>
            </a:r>
            <a:r>
              <a:rPr lang="en-US" altLang="zh-CN" sz="1200" b="1">
                <a:solidFill>
                  <a:srgbClr val="004C9E"/>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200" b="1">
                <a:solidFill>
                  <a:srgbClr val="004C9E"/>
                </a:solidFill>
                <a:latin typeface="微软雅黑" panose="020B0503020204020204" pitchFamily="34" charset="-122"/>
                <a:ea typeface="微软雅黑" panose="020B0503020204020204" pitchFamily="34" charset="-122"/>
                <a:cs typeface="微软雅黑" panose="020B0503020204020204" pitchFamily="34" charset="-122"/>
              </a:rPr>
              <a:t>尚俭朴</a:t>
            </a:r>
            <a:r>
              <a:rPr lang="en-US" altLang="zh-CN" sz="1200" b="1">
                <a:solidFill>
                  <a:srgbClr val="004C9E"/>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200" b="1">
                <a:solidFill>
                  <a:srgbClr val="004C9E"/>
                </a:solidFill>
                <a:latin typeface="微软雅黑" panose="020B0503020204020204" pitchFamily="34" charset="-122"/>
                <a:ea typeface="微软雅黑" panose="020B0503020204020204" pitchFamily="34" charset="-122"/>
                <a:cs typeface="微软雅黑" panose="020B0503020204020204" pitchFamily="34" charset="-122"/>
              </a:rPr>
              <a:t>勤学业</a:t>
            </a:r>
            <a:r>
              <a:rPr lang="en-US" altLang="zh-CN" sz="1200" b="1">
                <a:solidFill>
                  <a:srgbClr val="004C9E"/>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200" b="1">
                <a:solidFill>
                  <a:srgbClr val="004C9E"/>
                </a:solidFill>
                <a:latin typeface="微软雅黑" panose="020B0503020204020204" pitchFamily="34" charset="-122"/>
                <a:ea typeface="微软雅黑" panose="020B0503020204020204" pitchFamily="34" charset="-122"/>
                <a:cs typeface="微软雅黑" panose="020B0503020204020204" pitchFamily="34" charset="-122"/>
              </a:rPr>
              <a:t>爱国家</a:t>
            </a:r>
            <a:endParaRPr lang="zh-CN" altLang="en-US" sz="1200" b="1">
              <a:solidFill>
                <a:srgbClr val="004C9E"/>
              </a:solidFill>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11" name="图片 10" descr="校徽"/>
          <p:cNvPicPr>
            <a:picLocks noChangeAspect="1"/>
          </p:cNvPicPr>
          <p:nvPr/>
        </p:nvPicPr>
        <p:blipFill>
          <a:blip r:embed="rId2"/>
          <a:stretch>
            <a:fillRect/>
          </a:stretch>
        </p:blipFill>
        <p:spPr>
          <a:xfrm>
            <a:off x="10127615" y="5844540"/>
            <a:ext cx="1259840" cy="397510"/>
          </a:xfrm>
          <a:prstGeom prst="rect">
            <a:avLst/>
          </a:prstGeom>
        </p:spPr>
      </p:pic>
      <p:grpSp>
        <p:nvGrpSpPr>
          <p:cNvPr id="3" name="组合 2"/>
          <p:cNvGrpSpPr/>
          <p:nvPr>
            <p:custDataLst>
              <p:tags r:id="rId3"/>
            </p:custDataLst>
          </p:nvPr>
        </p:nvGrpSpPr>
        <p:grpSpPr>
          <a:xfrm>
            <a:off x="2959379" y="1539490"/>
            <a:ext cx="7924672" cy="1064826"/>
            <a:chOff x="2959379" y="1539490"/>
            <a:chExt cx="7924672" cy="1064826"/>
          </a:xfrm>
        </p:grpSpPr>
        <p:sp>
          <p:nvSpPr>
            <p:cNvPr id="42" name="PA-任意多边形 10"/>
            <p:cNvSpPr/>
            <p:nvPr>
              <p:custDataLst>
                <p:tags r:id="rId4"/>
              </p:custDataLst>
            </p:nvPr>
          </p:nvSpPr>
          <p:spPr>
            <a:xfrm>
              <a:off x="4127907" y="1539490"/>
              <a:ext cx="6756144" cy="1064826"/>
            </a:xfrm>
            <a:custGeom>
              <a:avLst/>
              <a:gdLst>
                <a:gd name="connsiteX0" fmla="*/ 377357 w 5739194"/>
                <a:gd name="connsiteY0" fmla="*/ 0 h 904546"/>
                <a:gd name="connsiteX1" fmla="*/ 5484456 w 5739194"/>
                <a:gd name="connsiteY1" fmla="*/ 0 h 904546"/>
                <a:gd name="connsiteX2" fmla="*/ 5739194 w 5739194"/>
                <a:gd name="connsiteY2" fmla="*/ 254738 h 904546"/>
                <a:gd name="connsiteX3" fmla="*/ 5739194 w 5739194"/>
                <a:gd name="connsiteY3" fmla="*/ 649808 h 904546"/>
                <a:gd name="connsiteX4" fmla="*/ 5484456 w 5739194"/>
                <a:gd name="connsiteY4" fmla="*/ 904546 h 904546"/>
                <a:gd name="connsiteX5" fmla="*/ 377357 w 5739194"/>
                <a:gd name="connsiteY5" fmla="*/ 904546 h 904546"/>
                <a:gd name="connsiteX6" fmla="*/ 122619 w 5739194"/>
                <a:gd name="connsiteY6" fmla="*/ 649808 h 904546"/>
                <a:gd name="connsiteX7" fmla="*/ 122619 w 5739194"/>
                <a:gd name="connsiteY7" fmla="*/ 523392 h 904546"/>
                <a:gd name="connsiteX8" fmla="*/ 0 w 5739194"/>
                <a:gd name="connsiteY8" fmla="*/ 452272 h 904546"/>
                <a:gd name="connsiteX9" fmla="*/ 122619 w 5739194"/>
                <a:gd name="connsiteY9" fmla="*/ 381153 h 904546"/>
                <a:gd name="connsiteX10" fmla="*/ 122619 w 5739194"/>
                <a:gd name="connsiteY10" fmla="*/ 254738 h 904546"/>
                <a:gd name="connsiteX11" fmla="*/ 377357 w 5739194"/>
                <a:gd name="connsiteY11" fmla="*/ 0 h 9045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739194" h="904546">
                  <a:moveTo>
                    <a:pt x="377357" y="0"/>
                  </a:moveTo>
                  <a:lnTo>
                    <a:pt x="5484456" y="0"/>
                  </a:lnTo>
                  <a:cubicBezTo>
                    <a:pt x="5625144" y="0"/>
                    <a:pt x="5739194" y="114050"/>
                    <a:pt x="5739194" y="254738"/>
                  </a:cubicBezTo>
                  <a:lnTo>
                    <a:pt x="5739194" y="649808"/>
                  </a:lnTo>
                  <a:cubicBezTo>
                    <a:pt x="5739194" y="790496"/>
                    <a:pt x="5625144" y="904546"/>
                    <a:pt x="5484456" y="904546"/>
                  </a:cubicBezTo>
                  <a:lnTo>
                    <a:pt x="377357" y="904546"/>
                  </a:lnTo>
                  <a:cubicBezTo>
                    <a:pt x="236669" y="904546"/>
                    <a:pt x="122619" y="790496"/>
                    <a:pt x="122619" y="649808"/>
                  </a:cubicBezTo>
                  <a:lnTo>
                    <a:pt x="122619" y="523392"/>
                  </a:lnTo>
                  <a:lnTo>
                    <a:pt x="0" y="452272"/>
                  </a:lnTo>
                  <a:lnTo>
                    <a:pt x="122619" y="381153"/>
                  </a:lnTo>
                  <a:lnTo>
                    <a:pt x="122619" y="254738"/>
                  </a:lnTo>
                  <a:cubicBezTo>
                    <a:pt x="122619" y="114050"/>
                    <a:pt x="236669" y="0"/>
                    <a:pt x="377357" y="0"/>
                  </a:cubicBezTo>
                  <a:close/>
                </a:path>
              </a:pathLst>
            </a:custGeom>
            <a:solidFill>
              <a:srgbClr val="004C9E"/>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latin typeface="微软雅黑" panose="020B0503020204020204" pitchFamily="34" charset="-122"/>
                <a:ea typeface="微软雅黑" panose="020B0503020204020204" pitchFamily="34" charset="-122"/>
              </a:endParaRPr>
            </a:p>
          </p:txBody>
        </p:sp>
        <p:sp>
          <p:nvSpPr>
            <p:cNvPr id="46" name="PA-矩形 4"/>
            <p:cNvSpPr>
              <a:spLocks noChangeArrowheads="1"/>
            </p:cNvSpPr>
            <p:nvPr>
              <p:custDataLst>
                <p:tags r:id="rId5"/>
              </p:custDataLst>
            </p:nvPr>
          </p:nvSpPr>
          <p:spPr bwMode="auto">
            <a:xfrm>
              <a:off x="4594325" y="1939320"/>
              <a:ext cx="2835791" cy="307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000" b="1" dirty="0">
                  <a:solidFill>
                    <a:schemeClr val="bg1"/>
                  </a:solidFill>
                  <a:latin typeface="微软雅黑" panose="020B0503020204020204" pitchFamily="34" charset="-122"/>
                  <a:ea typeface="微软雅黑" panose="020B0503020204020204" pitchFamily="34" charset="-122"/>
                  <a:cs typeface="阿里巴巴普惠体 H" panose="00020600040101010101" pitchFamily="18" charset="-122"/>
                  <a:sym typeface="+mn-lt"/>
                </a:rPr>
                <a:t>算力资源</a:t>
              </a:r>
              <a:endParaRPr lang="zh-CN" altLang="en-US" sz="2000" b="1" dirty="0">
                <a:solidFill>
                  <a:schemeClr val="bg1"/>
                </a:solidFill>
                <a:latin typeface="微软雅黑" panose="020B0503020204020204" pitchFamily="34" charset="-122"/>
                <a:ea typeface="微软雅黑" panose="020B0503020204020204" pitchFamily="34" charset="-122"/>
                <a:cs typeface="阿里巴巴普惠体 H" panose="00020600040101010101" pitchFamily="18" charset="-122"/>
                <a:sym typeface="+mn-lt"/>
              </a:endParaRPr>
            </a:p>
          </p:txBody>
        </p:sp>
        <p:sp>
          <p:nvSpPr>
            <p:cNvPr id="47" name="PA-矩形 4"/>
            <p:cNvSpPr>
              <a:spLocks noChangeArrowheads="1"/>
            </p:cNvSpPr>
            <p:nvPr>
              <p:custDataLst>
                <p:tags r:id="rId6"/>
              </p:custDataLst>
            </p:nvPr>
          </p:nvSpPr>
          <p:spPr bwMode="auto">
            <a:xfrm>
              <a:off x="5851625" y="1718570"/>
              <a:ext cx="4829354" cy="6457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pPr>
              <a:r>
                <a:rPr lang="zh-CN" altLang="en-US" sz="1400" dirty="0">
                  <a:solidFill>
                    <a:schemeClr val="bg1"/>
                  </a:solidFill>
                  <a:latin typeface="微软雅黑" panose="020B0503020204020204" pitchFamily="34" charset="-122"/>
                  <a:ea typeface="微软雅黑" panose="020B0503020204020204" pitchFamily="34" charset="-122"/>
                  <a:cs typeface="OPPOSans M" panose="00020600040101010101" pitchFamily="18" charset="-122"/>
                  <a:sym typeface="+mn-lt"/>
                </a:rPr>
                <a:t>现有的 </a:t>
              </a:r>
              <a:r>
                <a:rPr lang="en-US" altLang="zh-CN" sz="1400" dirty="0">
                  <a:solidFill>
                    <a:schemeClr val="bg1"/>
                  </a:solidFill>
                  <a:latin typeface="微软雅黑" panose="020B0503020204020204" pitchFamily="34" charset="-122"/>
                  <a:ea typeface="微软雅黑" panose="020B0503020204020204" pitchFamily="34" charset="-122"/>
                  <a:cs typeface="OPPOSans M" panose="00020600040101010101" pitchFamily="18" charset="-122"/>
                  <a:sym typeface="+mn-lt"/>
                </a:rPr>
                <a:t>A6000 </a:t>
              </a:r>
              <a:r>
                <a:rPr lang="zh-CN" altLang="en-US" sz="1400" dirty="0">
                  <a:solidFill>
                    <a:schemeClr val="bg1"/>
                  </a:solidFill>
                  <a:latin typeface="微软雅黑" panose="020B0503020204020204" pitchFamily="34" charset="-122"/>
                  <a:ea typeface="微软雅黑" panose="020B0503020204020204" pitchFamily="34" charset="-122"/>
                  <a:cs typeface="OPPOSans M" panose="00020600040101010101" pitchFamily="18" charset="-122"/>
                  <a:sym typeface="+mn-lt"/>
                </a:rPr>
                <a:t>服务器能够承担深度学习模型的训练与推理任务，无需额外购买昂贵的算力服务。</a:t>
              </a:r>
              <a:endParaRPr lang="zh-CN" altLang="en-US" sz="1400" dirty="0">
                <a:solidFill>
                  <a:schemeClr val="bg1"/>
                </a:solidFill>
                <a:latin typeface="微软雅黑" panose="020B0503020204020204" pitchFamily="34" charset="-122"/>
                <a:ea typeface="微软雅黑" panose="020B0503020204020204" pitchFamily="34" charset="-122"/>
                <a:cs typeface="OPPOSans M" panose="00020600040101010101" pitchFamily="18" charset="-122"/>
                <a:sym typeface="+mn-lt"/>
              </a:endParaRPr>
            </a:p>
          </p:txBody>
        </p:sp>
        <p:sp>
          <p:nvSpPr>
            <p:cNvPr id="52" name="椭圆 51"/>
            <p:cNvSpPr/>
            <p:nvPr>
              <p:custDataLst>
                <p:tags r:id="rId7"/>
              </p:custDataLst>
            </p:nvPr>
          </p:nvSpPr>
          <p:spPr>
            <a:xfrm>
              <a:off x="2959379" y="1677216"/>
              <a:ext cx="863600" cy="863600"/>
            </a:xfrm>
            <a:prstGeom prst="ellipse">
              <a:avLst/>
            </a:prstGeom>
            <a:solidFill>
              <a:srgbClr val="5B9BD5"/>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altLang="zh-CN" b="1" dirty="0">
                  <a:latin typeface="微软雅黑" panose="020B0503020204020204" pitchFamily="34" charset="-122"/>
                  <a:ea typeface="微软雅黑" panose="020B0503020204020204" pitchFamily="34" charset="-122"/>
                </a:rPr>
                <a:t>01</a:t>
              </a:r>
              <a:endParaRPr lang="zh-CN" altLang="en-US" b="1" dirty="0">
                <a:latin typeface="微软雅黑" panose="020B0503020204020204" pitchFamily="34" charset="-122"/>
                <a:ea typeface="微软雅黑" panose="020B0503020204020204" pitchFamily="34" charset="-122"/>
              </a:endParaRPr>
            </a:p>
          </p:txBody>
        </p:sp>
      </p:grpSp>
      <p:grpSp>
        <p:nvGrpSpPr>
          <p:cNvPr id="4" name="组合 3"/>
          <p:cNvGrpSpPr/>
          <p:nvPr>
            <p:custDataLst>
              <p:tags r:id="rId8"/>
            </p:custDataLst>
          </p:nvPr>
        </p:nvGrpSpPr>
        <p:grpSpPr>
          <a:xfrm>
            <a:off x="1194079" y="3101590"/>
            <a:ext cx="7886572" cy="1064826"/>
            <a:chOff x="1194079" y="3101590"/>
            <a:chExt cx="7886572" cy="1064826"/>
          </a:xfrm>
        </p:grpSpPr>
        <p:sp>
          <p:nvSpPr>
            <p:cNvPr id="44" name="PA-任意多边形 10"/>
            <p:cNvSpPr/>
            <p:nvPr>
              <p:custDataLst>
                <p:tags r:id="rId9"/>
              </p:custDataLst>
            </p:nvPr>
          </p:nvSpPr>
          <p:spPr>
            <a:xfrm>
              <a:off x="2324507" y="3101590"/>
              <a:ext cx="6756144" cy="1064826"/>
            </a:xfrm>
            <a:custGeom>
              <a:avLst/>
              <a:gdLst>
                <a:gd name="connsiteX0" fmla="*/ 377357 w 5739194"/>
                <a:gd name="connsiteY0" fmla="*/ 0 h 904546"/>
                <a:gd name="connsiteX1" fmla="*/ 5484456 w 5739194"/>
                <a:gd name="connsiteY1" fmla="*/ 0 h 904546"/>
                <a:gd name="connsiteX2" fmla="*/ 5739194 w 5739194"/>
                <a:gd name="connsiteY2" fmla="*/ 254738 h 904546"/>
                <a:gd name="connsiteX3" fmla="*/ 5739194 w 5739194"/>
                <a:gd name="connsiteY3" fmla="*/ 649808 h 904546"/>
                <a:gd name="connsiteX4" fmla="*/ 5484456 w 5739194"/>
                <a:gd name="connsiteY4" fmla="*/ 904546 h 904546"/>
                <a:gd name="connsiteX5" fmla="*/ 377357 w 5739194"/>
                <a:gd name="connsiteY5" fmla="*/ 904546 h 904546"/>
                <a:gd name="connsiteX6" fmla="*/ 122619 w 5739194"/>
                <a:gd name="connsiteY6" fmla="*/ 649808 h 904546"/>
                <a:gd name="connsiteX7" fmla="*/ 122619 w 5739194"/>
                <a:gd name="connsiteY7" fmla="*/ 523392 h 904546"/>
                <a:gd name="connsiteX8" fmla="*/ 0 w 5739194"/>
                <a:gd name="connsiteY8" fmla="*/ 452272 h 904546"/>
                <a:gd name="connsiteX9" fmla="*/ 122619 w 5739194"/>
                <a:gd name="connsiteY9" fmla="*/ 381153 h 904546"/>
                <a:gd name="connsiteX10" fmla="*/ 122619 w 5739194"/>
                <a:gd name="connsiteY10" fmla="*/ 254738 h 904546"/>
                <a:gd name="connsiteX11" fmla="*/ 377357 w 5739194"/>
                <a:gd name="connsiteY11" fmla="*/ 0 h 9045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739194" h="904546">
                  <a:moveTo>
                    <a:pt x="377357" y="0"/>
                  </a:moveTo>
                  <a:lnTo>
                    <a:pt x="5484456" y="0"/>
                  </a:lnTo>
                  <a:cubicBezTo>
                    <a:pt x="5625144" y="0"/>
                    <a:pt x="5739194" y="114050"/>
                    <a:pt x="5739194" y="254738"/>
                  </a:cubicBezTo>
                  <a:lnTo>
                    <a:pt x="5739194" y="649808"/>
                  </a:lnTo>
                  <a:cubicBezTo>
                    <a:pt x="5739194" y="790496"/>
                    <a:pt x="5625144" y="904546"/>
                    <a:pt x="5484456" y="904546"/>
                  </a:cubicBezTo>
                  <a:lnTo>
                    <a:pt x="377357" y="904546"/>
                  </a:lnTo>
                  <a:cubicBezTo>
                    <a:pt x="236669" y="904546"/>
                    <a:pt x="122619" y="790496"/>
                    <a:pt x="122619" y="649808"/>
                  </a:cubicBezTo>
                  <a:lnTo>
                    <a:pt x="122619" y="523392"/>
                  </a:lnTo>
                  <a:lnTo>
                    <a:pt x="0" y="452272"/>
                  </a:lnTo>
                  <a:lnTo>
                    <a:pt x="122619" y="381153"/>
                  </a:lnTo>
                  <a:lnTo>
                    <a:pt x="122619" y="254738"/>
                  </a:lnTo>
                  <a:cubicBezTo>
                    <a:pt x="122619" y="114050"/>
                    <a:pt x="236669" y="0"/>
                    <a:pt x="377357" y="0"/>
                  </a:cubicBezTo>
                  <a:close/>
                </a:path>
              </a:pathLst>
            </a:custGeom>
            <a:solidFill>
              <a:srgbClr val="5B9BD5"/>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latin typeface="微软雅黑" panose="020B0503020204020204" pitchFamily="34" charset="-122"/>
                <a:ea typeface="微软雅黑" panose="020B0503020204020204" pitchFamily="34" charset="-122"/>
              </a:endParaRPr>
            </a:p>
          </p:txBody>
        </p:sp>
        <p:sp>
          <p:nvSpPr>
            <p:cNvPr id="54" name="椭圆 53"/>
            <p:cNvSpPr/>
            <p:nvPr>
              <p:custDataLst>
                <p:tags r:id="rId10"/>
              </p:custDataLst>
            </p:nvPr>
          </p:nvSpPr>
          <p:spPr>
            <a:xfrm>
              <a:off x="1194079" y="3202203"/>
              <a:ext cx="863600" cy="863600"/>
            </a:xfrm>
            <a:prstGeom prst="ellipse">
              <a:avLst/>
            </a:prstGeom>
            <a:solidFill>
              <a:srgbClr val="004C9E"/>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altLang="zh-CN" b="1" dirty="0">
                  <a:latin typeface="微软雅黑" panose="020B0503020204020204" pitchFamily="34" charset="-122"/>
                  <a:ea typeface="微软雅黑" panose="020B0503020204020204" pitchFamily="34" charset="-122"/>
                </a:rPr>
                <a:t>02</a:t>
              </a:r>
              <a:endParaRPr lang="zh-CN" altLang="en-US" b="1" dirty="0">
                <a:latin typeface="微软雅黑" panose="020B0503020204020204" pitchFamily="34" charset="-122"/>
                <a:ea typeface="微软雅黑" panose="020B0503020204020204" pitchFamily="34" charset="-122"/>
              </a:endParaRPr>
            </a:p>
          </p:txBody>
        </p:sp>
        <p:sp>
          <p:nvSpPr>
            <p:cNvPr id="55" name="PA-矩形 4"/>
            <p:cNvSpPr>
              <a:spLocks noChangeArrowheads="1"/>
            </p:cNvSpPr>
            <p:nvPr>
              <p:custDataLst>
                <p:tags r:id="rId11"/>
              </p:custDataLst>
            </p:nvPr>
          </p:nvSpPr>
          <p:spPr bwMode="auto">
            <a:xfrm>
              <a:off x="2761221" y="3495328"/>
              <a:ext cx="2835791" cy="307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000" b="1" dirty="0">
                  <a:solidFill>
                    <a:schemeClr val="bg1"/>
                  </a:solidFill>
                  <a:latin typeface="微软雅黑" panose="020B0503020204020204" pitchFamily="34" charset="-122"/>
                  <a:ea typeface="微软雅黑" panose="020B0503020204020204" pitchFamily="34" charset="-122"/>
                  <a:cs typeface="阿里巴巴普惠体 H" panose="00020600040101010101" pitchFamily="18" charset="-122"/>
                  <a:sym typeface="+mn-lt"/>
                </a:rPr>
                <a:t>开发成本</a:t>
              </a:r>
              <a:endParaRPr lang="zh-CN" altLang="en-US" sz="2000" b="1" dirty="0">
                <a:solidFill>
                  <a:schemeClr val="bg1"/>
                </a:solidFill>
                <a:latin typeface="微软雅黑" panose="020B0503020204020204" pitchFamily="34" charset="-122"/>
                <a:ea typeface="微软雅黑" panose="020B0503020204020204" pitchFamily="34" charset="-122"/>
                <a:cs typeface="阿里巴巴普惠体 H" panose="00020600040101010101" pitchFamily="18" charset="-122"/>
                <a:sym typeface="+mn-lt"/>
              </a:endParaRPr>
            </a:p>
          </p:txBody>
        </p:sp>
        <p:sp>
          <p:nvSpPr>
            <p:cNvPr id="56" name="PA-矩形 4"/>
            <p:cNvSpPr>
              <a:spLocks noChangeArrowheads="1"/>
            </p:cNvSpPr>
            <p:nvPr>
              <p:custDataLst>
                <p:tags r:id="rId12"/>
              </p:custDataLst>
            </p:nvPr>
          </p:nvSpPr>
          <p:spPr bwMode="auto">
            <a:xfrm>
              <a:off x="4018521" y="3112970"/>
              <a:ext cx="4829354" cy="9690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pPr>
              <a:r>
                <a:rPr lang="zh-CN" altLang="en-US" sz="1400" dirty="0">
                  <a:solidFill>
                    <a:schemeClr val="bg1"/>
                  </a:solidFill>
                  <a:latin typeface="微软雅黑" panose="020B0503020204020204" pitchFamily="34" charset="-122"/>
                  <a:ea typeface="微软雅黑" panose="020B0503020204020204" pitchFamily="34" charset="-122"/>
                  <a:cs typeface="OPPOSans M" panose="00020600040101010101" pitchFamily="18" charset="-122"/>
                  <a:sym typeface="+mn-lt"/>
                </a:rPr>
                <a:t>硬件清单（</a:t>
              </a:r>
              <a:r>
                <a:rPr lang="en-US" altLang="zh-CN" sz="1400" dirty="0">
                  <a:solidFill>
                    <a:schemeClr val="bg1"/>
                  </a:solidFill>
                  <a:latin typeface="微软雅黑" panose="020B0503020204020204" pitchFamily="34" charset="-122"/>
                  <a:ea typeface="微软雅黑" panose="020B0503020204020204" pitchFamily="34" charset="-122"/>
                  <a:cs typeface="OPPOSans M" panose="00020600040101010101" pitchFamily="18" charset="-122"/>
                  <a:sym typeface="+mn-lt"/>
                </a:rPr>
                <a:t>ESP32-CAM、pH </a:t>
              </a:r>
              <a:r>
                <a:rPr lang="zh-CN" altLang="en-US" sz="1400" dirty="0">
                  <a:solidFill>
                    <a:schemeClr val="bg1"/>
                  </a:solidFill>
                  <a:latin typeface="微软雅黑" panose="020B0503020204020204" pitchFamily="34" charset="-122"/>
                  <a:ea typeface="微软雅黑" panose="020B0503020204020204" pitchFamily="34" charset="-122"/>
                  <a:cs typeface="OPPOSans M" panose="00020600040101010101" pitchFamily="18" charset="-122"/>
                  <a:sym typeface="+mn-lt"/>
                </a:rPr>
                <a:t>传感器、水温探头等）总成本预计在 150-250 元人民币之间，处于课程实验经费或个人可承受范围内。</a:t>
              </a:r>
              <a:endParaRPr lang="zh-CN" altLang="en-US" sz="1400" dirty="0">
                <a:solidFill>
                  <a:schemeClr val="bg1"/>
                </a:solidFill>
                <a:latin typeface="微软雅黑" panose="020B0503020204020204" pitchFamily="34" charset="-122"/>
                <a:ea typeface="微软雅黑" panose="020B0503020204020204" pitchFamily="34" charset="-122"/>
                <a:cs typeface="OPPOSans M" panose="00020600040101010101" pitchFamily="18" charset="-122"/>
                <a:sym typeface="+mn-lt"/>
              </a:endParaRPr>
            </a:p>
          </p:txBody>
        </p:sp>
      </p:grpSp>
      <p:grpSp>
        <p:nvGrpSpPr>
          <p:cNvPr id="5" name="组合 4"/>
          <p:cNvGrpSpPr/>
          <p:nvPr>
            <p:custDataLst>
              <p:tags r:id="rId13"/>
            </p:custDataLst>
          </p:nvPr>
        </p:nvGrpSpPr>
        <p:grpSpPr>
          <a:xfrm>
            <a:off x="2730779" y="4650990"/>
            <a:ext cx="7835772" cy="1064826"/>
            <a:chOff x="2730779" y="4650990"/>
            <a:chExt cx="7835772" cy="1064826"/>
          </a:xfrm>
        </p:grpSpPr>
        <p:sp>
          <p:nvSpPr>
            <p:cNvPr id="45" name="PA-任意多边形 10"/>
            <p:cNvSpPr/>
            <p:nvPr>
              <p:custDataLst>
                <p:tags r:id="rId14"/>
              </p:custDataLst>
            </p:nvPr>
          </p:nvSpPr>
          <p:spPr>
            <a:xfrm>
              <a:off x="3810407" y="4650990"/>
              <a:ext cx="6756144" cy="1064826"/>
            </a:xfrm>
            <a:custGeom>
              <a:avLst/>
              <a:gdLst>
                <a:gd name="connsiteX0" fmla="*/ 377357 w 5739194"/>
                <a:gd name="connsiteY0" fmla="*/ 0 h 904546"/>
                <a:gd name="connsiteX1" fmla="*/ 5484456 w 5739194"/>
                <a:gd name="connsiteY1" fmla="*/ 0 h 904546"/>
                <a:gd name="connsiteX2" fmla="*/ 5739194 w 5739194"/>
                <a:gd name="connsiteY2" fmla="*/ 254738 h 904546"/>
                <a:gd name="connsiteX3" fmla="*/ 5739194 w 5739194"/>
                <a:gd name="connsiteY3" fmla="*/ 649808 h 904546"/>
                <a:gd name="connsiteX4" fmla="*/ 5484456 w 5739194"/>
                <a:gd name="connsiteY4" fmla="*/ 904546 h 904546"/>
                <a:gd name="connsiteX5" fmla="*/ 377357 w 5739194"/>
                <a:gd name="connsiteY5" fmla="*/ 904546 h 904546"/>
                <a:gd name="connsiteX6" fmla="*/ 122619 w 5739194"/>
                <a:gd name="connsiteY6" fmla="*/ 649808 h 904546"/>
                <a:gd name="connsiteX7" fmla="*/ 122619 w 5739194"/>
                <a:gd name="connsiteY7" fmla="*/ 523392 h 904546"/>
                <a:gd name="connsiteX8" fmla="*/ 0 w 5739194"/>
                <a:gd name="connsiteY8" fmla="*/ 452272 h 904546"/>
                <a:gd name="connsiteX9" fmla="*/ 122619 w 5739194"/>
                <a:gd name="connsiteY9" fmla="*/ 381153 h 904546"/>
                <a:gd name="connsiteX10" fmla="*/ 122619 w 5739194"/>
                <a:gd name="connsiteY10" fmla="*/ 254738 h 904546"/>
                <a:gd name="connsiteX11" fmla="*/ 377357 w 5739194"/>
                <a:gd name="connsiteY11" fmla="*/ 0 h 9045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739194" h="904546">
                  <a:moveTo>
                    <a:pt x="377357" y="0"/>
                  </a:moveTo>
                  <a:lnTo>
                    <a:pt x="5484456" y="0"/>
                  </a:lnTo>
                  <a:cubicBezTo>
                    <a:pt x="5625144" y="0"/>
                    <a:pt x="5739194" y="114050"/>
                    <a:pt x="5739194" y="254738"/>
                  </a:cubicBezTo>
                  <a:lnTo>
                    <a:pt x="5739194" y="649808"/>
                  </a:lnTo>
                  <a:cubicBezTo>
                    <a:pt x="5739194" y="790496"/>
                    <a:pt x="5625144" y="904546"/>
                    <a:pt x="5484456" y="904546"/>
                  </a:cubicBezTo>
                  <a:lnTo>
                    <a:pt x="377357" y="904546"/>
                  </a:lnTo>
                  <a:cubicBezTo>
                    <a:pt x="236669" y="904546"/>
                    <a:pt x="122619" y="790496"/>
                    <a:pt x="122619" y="649808"/>
                  </a:cubicBezTo>
                  <a:lnTo>
                    <a:pt x="122619" y="523392"/>
                  </a:lnTo>
                  <a:lnTo>
                    <a:pt x="0" y="452272"/>
                  </a:lnTo>
                  <a:lnTo>
                    <a:pt x="122619" y="381153"/>
                  </a:lnTo>
                  <a:lnTo>
                    <a:pt x="122619" y="254738"/>
                  </a:lnTo>
                  <a:cubicBezTo>
                    <a:pt x="122619" y="114050"/>
                    <a:pt x="236669" y="0"/>
                    <a:pt x="377357" y="0"/>
                  </a:cubicBezTo>
                  <a:close/>
                </a:path>
              </a:pathLst>
            </a:custGeom>
            <a:solidFill>
              <a:srgbClr val="004C9E"/>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latin typeface="微软雅黑" panose="020B0503020204020204" pitchFamily="34" charset="-122"/>
                <a:ea typeface="微软雅黑" panose="020B0503020204020204" pitchFamily="34" charset="-122"/>
              </a:endParaRPr>
            </a:p>
          </p:txBody>
        </p:sp>
        <p:sp>
          <p:nvSpPr>
            <p:cNvPr id="53" name="椭圆 52"/>
            <p:cNvSpPr/>
            <p:nvPr>
              <p:custDataLst>
                <p:tags r:id="rId15"/>
              </p:custDataLst>
            </p:nvPr>
          </p:nvSpPr>
          <p:spPr>
            <a:xfrm>
              <a:off x="2730779" y="4801416"/>
              <a:ext cx="863600" cy="863600"/>
            </a:xfrm>
            <a:prstGeom prst="ellipse">
              <a:avLst/>
            </a:prstGeom>
            <a:solidFill>
              <a:srgbClr val="5B9BD5"/>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altLang="zh-CN" b="1" dirty="0">
                  <a:latin typeface="微软雅黑" panose="020B0503020204020204" pitchFamily="34" charset="-122"/>
                  <a:ea typeface="微软雅黑" panose="020B0503020204020204" pitchFamily="34" charset="-122"/>
                </a:rPr>
                <a:t>03</a:t>
              </a:r>
              <a:endParaRPr lang="zh-CN" altLang="en-US" b="1" dirty="0">
                <a:latin typeface="微软雅黑" panose="020B0503020204020204" pitchFamily="34" charset="-122"/>
                <a:ea typeface="微软雅黑" panose="020B0503020204020204" pitchFamily="34" charset="-122"/>
              </a:endParaRPr>
            </a:p>
          </p:txBody>
        </p:sp>
        <p:sp>
          <p:nvSpPr>
            <p:cNvPr id="57" name="PA-矩形 4"/>
            <p:cNvSpPr>
              <a:spLocks noChangeArrowheads="1"/>
            </p:cNvSpPr>
            <p:nvPr>
              <p:custDataLst>
                <p:tags r:id="rId16"/>
              </p:custDataLst>
            </p:nvPr>
          </p:nvSpPr>
          <p:spPr bwMode="auto">
            <a:xfrm>
              <a:off x="4227685" y="5031992"/>
              <a:ext cx="2835791" cy="307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000" b="1" dirty="0">
                  <a:solidFill>
                    <a:schemeClr val="bg1"/>
                  </a:solidFill>
                  <a:latin typeface="微软雅黑" panose="020B0503020204020204" pitchFamily="34" charset="-122"/>
                  <a:ea typeface="微软雅黑" panose="020B0503020204020204" pitchFamily="34" charset="-122"/>
                  <a:cs typeface="阿里巴巴普惠体 H" panose="00020600040101010101" pitchFamily="18" charset="-122"/>
                  <a:sym typeface="+mn-lt"/>
                </a:rPr>
                <a:t>数据来源</a:t>
              </a:r>
              <a:endParaRPr lang="zh-CN" altLang="en-US" sz="2000" b="1" dirty="0">
                <a:solidFill>
                  <a:schemeClr val="bg1"/>
                </a:solidFill>
                <a:latin typeface="微软雅黑" panose="020B0503020204020204" pitchFamily="34" charset="-122"/>
                <a:ea typeface="微软雅黑" panose="020B0503020204020204" pitchFamily="34" charset="-122"/>
                <a:cs typeface="阿里巴巴普惠体 H" panose="00020600040101010101" pitchFamily="18" charset="-122"/>
                <a:sym typeface="+mn-lt"/>
              </a:endParaRPr>
            </a:p>
          </p:txBody>
        </p:sp>
        <p:sp>
          <p:nvSpPr>
            <p:cNvPr id="58" name="PA-矩形 4"/>
            <p:cNvSpPr>
              <a:spLocks noChangeArrowheads="1"/>
            </p:cNvSpPr>
            <p:nvPr>
              <p:custDataLst>
                <p:tags r:id="rId17"/>
              </p:custDataLst>
            </p:nvPr>
          </p:nvSpPr>
          <p:spPr bwMode="auto">
            <a:xfrm>
              <a:off x="5484985" y="4811242"/>
              <a:ext cx="4829354" cy="6457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pPr>
              <a:r>
                <a:rPr lang="zh-CN" altLang="en-US" sz="1400" dirty="0">
                  <a:solidFill>
                    <a:schemeClr val="bg1"/>
                  </a:solidFill>
                  <a:latin typeface="微软雅黑" panose="020B0503020204020204" pitchFamily="34" charset="-122"/>
                  <a:ea typeface="微软雅黑" panose="020B0503020204020204" pitchFamily="34" charset="-122"/>
                  <a:cs typeface="OPPOSans M" panose="00020600040101010101" pitchFamily="18" charset="-122"/>
                  <a:sym typeface="+mn-lt"/>
                </a:rPr>
                <a:t>可以利用 </a:t>
              </a:r>
              <a:r>
                <a:rPr lang="en-US" altLang="zh-CN" sz="1400" dirty="0">
                  <a:solidFill>
                    <a:schemeClr val="bg1"/>
                  </a:solidFill>
                  <a:latin typeface="微软雅黑" panose="020B0503020204020204" pitchFamily="34" charset="-122"/>
                  <a:ea typeface="微软雅黑" panose="020B0503020204020204" pitchFamily="34" charset="-122"/>
                  <a:cs typeface="OPPOSans M" panose="00020600040101010101" pitchFamily="18" charset="-122"/>
                  <a:sym typeface="+mn-lt"/>
                </a:rPr>
                <a:t>GitHub </a:t>
              </a:r>
              <a:r>
                <a:rPr lang="zh-CN" altLang="en-US" sz="1400" dirty="0">
                  <a:solidFill>
                    <a:schemeClr val="bg1"/>
                  </a:solidFill>
                  <a:latin typeface="微软雅黑" panose="020B0503020204020204" pitchFamily="34" charset="-122"/>
                  <a:ea typeface="微软雅黑" panose="020B0503020204020204" pitchFamily="34" charset="-122"/>
                  <a:cs typeface="OPPOSans M" panose="00020600040101010101" pitchFamily="18" charset="-122"/>
                  <a:sym typeface="+mn-lt"/>
                </a:rPr>
                <a:t>上的公开鱼类数据集进行模型预训练，结合自拍的鱼缸图像进行微调，数据获取门槛低。</a:t>
              </a:r>
              <a:endParaRPr lang="zh-CN" altLang="en-US" sz="1400" dirty="0">
                <a:solidFill>
                  <a:schemeClr val="bg1"/>
                </a:solidFill>
                <a:latin typeface="微软雅黑" panose="020B0503020204020204" pitchFamily="34" charset="-122"/>
                <a:ea typeface="微软雅黑" panose="020B0503020204020204" pitchFamily="34" charset="-122"/>
                <a:cs typeface="OPPOSans M" panose="00020600040101010101" pitchFamily="18" charset="-122"/>
                <a:sym typeface="+mn-lt"/>
              </a:endParaRPr>
            </a:p>
          </p:txBody>
        </p:sp>
      </p:grpSp>
      <p:sp>
        <p:nvSpPr>
          <p:cNvPr id="19" name="文本框 18"/>
          <p:cNvSpPr txBox="1"/>
          <p:nvPr/>
        </p:nvSpPr>
        <p:spPr>
          <a:xfrm>
            <a:off x="844550" y="1089025"/>
            <a:ext cx="4019550" cy="398780"/>
          </a:xfrm>
          <a:prstGeom prst="rect">
            <a:avLst/>
          </a:prstGeom>
          <a:noFill/>
        </p:spPr>
        <p:txBody>
          <a:bodyPr wrap="square" rtlCol="0">
            <a:spAutoFit/>
          </a:bodyPr>
          <a:lstStyle/>
          <a:p>
            <a:r>
              <a:rPr lang="zh-CN" altLang="en-US" sz="2000" b="1"/>
              <a:t>可行性分析</a:t>
            </a:r>
            <a:r>
              <a:rPr lang="en-US" altLang="zh-CN" sz="2000" b="1"/>
              <a:t>--</a:t>
            </a:r>
            <a:r>
              <a:rPr lang="zh-CN" altLang="en-US" sz="2000" b="1"/>
              <a:t>资源与经济可行性</a:t>
            </a:r>
            <a:endParaRPr lang="zh-CN" altLang="en-US" sz="2000" b="1"/>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p:cTn id="13" dur="500" fill="hold"/>
                                        <p:tgtEl>
                                          <p:spTgt spid="4"/>
                                        </p:tgtEl>
                                        <p:attrNameLst>
                                          <p:attrName>ppt_w</p:attrName>
                                        </p:attrNameLst>
                                      </p:cBhvr>
                                      <p:tavLst>
                                        <p:tav tm="0">
                                          <p:val>
                                            <p:fltVal val="0"/>
                                          </p:val>
                                        </p:tav>
                                        <p:tav tm="100000">
                                          <p:val>
                                            <p:strVal val="#ppt_w"/>
                                          </p:val>
                                        </p:tav>
                                      </p:tavLst>
                                    </p:anim>
                                    <p:anim calcmode="lin" valueType="num">
                                      <p:cBhvr>
                                        <p:cTn id="14" dur="500" fill="hold"/>
                                        <p:tgtEl>
                                          <p:spTgt spid="4"/>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p:cTn id="19" dur="500" fill="hold"/>
                                        <p:tgtEl>
                                          <p:spTgt spid="5"/>
                                        </p:tgtEl>
                                        <p:attrNameLst>
                                          <p:attrName>ppt_w</p:attrName>
                                        </p:attrNameLst>
                                      </p:cBhvr>
                                      <p:tavLst>
                                        <p:tav tm="0">
                                          <p:val>
                                            <p:fltVal val="0"/>
                                          </p:val>
                                        </p:tav>
                                        <p:tav tm="100000">
                                          <p:val>
                                            <p:strVal val="#ppt_w"/>
                                          </p:val>
                                        </p:tav>
                                      </p:tavLst>
                                    </p:anim>
                                    <p:anim calcmode="lin" valueType="num">
                                      <p:cBhvr>
                                        <p:cTn id="20" dur="500" fill="hold"/>
                                        <p:tgtEl>
                                          <p:spTgt spid="5"/>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 name="矩形 105"/>
          <p:cNvSpPr/>
          <p:nvPr/>
        </p:nvSpPr>
        <p:spPr>
          <a:xfrm>
            <a:off x="1" y="0"/>
            <a:ext cx="12192000" cy="3694404"/>
          </a:xfrm>
          <a:prstGeom prst="rect">
            <a:avLst/>
          </a:prstGeom>
          <a:solidFill>
            <a:srgbClr val="004C9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7" name="组合 6"/>
          <p:cNvGrpSpPr/>
          <p:nvPr userDrawn="1"/>
        </p:nvGrpSpPr>
        <p:grpSpPr>
          <a:xfrm>
            <a:off x="490537" y="472440"/>
            <a:ext cx="11210925" cy="6019800"/>
            <a:chOff x="490484" y="441960"/>
            <a:chExt cx="11211033" cy="6019801"/>
          </a:xfrm>
        </p:grpSpPr>
        <p:pic>
          <p:nvPicPr>
            <p:cNvPr id="8" name="图片 7"/>
            <p:cNvPicPr>
              <a:picLocks noChangeAspect="1"/>
            </p:cNvPicPr>
            <p:nvPr userDrawn="1"/>
          </p:nvPicPr>
          <p:blipFill rotWithShape="1">
            <a:blip r:embed="rId1">
              <a:extLst>
                <a:ext uri="{28A0092B-C50C-407E-A947-70E740481C1C}">
                  <a14:useLocalDpi xmlns:a14="http://schemas.microsoft.com/office/drawing/2010/main" val="0"/>
                </a:ext>
              </a:extLst>
            </a:blip>
            <a:srcRect l="1515" t="4277" r="530" b="14319"/>
            <a:stretch>
              <a:fillRect/>
            </a:stretch>
          </p:blipFill>
          <p:spPr>
            <a:xfrm>
              <a:off x="490484" y="441960"/>
              <a:ext cx="11211033" cy="6019801"/>
            </a:xfrm>
            <a:prstGeom prst="rect">
              <a:avLst/>
            </a:prstGeom>
            <a:effectLst>
              <a:outerShdw blurRad="355600" dist="139700" dir="2700000" algn="tl" rotWithShape="0">
                <a:prstClr val="black">
                  <a:alpha val="61000"/>
                </a:prstClr>
              </a:outerShdw>
            </a:effectLst>
          </p:spPr>
        </p:pic>
        <p:sp>
          <p:nvSpPr>
            <p:cNvPr id="9" name="矩形 8"/>
            <p:cNvSpPr/>
            <p:nvPr userDrawn="1"/>
          </p:nvSpPr>
          <p:spPr>
            <a:xfrm>
              <a:off x="490484" y="441960"/>
              <a:ext cx="11211032" cy="6019801"/>
            </a:xfrm>
            <a:prstGeom prst="rect">
              <a:avLst/>
            </a:prstGeom>
            <a:solidFill>
              <a:srgbClr val="FFFEF7">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400" b="1" dirty="0">
                <a:solidFill>
                  <a:srgbClr val="004C9E"/>
                </a:solidFill>
                <a:latin typeface="微软雅黑" panose="020B0503020204020204" pitchFamily="34" charset="-122"/>
                <a:ea typeface="微软雅黑" panose="020B0503020204020204" pitchFamily="34" charset="-122"/>
              </a:endParaRPr>
            </a:p>
          </p:txBody>
        </p:sp>
      </p:grpSp>
      <p:cxnSp>
        <p:nvCxnSpPr>
          <p:cNvPr id="43" name="直接连接符 42"/>
          <p:cNvCxnSpPr/>
          <p:nvPr/>
        </p:nvCxnSpPr>
        <p:spPr>
          <a:xfrm>
            <a:off x="899088" y="6096082"/>
            <a:ext cx="9058311" cy="4300"/>
          </a:xfrm>
          <a:prstGeom prst="line">
            <a:avLst/>
          </a:prstGeom>
        </p:spPr>
        <p:style>
          <a:lnRef idx="1">
            <a:schemeClr val="accent1"/>
          </a:lnRef>
          <a:fillRef idx="0">
            <a:schemeClr val="accent1"/>
          </a:fillRef>
          <a:effectRef idx="0">
            <a:schemeClr val="accent1"/>
          </a:effectRef>
          <a:fontRef idx="minor">
            <a:schemeClr val="tx1"/>
          </a:fontRef>
        </p:style>
      </p:cxnSp>
      <p:grpSp>
        <p:nvGrpSpPr>
          <p:cNvPr id="38" name="Group 224"/>
          <p:cNvGrpSpPr/>
          <p:nvPr>
            <p:custDataLst>
              <p:tags r:id="rId2"/>
            </p:custDataLst>
          </p:nvPr>
        </p:nvGrpSpPr>
        <p:grpSpPr>
          <a:xfrm>
            <a:off x="1980067" y="2854661"/>
            <a:ext cx="514352" cy="495390"/>
            <a:chOff x="9169400" y="2532063"/>
            <a:chExt cx="344488" cy="331788"/>
          </a:xfrm>
        </p:grpSpPr>
        <p:sp>
          <p:nvSpPr>
            <p:cNvPr id="39" name="Freeform 102"/>
            <p:cNvSpPr/>
            <p:nvPr>
              <p:custDataLst>
                <p:tags r:id="rId3"/>
              </p:custDataLst>
            </p:nvPr>
          </p:nvSpPr>
          <p:spPr bwMode="auto">
            <a:xfrm>
              <a:off x="9169400" y="2532063"/>
              <a:ext cx="344488" cy="331788"/>
            </a:xfrm>
            <a:custGeom>
              <a:avLst/>
              <a:gdLst>
                <a:gd name="T0" fmla="*/ 92 w 92"/>
                <a:gd name="T1" fmla="*/ 84 h 88"/>
                <a:gd name="T2" fmla="*/ 88 w 92"/>
                <a:gd name="T3" fmla="*/ 88 h 88"/>
                <a:gd name="T4" fmla="*/ 4 w 92"/>
                <a:gd name="T5" fmla="*/ 88 h 88"/>
                <a:gd name="T6" fmla="*/ 0 w 92"/>
                <a:gd name="T7" fmla="*/ 84 h 88"/>
                <a:gd name="T8" fmla="*/ 0 w 92"/>
                <a:gd name="T9" fmla="*/ 4 h 88"/>
                <a:gd name="T10" fmla="*/ 4 w 92"/>
                <a:gd name="T11" fmla="*/ 0 h 88"/>
                <a:gd name="T12" fmla="*/ 88 w 92"/>
                <a:gd name="T13" fmla="*/ 0 h 88"/>
                <a:gd name="T14" fmla="*/ 92 w 92"/>
                <a:gd name="T15" fmla="*/ 4 h 88"/>
                <a:gd name="T16" fmla="*/ 92 w 92"/>
                <a:gd name="T17" fmla="*/ 84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2" h="88">
                  <a:moveTo>
                    <a:pt x="92" y="84"/>
                  </a:moveTo>
                  <a:cubicBezTo>
                    <a:pt x="92" y="86"/>
                    <a:pt x="90" y="88"/>
                    <a:pt x="88" y="88"/>
                  </a:cubicBezTo>
                  <a:cubicBezTo>
                    <a:pt x="4" y="88"/>
                    <a:pt x="4" y="88"/>
                    <a:pt x="4" y="88"/>
                  </a:cubicBezTo>
                  <a:cubicBezTo>
                    <a:pt x="2" y="88"/>
                    <a:pt x="0" y="86"/>
                    <a:pt x="0" y="84"/>
                  </a:cubicBezTo>
                  <a:cubicBezTo>
                    <a:pt x="0" y="4"/>
                    <a:pt x="0" y="4"/>
                    <a:pt x="0" y="4"/>
                  </a:cubicBezTo>
                  <a:cubicBezTo>
                    <a:pt x="0" y="2"/>
                    <a:pt x="2" y="0"/>
                    <a:pt x="4" y="0"/>
                  </a:cubicBezTo>
                  <a:cubicBezTo>
                    <a:pt x="88" y="0"/>
                    <a:pt x="88" y="0"/>
                    <a:pt x="88" y="0"/>
                  </a:cubicBezTo>
                  <a:cubicBezTo>
                    <a:pt x="90" y="0"/>
                    <a:pt x="92" y="2"/>
                    <a:pt x="92" y="4"/>
                  </a:cubicBezTo>
                  <a:lnTo>
                    <a:pt x="92" y="84"/>
                  </a:lnTo>
                  <a:close/>
                </a:path>
              </a:pathLst>
            </a:custGeom>
            <a:noFill/>
            <a:ln w="22225" cap="rnd">
              <a:solidFill>
                <a:schemeClr val="bg1"/>
              </a:solidFill>
              <a:prstDash val="solid"/>
              <a:round/>
            </a:ln>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lstStyle/>
            <a:p>
              <a:pPr defTabSz="609600"/>
              <a:endParaRPr lang="id-ID" sz="3200" dirty="0">
                <a:solidFill>
                  <a:prstClr val="black"/>
                </a:solidFill>
                <a:latin typeface="Calibri Light" panose="020F0302020204030204"/>
                <a:ea typeface="微软雅黑" panose="020B0503020204020204" pitchFamily="34" charset="-122"/>
              </a:endParaRPr>
            </a:p>
          </p:txBody>
        </p:sp>
        <p:sp>
          <p:nvSpPr>
            <p:cNvPr id="40" name="Oval 226"/>
            <p:cNvSpPr>
              <a:spLocks noChangeArrowheads="1"/>
            </p:cNvSpPr>
            <p:nvPr>
              <p:custDataLst>
                <p:tags r:id="rId4"/>
              </p:custDataLst>
            </p:nvPr>
          </p:nvSpPr>
          <p:spPr bwMode="auto">
            <a:xfrm>
              <a:off x="9312275" y="2576513"/>
              <a:ext cx="58738" cy="60325"/>
            </a:xfrm>
            <a:prstGeom prst="ellipse">
              <a:avLst/>
            </a:prstGeom>
            <a:noFill/>
            <a:ln w="22225" cap="rnd">
              <a:solidFill>
                <a:schemeClr val="bg1"/>
              </a:solidFill>
              <a:prstDash val="solid"/>
              <a:round/>
            </a:ln>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lstStyle/>
            <a:p>
              <a:pPr defTabSz="609600"/>
              <a:endParaRPr lang="id-ID" sz="3200" dirty="0">
                <a:solidFill>
                  <a:prstClr val="black"/>
                </a:solidFill>
                <a:latin typeface="Calibri Light" panose="020F0302020204030204"/>
                <a:ea typeface="微软雅黑" panose="020B0503020204020204" pitchFamily="34" charset="-122"/>
              </a:endParaRPr>
            </a:p>
          </p:txBody>
        </p:sp>
        <p:sp>
          <p:nvSpPr>
            <p:cNvPr id="41" name="Line 104"/>
            <p:cNvSpPr>
              <a:spLocks noChangeShapeType="1"/>
            </p:cNvSpPr>
            <p:nvPr>
              <p:custDataLst>
                <p:tags r:id="rId5"/>
              </p:custDataLst>
            </p:nvPr>
          </p:nvSpPr>
          <p:spPr bwMode="auto">
            <a:xfrm>
              <a:off x="9371013" y="2606675"/>
              <a:ext cx="98425" cy="0"/>
            </a:xfrm>
            <a:prstGeom prst="line">
              <a:avLst/>
            </a:prstGeom>
            <a:noFill/>
            <a:ln w="22225" cap="rnd">
              <a:solidFill>
                <a:schemeClr val="bg1"/>
              </a:solidFill>
              <a:prstDash val="solid"/>
              <a:rou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lstStyle/>
            <a:p>
              <a:pPr defTabSz="609600"/>
              <a:endParaRPr lang="id-ID" sz="3200" dirty="0">
                <a:solidFill>
                  <a:prstClr val="black"/>
                </a:solidFill>
                <a:latin typeface="Calibri Light" panose="020F0302020204030204"/>
                <a:ea typeface="微软雅黑" panose="020B0503020204020204" pitchFamily="34" charset="-122"/>
              </a:endParaRPr>
            </a:p>
          </p:txBody>
        </p:sp>
        <p:sp>
          <p:nvSpPr>
            <p:cNvPr id="42" name="Line 105"/>
            <p:cNvSpPr>
              <a:spLocks noChangeShapeType="1"/>
            </p:cNvSpPr>
            <p:nvPr>
              <p:custDataLst>
                <p:tags r:id="rId6"/>
              </p:custDataLst>
            </p:nvPr>
          </p:nvSpPr>
          <p:spPr bwMode="auto">
            <a:xfrm>
              <a:off x="9213850" y="2606675"/>
              <a:ext cx="98425" cy="0"/>
            </a:xfrm>
            <a:prstGeom prst="line">
              <a:avLst/>
            </a:prstGeom>
            <a:noFill/>
            <a:ln w="22225" cap="rnd">
              <a:solidFill>
                <a:schemeClr val="bg1"/>
              </a:solidFill>
              <a:prstDash val="solid"/>
              <a:rou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lstStyle/>
            <a:p>
              <a:pPr defTabSz="609600"/>
              <a:endParaRPr lang="id-ID" sz="3200" dirty="0">
                <a:solidFill>
                  <a:prstClr val="black"/>
                </a:solidFill>
                <a:latin typeface="Calibri Light" panose="020F0302020204030204"/>
                <a:ea typeface="微软雅黑" panose="020B0503020204020204" pitchFamily="34" charset="-122"/>
              </a:endParaRPr>
            </a:p>
          </p:txBody>
        </p:sp>
        <p:sp>
          <p:nvSpPr>
            <p:cNvPr id="44" name="Oval 229"/>
            <p:cNvSpPr>
              <a:spLocks noChangeArrowheads="1"/>
            </p:cNvSpPr>
            <p:nvPr>
              <p:custDataLst>
                <p:tags r:id="rId7"/>
              </p:custDataLst>
            </p:nvPr>
          </p:nvSpPr>
          <p:spPr bwMode="auto">
            <a:xfrm>
              <a:off x="9251950" y="2667000"/>
              <a:ext cx="60325" cy="60325"/>
            </a:xfrm>
            <a:prstGeom prst="ellipse">
              <a:avLst/>
            </a:prstGeom>
            <a:noFill/>
            <a:ln w="22225" cap="rnd">
              <a:solidFill>
                <a:schemeClr val="bg1"/>
              </a:solidFill>
              <a:prstDash val="solid"/>
              <a:round/>
            </a:ln>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lstStyle/>
            <a:p>
              <a:pPr defTabSz="609600"/>
              <a:endParaRPr lang="id-ID" sz="3200" dirty="0">
                <a:solidFill>
                  <a:prstClr val="black"/>
                </a:solidFill>
                <a:latin typeface="Calibri Light" panose="020F0302020204030204"/>
                <a:ea typeface="微软雅黑" panose="020B0503020204020204" pitchFamily="34" charset="-122"/>
              </a:endParaRPr>
            </a:p>
          </p:txBody>
        </p:sp>
        <p:sp>
          <p:nvSpPr>
            <p:cNvPr id="45" name="Line 107"/>
            <p:cNvSpPr>
              <a:spLocks noChangeShapeType="1"/>
            </p:cNvSpPr>
            <p:nvPr>
              <p:custDataLst>
                <p:tags r:id="rId8"/>
              </p:custDataLst>
            </p:nvPr>
          </p:nvSpPr>
          <p:spPr bwMode="auto">
            <a:xfrm>
              <a:off x="9312275" y="2697163"/>
              <a:ext cx="157163" cy="0"/>
            </a:xfrm>
            <a:prstGeom prst="line">
              <a:avLst/>
            </a:prstGeom>
            <a:noFill/>
            <a:ln w="22225" cap="rnd">
              <a:solidFill>
                <a:schemeClr val="bg1"/>
              </a:solidFill>
              <a:prstDash val="solid"/>
              <a:rou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lstStyle/>
            <a:p>
              <a:pPr defTabSz="609600"/>
              <a:endParaRPr lang="id-ID" sz="3200" dirty="0">
                <a:solidFill>
                  <a:prstClr val="black"/>
                </a:solidFill>
                <a:latin typeface="Calibri Light" panose="020F0302020204030204"/>
                <a:ea typeface="微软雅黑" panose="020B0503020204020204" pitchFamily="34" charset="-122"/>
              </a:endParaRPr>
            </a:p>
          </p:txBody>
        </p:sp>
        <p:sp>
          <p:nvSpPr>
            <p:cNvPr id="46" name="Line 108"/>
            <p:cNvSpPr>
              <a:spLocks noChangeShapeType="1"/>
            </p:cNvSpPr>
            <p:nvPr>
              <p:custDataLst>
                <p:tags r:id="rId9"/>
              </p:custDataLst>
            </p:nvPr>
          </p:nvSpPr>
          <p:spPr bwMode="auto">
            <a:xfrm>
              <a:off x="9213850" y="2697163"/>
              <a:ext cx="38100" cy="0"/>
            </a:xfrm>
            <a:prstGeom prst="line">
              <a:avLst/>
            </a:prstGeom>
            <a:noFill/>
            <a:ln w="22225" cap="rnd">
              <a:solidFill>
                <a:schemeClr val="bg1"/>
              </a:solidFill>
              <a:prstDash val="solid"/>
              <a:rou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lstStyle/>
            <a:p>
              <a:pPr defTabSz="609600"/>
              <a:endParaRPr lang="id-ID" sz="3200" dirty="0">
                <a:solidFill>
                  <a:prstClr val="black"/>
                </a:solidFill>
                <a:latin typeface="Calibri Light" panose="020F0302020204030204"/>
                <a:ea typeface="微软雅黑" panose="020B0503020204020204" pitchFamily="34" charset="-122"/>
              </a:endParaRPr>
            </a:p>
          </p:txBody>
        </p:sp>
        <p:sp>
          <p:nvSpPr>
            <p:cNvPr id="47" name="Oval 232"/>
            <p:cNvSpPr>
              <a:spLocks noChangeArrowheads="1"/>
            </p:cNvSpPr>
            <p:nvPr>
              <p:custDataLst>
                <p:tags r:id="rId10"/>
              </p:custDataLst>
            </p:nvPr>
          </p:nvSpPr>
          <p:spPr bwMode="auto">
            <a:xfrm>
              <a:off x="9282113" y="2757488"/>
              <a:ext cx="58738" cy="60325"/>
            </a:xfrm>
            <a:prstGeom prst="ellipse">
              <a:avLst/>
            </a:prstGeom>
            <a:noFill/>
            <a:ln w="22225" cap="rnd">
              <a:solidFill>
                <a:schemeClr val="bg1"/>
              </a:solidFill>
              <a:prstDash val="solid"/>
              <a:round/>
            </a:ln>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lstStyle/>
            <a:p>
              <a:pPr defTabSz="609600"/>
              <a:endParaRPr lang="id-ID" sz="3200" dirty="0">
                <a:solidFill>
                  <a:prstClr val="black"/>
                </a:solidFill>
                <a:latin typeface="Calibri Light" panose="020F0302020204030204"/>
                <a:ea typeface="微软雅黑" panose="020B0503020204020204" pitchFamily="34" charset="-122"/>
              </a:endParaRPr>
            </a:p>
          </p:txBody>
        </p:sp>
        <p:sp>
          <p:nvSpPr>
            <p:cNvPr id="48" name="Line 110"/>
            <p:cNvSpPr>
              <a:spLocks noChangeShapeType="1"/>
            </p:cNvSpPr>
            <p:nvPr>
              <p:custDataLst>
                <p:tags r:id="rId11"/>
              </p:custDataLst>
            </p:nvPr>
          </p:nvSpPr>
          <p:spPr bwMode="auto">
            <a:xfrm>
              <a:off x="9340850" y="2787650"/>
              <a:ext cx="128588" cy="0"/>
            </a:xfrm>
            <a:prstGeom prst="line">
              <a:avLst/>
            </a:prstGeom>
            <a:noFill/>
            <a:ln w="22225" cap="rnd">
              <a:solidFill>
                <a:schemeClr val="bg1"/>
              </a:solidFill>
              <a:prstDash val="solid"/>
              <a:rou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lstStyle/>
            <a:p>
              <a:pPr defTabSz="609600"/>
              <a:endParaRPr lang="id-ID" sz="3200" dirty="0">
                <a:solidFill>
                  <a:prstClr val="black"/>
                </a:solidFill>
                <a:latin typeface="Calibri Light" panose="020F0302020204030204"/>
                <a:ea typeface="微软雅黑" panose="020B0503020204020204" pitchFamily="34" charset="-122"/>
              </a:endParaRPr>
            </a:p>
          </p:txBody>
        </p:sp>
        <p:sp>
          <p:nvSpPr>
            <p:cNvPr id="49" name="Line 111"/>
            <p:cNvSpPr>
              <a:spLocks noChangeShapeType="1"/>
            </p:cNvSpPr>
            <p:nvPr>
              <p:custDataLst>
                <p:tags r:id="rId12"/>
              </p:custDataLst>
            </p:nvPr>
          </p:nvSpPr>
          <p:spPr bwMode="auto">
            <a:xfrm>
              <a:off x="9213850" y="2787650"/>
              <a:ext cx="68263" cy="0"/>
            </a:xfrm>
            <a:prstGeom prst="line">
              <a:avLst/>
            </a:prstGeom>
            <a:noFill/>
            <a:ln w="22225" cap="rnd">
              <a:solidFill>
                <a:schemeClr val="bg1"/>
              </a:solidFill>
              <a:prstDash val="solid"/>
              <a:rou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lstStyle/>
            <a:p>
              <a:pPr defTabSz="609600"/>
              <a:endParaRPr lang="id-ID" sz="3200" dirty="0">
                <a:solidFill>
                  <a:prstClr val="black"/>
                </a:solidFill>
                <a:latin typeface="Calibri Light" panose="020F0302020204030204"/>
                <a:ea typeface="微软雅黑" panose="020B0503020204020204" pitchFamily="34" charset="-122"/>
              </a:endParaRPr>
            </a:p>
          </p:txBody>
        </p:sp>
      </p:grpSp>
      <p:cxnSp>
        <p:nvCxnSpPr>
          <p:cNvPr id="76" name="Straight Connector 118"/>
          <p:cNvCxnSpPr/>
          <p:nvPr>
            <p:custDataLst>
              <p:tags r:id="rId13"/>
            </p:custDataLst>
          </p:nvPr>
        </p:nvCxnSpPr>
        <p:spPr>
          <a:xfrm>
            <a:off x="7401047" y="4258946"/>
            <a:ext cx="434095" cy="0"/>
          </a:xfrm>
          <a:prstGeom prst="line">
            <a:avLst/>
          </a:prstGeom>
          <a:ln w="9525">
            <a:solidFill>
              <a:srgbClr val="E54215"/>
            </a:solidFill>
          </a:ln>
        </p:spPr>
        <p:style>
          <a:lnRef idx="1">
            <a:schemeClr val="accent1"/>
          </a:lnRef>
          <a:fillRef idx="0">
            <a:schemeClr val="accent1"/>
          </a:fillRef>
          <a:effectRef idx="0">
            <a:schemeClr val="accent1"/>
          </a:effectRef>
          <a:fontRef idx="minor">
            <a:schemeClr val="tx1"/>
          </a:fontRef>
        </p:style>
      </p:cxnSp>
      <p:cxnSp>
        <p:nvCxnSpPr>
          <p:cNvPr id="77" name="Straight Connector 119"/>
          <p:cNvCxnSpPr/>
          <p:nvPr>
            <p:custDataLst>
              <p:tags r:id="rId14"/>
            </p:custDataLst>
          </p:nvPr>
        </p:nvCxnSpPr>
        <p:spPr>
          <a:xfrm>
            <a:off x="7401047" y="2543333"/>
            <a:ext cx="434095" cy="0"/>
          </a:xfrm>
          <a:prstGeom prst="line">
            <a:avLst/>
          </a:prstGeom>
          <a:ln w="9525">
            <a:solidFill>
              <a:srgbClr val="E54215"/>
            </a:solidFill>
          </a:ln>
        </p:spPr>
        <p:style>
          <a:lnRef idx="1">
            <a:schemeClr val="accent1"/>
          </a:lnRef>
          <a:fillRef idx="0">
            <a:schemeClr val="accent1"/>
          </a:fillRef>
          <a:effectRef idx="0">
            <a:schemeClr val="accent1"/>
          </a:effectRef>
          <a:fontRef idx="minor">
            <a:schemeClr val="tx1"/>
          </a:fontRef>
        </p:style>
      </p:cxnSp>
      <p:cxnSp>
        <p:nvCxnSpPr>
          <p:cNvPr id="78" name="Straight Connector 117"/>
          <p:cNvCxnSpPr/>
          <p:nvPr>
            <p:custDataLst>
              <p:tags r:id="rId15"/>
            </p:custDataLst>
          </p:nvPr>
        </p:nvCxnSpPr>
        <p:spPr>
          <a:xfrm>
            <a:off x="3883560" y="4258946"/>
            <a:ext cx="434095" cy="0"/>
          </a:xfrm>
          <a:prstGeom prst="line">
            <a:avLst/>
          </a:prstGeom>
          <a:ln w="9525">
            <a:solidFill>
              <a:srgbClr val="E54215"/>
            </a:solidFill>
          </a:ln>
        </p:spPr>
        <p:style>
          <a:lnRef idx="1">
            <a:schemeClr val="accent1"/>
          </a:lnRef>
          <a:fillRef idx="0">
            <a:schemeClr val="accent1"/>
          </a:fillRef>
          <a:effectRef idx="0">
            <a:schemeClr val="accent1"/>
          </a:effectRef>
          <a:fontRef idx="minor">
            <a:schemeClr val="tx1"/>
          </a:fontRef>
        </p:style>
      </p:cxnSp>
      <p:cxnSp>
        <p:nvCxnSpPr>
          <p:cNvPr id="79" name="Straight Connector 114"/>
          <p:cNvCxnSpPr>
            <a:stCxn id="84" idx="6"/>
          </p:cNvCxnSpPr>
          <p:nvPr>
            <p:custDataLst>
              <p:tags r:id="rId16"/>
            </p:custDataLst>
          </p:nvPr>
        </p:nvCxnSpPr>
        <p:spPr>
          <a:xfrm>
            <a:off x="3883560" y="2543333"/>
            <a:ext cx="434095" cy="0"/>
          </a:xfrm>
          <a:prstGeom prst="line">
            <a:avLst/>
          </a:prstGeom>
          <a:ln w="9525">
            <a:solidFill>
              <a:srgbClr val="E54215"/>
            </a:solidFill>
          </a:ln>
        </p:spPr>
        <p:style>
          <a:lnRef idx="1">
            <a:schemeClr val="accent1"/>
          </a:lnRef>
          <a:fillRef idx="0">
            <a:schemeClr val="accent1"/>
          </a:fillRef>
          <a:effectRef idx="0">
            <a:schemeClr val="accent1"/>
          </a:effectRef>
          <a:fontRef idx="minor">
            <a:schemeClr val="tx1"/>
          </a:fontRef>
        </p:style>
      </p:cxnSp>
      <p:sp>
        <p:nvSpPr>
          <p:cNvPr id="80" name="Freeform 9"/>
          <p:cNvSpPr/>
          <p:nvPr>
            <p:custDataLst>
              <p:tags r:id="rId17"/>
            </p:custDataLst>
          </p:nvPr>
        </p:nvSpPr>
        <p:spPr bwMode="auto">
          <a:xfrm rot="18900000">
            <a:off x="4321877" y="1652630"/>
            <a:ext cx="1920137" cy="2653845"/>
          </a:xfrm>
          <a:custGeom>
            <a:avLst/>
            <a:gdLst>
              <a:gd name="T0" fmla="*/ 233 w 467"/>
              <a:gd name="T1" fmla="*/ 0 h 646"/>
              <a:gd name="T2" fmla="*/ 0 w 467"/>
              <a:gd name="T3" fmla="*/ 232 h 646"/>
              <a:gd name="T4" fmla="*/ 10 w 467"/>
              <a:gd name="T5" fmla="*/ 299 h 646"/>
              <a:gd name="T6" fmla="*/ 73 w 467"/>
              <a:gd name="T7" fmla="*/ 400 h 646"/>
              <a:gd name="T8" fmla="*/ 73 w 467"/>
              <a:gd name="T9" fmla="*/ 401 h 646"/>
              <a:gd name="T10" fmla="*/ 119 w 467"/>
              <a:gd name="T11" fmla="*/ 522 h 646"/>
              <a:gd name="T12" fmla="*/ 79 w 467"/>
              <a:gd name="T13" fmla="*/ 636 h 646"/>
              <a:gd name="T14" fmla="*/ 84 w 467"/>
              <a:gd name="T15" fmla="*/ 646 h 646"/>
              <a:gd name="T16" fmla="*/ 169 w 467"/>
              <a:gd name="T17" fmla="*/ 586 h 646"/>
              <a:gd name="T18" fmla="*/ 178 w 467"/>
              <a:gd name="T19" fmla="*/ 522 h 646"/>
              <a:gd name="T20" fmla="*/ 169 w 467"/>
              <a:gd name="T21" fmla="*/ 456 h 646"/>
              <a:gd name="T22" fmla="*/ 98 w 467"/>
              <a:gd name="T23" fmla="*/ 342 h 646"/>
              <a:gd name="T24" fmla="*/ 59 w 467"/>
              <a:gd name="T25" fmla="*/ 232 h 646"/>
              <a:gd name="T26" fmla="*/ 233 w 467"/>
              <a:gd name="T27" fmla="*/ 59 h 646"/>
              <a:gd name="T28" fmla="*/ 408 w 467"/>
              <a:gd name="T29" fmla="*/ 232 h 646"/>
              <a:gd name="T30" fmla="*/ 361 w 467"/>
              <a:gd name="T31" fmla="*/ 351 h 646"/>
              <a:gd name="T32" fmla="*/ 457 w 467"/>
              <a:gd name="T33" fmla="*/ 299 h 646"/>
              <a:gd name="T34" fmla="*/ 467 w 467"/>
              <a:gd name="T35" fmla="*/ 232 h 646"/>
              <a:gd name="T36" fmla="*/ 233 w 467"/>
              <a:gd name="T37" fmla="*/ 0 h 6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67" h="646">
                <a:moveTo>
                  <a:pt x="233" y="0"/>
                </a:moveTo>
                <a:cubicBezTo>
                  <a:pt x="105" y="0"/>
                  <a:pt x="0" y="104"/>
                  <a:pt x="0" y="232"/>
                </a:cubicBezTo>
                <a:cubicBezTo>
                  <a:pt x="0" y="255"/>
                  <a:pt x="3" y="278"/>
                  <a:pt x="10" y="299"/>
                </a:cubicBezTo>
                <a:cubicBezTo>
                  <a:pt x="21" y="338"/>
                  <a:pt x="43" y="373"/>
                  <a:pt x="73" y="400"/>
                </a:cubicBezTo>
                <a:cubicBezTo>
                  <a:pt x="73" y="401"/>
                  <a:pt x="73" y="401"/>
                  <a:pt x="73" y="401"/>
                </a:cubicBezTo>
                <a:cubicBezTo>
                  <a:pt x="102" y="432"/>
                  <a:pt x="119" y="476"/>
                  <a:pt x="119" y="522"/>
                </a:cubicBezTo>
                <a:cubicBezTo>
                  <a:pt x="119" y="565"/>
                  <a:pt x="105" y="605"/>
                  <a:pt x="79" y="636"/>
                </a:cubicBezTo>
                <a:cubicBezTo>
                  <a:pt x="84" y="646"/>
                  <a:pt x="84" y="646"/>
                  <a:pt x="84" y="646"/>
                </a:cubicBezTo>
                <a:cubicBezTo>
                  <a:pt x="110" y="624"/>
                  <a:pt x="136" y="596"/>
                  <a:pt x="169" y="586"/>
                </a:cubicBezTo>
                <a:cubicBezTo>
                  <a:pt x="175" y="566"/>
                  <a:pt x="178" y="544"/>
                  <a:pt x="178" y="522"/>
                </a:cubicBezTo>
                <a:cubicBezTo>
                  <a:pt x="178" y="499"/>
                  <a:pt x="175" y="477"/>
                  <a:pt x="169" y="456"/>
                </a:cubicBezTo>
                <a:cubicBezTo>
                  <a:pt x="156" y="413"/>
                  <a:pt x="131" y="370"/>
                  <a:pt x="98" y="342"/>
                </a:cubicBezTo>
                <a:cubicBezTo>
                  <a:pt x="74" y="312"/>
                  <a:pt x="59" y="274"/>
                  <a:pt x="59" y="232"/>
                </a:cubicBezTo>
                <a:cubicBezTo>
                  <a:pt x="59" y="136"/>
                  <a:pt x="137" y="59"/>
                  <a:pt x="233" y="59"/>
                </a:cubicBezTo>
                <a:cubicBezTo>
                  <a:pt x="330" y="59"/>
                  <a:pt x="408" y="136"/>
                  <a:pt x="408" y="232"/>
                </a:cubicBezTo>
                <a:cubicBezTo>
                  <a:pt x="408" y="278"/>
                  <a:pt x="390" y="320"/>
                  <a:pt x="361" y="351"/>
                </a:cubicBezTo>
                <a:cubicBezTo>
                  <a:pt x="361" y="351"/>
                  <a:pt x="422" y="309"/>
                  <a:pt x="457" y="299"/>
                </a:cubicBezTo>
                <a:cubicBezTo>
                  <a:pt x="463" y="278"/>
                  <a:pt x="467" y="255"/>
                  <a:pt x="467" y="232"/>
                </a:cubicBezTo>
                <a:cubicBezTo>
                  <a:pt x="467" y="104"/>
                  <a:pt x="362" y="0"/>
                  <a:pt x="233" y="0"/>
                </a:cubicBezTo>
                <a:close/>
              </a:path>
            </a:pathLst>
          </a:custGeom>
          <a:solidFill>
            <a:srgbClr val="004C9E"/>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dirty="0">
              <a:latin typeface="微软雅黑" panose="020B0503020204020204" pitchFamily="34" charset="-122"/>
              <a:ea typeface="微软雅黑" panose="020B0503020204020204" pitchFamily="34" charset="-122"/>
            </a:endParaRPr>
          </a:p>
        </p:txBody>
      </p:sp>
      <p:sp>
        <p:nvSpPr>
          <p:cNvPr id="81" name="Freeform 11"/>
          <p:cNvSpPr/>
          <p:nvPr>
            <p:custDataLst>
              <p:tags r:id="rId18"/>
            </p:custDataLst>
          </p:nvPr>
        </p:nvSpPr>
        <p:spPr bwMode="auto">
          <a:xfrm rot="18900000">
            <a:off x="5482764" y="2828260"/>
            <a:ext cx="1920137" cy="2624360"/>
          </a:xfrm>
          <a:custGeom>
            <a:avLst/>
            <a:gdLst>
              <a:gd name="T0" fmla="*/ 458 w 467"/>
              <a:gd name="T1" fmla="*/ 343 h 639"/>
              <a:gd name="T2" fmla="*/ 448 w 467"/>
              <a:gd name="T3" fmla="*/ 340 h 639"/>
              <a:gd name="T4" fmla="*/ 458 w 467"/>
              <a:gd name="T5" fmla="*/ 343 h 639"/>
              <a:gd name="T6" fmla="*/ 399 w 467"/>
              <a:gd name="T7" fmla="*/ 243 h 639"/>
              <a:gd name="T8" fmla="*/ 399 w 467"/>
              <a:gd name="T9" fmla="*/ 243 h 639"/>
              <a:gd name="T10" fmla="*/ 348 w 467"/>
              <a:gd name="T11" fmla="*/ 119 h 639"/>
              <a:gd name="T12" fmla="*/ 394 w 467"/>
              <a:gd name="T13" fmla="*/ 2 h 639"/>
              <a:gd name="T14" fmla="*/ 391 w 467"/>
              <a:gd name="T15" fmla="*/ 0 h 639"/>
              <a:gd name="T16" fmla="*/ 299 w 467"/>
              <a:gd name="T17" fmla="*/ 52 h 639"/>
              <a:gd name="T18" fmla="*/ 289 w 467"/>
              <a:gd name="T19" fmla="*/ 119 h 639"/>
              <a:gd name="T20" fmla="*/ 298 w 467"/>
              <a:gd name="T21" fmla="*/ 183 h 639"/>
              <a:gd name="T22" fmla="*/ 346 w 467"/>
              <a:gd name="T23" fmla="*/ 271 h 639"/>
              <a:gd name="T24" fmla="*/ 346 w 467"/>
              <a:gd name="T25" fmla="*/ 271 h 639"/>
              <a:gd name="T26" fmla="*/ 346 w 467"/>
              <a:gd name="T27" fmla="*/ 272 h 639"/>
              <a:gd name="T28" fmla="*/ 368 w 467"/>
              <a:gd name="T29" fmla="*/ 294 h 639"/>
              <a:gd name="T30" fmla="*/ 408 w 467"/>
              <a:gd name="T31" fmla="*/ 407 h 639"/>
              <a:gd name="T32" fmla="*/ 233 w 467"/>
              <a:gd name="T33" fmla="*/ 580 h 639"/>
              <a:gd name="T34" fmla="*/ 59 w 467"/>
              <a:gd name="T35" fmla="*/ 407 h 639"/>
              <a:gd name="T36" fmla="*/ 110 w 467"/>
              <a:gd name="T37" fmla="*/ 284 h 639"/>
              <a:gd name="T38" fmla="*/ 109 w 467"/>
              <a:gd name="T39" fmla="*/ 282 h 639"/>
              <a:gd name="T40" fmla="*/ 9 w 467"/>
              <a:gd name="T41" fmla="*/ 342 h 639"/>
              <a:gd name="T42" fmla="*/ 0 w 467"/>
              <a:gd name="T43" fmla="*/ 407 h 639"/>
              <a:gd name="T44" fmla="*/ 233 w 467"/>
              <a:gd name="T45" fmla="*/ 639 h 639"/>
              <a:gd name="T46" fmla="*/ 467 w 467"/>
              <a:gd name="T47" fmla="*/ 407 h 639"/>
              <a:gd name="T48" fmla="*/ 458 w 467"/>
              <a:gd name="T49" fmla="*/ 343 h 6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467" h="639">
                <a:moveTo>
                  <a:pt x="458" y="343"/>
                </a:moveTo>
                <a:cubicBezTo>
                  <a:pt x="455" y="342"/>
                  <a:pt x="452" y="341"/>
                  <a:pt x="448" y="340"/>
                </a:cubicBezTo>
                <a:cubicBezTo>
                  <a:pt x="452" y="341"/>
                  <a:pt x="455" y="342"/>
                  <a:pt x="458" y="343"/>
                </a:cubicBezTo>
                <a:cubicBezTo>
                  <a:pt x="447" y="305"/>
                  <a:pt x="426" y="271"/>
                  <a:pt x="399" y="243"/>
                </a:cubicBezTo>
                <a:cubicBezTo>
                  <a:pt x="399" y="243"/>
                  <a:pt x="399" y="243"/>
                  <a:pt x="399" y="243"/>
                </a:cubicBezTo>
                <a:cubicBezTo>
                  <a:pt x="367" y="212"/>
                  <a:pt x="348" y="168"/>
                  <a:pt x="348" y="119"/>
                </a:cubicBezTo>
                <a:cubicBezTo>
                  <a:pt x="348" y="74"/>
                  <a:pt x="365" y="33"/>
                  <a:pt x="394" y="2"/>
                </a:cubicBezTo>
                <a:cubicBezTo>
                  <a:pt x="391" y="0"/>
                  <a:pt x="391" y="0"/>
                  <a:pt x="391" y="0"/>
                </a:cubicBezTo>
                <a:cubicBezTo>
                  <a:pt x="365" y="24"/>
                  <a:pt x="333" y="42"/>
                  <a:pt x="299" y="52"/>
                </a:cubicBezTo>
                <a:cubicBezTo>
                  <a:pt x="292" y="74"/>
                  <a:pt x="289" y="96"/>
                  <a:pt x="289" y="119"/>
                </a:cubicBezTo>
                <a:cubicBezTo>
                  <a:pt x="289" y="141"/>
                  <a:pt x="292" y="163"/>
                  <a:pt x="298" y="183"/>
                </a:cubicBezTo>
                <a:cubicBezTo>
                  <a:pt x="307" y="216"/>
                  <a:pt x="324" y="246"/>
                  <a:pt x="346" y="271"/>
                </a:cubicBezTo>
                <a:cubicBezTo>
                  <a:pt x="346" y="271"/>
                  <a:pt x="346" y="271"/>
                  <a:pt x="346" y="271"/>
                </a:cubicBezTo>
                <a:cubicBezTo>
                  <a:pt x="346" y="271"/>
                  <a:pt x="346" y="271"/>
                  <a:pt x="346" y="272"/>
                </a:cubicBezTo>
                <a:cubicBezTo>
                  <a:pt x="353" y="279"/>
                  <a:pt x="360" y="287"/>
                  <a:pt x="368" y="294"/>
                </a:cubicBezTo>
                <a:cubicBezTo>
                  <a:pt x="393" y="324"/>
                  <a:pt x="408" y="364"/>
                  <a:pt x="408" y="407"/>
                </a:cubicBezTo>
                <a:cubicBezTo>
                  <a:pt x="408" y="503"/>
                  <a:pt x="330" y="580"/>
                  <a:pt x="233" y="580"/>
                </a:cubicBezTo>
                <a:cubicBezTo>
                  <a:pt x="137" y="580"/>
                  <a:pt x="59" y="503"/>
                  <a:pt x="59" y="407"/>
                </a:cubicBezTo>
                <a:cubicBezTo>
                  <a:pt x="59" y="359"/>
                  <a:pt x="78" y="315"/>
                  <a:pt x="110" y="284"/>
                </a:cubicBezTo>
                <a:cubicBezTo>
                  <a:pt x="109" y="282"/>
                  <a:pt x="109" y="282"/>
                  <a:pt x="109" y="282"/>
                </a:cubicBezTo>
                <a:cubicBezTo>
                  <a:pt x="82" y="310"/>
                  <a:pt x="47" y="331"/>
                  <a:pt x="9" y="342"/>
                </a:cubicBezTo>
                <a:cubicBezTo>
                  <a:pt x="3" y="363"/>
                  <a:pt x="0" y="384"/>
                  <a:pt x="0" y="407"/>
                </a:cubicBezTo>
                <a:cubicBezTo>
                  <a:pt x="0" y="535"/>
                  <a:pt x="105" y="639"/>
                  <a:pt x="233" y="639"/>
                </a:cubicBezTo>
                <a:cubicBezTo>
                  <a:pt x="362" y="639"/>
                  <a:pt x="467" y="535"/>
                  <a:pt x="467" y="407"/>
                </a:cubicBezTo>
                <a:cubicBezTo>
                  <a:pt x="467" y="385"/>
                  <a:pt x="464" y="363"/>
                  <a:pt x="458" y="343"/>
                </a:cubicBezTo>
                <a:close/>
              </a:path>
            </a:pathLst>
          </a:custGeom>
          <a:solidFill>
            <a:srgbClr val="004C9E"/>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sz="1200" dirty="0">
              <a:solidFill>
                <a:schemeClr val="lt1"/>
              </a:solidFill>
              <a:latin typeface="微软雅黑" panose="020B0503020204020204" pitchFamily="34" charset="-122"/>
              <a:ea typeface="微软雅黑" panose="020B0503020204020204" pitchFamily="34" charset="-122"/>
            </a:endParaRPr>
          </a:p>
        </p:txBody>
      </p:sp>
      <p:sp>
        <p:nvSpPr>
          <p:cNvPr id="82" name="Freeform 12"/>
          <p:cNvSpPr/>
          <p:nvPr>
            <p:custDataLst>
              <p:tags r:id="rId19"/>
            </p:custDataLst>
          </p:nvPr>
        </p:nvSpPr>
        <p:spPr bwMode="auto">
          <a:xfrm rot="18900000">
            <a:off x="5144907" y="2011198"/>
            <a:ext cx="2619157" cy="1909730"/>
          </a:xfrm>
          <a:custGeom>
            <a:avLst/>
            <a:gdLst>
              <a:gd name="T0" fmla="*/ 403 w 637"/>
              <a:gd name="T1" fmla="*/ 0 h 465"/>
              <a:gd name="T2" fmla="*/ 338 w 637"/>
              <a:gd name="T3" fmla="*/ 9 h 465"/>
              <a:gd name="T4" fmla="*/ 242 w 637"/>
              <a:gd name="T5" fmla="*/ 61 h 465"/>
              <a:gd name="T6" fmla="*/ 114 w 637"/>
              <a:gd name="T7" fmla="*/ 116 h 465"/>
              <a:gd name="T8" fmla="*/ 0 w 637"/>
              <a:gd name="T9" fmla="*/ 74 h 465"/>
              <a:gd name="T10" fmla="*/ 50 w 637"/>
              <a:gd name="T11" fmla="*/ 166 h 465"/>
              <a:gd name="T12" fmla="*/ 114 w 637"/>
              <a:gd name="T13" fmla="*/ 175 h 465"/>
              <a:gd name="T14" fmla="*/ 180 w 637"/>
              <a:gd name="T15" fmla="*/ 165 h 465"/>
              <a:gd name="T16" fmla="*/ 274 w 637"/>
              <a:gd name="T17" fmla="*/ 116 h 465"/>
              <a:gd name="T18" fmla="*/ 285 w 637"/>
              <a:gd name="T19" fmla="*/ 105 h 465"/>
              <a:gd name="T20" fmla="*/ 403 w 637"/>
              <a:gd name="T21" fmla="*/ 59 h 465"/>
              <a:gd name="T22" fmla="*/ 578 w 637"/>
              <a:gd name="T23" fmla="*/ 232 h 465"/>
              <a:gd name="T24" fmla="*/ 403 w 637"/>
              <a:gd name="T25" fmla="*/ 406 h 465"/>
              <a:gd name="T26" fmla="*/ 281 w 637"/>
              <a:gd name="T27" fmla="*/ 356 h 465"/>
              <a:gd name="T28" fmla="*/ 280 w 637"/>
              <a:gd name="T29" fmla="*/ 356 h 465"/>
              <a:gd name="T30" fmla="*/ 280 w 637"/>
              <a:gd name="T31" fmla="*/ 356 h 465"/>
              <a:gd name="T32" fmla="*/ 339 w 637"/>
              <a:gd name="T33" fmla="*/ 456 h 465"/>
              <a:gd name="T34" fmla="*/ 403 w 637"/>
              <a:gd name="T35" fmla="*/ 465 h 465"/>
              <a:gd name="T36" fmla="*/ 637 w 637"/>
              <a:gd name="T37" fmla="*/ 232 h 465"/>
              <a:gd name="T38" fmla="*/ 403 w 637"/>
              <a:gd name="T39" fmla="*/ 0 h 4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37" h="465">
                <a:moveTo>
                  <a:pt x="403" y="0"/>
                </a:moveTo>
                <a:cubicBezTo>
                  <a:pt x="381" y="0"/>
                  <a:pt x="359" y="3"/>
                  <a:pt x="338" y="9"/>
                </a:cubicBezTo>
                <a:cubicBezTo>
                  <a:pt x="303" y="19"/>
                  <a:pt x="242" y="61"/>
                  <a:pt x="242" y="61"/>
                </a:cubicBezTo>
                <a:cubicBezTo>
                  <a:pt x="210" y="95"/>
                  <a:pt x="165" y="116"/>
                  <a:pt x="114" y="116"/>
                </a:cubicBezTo>
                <a:cubicBezTo>
                  <a:pt x="71" y="116"/>
                  <a:pt x="31" y="100"/>
                  <a:pt x="0" y="74"/>
                </a:cubicBezTo>
                <a:cubicBezTo>
                  <a:pt x="23" y="100"/>
                  <a:pt x="40" y="133"/>
                  <a:pt x="50" y="166"/>
                </a:cubicBezTo>
                <a:cubicBezTo>
                  <a:pt x="70" y="171"/>
                  <a:pt x="92" y="175"/>
                  <a:pt x="114" y="175"/>
                </a:cubicBezTo>
                <a:cubicBezTo>
                  <a:pt x="137" y="175"/>
                  <a:pt x="159" y="171"/>
                  <a:pt x="180" y="165"/>
                </a:cubicBezTo>
                <a:cubicBezTo>
                  <a:pt x="214" y="155"/>
                  <a:pt x="248" y="139"/>
                  <a:pt x="274" y="116"/>
                </a:cubicBezTo>
                <a:cubicBezTo>
                  <a:pt x="278" y="112"/>
                  <a:pt x="282" y="108"/>
                  <a:pt x="285" y="105"/>
                </a:cubicBezTo>
                <a:cubicBezTo>
                  <a:pt x="316" y="76"/>
                  <a:pt x="358" y="59"/>
                  <a:pt x="403" y="59"/>
                </a:cubicBezTo>
                <a:cubicBezTo>
                  <a:pt x="500" y="59"/>
                  <a:pt x="578" y="136"/>
                  <a:pt x="578" y="232"/>
                </a:cubicBezTo>
                <a:cubicBezTo>
                  <a:pt x="578" y="328"/>
                  <a:pt x="500" y="406"/>
                  <a:pt x="403" y="406"/>
                </a:cubicBezTo>
                <a:cubicBezTo>
                  <a:pt x="355" y="406"/>
                  <a:pt x="312" y="387"/>
                  <a:pt x="281" y="356"/>
                </a:cubicBezTo>
                <a:cubicBezTo>
                  <a:pt x="280" y="356"/>
                  <a:pt x="280" y="356"/>
                  <a:pt x="280" y="356"/>
                </a:cubicBezTo>
                <a:cubicBezTo>
                  <a:pt x="280" y="356"/>
                  <a:pt x="280" y="356"/>
                  <a:pt x="280" y="356"/>
                </a:cubicBezTo>
                <a:cubicBezTo>
                  <a:pt x="307" y="384"/>
                  <a:pt x="328" y="418"/>
                  <a:pt x="339" y="456"/>
                </a:cubicBezTo>
                <a:cubicBezTo>
                  <a:pt x="359" y="462"/>
                  <a:pt x="381" y="465"/>
                  <a:pt x="403" y="465"/>
                </a:cubicBezTo>
                <a:cubicBezTo>
                  <a:pt x="532" y="465"/>
                  <a:pt x="637" y="360"/>
                  <a:pt x="637" y="232"/>
                </a:cubicBezTo>
                <a:cubicBezTo>
                  <a:pt x="637" y="104"/>
                  <a:pt x="532" y="0"/>
                  <a:pt x="403" y="0"/>
                </a:cubicBezTo>
                <a:close/>
              </a:path>
            </a:pathLst>
          </a:custGeom>
          <a:gradFill flip="none" rotWithShape="1">
            <a:gsLst>
              <a:gs pos="0">
                <a:schemeClr val="accent1"/>
              </a:gs>
              <a:gs pos="70000">
                <a:schemeClr val="accent1"/>
              </a:gs>
            </a:gsLst>
            <a:lin ang="2700000" scaled="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sz="1200" dirty="0">
              <a:solidFill>
                <a:schemeClr val="lt1"/>
              </a:solidFill>
              <a:latin typeface="微软雅黑" panose="020B0503020204020204" pitchFamily="34" charset="-122"/>
              <a:ea typeface="微软雅黑" panose="020B0503020204020204" pitchFamily="34" charset="-122"/>
            </a:endParaRPr>
          </a:p>
        </p:txBody>
      </p:sp>
      <p:sp>
        <p:nvSpPr>
          <p:cNvPr id="83" name="Freeform 13"/>
          <p:cNvSpPr>
            <a:spLocks noEditPoints="1"/>
          </p:cNvSpPr>
          <p:nvPr>
            <p:custDataLst>
              <p:tags r:id="rId20"/>
            </p:custDataLst>
          </p:nvPr>
        </p:nvSpPr>
        <p:spPr bwMode="auto">
          <a:xfrm rot="18900000">
            <a:off x="3968057" y="3193550"/>
            <a:ext cx="2598342" cy="1909730"/>
          </a:xfrm>
          <a:custGeom>
            <a:avLst/>
            <a:gdLst>
              <a:gd name="T0" fmla="*/ 586 w 632"/>
              <a:gd name="T1" fmla="*/ 304 h 465"/>
              <a:gd name="T2" fmla="*/ 584 w 632"/>
              <a:gd name="T3" fmla="*/ 297 h 465"/>
              <a:gd name="T4" fmla="*/ 519 w 632"/>
              <a:gd name="T5" fmla="*/ 288 h 465"/>
              <a:gd name="T6" fmla="*/ 453 w 632"/>
              <a:gd name="T7" fmla="*/ 298 h 465"/>
              <a:gd name="T8" fmla="*/ 340 w 632"/>
              <a:gd name="T9" fmla="*/ 373 h 465"/>
              <a:gd name="T10" fmla="*/ 234 w 632"/>
              <a:gd name="T11" fmla="*/ 406 h 465"/>
              <a:gd name="T12" fmla="*/ 59 w 632"/>
              <a:gd name="T13" fmla="*/ 233 h 465"/>
              <a:gd name="T14" fmla="*/ 234 w 632"/>
              <a:gd name="T15" fmla="*/ 59 h 465"/>
              <a:gd name="T16" fmla="*/ 357 w 632"/>
              <a:gd name="T17" fmla="*/ 110 h 465"/>
              <a:gd name="T18" fmla="*/ 357 w 632"/>
              <a:gd name="T19" fmla="*/ 110 h 465"/>
              <a:gd name="T20" fmla="*/ 357 w 632"/>
              <a:gd name="T21" fmla="*/ 110 h 465"/>
              <a:gd name="T22" fmla="*/ 296 w 632"/>
              <a:gd name="T23" fmla="*/ 10 h 465"/>
              <a:gd name="T24" fmla="*/ 295 w 632"/>
              <a:gd name="T25" fmla="*/ 9 h 465"/>
              <a:gd name="T26" fmla="*/ 234 w 632"/>
              <a:gd name="T27" fmla="*/ 0 h 465"/>
              <a:gd name="T28" fmla="*/ 0 w 632"/>
              <a:gd name="T29" fmla="*/ 233 h 465"/>
              <a:gd name="T30" fmla="*/ 234 w 632"/>
              <a:gd name="T31" fmla="*/ 465 h 465"/>
              <a:gd name="T32" fmla="*/ 299 w 632"/>
              <a:gd name="T33" fmla="*/ 456 h 465"/>
              <a:gd name="T34" fmla="*/ 300 w 632"/>
              <a:gd name="T35" fmla="*/ 455 h 465"/>
              <a:gd name="T36" fmla="*/ 396 w 632"/>
              <a:gd name="T37" fmla="*/ 396 h 465"/>
              <a:gd name="T38" fmla="*/ 395 w 632"/>
              <a:gd name="T39" fmla="*/ 396 h 465"/>
              <a:gd name="T40" fmla="*/ 396 w 632"/>
              <a:gd name="T41" fmla="*/ 398 h 465"/>
              <a:gd name="T42" fmla="*/ 519 w 632"/>
              <a:gd name="T43" fmla="*/ 347 h 465"/>
              <a:gd name="T44" fmla="*/ 632 w 632"/>
              <a:gd name="T45" fmla="*/ 385 h 465"/>
              <a:gd name="T46" fmla="*/ 632 w 632"/>
              <a:gd name="T47" fmla="*/ 385 h 465"/>
              <a:gd name="T48" fmla="*/ 586 w 632"/>
              <a:gd name="T49" fmla="*/ 304 h 465"/>
              <a:gd name="T50" fmla="*/ 406 w 632"/>
              <a:gd name="T51" fmla="*/ 385 h 465"/>
              <a:gd name="T52" fmla="*/ 399 w 632"/>
              <a:gd name="T53" fmla="*/ 392 h 465"/>
              <a:gd name="T54" fmla="*/ 406 w 632"/>
              <a:gd name="T55" fmla="*/ 385 h 465"/>
              <a:gd name="T56" fmla="*/ 449 w 632"/>
              <a:gd name="T57" fmla="*/ 312 h 465"/>
              <a:gd name="T58" fmla="*/ 447 w 632"/>
              <a:gd name="T59" fmla="*/ 316 h 465"/>
              <a:gd name="T60" fmla="*/ 449 w 632"/>
              <a:gd name="T61" fmla="*/ 312 h 465"/>
              <a:gd name="T62" fmla="*/ 444 w 632"/>
              <a:gd name="T63" fmla="*/ 325 h 465"/>
              <a:gd name="T64" fmla="*/ 441 w 632"/>
              <a:gd name="T65" fmla="*/ 330 h 465"/>
              <a:gd name="T66" fmla="*/ 444 w 632"/>
              <a:gd name="T67" fmla="*/ 325 h 465"/>
              <a:gd name="T68" fmla="*/ 437 w 632"/>
              <a:gd name="T69" fmla="*/ 338 h 465"/>
              <a:gd name="T70" fmla="*/ 435 w 632"/>
              <a:gd name="T71" fmla="*/ 343 h 465"/>
              <a:gd name="T72" fmla="*/ 437 w 632"/>
              <a:gd name="T73" fmla="*/ 338 h 465"/>
              <a:gd name="T74" fmla="*/ 431 w 632"/>
              <a:gd name="T75" fmla="*/ 351 h 465"/>
              <a:gd name="T76" fmla="*/ 427 w 632"/>
              <a:gd name="T77" fmla="*/ 356 h 465"/>
              <a:gd name="T78" fmla="*/ 431 w 632"/>
              <a:gd name="T79" fmla="*/ 351 h 465"/>
              <a:gd name="T80" fmla="*/ 423 w 632"/>
              <a:gd name="T81" fmla="*/ 363 h 465"/>
              <a:gd name="T82" fmla="*/ 419 w 632"/>
              <a:gd name="T83" fmla="*/ 369 h 465"/>
              <a:gd name="T84" fmla="*/ 423 w 632"/>
              <a:gd name="T85" fmla="*/ 363 h 465"/>
              <a:gd name="T86" fmla="*/ 415 w 632"/>
              <a:gd name="T87" fmla="*/ 374 h 465"/>
              <a:gd name="T88" fmla="*/ 409 w 632"/>
              <a:gd name="T89" fmla="*/ 381 h 465"/>
              <a:gd name="T90" fmla="*/ 415 w 632"/>
              <a:gd name="T91" fmla="*/ 374 h 4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632" h="465">
                <a:moveTo>
                  <a:pt x="586" y="304"/>
                </a:moveTo>
                <a:cubicBezTo>
                  <a:pt x="585" y="302"/>
                  <a:pt x="584" y="299"/>
                  <a:pt x="584" y="297"/>
                </a:cubicBezTo>
                <a:cubicBezTo>
                  <a:pt x="563" y="291"/>
                  <a:pt x="542" y="288"/>
                  <a:pt x="519" y="288"/>
                </a:cubicBezTo>
                <a:cubicBezTo>
                  <a:pt x="496" y="288"/>
                  <a:pt x="474" y="292"/>
                  <a:pt x="453" y="298"/>
                </a:cubicBezTo>
                <a:cubicBezTo>
                  <a:pt x="408" y="311"/>
                  <a:pt x="369" y="337"/>
                  <a:pt x="340" y="373"/>
                </a:cubicBezTo>
                <a:cubicBezTo>
                  <a:pt x="310" y="394"/>
                  <a:pt x="273" y="406"/>
                  <a:pt x="234" y="406"/>
                </a:cubicBezTo>
                <a:cubicBezTo>
                  <a:pt x="137" y="406"/>
                  <a:pt x="59" y="329"/>
                  <a:pt x="59" y="233"/>
                </a:cubicBezTo>
                <a:cubicBezTo>
                  <a:pt x="59" y="137"/>
                  <a:pt x="137" y="59"/>
                  <a:pt x="234" y="59"/>
                </a:cubicBezTo>
                <a:cubicBezTo>
                  <a:pt x="282" y="59"/>
                  <a:pt x="325" y="79"/>
                  <a:pt x="357" y="110"/>
                </a:cubicBezTo>
                <a:cubicBezTo>
                  <a:pt x="357" y="110"/>
                  <a:pt x="357" y="110"/>
                  <a:pt x="357" y="110"/>
                </a:cubicBezTo>
                <a:cubicBezTo>
                  <a:pt x="357" y="110"/>
                  <a:pt x="357" y="110"/>
                  <a:pt x="357" y="110"/>
                </a:cubicBezTo>
                <a:cubicBezTo>
                  <a:pt x="329" y="83"/>
                  <a:pt x="307" y="48"/>
                  <a:pt x="296" y="10"/>
                </a:cubicBezTo>
                <a:cubicBezTo>
                  <a:pt x="295" y="9"/>
                  <a:pt x="295" y="9"/>
                  <a:pt x="295" y="9"/>
                </a:cubicBezTo>
                <a:cubicBezTo>
                  <a:pt x="276" y="3"/>
                  <a:pt x="255" y="0"/>
                  <a:pt x="234" y="0"/>
                </a:cubicBezTo>
                <a:cubicBezTo>
                  <a:pt x="105" y="0"/>
                  <a:pt x="0" y="105"/>
                  <a:pt x="0" y="233"/>
                </a:cubicBezTo>
                <a:cubicBezTo>
                  <a:pt x="0" y="361"/>
                  <a:pt x="105" y="465"/>
                  <a:pt x="234" y="465"/>
                </a:cubicBezTo>
                <a:cubicBezTo>
                  <a:pt x="256" y="465"/>
                  <a:pt x="279" y="462"/>
                  <a:pt x="299" y="456"/>
                </a:cubicBezTo>
                <a:cubicBezTo>
                  <a:pt x="300" y="455"/>
                  <a:pt x="300" y="455"/>
                  <a:pt x="300" y="455"/>
                </a:cubicBezTo>
                <a:cubicBezTo>
                  <a:pt x="337" y="443"/>
                  <a:pt x="370" y="423"/>
                  <a:pt x="396" y="396"/>
                </a:cubicBezTo>
                <a:cubicBezTo>
                  <a:pt x="396" y="396"/>
                  <a:pt x="396" y="396"/>
                  <a:pt x="395" y="396"/>
                </a:cubicBezTo>
                <a:cubicBezTo>
                  <a:pt x="396" y="398"/>
                  <a:pt x="396" y="398"/>
                  <a:pt x="396" y="398"/>
                </a:cubicBezTo>
                <a:cubicBezTo>
                  <a:pt x="428" y="367"/>
                  <a:pt x="471" y="347"/>
                  <a:pt x="519" y="347"/>
                </a:cubicBezTo>
                <a:cubicBezTo>
                  <a:pt x="561" y="347"/>
                  <a:pt x="601" y="360"/>
                  <a:pt x="632" y="385"/>
                </a:cubicBezTo>
                <a:cubicBezTo>
                  <a:pt x="632" y="385"/>
                  <a:pt x="632" y="385"/>
                  <a:pt x="632" y="385"/>
                </a:cubicBezTo>
                <a:cubicBezTo>
                  <a:pt x="611" y="361"/>
                  <a:pt x="596" y="334"/>
                  <a:pt x="586" y="304"/>
                </a:cubicBezTo>
                <a:close/>
                <a:moveTo>
                  <a:pt x="406" y="385"/>
                </a:moveTo>
                <a:cubicBezTo>
                  <a:pt x="403" y="388"/>
                  <a:pt x="401" y="390"/>
                  <a:pt x="399" y="392"/>
                </a:cubicBezTo>
                <a:cubicBezTo>
                  <a:pt x="401" y="390"/>
                  <a:pt x="403" y="388"/>
                  <a:pt x="406" y="385"/>
                </a:cubicBezTo>
                <a:close/>
                <a:moveTo>
                  <a:pt x="449" y="312"/>
                </a:moveTo>
                <a:cubicBezTo>
                  <a:pt x="448" y="313"/>
                  <a:pt x="448" y="314"/>
                  <a:pt x="447" y="316"/>
                </a:cubicBezTo>
                <a:cubicBezTo>
                  <a:pt x="448" y="314"/>
                  <a:pt x="448" y="313"/>
                  <a:pt x="449" y="312"/>
                </a:cubicBezTo>
                <a:close/>
                <a:moveTo>
                  <a:pt x="444" y="325"/>
                </a:moveTo>
                <a:cubicBezTo>
                  <a:pt x="443" y="327"/>
                  <a:pt x="442" y="328"/>
                  <a:pt x="441" y="330"/>
                </a:cubicBezTo>
                <a:cubicBezTo>
                  <a:pt x="442" y="328"/>
                  <a:pt x="443" y="327"/>
                  <a:pt x="444" y="325"/>
                </a:cubicBezTo>
                <a:close/>
                <a:moveTo>
                  <a:pt x="437" y="338"/>
                </a:moveTo>
                <a:cubicBezTo>
                  <a:pt x="437" y="340"/>
                  <a:pt x="436" y="342"/>
                  <a:pt x="435" y="343"/>
                </a:cubicBezTo>
                <a:cubicBezTo>
                  <a:pt x="436" y="342"/>
                  <a:pt x="437" y="340"/>
                  <a:pt x="437" y="338"/>
                </a:cubicBezTo>
                <a:close/>
                <a:moveTo>
                  <a:pt x="431" y="351"/>
                </a:moveTo>
                <a:cubicBezTo>
                  <a:pt x="429" y="353"/>
                  <a:pt x="428" y="354"/>
                  <a:pt x="427" y="356"/>
                </a:cubicBezTo>
                <a:cubicBezTo>
                  <a:pt x="428" y="354"/>
                  <a:pt x="429" y="353"/>
                  <a:pt x="431" y="351"/>
                </a:cubicBezTo>
                <a:close/>
                <a:moveTo>
                  <a:pt x="423" y="363"/>
                </a:moveTo>
                <a:cubicBezTo>
                  <a:pt x="422" y="365"/>
                  <a:pt x="420" y="367"/>
                  <a:pt x="419" y="369"/>
                </a:cubicBezTo>
                <a:cubicBezTo>
                  <a:pt x="420" y="367"/>
                  <a:pt x="422" y="365"/>
                  <a:pt x="423" y="363"/>
                </a:cubicBezTo>
                <a:close/>
                <a:moveTo>
                  <a:pt x="415" y="374"/>
                </a:moveTo>
                <a:cubicBezTo>
                  <a:pt x="413" y="376"/>
                  <a:pt x="411" y="379"/>
                  <a:pt x="409" y="381"/>
                </a:cubicBezTo>
                <a:cubicBezTo>
                  <a:pt x="411" y="379"/>
                  <a:pt x="413" y="376"/>
                  <a:pt x="415" y="374"/>
                </a:cubicBezTo>
                <a:close/>
              </a:path>
            </a:pathLst>
          </a:custGeom>
          <a:solidFill>
            <a:srgbClr val="5B9BD5"/>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dirty="0">
              <a:latin typeface="微软雅黑" panose="020B0503020204020204" pitchFamily="34" charset="-122"/>
              <a:ea typeface="微软雅黑" panose="020B0503020204020204" pitchFamily="34" charset="-122"/>
            </a:endParaRPr>
          </a:p>
        </p:txBody>
      </p:sp>
      <p:sp>
        <p:nvSpPr>
          <p:cNvPr id="84" name="Oval 98"/>
          <p:cNvSpPr/>
          <p:nvPr>
            <p:custDataLst>
              <p:tags r:id="rId21"/>
            </p:custDataLst>
          </p:nvPr>
        </p:nvSpPr>
        <p:spPr>
          <a:xfrm>
            <a:off x="3706851" y="2454978"/>
            <a:ext cx="176708" cy="176708"/>
          </a:xfrm>
          <a:prstGeom prst="ellipse">
            <a:avLst/>
          </a:prstGeom>
          <a:no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09600"/>
            <a:endParaRPr lang="en-US" sz="2000" dirty="0">
              <a:solidFill>
                <a:schemeClr val="tx1">
                  <a:lumMod val="85000"/>
                  <a:lumOff val="15000"/>
                </a:schemeClr>
              </a:solidFill>
              <a:latin typeface="Calibri Light" panose="020F0302020204030204"/>
              <a:ea typeface="微软雅黑" panose="020B0503020204020204" pitchFamily="34" charset="-122"/>
            </a:endParaRPr>
          </a:p>
        </p:txBody>
      </p:sp>
      <p:sp>
        <p:nvSpPr>
          <p:cNvPr id="85" name="Oval 94"/>
          <p:cNvSpPr/>
          <p:nvPr>
            <p:custDataLst>
              <p:tags r:id="rId22"/>
            </p:custDataLst>
          </p:nvPr>
        </p:nvSpPr>
        <p:spPr>
          <a:xfrm>
            <a:off x="3751227" y="2499354"/>
            <a:ext cx="87957" cy="87957"/>
          </a:xfrm>
          <a:prstGeom prst="ellipse">
            <a:avLst/>
          </a:prstGeom>
          <a:gradFill flip="none" rotWithShape="1">
            <a:gsLst>
              <a:gs pos="0">
                <a:schemeClr val="accent1"/>
              </a:gs>
              <a:gs pos="70000">
                <a:schemeClr val="accent1"/>
              </a:gs>
            </a:gsLst>
            <a:lin ang="2700000" scaled="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sz="1200" dirty="0">
              <a:solidFill>
                <a:schemeClr val="lt1"/>
              </a:solidFill>
              <a:latin typeface="微软雅黑" panose="020B0503020204020204" pitchFamily="34" charset="-122"/>
              <a:ea typeface="微软雅黑" panose="020B0503020204020204" pitchFamily="34" charset="-122"/>
            </a:endParaRPr>
          </a:p>
        </p:txBody>
      </p:sp>
      <p:sp>
        <p:nvSpPr>
          <p:cNvPr id="86" name="Oval 99"/>
          <p:cNvSpPr/>
          <p:nvPr>
            <p:custDataLst>
              <p:tags r:id="rId23"/>
            </p:custDataLst>
          </p:nvPr>
        </p:nvSpPr>
        <p:spPr>
          <a:xfrm>
            <a:off x="3706851" y="4170594"/>
            <a:ext cx="176708" cy="176708"/>
          </a:xfrm>
          <a:prstGeom prst="ellipse">
            <a:avLst/>
          </a:prstGeom>
          <a:no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09600"/>
            <a:endParaRPr lang="en-US" sz="2000" dirty="0">
              <a:solidFill>
                <a:schemeClr val="tx1">
                  <a:lumMod val="85000"/>
                  <a:lumOff val="15000"/>
                </a:schemeClr>
              </a:solidFill>
              <a:latin typeface="Calibri Light" panose="020F0302020204030204"/>
              <a:ea typeface="微软雅黑" panose="020B0503020204020204" pitchFamily="34" charset="-122"/>
            </a:endParaRPr>
          </a:p>
        </p:txBody>
      </p:sp>
      <p:sp>
        <p:nvSpPr>
          <p:cNvPr id="87" name="Oval 95"/>
          <p:cNvSpPr/>
          <p:nvPr>
            <p:custDataLst>
              <p:tags r:id="rId24"/>
            </p:custDataLst>
          </p:nvPr>
        </p:nvSpPr>
        <p:spPr>
          <a:xfrm>
            <a:off x="3751227" y="4214969"/>
            <a:ext cx="87957" cy="87957"/>
          </a:xfrm>
          <a:prstGeom prst="ellipse">
            <a:avLst/>
          </a:prstGeom>
          <a:gradFill flip="none" rotWithShape="1">
            <a:gsLst>
              <a:gs pos="0">
                <a:schemeClr val="accent1"/>
              </a:gs>
              <a:gs pos="70000">
                <a:schemeClr val="accent1"/>
              </a:gs>
            </a:gsLst>
            <a:lin ang="2700000" scaled="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sz="1200" dirty="0">
              <a:solidFill>
                <a:schemeClr val="lt1"/>
              </a:solidFill>
              <a:latin typeface="微软雅黑" panose="020B0503020204020204" pitchFamily="34" charset="-122"/>
              <a:ea typeface="微软雅黑" panose="020B0503020204020204" pitchFamily="34" charset="-122"/>
            </a:endParaRPr>
          </a:p>
        </p:txBody>
      </p:sp>
      <p:sp>
        <p:nvSpPr>
          <p:cNvPr id="88" name="Oval 101"/>
          <p:cNvSpPr/>
          <p:nvPr>
            <p:custDataLst>
              <p:tags r:id="rId25"/>
            </p:custDataLst>
          </p:nvPr>
        </p:nvSpPr>
        <p:spPr>
          <a:xfrm>
            <a:off x="7835139" y="2454978"/>
            <a:ext cx="176708" cy="176708"/>
          </a:xfrm>
          <a:prstGeom prst="ellipse">
            <a:avLst/>
          </a:prstGeom>
          <a:no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09600"/>
            <a:endParaRPr lang="en-US" sz="2000" dirty="0">
              <a:solidFill>
                <a:schemeClr val="tx1">
                  <a:lumMod val="85000"/>
                  <a:lumOff val="15000"/>
                </a:schemeClr>
              </a:solidFill>
              <a:latin typeface="Calibri Light" panose="020F0302020204030204"/>
              <a:ea typeface="微软雅黑" panose="020B0503020204020204" pitchFamily="34" charset="-122"/>
            </a:endParaRPr>
          </a:p>
        </p:txBody>
      </p:sp>
      <p:sp>
        <p:nvSpPr>
          <p:cNvPr id="89" name="Oval 96"/>
          <p:cNvSpPr/>
          <p:nvPr>
            <p:custDataLst>
              <p:tags r:id="rId26"/>
            </p:custDataLst>
          </p:nvPr>
        </p:nvSpPr>
        <p:spPr>
          <a:xfrm>
            <a:off x="7879515" y="2499354"/>
            <a:ext cx="87957" cy="87957"/>
          </a:xfrm>
          <a:prstGeom prst="ellipse">
            <a:avLst/>
          </a:prstGeom>
          <a:gradFill flip="none" rotWithShape="1">
            <a:gsLst>
              <a:gs pos="0">
                <a:schemeClr val="accent1"/>
              </a:gs>
              <a:gs pos="70000">
                <a:schemeClr val="accent1"/>
              </a:gs>
            </a:gsLst>
            <a:lin ang="2700000" scaled="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sz="1200" dirty="0">
              <a:solidFill>
                <a:schemeClr val="lt1"/>
              </a:solidFill>
              <a:latin typeface="微软雅黑" panose="020B0503020204020204" pitchFamily="34" charset="-122"/>
              <a:ea typeface="微软雅黑" panose="020B0503020204020204" pitchFamily="34" charset="-122"/>
            </a:endParaRPr>
          </a:p>
        </p:txBody>
      </p:sp>
      <p:sp>
        <p:nvSpPr>
          <p:cNvPr id="90" name="Oval 100"/>
          <p:cNvSpPr/>
          <p:nvPr>
            <p:custDataLst>
              <p:tags r:id="rId27"/>
            </p:custDataLst>
          </p:nvPr>
        </p:nvSpPr>
        <p:spPr>
          <a:xfrm>
            <a:off x="7835139" y="4170594"/>
            <a:ext cx="176708" cy="176708"/>
          </a:xfrm>
          <a:prstGeom prst="ellipse">
            <a:avLst/>
          </a:prstGeom>
          <a:no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09600"/>
            <a:endParaRPr lang="en-US" sz="2000" dirty="0">
              <a:solidFill>
                <a:schemeClr val="tx1">
                  <a:lumMod val="85000"/>
                  <a:lumOff val="15000"/>
                </a:schemeClr>
              </a:solidFill>
              <a:latin typeface="Calibri Light" panose="020F0302020204030204"/>
              <a:ea typeface="微软雅黑" panose="020B0503020204020204" pitchFamily="34" charset="-122"/>
            </a:endParaRPr>
          </a:p>
        </p:txBody>
      </p:sp>
      <p:sp>
        <p:nvSpPr>
          <p:cNvPr id="91" name="文本框 90"/>
          <p:cNvSpPr txBox="1"/>
          <p:nvPr>
            <p:custDataLst>
              <p:tags r:id="rId28"/>
            </p:custDataLst>
          </p:nvPr>
        </p:nvSpPr>
        <p:spPr>
          <a:xfrm>
            <a:off x="4582401" y="2352305"/>
            <a:ext cx="923738" cy="707886"/>
          </a:xfrm>
          <a:prstGeom prst="rect">
            <a:avLst/>
          </a:prstGeom>
          <a:noFill/>
        </p:spPr>
        <p:txBody>
          <a:bodyPr wrap="square" rtlCol="0">
            <a:spAutoFit/>
          </a:bodyPr>
          <a:lstStyle/>
          <a:p>
            <a:pPr algn="ctr"/>
            <a:r>
              <a:rPr lang="en-US" altLang="zh-CN" sz="4000" dirty="0">
                <a:solidFill>
                  <a:schemeClr val="tx1">
                    <a:lumMod val="85000"/>
                    <a:lumOff val="15000"/>
                  </a:schemeClr>
                </a:solidFill>
                <a:latin typeface="思源黑体 CN Heavy" panose="020B0A00000000000000" pitchFamily="34" charset="-122"/>
                <a:ea typeface="思源黑体 CN Heavy" panose="020B0A00000000000000" pitchFamily="34" charset="-122"/>
              </a:rPr>
              <a:t>01</a:t>
            </a:r>
            <a:endParaRPr lang="en-US" altLang="zh-CN" sz="4000" dirty="0">
              <a:solidFill>
                <a:schemeClr val="tx1">
                  <a:lumMod val="85000"/>
                  <a:lumOff val="15000"/>
                </a:schemeClr>
              </a:solidFill>
              <a:latin typeface="思源黑体 CN Heavy" panose="020B0A00000000000000" pitchFamily="34" charset="-122"/>
              <a:ea typeface="思源黑体 CN Heavy" panose="020B0A00000000000000" pitchFamily="34" charset="-122"/>
            </a:endParaRPr>
          </a:p>
        </p:txBody>
      </p:sp>
      <p:sp>
        <p:nvSpPr>
          <p:cNvPr id="92" name="文本框 91"/>
          <p:cNvSpPr txBox="1"/>
          <p:nvPr>
            <p:custDataLst>
              <p:tags r:id="rId29"/>
            </p:custDataLst>
          </p:nvPr>
        </p:nvSpPr>
        <p:spPr>
          <a:xfrm>
            <a:off x="4556644" y="4046877"/>
            <a:ext cx="923738" cy="707886"/>
          </a:xfrm>
          <a:prstGeom prst="rect">
            <a:avLst/>
          </a:prstGeom>
          <a:noFill/>
        </p:spPr>
        <p:txBody>
          <a:bodyPr wrap="square" rtlCol="0">
            <a:spAutoFit/>
          </a:bodyPr>
          <a:lstStyle/>
          <a:p>
            <a:pPr algn="ctr"/>
            <a:r>
              <a:rPr lang="en-US" altLang="zh-CN" sz="4000" dirty="0">
                <a:solidFill>
                  <a:schemeClr val="tx1">
                    <a:lumMod val="85000"/>
                    <a:lumOff val="15000"/>
                  </a:schemeClr>
                </a:solidFill>
                <a:latin typeface="思源黑体 CN Heavy" panose="020B0A00000000000000" pitchFamily="34" charset="-122"/>
                <a:ea typeface="思源黑体 CN Heavy" panose="020B0A00000000000000" pitchFamily="34" charset="-122"/>
              </a:rPr>
              <a:t>03</a:t>
            </a:r>
            <a:endParaRPr lang="en-US" altLang="zh-CN" sz="4000" dirty="0">
              <a:solidFill>
                <a:schemeClr val="tx1">
                  <a:lumMod val="85000"/>
                  <a:lumOff val="15000"/>
                </a:schemeClr>
              </a:solidFill>
              <a:latin typeface="思源黑体 CN Heavy" panose="020B0A00000000000000" pitchFamily="34" charset="-122"/>
              <a:ea typeface="思源黑体 CN Heavy" panose="020B0A00000000000000" pitchFamily="34" charset="-122"/>
            </a:endParaRPr>
          </a:p>
        </p:txBody>
      </p:sp>
      <p:sp>
        <p:nvSpPr>
          <p:cNvPr id="93" name="文本框 92"/>
          <p:cNvSpPr txBox="1"/>
          <p:nvPr>
            <p:custDataLst>
              <p:tags r:id="rId30"/>
            </p:custDataLst>
          </p:nvPr>
        </p:nvSpPr>
        <p:spPr>
          <a:xfrm>
            <a:off x="6260263" y="2257486"/>
            <a:ext cx="923738" cy="707886"/>
          </a:xfrm>
          <a:prstGeom prst="rect">
            <a:avLst/>
          </a:prstGeom>
          <a:noFill/>
        </p:spPr>
        <p:txBody>
          <a:bodyPr wrap="square" rtlCol="0">
            <a:spAutoFit/>
          </a:bodyPr>
          <a:lstStyle/>
          <a:p>
            <a:pPr algn="ctr"/>
            <a:r>
              <a:rPr lang="en-US" altLang="zh-CN" sz="4000">
                <a:solidFill>
                  <a:schemeClr val="tx1">
                    <a:lumMod val="85000"/>
                    <a:lumOff val="15000"/>
                  </a:schemeClr>
                </a:solidFill>
                <a:latin typeface="思源黑体 CN Heavy" panose="020B0A00000000000000" pitchFamily="34" charset="-122"/>
                <a:ea typeface="思源黑体 CN Heavy" panose="020B0A00000000000000" pitchFamily="34" charset="-122"/>
              </a:rPr>
              <a:t>02</a:t>
            </a:r>
            <a:endParaRPr lang="en-US" altLang="zh-CN" sz="4000">
              <a:solidFill>
                <a:schemeClr val="tx1">
                  <a:lumMod val="85000"/>
                  <a:lumOff val="15000"/>
                </a:schemeClr>
              </a:solidFill>
              <a:latin typeface="思源黑体 CN Heavy" panose="020B0A00000000000000" pitchFamily="34" charset="-122"/>
              <a:ea typeface="思源黑体 CN Heavy" panose="020B0A00000000000000" pitchFamily="34" charset="-122"/>
            </a:endParaRPr>
          </a:p>
        </p:txBody>
      </p:sp>
      <p:sp>
        <p:nvSpPr>
          <p:cNvPr id="94" name="文本框 93"/>
          <p:cNvSpPr txBox="1"/>
          <p:nvPr>
            <p:custDataLst>
              <p:tags r:id="rId31"/>
            </p:custDataLst>
          </p:nvPr>
        </p:nvSpPr>
        <p:spPr>
          <a:xfrm>
            <a:off x="6273877" y="4029711"/>
            <a:ext cx="923738" cy="707886"/>
          </a:xfrm>
          <a:prstGeom prst="rect">
            <a:avLst/>
          </a:prstGeom>
          <a:noFill/>
        </p:spPr>
        <p:txBody>
          <a:bodyPr wrap="square" rtlCol="0">
            <a:spAutoFit/>
          </a:bodyPr>
          <a:lstStyle/>
          <a:p>
            <a:pPr algn="ctr"/>
            <a:r>
              <a:rPr lang="en-US" altLang="zh-CN" sz="4000" dirty="0">
                <a:solidFill>
                  <a:schemeClr val="tx1">
                    <a:lumMod val="85000"/>
                    <a:lumOff val="15000"/>
                  </a:schemeClr>
                </a:solidFill>
                <a:latin typeface="思源黑体 CN Heavy" panose="020B0A00000000000000" pitchFamily="34" charset="-122"/>
                <a:ea typeface="思源黑体 CN Heavy" panose="020B0A00000000000000" pitchFamily="34" charset="-122"/>
              </a:rPr>
              <a:t>04</a:t>
            </a:r>
            <a:endParaRPr lang="en-US" altLang="zh-CN" sz="4000" dirty="0">
              <a:solidFill>
                <a:schemeClr val="tx1">
                  <a:lumMod val="85000"/>
                  <a:lumOff val="15000"/>
                </a:schemeClr>
              </a:solidFill>
              <a:latin typeface="思源黑体 CN Heavy" panose="020B0A00000000000000" pitchFamily="34" charset="-122"/>
              <a:ea typeface="思源黑体 CN Heavy" panose="020B0A00000000000000" pitchFamily="34" charset="-122"/>
            </a:endParaRPr>
          </a:p>
        </p:txBody>
      </p:sp>
      <p:sp>
        <p:nvSpPr>
          <p:cNvPr id="95" name="PA-矩形 4"/>
          <p:cNvSpPr>
            <a:spLocks noChangeArrowheads="1"/>
          </p:cNvSpPr>
          <p:nvPr>
            <p:custDataLst>
              <p:tags r:id="rId32"/>
            </p:custDataLst>
          </p:nvPr>
        </p:nvSpPr>
        <p:spPr bwMode="auto">
          <a:xfrm>
            <a:off x="1052854" y="1772494"/>
            <a:ext cx="2835791" cy="307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000" b="1" dirty="0">
                <a:solidFill>
                  <a:schemeClr val="tx1">
                    <a:lumMod val="85000"/>
                    <a:lumOff val="15000"/>
                  </a:schemeClr>
                </a:solidFill>
                <a:latin typeface="微软雅黑" panose="020B0503020204020204" pitchFamily="34" charset="-122"/>
                <a:ea typeface="微软雅黑" panose="020B0503020204020204" pitchFamily="34" charset="-122"/>
                <a:cs typeface="阿里巴巴普惠体 H" panose="00020600040101010101" pitchFamily="18" charset="-122"/>
                <a:sym typeface="+mn-lt"/>
              </a:rPr>
              <a:t>编程基础</a:t>
            </a:r>
            <a:endParaRPr lang="zh-CN" altLang="en-US" sz="2000" b="1" dirty="0">
              <a:solidFill>
                <a:schemeClr val="tx1">
                  <a:lumMod val="85000"/>
                  <a:lumOff val="15000"/>
                </a:schemeClr>
              </a:solidFill>
              <a:latin typeface="微软雅黑" panose="020B0503020204020204" pitchFamily="34" charset="-122"/>
              <a:ea typeface="微软雅黑" panose="020B0503020204020204" pitchFamily="34" charset="-122"/>
              <a:cs typeface="阿里巴巴普惠体 H" panose="00020600040101010101" pitchFamily="18" charset="-122"/>
              <a:sym typeface="+mn-lt"/>
            </a:endParaRPr>
          </a:p>
        </p:txBody>
      </p:sp>
      <p:sp>
        <p:nvSpPr>
          <p:cNvPr id="96" name="PA-矩形 4"/>
          <p:cNvSpPr>
            <a:spLocks noChangeArrowheads="1"/>
          </p:cNvSpPr>
          <p:nvPr>
            <p:custDataLst>
              <p:tags r:id="rId33"/>
            </p:custDataLst>
          </p:nvPr>
        </p:nvSpPr>
        <p:spPr bwMode="auto">
          <a:xfrm>
            <a:off x="1052830" y="1934210"/>
            <a:ext cx="2532380" cy="17087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0">
            <a:no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pPr>
            <a:r>
              <a:rPr lang="zh-CN" altLang="en-US" sz="1400" dirty="0">
                <a:solidFill>
                  <a:schemeClr val="tx1">
                    <a:lumMod val="65000"/>
                    <a:lumOff val="35000"/>
                  </a:schemeClr>
                </a:solidFill>
                <a:latin typeface="微软雅黑" panose="020B0503020204020204" pitchFamily="34" charset="-122"/>
                <a:ea typeface="微软雅黑" panose="020B0503020204020204" pitchFamily="34" charset="-122"/>
                <a:cs typeface="OPPOSans M" panose="00020600040101010101" pitchFamily="18" charset="-122"/>
                <a:sym typeface="+mn-lt"/>
              </a:rPr>
              <a:t>团队具备扎实的 </a:t>
            </a:r>
            <a:r>
              <a:rPr lang="en-US" altLang="zh-CN" sz="1400" dirty="0">
                <a:solidFill>
                  <a:schemeClr val="tx1">
                    <a:lumMod val="65000"/>
                    <a:lumOff val="35000"/>
                  </a:schemeClr>
                </a:solidFill>
                <a:latin typeface="微软雅黑" panose="020B0503020204020204" pitchFamily="34" charset="-122"/>
                <a:ea typeface="微软雅黑" panose="020B0503020204020204" pitchFamily="34" charset="-122"/>
                <a:cs typeface="OPPOSans M" panose="00020600040101010101" pitchFamily="18" charset="-122"/>
                <a:sym typeface="+mn-lt"/>
              </a:rPr>
              <a:t>C++ </a:t>
            </a:r>
            <a:r>
              <a:rPr lang="zh-CN" altLang="en-US" sz="1400" dirty="0">
                <a:solidFill>
                  <a:schemeClr val="tx1">
                    <a:lumMod val="65000"/>
                    <a:lumOff val="35000"/>
                  </a:schemeClr>
                </a:solidFill>
                <a:latin typeface="微软雅黑" panose="020B0503020204020204" pitchFamily="34" charset="-122"/>
                <a:ea typeface="微软雅黑" panose="020B0503020204020204" pitchFamily="34" charset="-122"/>
                <a:cs typeface="OPPOSans M" panose="00020600040101010101" pitchFamily="18" charset="-122"/>
                <a:sym typeface="+mn-lt"/>
              </a:rPr>
              <a:t>开发能力和 </a:t>
            </a:r>
            <a:r>
              <a:rPr lang="en-US" altLang="zh-CN" sz="1400" dirty="0">
                <a:solidFill>
                  <a:schemeClr val="tx1">
                    <a:lumMod val="65000"/>
                    <a:lumOff val="35000"/>
                  </a:schemeClr>
                </a:solidFill>
                <a:latin typeface="微软雅黑" panose="020B0503020204020204" pitchFamily="34" charset="-122"/>
                <a:ea typeface="微软雅黑" panose="020B0503020204020204" pitchFamily="34" charset="-122"/>
                <a:cs typeface="OPPOSans M" panose="00020600040101010101" pitchFamily="18" charset="-122"/>
                <a:sym typeface="+mn-lt"/>
              </a:rPr>
              <a:t>Python </a:t>
            </a:r>
            <a:r>
              <a:rPr lang="zh-CN" altLang="en-US" sz="1400" dirty="0">
                <a:solidFill>
                  <a:schemeClr val="tx1">
                    <a:lumMod val="65000"/>
                    <a:lumOff val="35000"/>
                  </a:schemeClr>
                </a:solidFill>
                <a:latin typeface="微软雅黑" panose="020B0503020204020204" pitchFamily="34" charset="-122"/>
                <a:ea typeface="微软雅黑" panose="020B0503020204020204" pitchFamily="34" charset="-122"/>
                <a:cs typeface="OPPOSans M" panose="00020600040101010101" pitchFamily="18" charset="-122"/>
                <a:sym typeface="+mn-lt"/>
              </a:rPr>
              <a:t>开发经验，并熟悉 </a:t>
            </a:r>
            <a:r>
              <a:rPr lang="en-US" altLang="zh-CN" sz="1400" dirty="0">
                <a:solidFill>
                  <a:schemeClr val="tx1">
                    <a:lumMod val="65000"/>
                    <a:lumOff val="35000"/>
                  </a:schemeClr>
                </a:solidFill>
                <a:latin typeface="微软雅黑" panose="020B0503020204020204" pitchFamily="34" charset="-122"/>
                <a:ea typeface="微软雅黑" panose="020B0503020204020204" pitchFamily="34" charset="-122"/>
                <a:cs typeface="OPPOSans M" panose="00020600040101010101" pitchFamily="18" charset="-122"/>
                <a:sym typeface="+mn-lt"/>
              </a:rPr>
              <a:t>Vue.js </a:t>
            </a:r>
            <a:r>
              <a:rPr lang="zh-CN" altLang="en-US" sz="1400" dirty="0">
                <a:solidFill>
                  <a:schemeClr val="tx1">
                    <a:lumMod val="65000"/>
                    <a:lumOff val="35000"/>
                  </a:schemeClr>
                </a:solidFill>
                <a:latin typeface="微软雅黑" panose="020B0503020204020204" pitchFamily="34" charset="-122"/>
                <a:ea typeface="微软雅黑" panose="020B0503020204020204" pitchFamily="34" charset="-122"/>
                <a:cs typeface="OPPOSans M" panose="00020600040101010101" pitchFamily="18" charset="-122"/>
                <a:sym typeface="+mn-lt"/>
              </a:rPr>
              <a:t>开发流程，能够独立完成全栈系统的构建。</a:t>
            </a:r>
            <a:endParaRPr lang="zh-CN" altLang="en-US" sz="1400" dirty="0">
              <a:solidFill>
                <a:schemeClr val="tx1">
                  <a:lumMod val="65000"/>
                  <a:lumOff val="35000"/>
                </a:schemeClr>
              </a:solidFill>
              <a:latin typeface="微软雅黑" panose="020B0503020204020204" pitchFamily="34" charset="-122"/>
              <a:ea typeface="微软雅黑" panose="020B0503020204020204" pitchFamily="34" charset="-122"/>
              <a:cs typeface="OPPOSans M" panose="00020600040101010101" pitchFamily="18" charset="-122"/>
              <a:sym typeface="+mn-lt"/>
            </a:endParaRPr>
          </a:p>
        </p:txBody>
      </p:sp>
      <p:sp>
        <p:nvSpPr>
          <p:cNvPr id="97" name="PA-矩形 4"/>
          <p:cNvSpPr>
            <a:spLocks noChangeArrowheads="1"/>
          </p:cNvSpPr>
          <p:nvPr>
            <p:custDataLst>
              <p:tags r:id="rId34"/>
            </p:custDataLst>
          </p:nvPr>
        </p:nvSpPr>
        <p:spPr bwMode="auto">
          <a:xfrm>
            <a:off x="1052854" y="3753693"/>
            <a:ext cx="2835791" cy="307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000" b="1" dirty="0">
                <a:solidFill>
                  <a:schemeClr val="tx1">
                    <a:lumMod val="85000"/>
                    <a:lumOff val="15000"/>
                  </a:schemeClr>
                </a:solidFill>
                <a:latin typeface="微软雅黑" panose="020B0503020204020204" pitchFamily="34" charset="-122"/>
                <a:ea typeface="微软雅黑" panose="020B0503020204020204" pitchFamily="34" charset="-122"/>
                <a:cs typeface="阿里巴巴普惠体 H" panose="00020600040101010101" pitchFamily="18" charset="-122"/>
                <a:sym typeface="+mn-lt"/>
              </a:rPr>
              <a:t>用户需求</a:t>
            </a:r>
            <a:endParaRPr lang="zh-CN" altLang="en-US" sz="2000" b="1" dirty="0">
              <a:solidFill>
                <a:schemeClr val="tx1">
                  <a:lumMod val="85000"/>
                  <a:lumOff val="15000"/>
                </a:schemeClr>
              </a:solidFill>
              <a:latin typeface="微软雅黑" panose="020B0503020204020204" pitchFamily="34" charset="-122"/>
              <a:ea typeface="微软雅黑" panose="020B0503020204020204" pitchFamily="34" charset="-122"/>
              <a:cs typeface="阿里巴巴普惠体 H" panose="00020600040101010101" pitchFamily="18" charset="-122"/>
              <a:sym typeface="+mn-lt"/>
            </a:endParaRPr>
          </a:p>
        </p:txBody>
      </p:sp>
      <p:sp>
        <p:nvSpPr>
          <p:cNvPr id="98" name="PA-矩形 4"/>
          <p:cNvSpPr>
            <a:spLocks noChangeArrowheads="1"/>
          </p:cNvSpPr>
          <p:nvPr>
            <p:custDataLst>
              <p:tags r:id="rId35"/>
            </p:custDataLst>
          </p:nvPr>
        </p:nvSpPr>
        <p:spPr bwMode="auto">
          <a:xfrm>
            <a:off x="1052854" y="4186677"/>
            <a:ext cx="2241094" cy="9690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pPr>
            <a:r>
              <a:rPr lang="zh-CN" altLang="en-US" sz="1400" dirty="0">
                <a:solidFill>
                  <a:schemeClr val="tx1">
                    <a:lumMod val="65000"/>
                    <a:lumOff val="35000"/>
                  </a:schemeClr>
                </a:solidFill>
                <a:latin typeface="微软雅黑" panose="020B0503020204020204" pitchFamily="34" charset="-122"/>
                <a:ea typeface="微软雅黑" panose="020B0503020204020204" pitchFamily="34" charset="-122"/>
                <a:cs typeface="OPPOSans M" panose="00020600040101010101" pitchFamily="18" charset="-122"/>
                <a:sym typeface="+mn-lt"/>
              </a:rPr>
              <a:t>随着水族养殖爱好者的增多，用户对远程监控、科学养殖的需求日益增长。</a:t>
            </a:r>
            <a:endParaRPr lang="zh-CN" altLang="en-US" sz="1400" dirty="0">
              <a:solidFill>
                <a:schemeClr val="tx1">
                  <a:lumMod val="65000"/>
                  <a:lumOff val="35000"/>
                </a:schemeClr>
              </a:solidFill>
              <a:latin typeface="微软雅黑" panose="020B0503020204020204" pitchFamily="34" charset="-122"/>
              <a:ea typeface="微软雅黑" panose="020B0503020204020204" pitchFamily="34" charset="-122"/>
              <a:cs typeface="OPPOSans M" panose="00020600040101010101" pitchFamily="18" charset="-122"/>
              <a:sym typeface="+mn-lt"/>
            </a:endParaRPr>
          </a:p>
        </p:txBody>
      </p:sp>
      <p:sp>
        <p:nvSpPr>
          <p:cNvPr id="99" name="PA-矩形 4"/>
          <p:cNvSpPr>
            <a:spLocks noChangeArrowheads="1"/>
          </p:cNvSpPr>
          <p:nvPr>
            <p:custDataLst>
              <p:tags r:id="rId36"/>
            </p:custDataLst>
          </p:nvPr>
        </p:nvSpPr>
        <p:spPr bwMode="auto">
          <a:xfrm>
            <a:off x="8469654" y="1772494"/>
            <a:ext cx="2835791" cy="307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000" b="1" dirty="0">
                <a:solidFill>
                  <a:schemeClr val="tx1">
                    <a:lumMod val="85000"/>
                    <a:lumOff val="15000"/>
                  </a:schemeClr>
                </a:solidFill>
                <a:latin typeface="微软雅黑" panose="020B0503020204020204" pitchFamily="34" charset="-122"/>
                <a:ea typeface="微软雅黑" panose="020B0503020204020204" pitchFamily="34" charset="-122"/>
                <a:cs typeface="阿里巴巴普惠体 H" panose="00020600040101010101" pitchFamily="18" charset="-122"/>
                <a:sym typeface="+mn-lt"/>
              </a:rPr>
              <a:t>专业知识</a:t>
            </a:r>
            <a:endParaRPr lang="zh-CN" altLang="en-US" sz="2000" b="1" dirty="0">
              <a:solidFill>
                <a:schemeClr val="tx1">
                  <a:lumMod val="85000"/>
                  <a:lumOff val="15000"/>
                </a:schemeClr>
              </a:solidFill>
              <a:latin typeface="微软雅黑" panose="020B0503020204020204" pitchFamily="34" charset="-122"/>
              <a:ea typeface="微软雅黑" panose="020B0503020204020204" pitchFamily="34" charset="-122"/>
              <a:cs typeface="阿里巴巴普惠体 H" panose="00020600040101010101" pitchFamily="18" charset="-122"/>
              <a:sym typeface="+mn-lt"/>
            </a:endParaRPr>
          </a:p>
        </p:txBody>
      </p:sp>
      <p:sp>
        <p:nvSpPr>
          <p:cNvPr id="100" name="PA-矩形 4"/>
          <p:cNvSpPr>
            <a:spLocks noChangeArrowheads="1"/>
          </p:cNvSpPr>
          <p:nvPr>
            <p:custDataLst>
              <p:tags r:id="rId37"/>
            </p:custDataLst>
          </p:nvPr>
        </p:nvSpPr>
        <p:spPr bwMode="auto">
          <a:xfrm>
            <a:off x="8469654" y="2189919"/>
            <a:ext cx="2241094" cy="1292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pPr>
            <a:r>
              <a:rPr lang="zh-CN" altLang="en-US" sz="1400" dirty="0">
                <a:solidFill>
                  <a:schemeClr val="tx1">
                    <a:lumMod val="65000"/>
                    <a:lumOff val="35000"/>
                  </a:schemeClr>
                </a:solidFill>
                <a:latin typeface="微软雅黑" panose="020B0503020204020204" pitchFamily="34" charset="-122"/>
                <a:ea typeface="微软雅黑" panose="020B0503020204020204" pitchFamily="34" charset="-122"/>
                <a:cs typeface="OPPOSans M" panose="00020600040101010101" pitchFamily="18" charset="-122"/>
                <a:sym typeface="+mn-lt"/>
              </a:rPr>
              <a:t>团队熟练掌握数据传输协议、传感器信号处理技术，具备扎实的自然语言处理与大模型应用实践能力。</a:t>
            </a:r>
            <a:endParaRPr lang="zh-CN" altLang="en-US" sz="1400" dirty="0">
              <a:solidFill>
                <a:schemeClr val="tx1">
                  <a:lumMod val="65000"/>
                  <a:lumOff val="35000"/>
                </a:schemeClr>
              </a:solidFill>
              <a:latin typeface="微软雅黑" panose="020B0503020204020204" pitchFamily="34" charset="-122"/>
              <a:ea typeface="微软雅黑" panose="020B0503020204020204" pitchFamily="34" charset="-122"/>
              <a:cs typeface="OPPOSans M" panose="00020600040101010101" pitchFamily="18" charset="-122"/>
              <a:sym typeface="+mn-lt"/>
            </a:endParaRPr>
          </a:p>
        </p:txBody>
      </p:sp>
      <p:sp>
        <p:nvSpPr>
          <p:cNvPr id="101" name="PA-矩形 4"/>
          <p:cNvSpPr>
            <a:spLocks noChangeArrowheads="1"/>
          </p:cNvSpPr>
          <p:nvPr>
            <p:custDataLst>
              <p:tags r:id="rId38"/>
            </p:custDataLst>
          </p:nvPr>
        </p:nvSpPr>
        <p:spPr bwMode="auto">
          <a:xfrm>
            <a:off x="8469654" y="3753693"/>
            <a:ext cx="2835791" cy="307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000" b="1" dirty="0">
                <a:solidFill>
                  <a:schemeClr val="tx1">
                    <a:lumMod val="85000"/>
                    <a:lumOff val="15000"/>
                  </a:schemeClr>
                </a:solidFill>
                <a:latin typeface="微软雅黑" panose="020B0503020204020204" pitchFamily="34" charset="-122"/>
                <a:ea typeface="微软雅黑" panose="020B0503020204020204" pitchFamily="34" charset="-122"/>
                <a:cs typeface="阿里巴巴普惠体 H" panose="00020600040101010101" pitchFamily="18" charset="-122"/>
                <a:sym typeface="+mn-lt"/>
              </a:rPr>
              <a:t>易用性</a:t>
            </a:r>
            <a:endParaRPr lang="zh-CN" altLang="en-US" sz="2000" b="1" dirty="0">
              <a:solidFill>
                <a:schemeClr val="tx1">
                  <a:lumMod val="85000"/>
                  <a:lumOff val="15000"/>
                </a:schemeClr>
              </a:solidFill>
              <a:latin typeface="微软雅黑" panose="020B0503020204020204" pitchFamily="34" charset="-122"/>
              <a:ea typeface="微软雅黑" panose="020B0503020204020204" pitchFamily="34" charset="-122"/>
              <a:cs typeface="阿里巴巴普惠体 H" panose="00020600040101010101" pitchFamily="18" charset="-122"/>
              <a:sym typeface="+mn-lt"/>
            </a:endParaRPr>
          </a:p>
        </p:txBody>
      </p:sp>
      <p:sp>
        <p:nvSpPr>
          <p:cNvPr id="102" name="PA-矩形 4"/>
          <p:cNvSpPr>
            <a:spLocks noChangeArrowheads="1"/>
          </p:cNvSpPr>
          <p:nvPr>
            <p:custDataLst>
              <p:tags r:id="rId39"/>
            </p:custDataLst>
          </p:nvPr>
        </p:nvSpPr>
        <p:spPr bwMode="auto">
          <a:xfrm>
            <a:off x="8469654" y="4029832"/>
            <a:ext cx="2241094" cy="16154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pPr>
            <a:r>
              <a:rPr lang="zh-CN" altLang="en-US" sz="1400" dirty="0">
                <a:solidFill>
                  <a:schemeClr val="tx1">
                    <a:lumMod val="65000"/>
                    <a:lumOff val="35000"/>
                  </a:schemeClr>
                </a:solidFill>
                <a:latin typeface="微软雅黑" panose="020B0503020204020204" pitchFamily="34" charset="-122"/>
                <a:ea typeface="微软雅黑" panose="020B0503020204020204" pitchFamily="34" charset="-122"/>
                <a:cs typeface="OPPOSans M" panose="00020600040101010101" pitchFamily="18" charset="-122"/>
                <a:sym typeface="+mn-lt"/>
              </a:rPr>
              <a:t>系统拟通过 </a:t>
            </a:r>
            <a:r>
              <a:rPr lang="en-US" altLang="zh-CN" sz="1400" dirty="0">
                <a:solidFill>
                  <a:schemeClr val="tx1">
                    <a:lumMod val="65000"/>
                    <a:lumOff val="35000"/>
                  </a:schemeClr>
                </a:solidFill>
                <a:latin typeface="微软雅黑" panose="020B0503020204020204" pitchFamily="34" charset="-122"/>
                <a:ea typeface="微软雅黑" panose="020B0503020204020204" pitchFamily="34" charset="-122"/>
                <a:cs typeface="OPPOSans M" panose="00020600040101010101" pitchFamily="18" charset="-122"/>
                <a:sym typeface="+mn-lt"/>
              </a:rPr>
              <a:t>Web </a:t>
            </a:r>
            <a:r>
              <a:rPr lang="zh-CN" altLang="en-US" sz="1400" dirty="0">
                <a:solidFill>
                  <a:schemeClr val="tx1">
                    <a:lumMod val="65000"/>
                    <a:lumOff val="35000"/>
                  </a:schemeClr>
                </a:solidFill>
                <a:latin typeface="微软雅黑" panose="020B0503020204020204" pitchFamily="34" charset="-122"/>
                <a:ea typeface="微软雅黑" panose="020B0503020204020204" pitchFamily="34" charset="-122"/>
                <a:cs typeface="OPPOSans M" panose="00020600040101010101" pitchFamily="18" charset="-122"/>
                <a:sym typeface="+mn-lt"/>
              </a:rPr>
              <a:t>界面提供直观的数据可视化图表及 </a:t>
            </a:r>
            <a:r>
              <a:rPr lang="en-US" altLang="zh-CN" sz="1400" dirty="0">
                <a:solidFill>
                  <a:schemeClr val="tx1">
                    <a:lumMod val="65000"/>
                    <a:lumOff val="35000"/>
                  </a:schemeClr>
                </a:solidFill>
                <a:latin typeface="微软雅黑" panose="020B0503020204020204" pitchFamily="34" charset="-122"/>
                <a:ea typeface="微软雅黑" panose="020B0503020204020204" pitchFamily="34" charset="-122"/>
                <a:cs typeface="OPPOSans M" panose="00020600040101010101" pitchFamily="18" charset="-122"/>
                <a:sym typeface="+mn-lt"/>
              </a:rPr>
              <a:t>LLM </a:t>
            </a:r>
            <a:r>
              <a:rPr lang="zh-CN" altLang="en-US" sz="1400" dirty="0">
                <a:solidFill>
                  <a:schemeClr val="tx1">
                    <a:lumMod val="65000"/>
                    <a:lumOff val="35000"/>
                  </a:schemeClr>
                </a:solidFill>
                <a:latin typeface="微软雅黑" panose="020B0503020204020204" pitchFamily="34" charset="-122"/>
                <a:ea typeface="微软雅黑" panose="020B0503020204020204" pitchFamily="34" charset="-122"/>
                <a:cs typeface="OPPOSans M" panose="00020600040101010101" pitchFamily="18" charset="-122"/>
                <a:sym typeface="+mn-lt"/>
              </a:rPr>
              <a:t>生成的自然语言养殖建议，用户操作门槛低，具备实际应用潜力。</a:t>
            </a:r>
            <a:endParaRPr lang="zh-CN" altLang="en-US" sz="1400" dirty="0">
              <a:solidFill>
                <a:schemeClr val="tx1">
                  <a:lumMod val="65000"/>
                  <a:lumOff val="35000"/>
                </a:schemeClr>
              </a:solidFill>
              <a:latin typeface="微软雅黑" panose="020B0503020204020204" pitchFamily="34" charset="-122"/>
              <a:ea typeface="微软雅黑" panose="020B0503020204020204" pitchFamily="34" charset="-122"/>
              <a:cs typeface="OPPOSans M" panose="00020600040101010101" pitchFamily="18" charset="-122"/>
              <a:sym typeface="+mn-lt"/>
            </a:endParaRPr>
          </a:p>
        </p:txBody>
      </p:sp>
      <p:sp>
        <p:nvSpPr>
          <p:cNvPr id="103" name="Oval 96"/>
          <p:cNvSpPr/>
          <p:nvPr>
            <p:custDataLst>
              <p:tags r:id="rId40"/>
            </p:custDataLst>
          </p:nvPr>
        </p:nvSpPr>
        <p:spPr>
          <a:xfrm>
            <a:off x="7867935" y="4217785"/>
            <a:ext cx="87957" cy="87957"/>
          </a:xfrm>
          <a:prstGeom prst="ellipse">
            <a:avLst/>
          </a:prstGeom>
          <a:gradFill flip="none" rotWithShape="1">
            <a:gsLst>
              <a:gs pos="0">
                <a:schemeClr val="accent1"/>
              </a:gs>
              <a:gs pos="70000">
                <a:schemeClr val="accent1"/>
              </a:gs>
            </a:gsLst>
            <a:lin ang="2700000" scaled="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sz="1200" dirty="0">
              <a:solidFill>
                <a:schemeClr val="lt1"/>
              </a:solidFill>
              <a:latin typeface="微软雅黑" panose="020B0503020204020204" pitchFamily="34" charset="-122"/>
              <a:ea typeface="微软雅黑" panose="020B0503020204020204" pitchFamily="34" charset="-122"/>
            </a:endParaRPr>
          </a:p>
        </p:txBody>
      </p:sp>
      <p:sp>
        <p:nvSpPr>
          <p:cNvPr id="2" name="文本框 1"/>
          <p:cNvSpPr txBox="1"/>
          <p:nvPr/>
        </p:nvSpPr>
        <p:spPr>
          <a:xfrm>
            <a:off x="919480" y="6113780"/>
            <a:ext cx="2541905" cy="275590"/>
          </a:xfrm>
          <a:prstGeom prst="rect">
            <a:avLst/>
          </a:prstGeom>
          <a:noFill/>
        </p:spPr>
        <p:txBody>
          <a:bodyPr wrap="square" rtlCol="0">
            <a:spAutoFit/>
          </a:bodyPr>
          <a:lstStyle/>
          <a:p>
            <a:r>
              <a:rPr lang="zh-CN" altLang="en-US" sz="1200" b="1">
                <a:solidFill>
                  <a:srgbClr val="004C9E"/>
                </a:solidFill>
                <a:latin typeface="微软雅黑" panose="020B0503020204020204" pitchFamily="34" charset="-122"/>
                <a:ea typeface="微软雅黑" panose="020B0503020204020204" pitchFamily="34" charset="-122"/>
                <a:cs typeface="微软雅黑" panose="020B0503020204020204" pitchFamily="34" charset="-122"/>
              </a:rPr>
              <a:t>耐劳苦</a:t>
            </a:r>
            <a:r>
              <a:rPr lang="en-US" altLang="zh-CN" sz="1200" b="1">
                <a:solidFill>
                  <a:srgbClr val="004C9E"/>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200" b="1">
                <a:solidFill>
                  <a:srgbClr val="004C9E"/>
                </a:solidFill>
                <a:latin typeface="微软雅黑" panose="020B0503020204020204" pitchFamily="34" charset="-122"/>
                <a:ea typeface="微软雅黑" panose="020B0503020204020204" pitchFamily="34" charset="-122"/>
                <a:cs typeface="微软雅黑" panose="020B0503020204020204" pitchFamily="34" charset="-122"/>
              </a:rPr>
              <a:t>尚俭朴</a:t>
            </a:r>
            <a:r>
              <a:rPr lang="en-US" altLang="zh-CN" sz="1200" b="1">
                <a:solidFill>
                  <a:srgbClr val="004C9E"/>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200" b="1">
                <a:solidFill>
                  <a:srgbClr val="004C9E"/>
                </a:solidFill>
                <a:latin typeface="微软雅黑" panose="020B0503020204020204" pitchFamily="34" charset="-122"/>
                <a:ea typeface="微软雅黑" panose="020B0503020204020204" pitchFamily="34" charset="-122"/>
                <a:cs typeface="微软雅黑" panose="020B0503020204020204" pitchFamily="34" charset="-122"/>
              </a:rPr>
              <a:t>勤学业</a:t>
            </a:r>
            <a:r>
              <a:rPr lang="en-US" altLang="zh-CN" sz="1200" b="1">
                <a:solidFill>
                  <a:srgbClr val="004C9E"/>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200" b="1">
                <a:solidFill>
                  <a:srgbClr val="004C9E"/>
                </a:solidFill>
                <a:latin typeface="微软雅黑" panose="020B0503020204020204" pitchFamily="34" charset="-122"/>
                <a:ea typeface="微软雅黑" panose="020B0503020204020204" pitchFamily="34" charset="-122"/>
                <a:cs typeface="微软雅黑" panose="020B0503020204020204" pitchFamily="34" charset="-122"/>
              </a:rPr>
              <a:t>爱国家</a:t>
            </a:r>
            <a:endParaRPr lang="zh-CN" altLang="en-US" sz="1200" b="1">
              <a:solidFill>
                <a:srgbClr val="004C9E"/>
              </a:solidFill>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11" name="图片 10" descr="校徽"/>
          <p:cNvPicPr>
            <a:picLocks noChangeAspect="1"/>
          </p:cNvPicPr>
          <p:nvPr/>
        </p:nvPicPr>
        <p:blipFill>
          <a:blip r:embed="rId41"/>
          <a:stretch>
            <a:fillRect/>
          </a:stretch>
        </p:blipFill>
        <p:spPr>
          <a:xfrm>
            <a:off x="10127615" y="5844540"/>
            <a:ext cx="1259840" cy="397510"/>
          </a:xfrm>
          <a:prstGeom prst="rect">
            <a:avLst/>
          </a:prstGeom>
        </p:spPr>
      </p:pic>
      <p:sp>
        <p:nvSpPr>
          <p:cNvPr id="3" name="文本框 2"/>
          <p:cNvSpPr txBox="1"/>
          <p:nvPr/>
        </p:nvSpPr>
        <p:spPr>
          <a:xfrm>
            <a:off x="394507" y="553085"/>
            <a:ext cx="2001520" cy="398780"/>
          </a:xfrm>
          <a:prstGeom prst="rect">
            <a:avLst/>
          </a:prstGeom>
          <a:noFill/>
        </p:spPr>
        <p:txBody>
          <a:bodyPr wrap="square" rtlCol="0">
            <a:spAutoFit/>
          </a:bodyPr>
          <a:lstStyle/>
          <a:p>
            <a:pPr algn="ctr"/>
            <a:r>
              <a:rPr lang="zh-CN" altLang="en-US" sz="2000" b="1" dirty="0">
                <a:solidFill>
                  <a:srgbClr val="A6A6A6"/>
                </a:solidFill>
                <a:latin typeface="微软雅黑" panose="020B0503020204020204" pitchFamily="34" charset="-122"/>
                <a:ea typeface="微软雅黑" panose="020B0503020204020204" pitchFamily="34" charset="-122"/>
              </a:rPr>
              <a:t>立项背景及意义</a:t>
            </a:r>
            <a:endParaRPr lang="zh-CN" altLang="en-US" sz="2000" b="1" dirty="0">
              <a:solidFill>
                <a:srgbClr val="A6A6A6"/>
              </a:solidFill>
              <a:latin typeface="微软雅黑" panose="020B0503020204020204" pitchFamily="34" charset="-122"/>
              <a:ea typeface="微软雅黑" panose="020B0503020204020204" pitchFamily="34" charset="-122"/>
            </a:endParaRPr>
          </a:p>
        </p:txBody>
      </p:sp>
      <p:sp>
        <p:nvSpPr>
          <p:cNvPr id="4" name="文本框 3"/>
          <p:cNvSpPr txBox="1"/>
          <p:nvPr/>
        </p:nvSpPr>
        <p:spPr>
          <a:xfrm>
            <a:off x="2445681" y="553085"/>
            <a:ext cx="2001520" cy="398780"/>
          </a:xfrm>
          <a:prstGeom prst="rect">
            <a:avLst/>
          </a:prstGeom>
          <a:noFill/>
        </p:spPr>
        <p:txBody>
          <a:bodyPr wrap="square" rtlCol="0">
            <a:spAutoFit/>
          </a:bodyPr>
          <a:lstStyle/>
          <a:p>
            <a:pPr algn="ctr"/>
            <a:r>
              <a:rPr lang="zh-CN" altLang="en-US" sz="2000" b="1" dirty="0">
                <a:solidFill>
                  <a:schemeClr val="bg1">
                    <a:lumMod val="65000"/>
                  </a:schemeClr>
                </a:solidFill>
                <a:latin typeface="微软雅黑" panose="020B0503020204020204" pitchFamily="34" charset="-122"/>
                <a:ea typeface="微软雅黑" panose="020B0503020204020204" pitchFamily="34" charset="-122"/>
              </a:rPr>
              <a:t>研究内容</a:t>
            </a:r>
            <a:endParaRPr lang="zh-CN" altLang="en-US" sz="2000" b="1" dirty="0">
              <a:solidFill>
                <a:schemeClr val="bg1">
                  <a:lumMod val="65000"/>
                </a:schemeClr>
              </a:solidFill>
              <a:latin typeface="微软雅黑" panose="020B0503020204020204" pitchFamily="34" charset="-122"/>
              <a:ea typeface="微软雅黑" panose="020B0503020204020204" pitchFamily="34" charset="-122"/>
            </a:endParaRPr>
          </a:p>
        </p:txBody>
      </p:sp>
      <p:sp>
        <p:nvSpPr>
          <p:cNvPr id="5" name="文本框 4"/>
          <p:cNvSpPr txBox="1"/>
          <p:nvPr/>
        </p:nvSpPr>
        <p:spPr>
          <a:xfrm>
            <a:off x="4543231" y="553085"/>
            <a:ext cx="2001520" cy="398780"/>
          </a:xfrm>
          <a:prstGeom prst="rect">
            <a:avLst/>
          </a:prstGeom>
          <a:noFill/>
        </p:spPr>
        <p:txBody>
          <a:bodyPr wrap="square" rtlCol="0">
            <a:spAutoFit/>
          </a:bodyPr>
          <a:lstStyle/>
          <a:p>
            <a:pPr algn="ctr"/>
            <a:r>
              <a:rPr lang="zh-CN" altLang="en-US" sz="2000" b="1" dirty="0">
                <a:solidFill>
                  <a:srgbClr val="004C9E"/>
                </a:solidFill>
                <a:latin typeface="微软雅黑" panose="020B0503020204020204" pitchFamily="34" charset="-122"/>
                <a:ea typeface="微软雅黑" panose="020B0503020204020204" pitchFamily="34" charset="-122"/>
              </a:rPr>
              <a:t>拟采用技术路线</a:t>
            </a:r>
            <a:endParaRPr lang="zh-CN" altLang="en-US" sz="2000" b="1" dirty="0">
              <a:solidFill>
                <a:srgbClr val="004C9E"/>
              </a:solidFill>
              <a:latin typeface="微软雅黑" panose="020B0503020204020204" pitchFamily="34" charset="-122"/>
              <a:ea typeface="微软雅黑" panose="020B0503020204020204" pitchFamily="34" charset="-122"/>
            </a:endParaRPr>
          </a:p>
        </p:txBody>
      </p:sp>
      <p:sp>
        <p:nvSpPr>
          <p:cNvPr id="6" name="文本框 5"/>
          <p:cNvSpPr txBox="1"/>
          <p:nvPr/>
        </p:nvSpPr>
        <p:spPr>
          <a:xfrm>
            <a:off x="6485324" y="553085"/>
            <a:ext cx="2755901" cy="398780"/>
          </a:xfrm>
          <a:prstGeom prst="rect">
            <a:avLst/>
          </a:prstGeom>
          <a:noFill/>
        </p:spPr>
        <p:txBody>
          <a:bodyPr wrap="square" rtlCol="0">
            <a:spAutoFit/>
          </a:bodyPr>
          <a:lstStyle/>
          <a:p>
            <a:pPr algn="ctr"/>
            <a:r>
              <a:rPr lang="zh-CN" altLang="en-US" sz="2000" b="1" dirty="0">
                <a:solidFill>
                  <a:schemeClr val="bg1">
                    <a:lumMod val="65000"/>
                  </a:schemeClr>
                </a:solidFill>
                <a:latin typeface="微软雅黑" panose="020B0503020204020204" pitchFamily="34" charset="-122"/>
                <a:ea typeface="微软雅黑" panose="020B0503020204020204" pitchFamily="34" charset="-122"/>
              </a:rPr>
              <a:t>创新与特点</a:t>
            </a:r>
            <a:endParaRPr lang="zh-CN" altLang="en-US" sz="2000" b="1" dirty="0">
              <a:solidFill>
                <a:schemeClr val="bg1">
                  <a:lumMod val="65000"/>
                </a:schemeClr>
              </a:solidFill>
              <a:latin typeface="微软雅黑" panose="020B0503020204020204" pitchFamily="34" charset="-122"/>
              <a:ea typeface="微软雅黑" panose="020B0503020204020204" pitchFamily="34" charset="-122"/>
            </a:endParaRPr>
          </a:p>
        </p:txBody>
      </p:sp>
      <p:sp>
        <p:nvSpPr>
          <p:cNvPr id="12" name="文本框 11"/>
          <p:cNvSpPr txBox="1"/>
          <p:nvPr/>
        </p:nvSpPr>
        <p:spPr>
          <a:xfrm>
            <a:off x="9102720" y="553085"/>
            <a:ext cx="2755901" cy="398780"/>
          </a:xfrm>
          <a:prstGeom prst="rect">
            <a:avLst/>
          </a:prstGeom>
          <a:noFill/>
        </p:spPr>
        <p:txBody>
          <a:bodyPr wrap="square" rtlCol="0">
            <a:spAutoFit/>
          </a:bodyPr>
          <a:lstStyle/>
          <a:p>
            <a:pPr algn="ctr"/>
            <a:r>
              <a:rPr lang="zh-CN" altLang="en-US" sz="2000" b="1" dirty="0">
                <a:solidFill>
                  <a:schemeClr val="bg1">
                    <a:lumMod val="65000"/>
                  </a:schemeClr>
                </a:solidFill>
                <a:latin typeface="微软雅黑" panose="020B0503020204020204" pitchFamily="34" charset="-122"/>
                <a:ea typeface="微软雅黑" panose="020B0503020204020204" pitchFamily="34" charset="-122"/>
              </a:rPr>
              <a:t>时间安排计划</a:t>
            </a:r>
            <a:endParaRPr lang="zh-CN" altLang="en-US" sz="2000" b="1" dirty="0">
              <a:solidFill>
                <a:schemeClr val="bg1">
                  <a:lumMod val="65000"/>
                </a:schemeClr>
              </a:solidFill>
              <a:latin typeface="微软雅黑" panose="020B0503020204020204" pitchFamily="34" charset="-122"/>
              <a:ea typeface="微软雅黑" panose="020B0503020204020204" pitchFamily="34" charset="-122"/>
            </a:endParaRPr>
          </a:p>
        </p:txBody>
      </p:sp>
      <p:sp>
        <p:nvSpPr>
          <p:cNvPr id="13" name="等腰三角形 12"/>
          <p:cNvSpPr/>
          <p:nvPr/>
        </p:nvSpPr>
        <p:spPr>
          <a:xfrm rot="5400000">
            <a:off x="4433618" y="669975"/>
            <a:ext cx="192943" cy="166330"/>
          </a:xfrm>
          <a:prstGeom prst="triangle">
            <a:avLst/>
          </a:prstGeom>
          <a:solidFill>
            <a:srgbClr val="004C9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文本框 18"/>
          <p:cNvSpPr txBox="1"/>
          <p:nvPr/>
        </p:nvSpPr>
        <p:spPr>
          <a:xfrm>
            <a:off x="882650" y="1076325"/>
            <a:ext cx="5575300" cy="398780"/>
          </a:xfrm>
          <a:prstGeom prst="rect">
            <a:avLst/>
          </a:prstGeom>
          <a:noFill/>
        </p:spPr>
        <p:txBody>
          <a:bodyPr wrap="square" rtlCol="0">
            <a:spAutoFit/>
          </a:bodyPr>
          <a:lstStyle/>
          <a:p>
            <a:r>
              <a:rPr lang="zh-CN" altLang="en-US" sz="2000" b="1"/>
              <a:t>可行性分析</a:t>
            </a:r>
            <a:r>
              <a:rPr lang="en-US" altLang="zh-CN" sz="2000" b="1"/>
              <a:t>--</a:t>
            </a:r>
            <a:r>
              <a:rPr lang="zh-CN" altLang="en-US" sz="2000" b="1"/>
              <a:t>团队能力与社会需求</a:t>
            </a:r>
            <a:endParaRPr lang="zh-CN" altLang="en-US" sz="2000" b="1"/>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91"/>
                                        </p:tgtEl>
                                        <p:attrNameLst>
                                          <p:attrName>style.visibility</p:attrName>
                                        </p:attrNameLst>
                                      </p:cBhvr>
                                      <p:to>
                                        <p:strVal val="visible"/>
                                      </p:to>
                                    </p:set>
                                    <p:animEffect transition="in" filter="wipe(down)">
                                      <p:cBhvr>
                                        <p:cTn id="7" dur="500"/>
                                        <p:tgtEl>
                                          <p:spTgt spid="91"/>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80"/>
                                        </p:tgtEl>
                                        <p:attrNameLst>
                                          <p:attrName>style.visibility</p:attrName>
                                        </p:attrNameLst>
                                      </p:cBhvr>
                                      <p:to>
                                        <p:strVal val="visible"/>
                                      </p:to>
                                    </p:set>
                                    <p:animEffect transition="in" filter="wipe(down)">
                                      <p:cBhvr>
                                        <p:cTn id="10" dur="500"/>
                                        <p:tgtEl>
                                          <p:spTgt spid="80"/>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82"/>
                                        </p:tgtEl>
                                        <p:attrNameLst>
                                          <p:attrName>style.visibility</p:attrName>
                                        </p:attrNameLst>
                                      </p:cBhvr>
                                      <p:to>
                                        <p:strVal val="visible"/>
                                      </p:to>
                                    </p:set>
                                    <p:animEffect transition="in" filter="wipe(down)">
                                      <p:cBhvr>
                                        <p:cTn id="13" dur="500"/>
                                        <p:tgtEl>
                                          <p:spTgt spid="82"/>
                                        </p:tgtEl>
                                      </p:cBhvr>
                                    </p:animEffect>
                                  </p:childTnLst>
                                </p:cTn>
                              </p:par>
                              <p:par>
                                <p:cTn id="14" presetID="22" presetClass="entr" presetSubtype="4" fill="hold" grpId="0" nodeType="withEffect">
                                  <p:stCondLst>
                                    <p:cond delay="0"/>
                                  </p:stCondLst>
                                  <p:childTnLst>
                                    <p:set>
                                      <p:cBhvr>
                                        <p:cTn id="15" dur="1" fill="hold">
                                          <p:stCondLst>
                                            <p:cond delay="0"/>
                                          </p:stCondLst>
                                        </p:cTn>
                                        <p:tgtEl>
                                          <p:spTgt spid="93"/>
                                        </p:tgtEl>
                                        <p:attrNameLst>
                                          <p:attrName>style.visibility</p:attrName>
                                        </p:attrNameLst>
                                      </p:cBhvr>
                                      <p:to>
                                        <p:strVal val="visible"/>
                                      </p:to>
                                    </p:set>
                                    <p:animEffect transition="in" filter="wipe(down)">
                                      <p:cBhvr>
                                        <p:cTn id="16" dur="500"/>
                                        <p:tgtEl>
                                          <p:spTgt spid="93"/>
                                        </p:tgtEl>
                                      </p:cBhvr>
                                    </p:animEffect>
                                  </p:childTnLst>
                                </p:cTn>
                              </p:par>
                              <p:par>
                                <p:cTn id="17" presetID="22" presetClass="entr" presetSubtype="4" fill="hold" grpId="0" nodeType="withEffect">
                                  <p:stCondLst>
                                    <p:cond delay="0"/>
                                  </p:stCondLst>
                                  <p:childTnLst>
                                    <p:set>
                                      <p:cBhvr>
                                        <p:cTn id="18" dur="1" fill="hold">
                                          <p:stCondLst>
                                            <p:cond delay="0"/>
                                          </p:stCondLst>
                                        </p:cTn>
                                        <p:tgtEl>
                                          <p:spTgt spid="92"/>
                                        </p:tgtEl>
                                        <p:attrNameLst>
                                          <p:attrName>style.visibility</p:attrName>
                                        </p:attrNameLst>
                                      </p:cBhvr>
                                      <p:to>
                                        <p:strVal val="visible"/>
                                      </p:to>
                                    </p:set>
                                    <p:animEffect transition="in" filter="wipe(down)">
                                      <p:cBhvr>
                                        <p:cTn id="19" dur="500"/>
                                        <p:tgtEl>
                                          <p:spTgt spid="92"/>
                                        </p:tgtEl>
                                      </p:cBhvr>
                                    </p:animEffect>
                                  </p:childTnLst>
                                </p:cTn>
                              </p:par>
                              <p:par>
                                <p:cTn id="20" presetID="22" presetClass="entr" presetSubtype="4" fill="hold" grpId="0" nodeType="withEffect">
                                  <p:stCondLst>
                                    <p:cond delay="0"/>
                                  </p:stCondLst>
                                  <p:childTnLst>
                                    <p:set>
                                      <p:cBhvr>
                                        <p:cTn id="21" dur="1" fill="hold">
                                          <p:stCondLst>
                                            <p:cond delay="0"/>
                                          </p:stCondLst>
                                        </p:cTn>
                                        <p:tgtEl>
                                          <p:spTgt spid="83"/>
                                        </p:tgtEl>
                                        <p:attrNameLst>
                                          <p:attrName>style.visibility</p:attrName>
                                        </p:attrNameLst>
                                      </p:cBhvr>
                                      <p:to>
                                        <p:strVal val="visible"/>
                                      </p:to>
                                    </p:set>
                                    <p:animEffect transition="in" filter="wipe(down)">
                                      <p:cBhvr>
                                        <p:cTn id="22" dur="500"/>
                                        <p:tgtEl>
                                          <p:spTgt spid="83"/>
                                        </p:tgtEl>
                                      </p:cBhvr>
                                    </p:animEffect>
                                  </p:childTnLst>
                                </p:cTn>
                              </p:par>
                              <p:par>
                                <p:cTn id="23" presetID="22" presetClass="entr" presetSubtype="4" fill="hold" grpId="0" nodeType="withEffect">
                                  <p:stCondLst>
                                    <p:cond delay="0"/>
                                  </p:stCondLst>
                                  <p:childTnLst>
                                    <p:set>
                                      <p:cBhvr>
                                        <p:cTn id="24" dur="1" fill="hold">
                                          <p:stCondLst>
                                            <p:cond delay="0"/>
                                          </p:stCondLst>
                                        </p:cTn>
                                        <p:tgtEl>
                                          <p:spTgt spid="94"/>
                                        </p:tgtEl>
                                        <p:attrNameLst>
                                          <p:attrName>style.visibility</p:attrName>
                                        </p:attrNameLst>
                                      </p:cBhvr>
                                      <p:to>
                                        <p:strVal val="visible"/>
                                      </p:to>
                                    </p:set>
                                    <p:animEffect transition="in" filter="wipe(down)">
                                      <p:cBhvr>
                                        <p:cTn id="25" dur="500"/>
                                        <p:tgtEl>
                                          <p:spTgt spid="94"/>
                                        </p:tgtEl>
                                      </p:cBhvr>
                                    </p:animEffect>
                                  </p:childTnLst>
                                </p:cTn>
                              </p:par>
                              <p:par>
                                <p:cTn id="26" presetID="22" presetClass="entr" presetSubtype="4" fill="hold" grpId="0" nodeType="withEffect">
                                  <p:stCondLst>
                                    <p:cond delay="0"/>
                                  </p:stCondLst>
                                  <p:childTnLst>
                                    <p:set>
                                      <p:cBhvr>
                                        <p:cTn id="27" dur="1" fill="hold">
                                          <p:stCondLst>
                                            <p:cond delay="0"/>
                                          </p:stCondLst>
                                        </p:cTn>
                                        <p:tgtEl>
                                          <p:spTgt spid="81"/>
                                        </p:tgtEl>
                                        <p:attrNameLst>
                                          <p:attrName>style.visibility</p:attrName>
                                        </p:attrNameLst>
                                      </p:cBhvr>
                                      <p:to>
                                        <p:strVal val="visible"/>
                                      </p:to>
                                    </p:set>
                                    <p:animEffect transition="in" filter="wipe(down)">
                                      <p:cBhvr>
                                        <p:cTn id="28" dur="500"/>
                                        <p:tgtEl>
                                          <p:spTgt spid="81"/>
                                        </p:tgtEl>
                                      </p:cBhvr>
                                    </p:animEffect>
                                  </p:childTnLst>
                                </p:cTn>
                              </p:par>
                            </p:childTnLst>
                          </p:cTn>
                        </p:par>
                        <p:par>
                          <p:cTn id="29" fill="hold">
                            <p:stCondLst>
                              <p:cond delay="500"/>
                            </p:stCondLst>
                            <p:childTnLst>
                              <p:par>
                                <p:cTn id="30" presetID="10" presetClass="entr" presetSubtype="0" fill="hold" grpId="0" nodeType="afterEffect">
                                  <p:stCondLst>
                                    <p:cond delay="0"/>
                                  </p:stCondLst>
                                  <p:childTnLst>
                                    <p:set>
                                      <p:cBhvr>
                                        <p:cTn id="31" dur="1" fill="hold">
                                          <p:stCondLst>
                                            <p:cond delay="0"/>
                                          </p:stCondLst>
                                        </p:cTn>
                                        <p:tgtEl>
                                          <p:spTgt spid="86"/>
                                        </p:tgtEl>
                                        <p:attrNameLst>
                                          <p:attrName>style.visibility</p:attrName>
                                        </p:attrNameLst>
                                      </p:cBhvr>
                                      <p:to>
                                        <p:strVal val="visible"/>
                                      </p:to>
                                    </p:set>
                                    <p:animEffect transition="in" filter="fade">
                                      <p:cBhvr>
                                        <p:cTn id="32" dur="500"/>
                                        <p:tgtEl>
                                          <p:spTgt spid="86"/>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87"/>
                                        </p:tgtEl>
                                        <p:attrNameLst>
                                          <p:attrName>style.visibility</p:attrName>
                                        </p:attrNameLst>
                                      </p:cBhvr>
                                      <p:to>
                                        <p:strVal val="visible"/>
                                      </p:to>
                                    </p:set>
                                    <p:animEffect transition="in" filter="fade">
                                      <p:cBhvr>
                                        <p:cTn id="35" dur="500"/>
                                        <p:tgtEl>
                                          <p:spTgt spid="87"/>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85"/>
                                        </p:tgtEl>
                                        <p:attrNameLst>
                                          <p:attrName>style.visibility</p:attrName>
                                        </p:attrNameLst>
                                      </p:cBhvr>
                                      <p:to>
                                        <p:strVal val="visible"/>
                                      </p:to>
                                    </p:set>
                                    <p:animEffect transition="in" filter="fade">
                                      <p:cBhvr>
                                        <p:cTn id="38" dur="500"/>
                                        <p:tgtEl>
                                          <p:spTgt spid="85"/>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84"/>
                                        </p:tgtEl>
                                        <p:attrNameLst>
                                          <p:attrName>style.visibility</p:attrName>
                                        </p:attrNameLst>
                                      </p:cBhvr>
                                      <p:to>
                                        <p:strVal val="visible"/>
                                      </p:to>
                                    </p:set>
                                    <p:animEffect transition="in" filter="fade">
                                      <p:cBhvr>
                                        <p:cTn id="41" dur="500"/>
                                        <p:tgtEl>
                                          <p:spTgt spid="84"/>
                                        </p:tgtEl>
                                      </p:cBhvr>
                                    </p:animEffect>
                                  </p:childTnLst>
                                </p:cTn>
                              </p:par>
                              <p:par>
                                <p:cTn id="42" presetID="10" presetClass="entr" presetSubtype="0" fill="hold" nodeType="withEffect">
                                  <p:stCondLst>
                                    <p:cond delay="0"/>
                                  </p:stCondLst>
                                  <p:childTnLst>
                                    <p:set>
                                      <p:cBhvr>
                                        <p:cTn id="43" dur="1" fill="hold">
                                          <p:stCondLst>
                                            <p:cond delay="0"/>
                                          </p:stCondLst>
                                        </p:cTn>
                                        <p:tgtEl>
                                          <p:spTgt spid="79"/>
                                        </p:tgtEl>
                                        <p:attrNameLst>
                                          <p:attrName>style.visibility</p:attrName>
                                        </p:attrNameLst>
                                      </p:cBhvr>
                                      <p:to>
                                        <p:strVal val="visible"/>
                                      </p:to>
                                    </p:set>
                                    <p:animEffect transition="in" filter="fade">
                                      <p:cBhvr>
                                        <p:cTn id="44" dur="500"/>
                                        <p:tgtEl>
                                          <p:spTgt spid="79"/>
                                        </p:tgtEl>
                                      </p:cBhvr>
                                    </p:animEffect>
                                  </p:childTnLst>
                                </p:cTn>
                              </p:par>
                              <p:par>
                                <p:cTn id="45" presetID="10" presetClass="entr" presetSubtype="0" fill="hold" nodeType="withEffect">
                                  <p:stCondLst>
                                    <p:cond delay="0"/>
                                  </p:stCondLst>
                                  <p:childTnLst>
                                    <p:set>
                                      <p:cBhvr>
                                        <p:cTn id="46" dur="1" fill="hold">
                                          <p:stCondLst>
                                            <p:cond delay="0"/>
                                          </p:stCondLst>
                                        </p:cTn>
                                        <p:tgtEl>
                                          <p:spTgt spid="78"/>
                                        </p:tgtEl>
                                        <p:attrNameLst>
                                          <p:attrName>style.visibility</p:attrName>
                                        </p:attrNameLst>
                                      </p:cBhvr>
                                      <p:to>
                                        <p:strVal val="visible"/>
                                      </p:to>
                                    </p:set>
                                    <p:animEffect transition="in" filter="fade">
                                      <p:cBhvr>
                                        <p:cTn id="47" dur="500"/>
                                        <p:tgtEl>
                                          <p:spTgt spid="78"/>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89"/>
                                        </p:tgtEl>
                                        <p:attrNameLst>
                                          <p:attrName>style.visibility</p:attrName>
                                        </p:attrNameLst>
                                      </p:cBhvr>
                                      <p:to>
                                        <p:strVal val="visible"/>
                                      </p:to>
                                    </p:set>
                                    <p:animEffect transition="in" filter="fade">
                                      <p:cBhvr>
                                        <p:cTn id="50" dur="500"/>
                                        <p:tgtEl>
                                          <p:spTgt spid="89"/>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88"/>
                                        </p:tgtEl>
                                        <p:attrNameLst>
                                          <p:attrName>style.visibility</p:attrName>
                                        </p:attrNameLst>
                                      </p:cBhvr>
                                      <p:to>
                                        <p:strVal val="visible"/>
                                      </p:to>
                                    </p:set>
                                    <p:animEffect transition="in" filter="fade">
                                      <p:cBhvr>
                                        <p:cTn id="53" dur="500"/>
                                        <p:tgtEl>
                                          <p:spTgt spid="88"/>
                                        </p:tgtEl>
                                      </p:cBhvr>
                                    </p:animEffect>
                                  </p:childTnLst>
                                </p:cTn>
                              </p:par>
                              <p:par>
                                <p:cTn id="54" presetID="10" presetClass="entr" presetSubtype="0" fill="hold" nodeType="withEffect">
                                  <p:stCondLst>
                                    <p:cond delay="0"/>
                                  </p:stCondLst>
                                  <p:childTnLst>
                                    <p:set>
                                      <p:cBhvr>
                                        <p:cTn id="55" dur="1" fill="hold">
                                          <p:stCondLst>
                                            <p:cond delay="0"/>
                                          </p:stCondLst>
                                        </p:cTn>
                                        <p:tgtEl>
                                          <p:spTgt spid="77"/>
                                        </p:tgtEl>
                                        <p:attrNameLst>
                                          <p:attrName>style.visibility</p:attrName>
                                        </p:attrNameLst>
                                      </p:cBhvr>
                                      <p:to>
                                        <p:strVal val="visible"/>
                                      </p:to>
                                    </p:set>
                                    <p:animEffect transition="in" filter="fade">
                                      <p:cBhvr>
                                        <p:cTn id="56" dur="500"/>
                                        <p:tgtEl>
                                          <p:spTgt spid="77"/>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103"/>
                                        </p:tgtEl>
                                        <p:attrNameLst>
                                          <p:attrName>style.visibility</p:attrName>
                                        </p:attrNameLst>
                                      </p:cBhvr>
                                      <p:to>
                                        <p:strVal val="visible"/>
                                      </p:to>
                                    </p:set>
                                    <p:animEffect transition="in" filter="fade">
                                      <p:cBhvr>
                                        <p:cTn id="59" dur="500"/>
                                        <p:tgtEl>
                                          <p:spTgt spid="103"/>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90"/>
                                        </p:tgtEl>
                                        <p:attrNameLst>
                                          <p:attrName>style.visibility</p:attrName>
                                        </p:attrNameLst>
                                      </p:cBhvr>
                                      <p:to>
                                        <p:strVal val="visible"/>
                                      </p:to>
                                    </p:set>
                                    <p:animEffect transition="in" filter="fade">
                                      <p:cBhvr>
                                        <p:cTn id="62" dur="500"/>
                                        <p:tgtEl>
                                          <p:spTgt spid="90"/>
                                        </p:tgtEl>
                                      </p:cBhvr>
                                    </p:animEffect>
                                  </p:childTnLst>
                                </p:cTn>
                              </p:par>
                              <p:par>
                                <p:cTn id="63" presetID="10" presetClass="entr" presetSubtype="0" fill="hold" nodeType="withEffect">
                                  <p:stCondLst>
                                    <p:cond delay="0"/>
                                  </p:stCondLst>
                                  <p:childTnLst>
                                    <p:set>
                                      <p:cBhvr>
                                        <p:cTn id="64" dur="1" fill="hold">
                                          <p:stCondLst>
                                            <p:cond delay="0"/>
                                          </p:stCondLst>
                                        </p:cTn>
                                        <p:tgtEl>
                                          <p:spTgt spid="76"/>
                                        </p:tgtEl>
                                        <p:attrNameLst>
                                          <p:attrName>style.visibility</p:attrName>
                                        </p:attrNameLst>
                                      </p:cBhvr>
                                      <p:to>
                                        <p:strVal val="visible"/>
                                      </p:to>
                                    </p:set>
                                    <p:animEffect transition="in" filter="fade">
                                      <p:cBhvr>
                                        <p:cTn id="65" dur="500"/>
                                        <p:tgtEl>
                                          <p:spTgt spid="76"/>
                                        </p:tgtEl>
                                      </p:cBhvr>
                                    </p:animEffect>
                                  </p:childTnLst>
                                </p:cTn>
                              </p:par>
                            </p:childTnLst>
                          </p:cTn>
                        </p:par>
                        <p:par>
                          <p:cTn id="66" fill="hold">
                            <p:stCondLst>
                              <p:cond delay="1000"/>
                            </p:stCondLst>
                            <p:childTnLst>
                              <p:par>
                                <p:cTn id="67" presetID="10" presetClass="entr" presetSubtype="0" fill="hold" grpId="0" nodeType="afterEffect">
                                  <p:stCondLst>
                                    <p:cond delay="0"/>
                                  </p:stCondLst>
                                  <p:childTnLst>
                                    <p:set>
                                      <p:cBhvr>
                                        <p:cTn id="68" dur="1" fill="hold">
                                          <p:stCondLst>
                                            <p:cond delay="0"/>
                                          </p:stCondLst>
                                        </p:cTn>
                                        <p:tgtEl>
                                          <p:spTgt spid="95"/>
                                        </p:tgtEl>
                                        <p:attrNameLst>
                                          <p:attrName>style.visibility</p:attrName>
                                        </p:attrNameLst>
                                      </p:cBhvr>
                                      <p:to>
                                        <p:strVal val="visible"/>
                                      </p:to>
                                    </p:set>
                                    <p:animEffect transition="in" filter="fade">
                                      <p:cBhvr>
                                        <p:cTn id="69" dur="500"/>
                                        <p:tgtEl>
                                          <p:spTgt spid="95"/>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96"/>
                                        </p:tgtEl>
                                        <p:attrNameLst>
                                          <p:attrName>style.visibility</p:attrName>
                                        </p:attrNameLst>
                                      </p:cBhvr>
                                      <p:to>
                                        <p:strVal val="visible"/>
                                      </p:to>
                                    </p:set>
                                    <p:animEffect transition="in" filter="fade">
                                      <p:cBhvr>
                                        <p:cTn id="72" dur="500"/>
                                        <p:tgtEl>
                                          <p:spTgt spid="96"/>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97"/>
                                        </p:tgtEl>
                                        <p:attrNameLst>
                                          <p:attrName>style.visibility</p:attrName>
                                        </p:attrNameLst>
                                      </p:cBhvr>
                                      <p:to>
                                        <p:strVal val="visible"/>
                                      </p:to>
                                    </p:set>
                                    <p:animEffect transition="in" filter="fade">
                                      <p:cBhvr>
                                        <p:cTn id="75" dur="500"/>
                                        <p:tgtEl>
                                          <p:spTgt spid="97"/>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98"/>
                                        </p:tgtEl>
                                        <p:attrNameLst>
                                          <p:attrName>style.visibility</p:attrName>
                                        </p:attrNameLst>
                                      </p:cBhvr>
                                      <p:to>
                                        <p:strVal val="visible"/>
                                      </p:to>
                                    </p:set>
                                    <p:animEffect transition="in" filter="fade">
                                      <p:cBhvr>
                                        <p:cTn id="78" dur="500"/>
                                        <p:tgtEl>
                                          <p:spTgt spid="98"/>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99"/>
                                        </p:tgtEl>
                                        <p:attrNameLst>
                                          <p:attrName>style.visibility</p:attrName>
                                        </p:attrNameLst>
                                      </p:cBhvr>
                                      <p:to>
                                        <p:strVal val="visible"/>
                                      </p:to>
                                    </p:set>
                                    <p:animEffect transition="in" filter="fade">
                                      <p:cBhvr>
                                        <p:cTn id="81" dur="500"/>
                                        <p:tgtEl>
                                          <p:spTgt spid="99"/>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100"/>
                                        </p:tgtEl>
                                        <p:attrNameLst>
                                          <p:attrName>style.visibility</p:attrName>
                                        </p:attrNameLst>
                                      </p:cBhvr>
                                      <p:to>
                                        <p:strVal val="visible"/>
                                      </p:to>
                                    </p:set>
                                    <p:animEffect transition="in" filter="fade">
                                      <p:cBhvr>
                                        <p:cTn id="84" dur="500"/>
                                        <p:tgtEl>
                                          <p:spTgt spid="100"/>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101"/>
                                        </p:tgtEl>
                                        <p:attrNameLst>
                                          <p:attrName>style.visibility</p:attrName>
                                        </p:attrNameLst>
                                      </p:cBhvr>
                                      <p:to>
                                        <p:strVal val="visible"/>
                                      </p:to>
                                    </p:set>
                                    <p:animEffect transition="in" filter="fade">
                                      <p:cBhvr>
                                        <p:cTn id="87" dur="500"/>
                                        <p:tgtEl>
                                          <p:spTgt spid="101"/>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102"/>
                                        </p:tgtEl>
                                        <p:attrNameLst>
                                          <p:attrName>style.visibility</p:attrName>
                                        </p:attrNameLst>
                                      </p:cBhvr>
                                      <p:to>
                                        <p:strVal val="visible"/>
                                      </p:to>
                                    </p:set>
                                    <p:animEffect transition="in" filter="fade">
                                      <p:cBhvr>
                                        <p:cTn id="90" dur="500"/>
                                        <p:tgtEl>
                                          <p:spTgt spid="1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 grpId="0" bldLvl="0" animBg="1"/>
      <p:bldP spid="81" grpId="0" bldLvl="0" animBg="1"/>
      <p:bldP spid="82" grpId="0" bldLvl="0" animBg="1"/>
      <p:bldP spid="83" grpId="0" bldLvl="0" animBg="1"/>
      <p:bldP spid="84" grpId="0" bldLvl="0" animBg="1"/>
      <p:bldP spid="85" grpId="0" bldLvl="0" animBg="1"/>
      <p:bldP spid="86" grpId="0" bldLvl="0" animBg="1"/>
      <p:bldP spid="87" grpId="0" bldLvl="0" animBg="1"/>
      <p:bldP spid="88" grpId="0" bldLvl="0" animBg="1"/>
      <p:bldP spid="89" grpId="0" bldLvl="0" animBg="1"/>
      <p:bldP spid="90" grpId="0" bldLvl="0" animBg="1"/>
      <p:bldP spid="91" grpId="0"/>
      <p:bldP spid="92" grpId="0"/>
      <p:bldP spid="93" grpId="0"/>
      <p:bldP spid="94" grpId="0"/>
      <p:bldP spid="95" grpId="0"/>
      <p:bldP spid="96" grpId="0"/>
      <p:bldP spid="97" grpId="0"/>
      <p:bldP spid="98" grpId="0"/>
      <p:bldP spid="99" grpId="0"/>
      <p:bldP spid="100" grpId="0"/>
      <p:bldP spid="101" grpId="0"/>
      <p:bldP spid="102" grpId="0"/>
      <p:bldP spid="103" grpId="0" bldLvl="0" animBg="1"/>
    </p:bld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 name="直角三角形 20"/>
          <p:cNvSpPr/>
          <p:nvPr/>
        </p:nvSpPr>
        <p:spPr>
          <a:xfrm>
            <a:off x="0" y="3165895"/>
            <a:ext cx="3692105" cy="3692105"/>
          </a:xfrm>
          <a:prstGeom prst="rtTriangle">
            <a:avLst/>
          </a:prstGeom>
          <a:solidFill>
            <a:srgbClr val="004C9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04B9D"/>
              </a:solidFill>
            </a:endParaRPr>
          </a:p>
        </p:txBody>
      </p:sp>
      <p:sp>
        <p:nvSpPr>
          <p:cNvPr id="20" name="直角三角形 19"/>
          <p:cNvSpPr/>
          <p:nvPr/>
        </p:nvSpPr>
        <p:spPr>
          <a:xfrm rot="10800000">
            <a:off x="8499895" y="0"/>
            <a:ext cx="3692105" cy="3692105"/>
          </a:xfrm>
          <a:prstGeom prst="rtTriangle">
            <a:avLst/>
          </a:prstGeom>
          <a:solidFill>
            <a:srgbClr val="004B9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7" name="组合 6"/>
          <p:cNvGrpSpPr/>
          <p:nvPr userDrawn="1"/>
        </p:nvGrpSpPr>
        <p:grpSpPr>
          <a:xfrm>
            <a:off x="490537" y="472440"/>
            <a:ext cx="11210925" cy="6019800"/>
            <a:chOff x="490484" y="441960"/>
            <a:chExt cx="11211033" cy="6019801"/>
          </a:xfrm>
        </p:grpSpPr>
        <p:pic>
          <p:nvPicPr>
            <p:cNvPr id="8" name="图片 7"/>
            <p:cNvPicPr>
              <a:picLocks noChangeAspect="1"/>
            </p:cNvPicPr>
            <p:nvPr userDrawn="1"/>
          </p:nvPicPr>
          <p:blipFill rotWithShape="1">
            <a:blip r:embed="rId1">
              <a:extLst>
                <a:ext uri="{28A0092B-C50C-407E-A947-70E740481C1C}">
                  <a14:useLocalDpi xmlns:a14="http://schemas.microsoft.com/office/drawing/2010/main" val="0"/>
                </a:ext>
              </a:extLst>
            </a:blip>
            <a:srcRect l="1515" t="4277" r="530" b="14319"/>
            <a:stretch>
              <a:fillRect/>
            </a:stretch>
          </p:blipFill>
          <p:spPr>
            <a:xfrm>
              <a:off x="490484" y="441960"/>
              <a:ext cx="11211033" cy="6019801"/>
            </a:xfrm>
            <a:prstGeom prst="rect">
              <a:avLst/>
            </a:prstGeom>
            <a:effectLst>
              <a:outerShdw blurRad="355600" dist="139700" dir="2700000" algn="tl" rotWithShape="0">
                <a:prstClr val="black">
                  <a:alpha val="61000"/>
                </a:prstClr>
              </a:outerShdw>
            </a:effectLst>
          </p:spPr>
        </p:pic>
        <p:sp>
          <p:nvSpPr>
            <p:cNvPr id="9" name="矩形 8"/>
            <p:cNvSpPr/>
            <p:nvPr userDrawn="1"/>
          </p:nvSpPr>
          <p:spPr>
            <a:xfrm>
              <a:off x="490484" y="441960"/>
              <a:ext cx="11211032" cy="6019801"/>
            </a:xfrm>
            <a:prstGeom prst="rect">
              <a:avLst/>
            </a:prstGeom>
            <a:solidFill>
              <a:srgbClr val="FFFEF7">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400" b="1" dirty="0">
                <a:solidFill>
                  <a:srgbClr val="004C9E"/>
                </a:solidFill>
                <a:latin typeface="微软雅黑" panose="020B0503020204020204" pitchFamily="34" charset="-122"/>
                <a:ea typeface="微软雅黑" panose="020B0503020204020204" pitchFamily="34" charset="-122"/>
              </a:endParaRPr>
            </a:p>
          </p:txBody>
        </p:sp>
      </p:grpSp>
      <p:sp>
        <p:nvSpPr>
          <p:cNvPr id="10" name="文本框 9"/>
          <p:cNvSpPr txBox="1"/>
          <p:nvPr/>
        </p:nvSpPr>
        <p:spPr>
          <a:xfrm>
            <a:off x="769378" y="567285"/>
            <a:ext cx="2001520" cy="400110"/>
          </a:xfrm>
          <a:prstGeom prst="rect">
            <a:avLst/>
          </a:prstGeom>
          <a:noFill/>
        </p:spPr>
        <p:txBody>
          <a:bodyPr wrap="square" rtlCol="0">
            <a:spAutoFit/>
          </a:bodyPr>
          <a:lstStyle/>
          <a:p>
            <a:pPr algn="ctr"/>
            <a:r>
              <a:rPr lang="zh-CN" altLang="en-US" sz="2000" b="1" dirty="0">
                <a:solidFill>
                  <a:schemeClr val="accent3"/>
                </a:solidFill>
                <a:latin typeface="微软雅黑" panose="020B0503020204020204" pitchFamily="34" charset="-122"/>
                <a:ea typeface="微软雅黑" panose="020B0503020204020204" pitchFamily="34" charset="-122"/>
              </a:rPr>
              <a:t>立项背景及意义</a:t>
            </a:r>
            <a:endParaRPr lang="zh-CN" altLang="en-US" sz="2000" b="1" dirty="0">
              <a:solidFill>
                <a:schemeClr val="accent3"/>
              </a:solidFill>
              <a:latin typeface="微软雅黑" panose="020B0503020204020204" pitchFamily="34" charset="-122"/>
              <a:ea typeface="微软雅黑" panose="020B0503020204020204" pitchFamily="34" charset="-122"/>
            </a:endParaRPr>
          </a:p>
        </p:txBody>
      </p:sp>
      <p:cxnSp>
        <p:nvCxnSpPr>
          <p:cNvPr id="43" name="直接连接符 42"/>
          <p:cNvCxnSpPr/>
          <p:nvPr/>
        </p:nvCxnSpPr>
        <p:spPr>
          <a:xfrm>
            <a:off x="899088" y="6096082"/>
            <a:ext cx="9058311" cy="4300"/>
          </a:xfrm>
          <a:prstGeom prst="line">
            <a:avLst/>
          </a:prstGeom>
        </p:spPr>
        <p:style>
          <a:lnRef idx="1">
            <a:schemeClr val="accent1"/>
          </a:lnRef>
          <a:fillRef idx="0">
            <a:schemeClr val="accent1"/>
          </a:fillRef>
          <a:effectRef idx="0">
            <a:schemeClr val="accent1"/>
          </a:effectRef>
          <a:fontRef idx="minor">
            <a:schemeClr val="tx1"/>
          </a:fontRef>
        </p:style>
      </p:cxnSp>
      <p:sp>
        <p:nvSpPr>
          <p:cNvPr id="14" name="文本框 13"/>
          <p:cNvSpPr txBox="1"/>
          <p:nvPr/>
        </p:nvSpPr>
        <p:spPr>
          <a:xfrm>
            <a:off x="2445681" y="553085"/>
            <a:ext cx="2001520" cy="400110"/>
          </a:xfrm>
          <a:prstGeom prst="rect">
            <a:avLst/>
          </a:prstGeom>
          <a:noFill/>
        </p:spPr>
        <p:txBody>
          <a:bodyPr wrap="square" rtlCol="0">
            <a:spAutoFit/>
          </a:bodyPr>
          <a:lstStyle/>
          <a:p>
            <a:pPr algn="ctr"/>
            <a:r>
              <a:rPr lang="zh-CN" altLang="en-US" sz="2000" b="1" dirty="0">
                <a:solidFill>
                  <a:schemeClr val="bg1">
                    <a:lumMod val="65000"/>
                  </a:schemeClr>
                </a:solidFill>
                <a:latin typeface="微软雅黑" panose="020B0503020204020204" pitchFamily="34" charset="-122"/>
                <a:ea typeface="微软雅黑" panose="020B0503020204020204" pitchFamily="34" charset="-122"/>
              </a:rPr>
              <a:t>研究内容</a:t>
            </a:r>
            <a:endParaRPr lang="zh-CN" altLang="en-US" sz="2000" b="1" dirty="0">
              <a:solidFill>
                <a:schemeClr val="bg1">
                  <a:lumMod val="65000"/>
                </a:schemeClr>
              </a:solidFill>
              <a:latin typeface="微软雅黑" panose="020B0503020204020204" pitchFamily="34" charset="-122"/>
              <a:ea typeface="微软雅黑" panose="020B0503020204020204" pitchFamily="34" charset="-122"/>
            </a:endParaRPr>
          </a:p>
        </p:txBody>
      </p:sp>
      <p:sp>
        <p:nvSpPr>
          <p:cNvPr id="15" name="文本框 14"/>
          <p:cNvSpPr txBox="1"/>
          <p:nvPr/>
        </p:nvSpPr>
        <p:spPr>
          <a:xfrm>
            <a:off x="4543231" y="553085"/>
            <a:ext cx="2001520" cy="400110"/>
          </a:xfrm>
          <a:prstGeom prst="rect">
            <a:avLst/>
          </a:prstGeom>
          <a:noFill/>
        </p:spPr>
        <p:txBody>
          <a:bodyPr wrap="square" rtlCol="0">
            <a:spAutoFit/>
          </a:bodyPr>
          <a:lstStyle/>
          <a:p>
            <a:pPr algn="ctr"/>
            <a:r>
              <a:rPr lang="zh-CN" altLang="en-US" sz="2000" b="1" dirty="0">
                <a:solidFill>
                  <a:schemeClr val="bg1">
                    <a:lumMod val="65000"/>
                  </a:schemeClr>
                </a:solidFill>
                <a:latin typeface="微软雅黑" panose="020B0503020204020204" pitchFamily="34" charset="-122"/>
                <a:ea typeface="微软雅黑" panose="020B0503020204020204" pitchFamily="34" charset="-122"/>
              </a:rPr>
              <a:t>拟采用技术路线</a:t>
            </a:r>
            <a:endParaRPr lang="zh-CN" altLang="en-US" sz="2000" b="1" dirty="0">
              <a:solidFill>
                <a:schemeClr val="bg1">
                  <a:lumMod val="65000"/>
                </a:schemeClr>
              </a:solidFill>
              <a:latin typeface="微软雅黑" panose="020B0503020204020204" pitchFamily="34" charset="-122"/>
              <a:ea typeface="微软雅黑" panose="020B0503020204020204" pitchFamily="34" charset="-122"/>
            </a:endParaRPr>
          </a:p>
        </p:txBody>
      </p:sp>
      <p:sp>
        <p:nvSpPr>
          <p:cNvPr id="16" name="文本框 15"/>
          <p:cNvSpPr txBox="1"/>
          <p:nvPr/>
        </p:nvSpPr>
        <p:spPr>
          <a:xfrm>
            <a:off x="6485324" y="553085"/>
            <a:ext cx="2755901" cy="400110"/>
          </a:xfrm>
          <a:prstGeom prst="rect">
            <a:avLst/>
          </a:prstGeom>
          <a:noFill/>
        </p:spPr>
        <p:txBody>
          <a:bodyPr wrap="square" rtlCol="0">
            <a:spAutoFit/>
          </a:bodyPr>
          <a:lstStyle/>
          <a:p>
            <a:pPr algn="ctr"/>
            <a:r>
              <a:rPr lang="zh-CN" altLang="en-US" sz="2000" b="1" dirty="0">
                <a:solidFill>
                  <a:schemeClr val="accent5"/>
                </a:solidFill>
                <a:latin typeface="微软雅黑" panose="020B0503020204020204" pitchFamily="34" charset="-122"/>
                <a:ea typeface="微软雅黑" panose="020B0503020204020204" pitchFamily="34" charset="-122"/>
              </a:rPr>
              <a:t>创新与特点</a:t>
            </a:r>
            <a:endParaRPr lang="zh-CN" altLang="en-US" sz="2000" b="1" dirty="0">
              <a:solidFill>
                <a:schemeClr val="accent5"/>
              </a:solidFill>
              <a:latin typeface="微软雅黑" panose="020B0503020204020204" pitchFamily="34" charset="-122"/>
              <a:ea typeface="微软雅黑" panose="020B0503020204020204" pitchFamily="34" charset="-122"/>
            </a:endParaRPr>
          </a:p>
        </p:txBody>
      </p:sp>
      <p:sp>
        <p:nvSpPr>
          <p:cNvPr id="17" name="文本框 16"/>
          <p:cNvSpPr txBox="1"/>
          <p:nvPr/>
        </p:nvSpPr>
        <p:spPr>
          <a:xfrm>
            <a:off x="9102720" y="553085"/>
            <a:ext cx="2755901" cy="400110"/>
          </a:xfrm>
          <a:prstGeom prst="rect">
            <a:avLst/>
          </a:prstGeom>
          <a:noFill/>
        </p:spPr>
        <p:txBody>
          <a:bodyPr wrap="square" rtlCol="0">
            <a:spAutoFit/>
          </a:bodyPr>
          <a:lstStyle/>
          <a:p>
            <a:pPr algn="ctr"/>
            <a:r>
              <a:rPr lang="zh-CN" altLang="en-US" sz="2000" b="1" dirty="0">
                <a:solidFill>
                  <a:schemeClr val="bg1">
                    <a:lumMod val="65000"/>
                  </a:schemeClr>
                </a:solidFill>
                <a:latin typeface="微软雅黑" panose="020B0503020204020204" pitchFamily="34" charset="-122"/>
                <a:ea typeface="微软雅黑" panose="020B0503020204020204" pitchFamily="34" charset="-122"/>
              </a:rPr>
              <a:t>时间安排计划</a:t>
            </a:r>
            <a:endParaRPr lang="zh-CN" altLang="en-US" sz="2000" b="1" dirty="0">
              <a:solidFill>
                <a:schemeClr val="bg1">
                  <a:lumMod val="65000"/>
                </a:schemeClr>
              </a:solidFill>
              <a:latin typeface="微软雅黑" panose="020B0503020204020204" pitchFamily="34" charset="-122"/>
              <a:ea typeface="微软雅黑" panose="020B0503020204020204" pitchFamily="34" charset="-122"/>
            </a:endParaRPr>
          </a:p>
        </p:txBody>
      </p:sp>
      <p:sp>
        <p:nvSpPr>
          <p:cNvPr id="18" name="等腰三角形 17"/>
          <p:cNvSpPr/>
          <p:nvPr/>
        </p:nvSpPr>
        <p:spPr>
          <a:xfrm rot="5400000">
            <a:off x="7021982" y="694877"/>
            <a:ext cx="192943" cy="166330"/>
          </a:xfrm>
          <a:prstGeom prst="triangle">
            <a:avLst/>
          </a:prstGeom>
          <a:solidFill>
            <a:srgbClr val="004C9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p:cNvSpPr txBox="1"/>
          <p:nvPr/>
        </p:nvSpPr>
        <p:spPr>
          <a:xfrm>
            <a:off x="919480" y="6113780"/>
            <a:ext cx="2541905" cy="275590"/>
          </a:xfrm>
          <a:prstGeom prst="rect">
            <a:avLst/>
          </a:prstGeom>
          <a:noFill/>
        </p:spPr>
        <p:txBody>
          <a:bodyPr wrap="square" rtlCol="0">
            <a:spAutoFit/>
          </a:bodyPr>
          <a:lstStyle/>
          <a:p>
            <a:r>
              <a:rPr lang="zh-CN" altLang="en-US" sz="1200" b="1">
                <a:solidFill>
                  <a:srgbClr val="004C9E"/>
                </a:solidFill>
                <a:latin typeface="微软雅黑" panose="020B0503020204020204" pitchFamily="34" charset="-122"/>
                <a:ea typeface="微软雅黑" panose="020B0503020204020204" pitchFamily="34" charset="-122"/>
                <a:cs typeface="微软雅黑" panose="020B0503020204020204" pitchFamily="34" charset="-122"/>
              </a:rPr>
              <a:t>耐劳苦</a:t>
            </a:r>
            <a:r>
              <a:rPr lang="en-US" altLang="zh-CN" sz="1200" b="1">
                <a:solidFill>
                  <a:srgbClr val="004C9E"/>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200" b="1">
                <a:solidFill>
                  <a:srgbClr val="004C9E"/>
                </a:solidFill>
                <a:latin typeface="微软雅黑" panose="020B0503020204020204" pitchFamily="34" charset="-122"/>
                <a:ea typeface="微软雅黑" panose="020B0503020204020204" pitchFamily="34" charset="-122"/>
                <a:cs typeface="微软雅黑" panose="020B0503020204020204" pitchFamily="34" charset="-122"/>
              </a:rPr>
              <a:t>尚俭朴</a:t>
            </a:r>
            <a:r>
              <a:rPr lang="en-US" altLang="zh-CN" sz="1200" b="1">
                <a:solidFill>
                  <a:srgbClr val="004C9E"/>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200" b="1">
                <a:solidFill>
                  <a:srgbClr val="004C9E"/>
                </a:solidFill>
                <a:latin typeface="微软雅黑" panose="020B0503020204020204" pitchFamily="34" charset="-122"/>
                <a:ea typeface="微软雅黑" panose="020B0503020204020204" pitchFamily="34" charset="-122"/>
                <a:cs typeface="微软雅黑" panose="020B0503020204020204" pitchFamily="34" charset="-122"/>
              </a:rPr>
              <a:t>勤学业</a:t>
            </a:r>
            <a:r>
              <a:rPr lang="en-US" altLang="zh-CN" sz="1200" b="1">
                <a:solidFill>
                  <a:srgbClr val="004C9E"/>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200" b="1">
                <a:solidFill>
                  <a:srgbClr val="004C9E"/>
                </a:solidFill>
                <a:latin typeface="微软雅黑" panose="020B0503020204020204" pitchFamily="34" charset="-122"/>
                <a:ea typeface="微软雅黑" panose="020B0503020204020204" pitchFamily="34" charset="-122"/>
                <a:cs typeface="微软雅黑" panose="020B0503020204020204" pitchFamily="34" charset="-122"/>
              </a:rPr>
              <a:t>爱国家</a:t>
            </a:r>
            <a:endParaRPr lang="zh-CN" altLang="en-US" sz="1200" b="1">
              <a:solidFill>
                <a:srgbClr val="004C9E"/>
              </a:solidFill>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11" name="图片 10" descr="校徽"/>
          <p:cNvPicPr>
            <a:picLocks noChangeAspect="1"/>
          </p:cNvPicPr>
          <p:nvPr/>
        </p:nvPicPr>
        <p:blipFill>
          <a:blip r:embed="rId2"/>
          <a:stretch>
            <a:fillRect/>
          </a:stretch>
        </p:blipFill>
        <p:spPr>
          <a:xfrm>
            <a:off x="10127615" y="5844540"/>
            <a:ext cx="1259840" cy="397510"/>
          </a:xfrm>
          <a:prstGeom prst="rect">
            <a:avLst/>
          </a:prstGeom>
        </p:spPr>
      </p:pic>
      <p:sp>
        <p:nvSpPr>
          <p:cNvPr id="19" name="文本框 18"/>
          <p:cNvSpPr txBox="1"/>
          <p:nvPr/>
        </p:nvSpPr>
        <p:spPr>
          <a:xfrm>
            <a:off x="919480" y="874514"/>
            <a:ext cx="9518794" cy="5259517"/>
          </a:xfrm>
          <a:prstGeom prst="rect">
            <a:avLst/>
          </a:prstGeom>
          <a:noFill/>
        </p:spPr>
        <p:txBody>
          <a:bodyPr wrap="square" rtlCol="0">
            <a:spAutoFit/>
          </a:bodyPr>
          <a:lstStyle/>
          <a:p>
            <a:pPr>
              <a:lnSpc>
                <a:spcPct val="200000"/>
              </a:lnSpc>
            </a:pPr>
            <a:r>
              <a:rPr lang="en-US" altLang="zh-CN" sz="2000" b="1" dirty="0">
                <a:latin typeface="微软雅黑" panose="020B0503020204020204" pitchFamily="34" charset="-122"/>
                <a:ea typeface="微软雅黑" panose="020B0503020204020204" pitchFamily="34" charset="-122"/>
              </a:rPr>
              <a:t>1.</a:t>
            </a:r>
            <a:r>
              <a:rPr lang="zh-CN" altLang="en-US" sz="2000" b="1" dirty="0">
                <a:latin typeface="微软雅黑" panose="020B0503020204020204" pitchFamily="34" charset="-122"/>
                <a:ea typeface="微软雅黑" panose="020B0503020204020204" pitchFamily="34" charset="-122"/>
              </a:rPr>
              <a:t>低成本硬件架构</a:t>
            </a:r>
            <a:endParaRPr lang="en-US" altLang="zh-CN" sz="2000" b="1" dirty="0">
              <a:latin typeface="微软雅黑" panose="020B0503020204020204" pitchFamily="34" charset="-122"/>
              <a:ea typeface="微软雅黑" panose="020B0503020204020204" pitchFamily="34" charset="-122"/>
            </a:endParaRPr>
          </a:p>
          <a:p>
            <a:pPr>
              <a:lnSpc>
                <a:spcPct val="200000"/>
              </a:lnSpc>
            </a:pPr>
            <a:r>
              <a:rPr lang="zh-CN" altLang="en-US" sz="1400" dirty="0">
                <a:latin typeface="微软雅黑" panose="020B0503020204020204" pitchFamily="34" charset="-122"/>
                <a:ea typeface="微软雅黑" panose="020B0503020204020204" pitchFamily="34" charset="-122"/>
              </a:rPr>
              <a:t>采用通用模块化器件，总成本控制在 </a:t>
            </a:r>
            <a:r>
              <a:rPr lang="en-US" altLang="zh-CN" sz="1400" dirty="0">
                <a:latin typeface="微软雅黑" panose="020B0503020204020204" pitchFamily="34" charset="-122"/>
                <a:ea typeface="微软雅黑" panose="020B0503020204020204" pitchFamily="34" charset="-122"/>
              </a:rPr>
              <a:t>300 </a:t>
            </a:r>
            <a:r>
              <a:rPr lang="zh-CN" altLang="en-US" sz="1400" dirty="0">
                <a:latin typeface="微软雅黑" panose="020B0503020204020204" pitchFamily="34" charset="-122"/>
                <a:ea typeface="微软雅黑" panose="020B0503020204020204" pitchFamily="34" charset="-122"/>
              </a:rPr>
              <a:t>元内，具备高实用性与推广价值。</a:t>
            </a:r>
            <a:endParaRPr lang="en-US" altLang="zh-CN" sz="1400" dirty="0">
              <a:latin typeface="微软雅黑" panose="020B0503020204020204" pitchFamily="34" charset="-122"/>
              <a:ea typeface="微软雅黑" panose="020B0503020204020204" pitchFamily="34" charset="-122"/>
            </a:endParaRPr>
          </a:p>
          <a:p>
            <a:pPr>
              <a:lnSpc>
                <a:spcPct val="200000"/>
              </a:lnSpc>
            </a:pPr>
            <a:r>
              <a:rPr lang="en-US" altLang="zh-CN" sz="2000" b="1" dirty="0">
                <a:latin typeface="微软雅黑" panose="020B0503020204020204" pitchFamily="34" charset="-122"/>
                <a:ea typeface="微软雅黑" panose="020B0503020204020204" pitchFamily="34" charset="-122"/>
              </a:rPr>
              <a:t>2.</a:t>
            </a:r>
            <a:r>
              <a:rPr lang="zh-CN" altLang="en-US" sz="2000" b="1" dirty="0">
                <a:latin typeface="微软雅黑" panose="020B0503020204020204" pitchFamily="34" charset="-122"/>
                <a:ea typeface="微软雅黑" panose="020B0503020204020204" pitchFamily="34" charset="-122"/>
              </a:rPr>
              <a:t>可解释智能决策机制</a:t>
            </a:r>
            <a:endParaRPr lang="en-US" altLang="zh-CN" sz="2000" b="1" dirty="0">
              <a:latin typeface="微软雅黑" panose="020B0503020204020204" pitchFamily="34" charset="-122"/>
              <a:ea typeface="微软雅黑" panose="020B0503020204020204" pitchFamily="34" charset="-122"/>
            </a:endParaRPr>
          </a:p>
          <a:p>
            <a:pPr>
              <a:lnSpc>
                <a:spcPct val="200000"/>
              </a:lnSpc>
            </a:pPr>
            <a:r>
              <a:rPr lang="zh-CN" altLang="en-US" sz="1400" dirty="0">
                <a:latin typeface="微软雅黑" panose="020B0503020204020204" pitchFamily="34" charset="-122"/>
                <a:ea typeface="微软雅黑" panose="020B0503020204020204" pitchFamily="34" charset="-122"/>
              </a:rPr>
              <a:t>引入可信度推理模型，实现投食与环境调控的可解释输出，提升系统可靠性与用户信任度。</a:t>
            </a:r>
            <a:endParaRPr lang="en-US" altLang="zh-CN" sz="1400" dirty="0">
              <a:latin typeface="微软雅黑" panose="020B0503020204020204" pitchFamily="34" charset="-122"/>
              <a:ea typeface="微软雅黑" panose="020B0503020204020204" pitchFamily="34" charset="-122"/>
            </a:endParaRPr>
          </a:p>
          <a:p>
            <a:pPr>
              <a:lnSpc>
                <a:spcPct val="200000"/>
              </a:lnSpc>
            </a:pPr>
            <a:r>
              <a:rPr lang="en-US" altLang="zh-CN" sz="2000" b="1" dirty="0">
                <a:latin typeface="微软雅黑" panose="020B0503020204020204" pitchFamily="34" charset="-122"/>
                <a:ea typeface="微软雅黑" panose="020B0503020204020204" pitchFamily="34" charset="-122"/>
              </a:rPr>
              <a:t>3.</a:t>
            </a:r>
            <a:r>
              <a:rPr lang="zh-CN" altLang="en-US" sz="2000" b="1" dirty="0">
                <a:latin typeface="微软雅黑" panose="020B0503020204020204" pitchFamily="34" charset="-122"/>
                <a:ea typeface="微软雅黑" panose="020B0503020204020204" pitchFamily="34" charset="-122"/>
              </a:rPr>
              <a:t>多因子自适应投食策略</a:t>
            </a:r>
            <a:endParaRPr lang="en-US" altLang="zh-CN" sz="2000" b="1" dirty="0">
              <a:latin typeface="微软雅黑" panose="020B0503020204020204" pitchFamily="34" charset="-122"/>
              <a:ea typeface="微软雅黑" panose="020B0503020204020204" pitchFamily="34" charset="-122"/>
            </a:endParaRPr>
          </a:p>
          <a:p>
            <a:pPr>
              <a:lnSpc>
                <a:spcPct val="200000"/>
              </a:lnSpc>
            </a:pPr>
            <a:r>
              <a:rPr lang="zh-CN" altLang="en-US" sz="1400" dirty="0">
                <a:latin typeface="微软雅黑" panose="020B0503020204020204" pitchFamily="34" charset="-122"/>
                <a:ea typeface="微软雅黑" panose="020B0503020204020204" pitchFamily="34" charset="-122"/>
              </a:rPr>
              <a:t>融合水温、鱼群密度、时间间隔等实时数据，替代传统固定定时器，实现精细化、智能化投喂。</a:t>
            </a:r>
            <a:endParaRPr lang="en-US" altLang="zh-CN" sz="1400" dirty="0">
              <a:latin typeface="微软雅黑" panose="020B0503020204020204" pitchFamily="34" charset="-122"/>
              <a:ea typeface="微软雅黑" panose="020B0503020204020204" pitchFamily="34" charset="-122"/>
            </a:endParaRPr>
          </a:p>
          <a:p>
            <a:pPr>
              <a:lnSpc>
                <a:spcPct val="200000"/>
              </a:lnSpc>
            </a:pPr>
            <a:r>
              <a:rPr lang="en-US" altLang="zh-CN" sz="2000" b="1" dirty="0">
                <a:latin typeface="微软雅黑" panose="020B0503020204020204" pitchFamily="34" charset="-122"/>
                <a:ea typeface="微软雅黑" panose="020B0503020204020204" pitchFamily="34" charset="-122"/>
              </a:rPr>
              <a:t>4.</a:t>
            </a:r>
            <a:r>
              <a:rPr lang="zh-CN" altLang="en-US" sz="2000" b="1" dirty="0">
                <a:latin typeface="微软雅黑" panose="020B0503020204020204" pitchFamily="34" charset="-122"/>
                <a:ea typeface="微软雅黑" panose="020B0503020204020204" pitchFamily="34" charset="-122"/>
              </a:rPr>
              <a:t>高度可扩展模块化设计软硬件分层解耦</a:t>
            </a:r>
            <a:endParaRPr lang="en-US" altLang="zh-CN" sz="2000" b="1" dirty="0">
              <a:latin typeface="微软雅黑" panose="020B0503020204020204" pitchFamily="34" charset="-122"/>
              <a:ea typeface="微软雅黑" panose="020B0503020204020204" pitchFamily="34" charset="-122"/>
            </a:endParaRPr>
          </a:p>
          <a:p>
            <a:pPr>
              <a:lnSpc>
                <a:spcPct val="200000"/>
              </a:lnSpc>
            </a:pPr>
            <a:r>
              <a:rPr lang="zh-CN" altLang="en-US" sz="1400" dirty="0">
                <a:latin typeface="微软雅黑" panose="020B0503020204020204" pitchFamily="34" charset="-122"/>
                <a:ea typeface="微软雅黑" panose="020B0503020204020204" pitchFamily="34" charset="-122"/>
              </a:rPr>
              <a:t>支持快速适配淡水、海水、草缸等多场景，具备极强工程灵活性。</a:t>
            </a:r>
            <a:endParaRPr lang="en-US" altLang="zh-CN" sz="1400" dirty="0">
              <a:latin typeface="微软雅黑" panose="020B0503020204020204" pitchFamily="34" charset="-122"/>
              <a:ea typeface="微软雅黑" panose="020B0503020204020204" pitchFamily="34" charset="-122"/>
            </a:endParaRPr>
          </a:p>
          <a:p>
            <a:pPr>
              <a:lnSpc>
                <a:spcPct val="200000"/>
              </a:lnSpc>
              <a:buNone/>
            </a:pPr>
            <a:r>
              <a:rPr lang="en-US" altLang="zh-CN" sz="2000" b="1" dirty="0">
                <a:solidFill>
                  <a:srgbClr val="000000"/>
                </a:solidFill>
                <a:effectLst/>
                <a:latin typeface="微软雅黑" panose="020B0503020204020204" pitchFamily="34" charset="-122"/>
                <a:ea typeface="微软雅黑" panose="020B0503020204020204" pitchFamily="34" charset="-122"/>
              </a:rPr>
              <a:t>5.</a:t>
            </a:r>
            <a:r>
              <a:rPr lang="zh-CN" altLang="en-US" sz="2000" b="1" dirty="0">
                <a:solidFill>
                  <a:srgbClr val="000000"/>
                </a:solidFill>
                <a:effectLst/>
                <a:latin typeface="微软雅黑" panose="020B0503020204020204" pitchFamily="34" charset="-122"/>
                <a:ea typeface="微软雅黑" panose="020B0503020204020204" pitchFamily="34" charset="-122"/>
              </a:rPr>
              <a:t>缸体状态可视化显示</a:t>
            </a:r>
            <a:endParaRPr lang="zh-CN" altLang="en-US" sz="2000" dirty="0">
              <a:latin typeface="微软雅黑" panose="020B0503020204020204" pitchFamily="34" charset="-122"/>
              <a:ea typeface="微软雅黑" panose="020B0503020204020204" pitchFamily="34" charset="-122"/>
            </a:endParaRPr>
          </a:p>
          <a:p>
            <a:pPr>
              <a:lnSpc>
                <a:spcPct val="200000"/>
              </a:lnSpc>
              <a:buNone/>
            </a:pPr>
            <a:r>
              <a:rPr lang="zh-CN" altLang="en-US" sz="1400" dirty="0">
                <a:latin typeface="微软雅黑" panose="020B0503020204020204" pitchFamily="34" charset="-122"/>
                <a:ea typeface="微软雅黑" panose="020B0503020204020204" pitchFamily="34" charset="-122"/>
              </a:rPr>
              <a:t>依托鱼缸外壁显示模块，实时呈现水温、投食记录、环境参数等信息，实现鱼缸状态直观可视化监测。</a:t>
            </a:r>
            <a:endParaRPr lang="en-US" altLang="zh-CN" sz="1400" dirty="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直角三角形 20"/>
          <p:cNvSpPr/>
          <p:nvPr/>
        </p:nvSpPr>
        <p:spPr>
          <a:xfrm>
            <a:off x="0" y="3165895"/>
            <a:ext cx="3692105" cy="3692105"/>
          </a:xfrm>
          <a:prstGeom prst="rtTriangle">
            <a:avLst/>
          </a:prstGeom>
          <a:solidFill>
            <a:srgbClr val="004C9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04B9D"/>
              </a:solidFill>
            </a:endParaRPr>
          </a:p>
        </p:txBody>
      </p:sp>
      <p:sp>
        <p:nvSpPr>
          <p:cNvPr id="20" name="直角三角形 19"/>
          <p:cNvSpPr/>
          <p:nvPr/>
        </p:nvSpPr>
        <p:spPr>
          <a:xfrm rot="10800000">
            <a:off x="8499895" y="0"/>
            <a:ext cx="3692105" cy="3692105"/>
          </a:xfrm>
          <a:prstGeom prst="rtTriangle">
            <a:avLst/>
          </a:prstGeom>
          <a:solidFill>
            <a:srgbClr val="004B9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7" name="组合 6"/>
          <p:cNvGrpSpPr/>
          <p:nvPr userDrawn="1"/>
        </p:nvGrpSpPr>
        <p:grpSpPr>
          <a:xfrm>
            <a:off x="490537" y="468630"/>
            <a:ext cx="11210925" cy="6019800"/>
            <a:chOff x="490484" y="441960"/>
            <a:chExt cx="11211033" cy="6019801"/>
          </a:xfrm>
        </p:grpSpPr>
        <p:pic>
          <p:nvPicPr>
            <p:cNvPr id="8" name="图片 7"/>
            <p:cNvPicPr>
              <a:picLocks noChangeAspect="1"/>
            </p:cNvPicPr>
            <p:nvPr userDrawn="1"/>
          </p:nvPicPr>
          <p:blipFill rotWithShape="1">
            <a:blip r:embed="rId1">
              <a:extLst>
                <a:ext uri="{28A0092B-C50C-407E-A947-70E740481C1C}">
                  <a14:useLocalDpi xmlns:a14="http://schemas.microsoft.com/office/drawing/2010/main" val="0"/>
                </a:ext>
              </a:extLst>
            </a:blip>
            <a:srcRect l="1515" t="4277" r="530" b="14319"/>
            <a:stretch>
              <a:fillRect/>
            </a:stretch>
          </p:blipFill>
          <p:spPr>
            <a:xfrm>
              <a:off x="490484" y="441960"/>
              <a:ext cx="11211033" cy="6019801"/>
            </a:xfrm>
            <a:prstGeom prst="rect">
              <a:avLst/>
            </a:prstGeom>
            <a:effectLst>
              <a:outerShdw blurRad="355600" dist="139700" dir="2700000" algn="tl" rotWithShape="0">
                <a:prstClr val="black">
                  <a:alpha val="61000"/>
                </a:prstClr>
              </a:outerShdw>
            </a:effectLst>
          </p:spPr>
        </p:pic>
        <p:sp>
          <p:nvSpPr>
            <p:cNvPr id="9" name="矩形 8"/>
            <p:cNvSpPr/>
            <p:nvPr userDrawn="1"/>
          </p:nvSpPr>
          <p:spPr>
            <a:xfrm>
              <a:off x="490484" y="441960"/>
              <a:ext cx="11211032" cy="6019801"/>
            </a:xfrm>
            <a:prstGeom prst="rect">
              <a:avLst/>
            </a:prstGeom>
            <a:solidFill>
              <a:srgbClr val="FFFEF7">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400" b="1" dirty="0">
                <a:solidFill>
                  <a:srgbClr val="004C9E"/>
                </a:solidFill>
                <a:latin typeface="微软雅黑" panose="020B0503020204020204" pitchFamily="34" charset="-122"/>
                <a:ea typeface="微软雅黑" panose="020B0503020204020204" pitchFamily="34" charset="-122"/>
              </a:endParaRPr>
            </a:p>
          </p:txBody>
        </p:sp>
      </p:grpSp>
      <p:sp>
        <p:nvSpPr>
          <p:cNvPr id="10" name="文本框 9"/>
          <p:cNvSpPr txBox="1"/>
          <p:nvPr/>
        </p:nvSpPr>
        <p:spPr>
          <a:xfrm>
            <a:off x="769378" y="567285"/>
            <a:ext cx="2001520" cy="400110"/>
          </a:xfrm>
          <a:prstGeom prst="rect">
            <a:avLst/>
          </a:prstGeom>
          <a:noFill/>
        </p:spPr>
        <p:txBody>
          <a:bodyPr wrap="square" rtlCol="0">
            <a:spAutoFit/>
          </a:bodyPr>
          <a:lstStyle/>
          <a:p>
            <a:pPr algn="ctr"/>
            <a:r>
              <a:rPr lang="zh-CN" altLang="en-US" sz="2000" b="1" dirty="0">
                <a:solidFill>
                  <a:schemeClr val="accent3"/>
                </a:solidFill>
                <a:latin typeface="微软雅黑" panose="020B0503020204020204" pitchFamily="34" charset="-122"/>
                <a:ea typeface="微软雅黑" panose="020B0503020204020204" pitchFamily="34" charset="-122"/>
              </a:rPr>
              <a:t>立项背景及意义</a:t>
            </a:r>
            <a:endParaRPr lang="zh-CN" altLang="en-US" sz="2000" b="1" dirty="0">
              <a:solidFill>
                <a:schemeClr val="accent3"/>
              </a:solidFill>
              <a:latin typeface="微软雅黑" panose="020B0503020204020204" pitchFamily="34" charset="-122"/>
              <a:ea typeface="微软雅黑" panose="020B0503020204020204" pitchFamily="34" charset="-122"/>
            </a:endParaRPr>
          </a:p>
        </p:txBody>
      </p:sp>
      <p:cxnSp>
        <p:nvCxnSpPr>
          <p:cNvPr id="43" name="直接连接符 42"/>
          <p:cNvCxnSpPr/>
          <p:nvPr/>
        </p:nvCxnSpPr>
        <p:spPr>
          <a:xfrm>
            <a:off x="899088" y="6096082"/>
            <a:ext cx="9058311" cy="4300"/>
          </a:xfrm>
          <a:prstGeom prst="line">
            <a:avLst/>
          </a:prstGeom>
        </p:spPr>
        <p:style>
          <a:lnRef idx="1">
            <a:schemeClr val="accent1"/>
          </a:lnRef>
          <a:fillRef idx="0">
            <a:schemeClr val="accent1"/>
          </a:fillRef>
          <a:effectRef idx="0">
            <a:schemeClr val="accent1"/>
          </a:effectRef>
          <a:fontRef idx="minor">
            <a:schemeClr val="tx1"/>
          </a:fontRef>
        </p:style>
      </p:cxnSp>
      <p:sp>
        <p:nvSpPr>
          <p:cNvPr id="14" name="文本框 13"/>
          <p:cNvSpPr txBox="1"/>
          <p:nvPr/>
        </p:nvSpPr>
        <p:spPr>
          <a:xfrm>
            <a:off x="2445681" y="553085"/>
            <a:ext cx="2001520" cy="400110"/>
          </a:xfrm>
          <a:prstGeom prst="rect">
            <a:avLst/>
          </a:prstGeom>
          <a:noFill/>
        </p:spPr>
        <p:txBody>
          <a:bodyPr wrap="square" rtlCol="0">
            <a:spAutoFit/>
          </a:bodyPr>
          <a:lstStyle/>
          <a:p>
            <a:pPr algn="ctr"/>
            <a:r>
              <a:rPr lang="zh-CN" altLang="en-US" sz="2000" b="1" dirty="0">
                <a:solidFill>
                  <a:schemeClr val="bg1">
                    <a:lumMod val="65000"/>
                  </a:schemeClr>
                </a:solidFill>
                <a:latin typeface="微软雅黑" panose="020B0503020204020204" pitchFamily="34" charset="-122"/>
                <a:ea typeface="微软雅黑" panose="020B0503020204020204" pitchFamily="34" charset="-122"/>
              </a:rPr>
              <a:t>研究内容</a:t>
            </a:r>
            <a:endParaRPr lang="zh-CN" altLang="en-US" sz="2000" b="1" dirty="0">
              <a:solidFill>
                <a:schemeClr val="bg1">
                  <a:lumMod val="65000"/>
                </a:schemeClr>
              </a:solidFill>
              <a:latin typeface="微软雅黑" panose="020B0503020204020204" pitchFamily="34" charset="-122"/>
              <a:ea typeface="微软雅黑" panose="020B0503020204020204" pitchFamily="34" charset="-122"/>
            </a:endParaRPr>
          </a:p>
        </p:txBody>
      </p:sp>
      <p:sp>
        <p:nvSpPr>
          <p:cNvPr id="15" name="文本框 14"/>
          <p:cNvSpPr txBox="1"/>
          <p:nvPr/>
        </p:nvSpPr>
        <p:spPr>
          <a:xfrm>
            <a:off x="4543231" y="553085"/>
            <a:ext cx="2001520" cy="400110"/>
          </a:xfrm>
          <a:prstGeom prst="rect">
            <a:avLst/>
          </a:prstGeom>
          <a:noFill/>
        </p:spPr>
        <p:txBody>
          <a:bodyPr wrap="square" rtlCol="0">
            <a:spAutoFit/>
          </a:bodyPr>
          <a:lstStyle/>
          <a:p>
            <a:pPr algn="ctr"/>
            <a:r>
              <a:rPr lang="zh-CN" altLang="en-US" sz="2000" b="1" dirty="0">
                <a:solidFill>
                  <a:schemeClr val="bg1">
                    <a:lumMod val="65000"/>
                  </a:schemeClr>
                </a:solidFill>
                <a:latin typeface="微软雅黑" panose="020B0503020204020204" pitchFamily="34" charset="-122"/>
                <a:ea typeface="微软雅黑" panose="020B0503020204020204" pitchFamily="34" charset="-122"/>
              </a:rPr>
              <a:t>拟采用技术路线</a:t>
            </a:r>
            <a:endParaRPr lang="zh-CN" altLang="en-US" sz="2000" b="1" dirty="0">
              <a:solidFill>
                <a:schemeClr val="bg1">
                  <a:lumMod val="65000"/>
                </a:schemeClr>
              </a:solidFill>
              <a:latin typeface="微软雅黑" panose="020B0503020204020204" pitchFamily="34" charset="-122"/>
              <a:ea typeface="微软雅黑" panose="020B0503020204020204" pitchFamily="34" charset="-122"/>
            </a:endParaRPr>
          </a:p>
        </p:txBody>
      </p:sp>
      <p:sp>
        <p:nvSpPr>
          <p:cNvPr id="16" name="文本框 15"/>
          <p:cNvSpPr txBox="1"/>
          <p:nvPr/>
        </p:nvSpPr>
        <p:spPr>
          <a:xfrm>
            <a:off x="6485324" y="553085"/>
            <a:ext cx="2755901" cy="400110"/>
          </a:xfrm>
          <a:prstGeom prst="rect">
            <a:avLst/>
          </a:prstGeom>
          <a:noFill/>
        </p:spPr>
        <p:txBody>
          <a:bodyPr wrap="square" rtlCol="0">
            <a:spAutoFit/>
          </a:bodyPr>
          <a:lstStyle/>
          <a:p>
            <a:pPr algn="ctr"/>
            <a:r>
              <a:rPr lang="zh-CN" altLang="en-US" sz="2000" b="1" dirty="0">
                <a:solidFill>
                  <a:schemeClr val="accent3"/>
                </a:solidFill>
                <a:latin typeface="微软雅黑" panose="020B0503020204020204" pitchFamily="34" charset="-122"/>
                <a:ea typeface="微软雅黑" panose="020B0503020204020204" pitchFamily="34" charset="-122"/>
              </a:rPr>
              <a:t>创新与特点</a:t>
            </a:r>
            <a:endParaRPr lang="zh-CN" altLang="en-US" sz="2000" b="1" dirty="0">
              <a:solidFill>
                <a:schemeClr val="accent3"/>
              </a:solidFill>
              <a:latin typeface="微软雅黑" panose="020B0503020204020204" pitchFamily="34" charset="-122"/>
              <a:ea typeface="微软雅黑" panose="020B0503020204020204" pitchFamily="34" charset="-122"/>
            </a:endParaRPr>
          </a:p>
        </p:txBody>
      </p:sp>
      <p:sp>
        <p:nvSpPr>
          <p:cNvPr id="17" name="文本框 16"/>
          <p:cNvSpPr txBox="1"/>
          <p:nvPr/>
        </p:nvSpPr>
        <p:spPr>
          <a:xfrm>
            <a:off x="9102720" y="553085"/>
            <a:ext cx="2755901" cy="400110"/>
          </a:xfrm>
          <a:prstGeom prst="rect">
            <a:avLst/>
          </a:prstGeom>
          <a:noFill/>
        </p:spPr>
        <p:txBody>
          <a:bodyPr wrap="square" rtlCol="0">
            <a:spAutoFit/>
          </a:bodyPr>
          <a:lstStyle/>
          <a:p>
            <a:pPr algn="ctr"/>
            <a:r>
              <a:rPr lang="zh-CN" altLang="en-US" sz="2000" b="1" dirty="0">
                <a:solidFill>
                  <a:schemeClr val="accent5"/>
                </a:solidFill>
                <a:latin typeface="微软雅黑" panose="020B0503020204020204" pitchFamily="34" charset="-122"/>
                <a:ea typeface="微软雅黑" panose="020B0503020204020204" pitchFamily="34" charset="-122"/>
              </a:rPr>
              <a:t>时间安排计划</a:t>
            </a:r>
            <a:endParaRPr lang="zh-CN" altLang="en-US" sz="2000" b="1" dirty="0">
              <a:solidFill>
                <a:schemeClr val="accent5"/>
              </a:solidFill>
              <a:latin typeface="微软雅黑" panose="020B0503020204020204" pitchFamily="34" charset="-122"/>
              <a:ea typeface="微软雅黑" panose="020B0503020204020204" pitchFamily="34" charset="-122"/>
            </a:endParaRPr>
          </a:p>
        </p:txBody>
      </p:sp>
      <p:sp>
        <p:nvSpPr>
          <p:cNvPr id="18" name="等腰三角形 17"/>
          <p:cNvSpPr/>
          <p:nvPr/>
        </p:nvSpPr>
        <p:spPr>
          <a:xfrm rot="5400000">
            <a:off x="9486510" y="683786"/>
            <a:ext cx="192943" cy="166330"/>
          </a:xfrm>
          <a:prstGeom prst="triangle">
            <a:avLst/>
          </a:prstGeom>
          <a:solidFill>
            <a:srgbClr val="004C9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p:cNvSpPr txBox="1"/>
          <p:nvPr/>
        </p:nvSpPr>
        <p:spPr>
          <a:xfrm>
            <a:off x="919480" y="6113780"/>
            <a:ext cx="2541905" cy="275590"/>
          </a:xfrm>
          <a:prstGeom prst="rect">
            <a:avLst/>
          </a:prstGeom>
          <a:noFill/>
        </p:spPr>
        <p:txBody>
          <a:bodyPr wrap="square" rtlCol="0">
            <a:spAutoFit/>
          </a:bodyPr>
          <a:lstStyle/>
          <a:p>
            <a:r>
              <a:rPr lang="zh-CN" altLang="en-US" sz="1200" b="1">
                <a:solidFill>
                  <a:srgbClr val="004C9E"/>
                </a:solidFill>
                <a:latin typeface="微软雅黑" panose="020B0503020204020204" pitchFamily="34" charset="-122"/>
                <a:ea typeface="微软雅黑" panose="020B0503020204020204" pitchFamily="34" charset="-122"/>
                <a:cs typeface="微软雅黑" panose="020B0503020204020204" pitchFamily="34" charset="-122"/>
              </a:rPr>
              <a:t>耐劳苦</a:t>
            </a:r>
            <a:r>
              <a:rPr lang="en-US" altLang="zh-CN" sz="1200" b="1">
                <a:solidFill>
                  <a:srgbClr val="004C9E"/>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200" b="1">
                <a:solidFill>
                  <a:srgbClr val="004C9E"/>
                </a:solidFill>
                <a:latin typeface="微软雅黑" panose="020B0503020204020204" pitchFamily="34" charset="-122"/>
                <a:ea typeface="微软雅黑" panose="020B0503020204020204" pitchFamily="34" charset="-122"/>
                <a:cs typeface="微软雅黑" panose="020B0503020204020204" pitchFamily="34" charset="-122"/>
              </a:rPr>
              <a:t>尚俭朴</a:t>
            </a:r>
            <a:r>
              <a:rPr lang="en-US" altLang="zh-CN" sz="1200" b="1">
                <a:solidFill>
                  <a:srgbClr val="004C9E"/>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200" b="1">
                <a:solidFill>
                  <a:srgbClr val="004C9E"/>
                </a:solidFill>
                <a:latin typeface="微软雅黑" panose="020B0503020204020204" pitchFamily="34" charset="-122"/>
                <a:ea typeface="微软雅黑" panose="020B0503020204020204" pitchFamily="34" charset="-122"/>
                <a:cs typeface="微软雅黑" panose="020B0503020204020204" pitchFamily="34" charset="-122"/>
              </a:rPr>
              <a:t>勤学业</a:t>
            </a:r>
            <a:r>
              <a:rPr lang="en-US" altLang="zh-CN" sz="1200" b="1">
                <a:solidFill>
                  <a:srgbClr val="004C9E"/>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200" b="1">
                <a:solidFill>
                  <a:srgbClr val="004C9E"/>
                </a:solidFill>
                <a:latin typeface="微软雅黑" panose="020B0503020204020204" pitchFamily="34" charset="-122"/>
                <a:ea typeface="微软雅黑" panose="020B0503020204020204" pitchFamily="34" charset="-122"/>
                <a:cs typeface="微软雅黑" panose="020B0503020204020204" pitchFamily="34" charset="-122"/>
              </a:rPr>
              <a:t>爱国家</a:t>
            </a:r>
            <a:endParaRPr lang="zh-CN" altLang="en-US" sz="1200" b="1">
              <a:solidFill>
                <a:srgbClr val="004C9E"/>
              </a:solidFill>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11" name="图片 10" descr="校徽"/>
          <p:cNvPicPr>
            <a:picLocks noChangeAspect="1"/>
          </p:cNvPicPr>
          <p:nvPr/>
        </p:nvPicPr>
        <p:blipFill>
          <a:blip r:embed="rId2"/>
          <a:stretch>
            <a:fillRect/>
          </a:stretch>
        </p:blipFill>
        <p:spPr>
          <a:xfrm>
            <a:off x="10127615" y="5844540"/>
            <a:ext cx="1259840" cy="397510"/>
          </a:xfrm>
          <a:prstGeom prst="rect">
            <a:avLst/>
          </a:prstGeom>
        </p:spPr>
      </p:pic>
      <p:pic>
        <p:nvPicPr>
          <p:cNvPr id="6" name="图片 5"/>
          <p:cNvPicPr>
            <a:picLocks noChangeAspect="1"/>
          </p:cNvPicPr>
          <p:nvPr/>
        </p:nvPicPr>
        <p:blipFill>
          <a:blip r:embed="rId3">
            <a:extLst>
              <a:ext uri="{28A0092B-C50C-407E-A947-70E740481C1C}">
                <a14:useLocalDpi xmlns:a14="http://schemas.microsoft.com/office/drawing/2010/main" val="0"/>
              </a:ext>
            </a:extLst>
          </a:blip>
          <a:srcRect t="15857"/>
          <a:stretch>
            <a:fillRect/>
          </a:stretch>
        </p:blipFill>
        <p:spPr>
          <a:xfrm>
            <a:off x="954508" y="1009903"/>
            <a:ext cx="10282981" cy="4869562"/>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4" name="组合 3"/>
          <p:cNvGrpSpPr/>
          <p:nvPr/>
        </p:nvGrpSpPr>
        <p:grpSpPr>
          <a:xfrm>
            <a:off x="0" y="0"/>
            <a:ext cx="12192000" cy="6858000"/>
            <a:chOff x="0" y="0"/>
            <a:chExt cx="12192000" cy="6858000"/>
          </a:xfrm>
        </p:grpSpPr>
        <p:sp>
          <p:nvSpPr>
            <p:cNvPr id="5" name="直角三角形 4"/>
            <p:cNvSpPr/>
            <p:nvPr userDrawn="1"/>
          </p:nvSpPr>
          <p:spPr>
            <a:xfrm>
              <a:off x="0" y="3165895"/>
              <a:ext cx="3692105" cy="3692105"/>
            </a:xfrm>
            <a:prstGeom prst="rtTriangle">
              <a:avLst/>
            </a:prstGeom>
            <a:solidFill>
              <a:srgbClr val="004C9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04B9D"/>
                </a:solidFill>
              </a:endParaRPr>
            </a:p>
          </p:txBody>
        </p:sp>
        <p:sp>
          <p:nvSpPr>
            <p:cNvPr id="6" name="直角三角形 5"/>
            <p:cNvSpPr/>
            <p:nvPr userDrawn="1"/>
          </p:nvSpPr>
          <p:spPr>
            <a:xfrm rot="10800000">
              <a:off x="8499895" y="0"/>
              <a:ext cx="3692105" cy="3692105"/>
            </a:xfrm>
            <a:prstGeom prst="rtTriangle">
              <a:avLst/>
            </a:prstGeom>
            <a:solidFill>
              <a:srgbClr val="004B9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7" name="组合 6"/>
            <p:cNvGrpSpPr/>
            <p:nvPr userDrawn="1"/>
          </p:nvGrpSpPr>
          <p:grpSpPr>
            <a:xfrm>
              <a:off x="490484" y="441960"/>
              <a:ext cx="11211033" cy="6019801"/>
              <a:chOff x="490484" y="441960"/>
              <a:chExt cx="11211033" cy="6019801"/>
            </a:xfrm>
          </p:grpSpPr>
          <p:pic>
            <p:nvPicPr>
              <p:cNvPr id="8" name="图片 7"/>
              <p:cNvPicPr>
                <a:picLocks noChangeAspect="1"/>
              </p:cNvPicPr>
              <p:nvPr userDrawn="1"/>
            </p:nvPicPr>
            <p:blipFill rotWithShape="1">
              <a:blip r:embed="rId1">
                <a:extLst>
                  <a:ext uri="{28A0092B-C50C-407E-A947-70E740481C1C}">
                    <a14:useLocalDpi xmlns:a14="http://schemas.microsoft.com/office/drawing/2010/main" val="0"/>
                  </a:ext>
                </a:extLst>
              </a:blip>
              <a:srcRect l="1515" t="4277" r="530" b="14319"/>
              <a:stretch>
                <a:fillRect/>
              </a:stretch>
            </p:blipFill>
            <p:spPr>
              <a:xfrm>
                <a:off x="490484" y="441960"/>
                <a:ext cx="11211033" cy="6019801"/>
              </a:xfrm>
              <a:prstGeom prst="rect">
                <a:avLst/>
              </a:prstGeom>
              <a:effectLst>
                <a:outerShdw blurRad="355600" dist="139700" dir="2700000" algn="tl" rotWithShape="0">
                  <a:prstClr val="black">
                    <a:alpha val="61000"/>
                  </a:prstClr>
                </a:outerShdw>
              </a:effectLst>
            </p:spPr>
          </p:pic>
          <p:sp>
            <p:nvSpPr>
              <p:cNvPr id="9" name="矩形 8"/>
              <p:cNvSpPr/>
              <p:nvPr userDrawn="1"/>
            </p:nvSpPr>
            <p:spPr>
              <a:xfrm>
                <a:off x="490484" y="441960"/>
                <a:ext cx="11211032" cy="6019801"/>
              </a:xfrm>
              <a:prstGeom prst="rect">
                <a:avLst/>
              </a:prstGeom>
              <a:solidFill>
                <a:srgbClr val="FFFEF7">
                  <a:alpha val="82745"/>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400" b="1" dirty="0">
                  <a:solidFill>
                    <a:srgbClr val="004C9E"/>
                  </a:solidFill>
                  <a:latin typeface="微软雅黑" panose="020B0503020204020204" pitchFamily="34" charset="-122"/>
                  <a:ea typeface="微软雅黑" panose="020B0503020204020204" pitchFamily="34" charset="-122"/>
                </a:endParaRPr>
              </a:p>
            </p:txBody>
          </p:sp>
        </p:grpSp>
      </p:grpSp>
      <p:pic>
        <p:nvPicPr>
          <p:cNvPr id="10" name="图片 9"/>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636590" y="1252062"/>
            <a:ext cx="2917715" cy="920774"/>
          </a:xfrm>
          <a:prstGeom prst="rect">
            <a:avLst/>
          </a:prstGeom>
        </p:spPr>
      </p:pic>
      <p:sp>
        <p:nvSpPr>
          <p:cNvPr id="11" name="文本框 10"/>
          <p:cNvSpPr txBox="1"/>
          <p:nvPr/>
        </p:nvSpPr>
        <p:spPr>
          <a:xfrm>
            <a:off x="2342270" y="2523779"/>
            <a:ext cx="7620000" cy="1446550"/>
          </a:xfrm>
          <a:prstGeom prst="rect">
            <a:avLst/>
          </a:prstGeom>
          <a:noFill/>
        </p:spPr>
        <p:txBody>
          <a:bodyPr wrap="square" rtlCol="0">
            <a:spAutoFit/>
          </a:bodyPr>
          <a:lstStyle/>
          <a:p>
            <a:pPr algn="ctr"/>
            <a:r>
              <a:rPr lang="en-US" altLang="zh-CN" sz="4400" b="1" dirty="0">
                <a:solidFill>
                  <a:srgbClr val="004C9E"/>
                </a:solidFill>
                <a:latin typeface="微软雅黑" panose="020B0503020204020204" pitchFamily="34" charset="-122"/>
                <a:ea typeface="微软雅黑" panose="020B0503020204020204" pitchFamily="34" charset="-122"/>
              </a:rPr>
              <a:t>Q &amp; A</a:t>
            </a:r>
            <a:endParaRPr lang="en-US" altLang="zh-CN" sz="4400" b="1" dirty="0">
              <a:solidFill>
                <a:srgbClr val="004C9E"/>
              </a:solidFill>
              <a:latin typeface="微软雅黑" panose="020B0503020204020204" pitchFamily="34" charset="-122"/>
              <a:ea typeface="微软雅黑" panose="020B0503020204020204" pitchFamily="34" charset="-122"/>
            </a:endParaRPr>
          </a:p>
          <a:p>
            <a:pPr algn="ctr"/>
            <a:r>
              <a:rPr lang="zh-CN" altLang="en-US" sz="4400" b="1" dirty="0">
                <a:solidFill>
                  <a:srgbClr val="004C9E"/>
                </a:solidFill>
                <a:latin typeface="微软雅黑" panose="020B0503020204020204" pitchFamily="34" charset="-122"/>
                <a:ea typeface="微软雅黑" panose="020B0503020204020204" pitchFamily="34" charset="-122"/>
              </a:rPr>
              <a:t>    谢谢！</a:t>
            </a:r>
            <a:endParaRPr lang="zh-CN" altLang="en-US" sz="4400" b="1" dirty="0">
              <a:solidFill>
                <a:srgbClr val="004C9E"/>
              </a:solidFill>
              <a:latin typeface="微软雅黑" panose="020B0503020204020204" pitchFamily="34" charset="-122"/>
              <a:ea typeface="微软雅黑" panose="020B0503020204020204" pitchFamily="34" charset="-122"/>
            </a:endParaRPr>
          </a:p>
        </p:txBody>
      </p:sp>
      <p:sp>
        <p:nvSpPr>
          <p:cNvPr id="12" name="图形"/>
          <p:cNvSpPr txBox="1"/>
          <p:nvPr>
            <p:custDataLst>
              <p:tags r:id="rId3"/>
            </p:custDataLst>
          </p:nvPr>
        </p:nvSpPr>
        <p:spPr>
          <a:xfrm>
            <a:off x="4061768" y="4393928"/>
            <a:ext cx="2019086" cy="369332"/>
          </a:xfrm>
          <a:prstGeom prst="rect">
            <a:avLst/>
          </a:prstGeom>
          <a:noFill/>
        </p:spPr>
        <p:txBody>
          <a:bodyPr wrap="square" rtlCol="0" anchor="t">
            <a:spAutoFit/>
          </a:bodyPr>
          <a:lstStyle/>
          <a:p>
            <a:pPr lvl="0" algn="l">
              <a:buClrTx/>
              <a:buSzTx/>
              <a:buFontTx/>
            </a:pPr>
            <a:r>
              <a:rPr lang="zh-CN" altLang="en-US" sz="1800" b="1" dirty="0">
                <a:solidFill>
                  <a:schemeClr val="tx1">
                    <a:lumMod val="85000"/>
                    <a:lumOff val="15000"/>
                  </a:schemeClr>
                </a:solidFill>
                <a:latin typeface="Arial" panose="020B0604020202020204" pitchFamily="34" charset="0"/>
                <a:ea typeface="微软雅黑" panose="020B0503020204020204" pitchFamily="34" charset="-122"/>
                <a:cs typeface="包图粗黑体" panose="02000800000000000000" charset="-122"/>
                <a:sym typeface="Arial" panose="020B0604020202020204" pitchFamily="34" charset="0"/>
              </a:rPr>
              <a:t>汇报人：</a:t>
            </a:r>
            <a:r>
              <a:rPr lang="zh-CN" altLang="en-US" b="1" dirty="0">
                <a:solidFill>
                  <a:schemeClr val="tx1">
                    <a:lumMod val="85000"/>
                    <a:lumOff val="15000"/>
                  </a:schemeClr>
                </a:solidFill>
                <a:latin typeface="Arial" panose="020B0604020202020204" pitchFamily="34" charset="0"/>
                <a:ea typeface="微软雅黑" panose="020B0503020204020204" pitchFamily="34" charset="-122"/>
                <a:cs typeface="包图粗黑体" panose="02000800000000000000" charset="-122"/>
                <a:sym typeface="Arial" panose="020B0604020202020204" pitchFamily="34" charset="0"/>
              </a:rPr>
              <a:t>胡艺群</a:t>
            </a:r>
            <a:endParaRPr lang="zh-CN" altLang="en-US" sz="1800" b="1" dirty="0">
              <a:solidFill>
                <a:schemeClr val="tx1">
                  <a:lumMod val="85000"/>
                  <a:lumOff val="15000"/>
                </a:schemeClr>
              </a:solidFill>
              <a:latin typeface="Arial" panose="020B0604020202020204" pitchFamily="34" charset="0"/>
              <a:ea typeface="微软雅黑" panose="020B0503020204020204" pitchFamily="34" charset="-122"/>
              <a:cs typeface="包图粗黑体" panose="02000800000000000000" charset="-122"/>
              <a:sym typeface="Arial" panose="020B0604020202020204" pitchFamily="34" charset="0"/>
            </a:endParaRPr>
          </a:p>
        </p:txBody>
      </p:sp>
      <p:sp>
        <p:nvSpPr>
          <p:cNvPr id="13" name="图形"/>
          <p:cNvSpPr txBox="1"/>
          <p:nvPr>
            <p:custDataLst>
              <p:tags r:id="rId4"/>
            </p:custDataLst>
          </p:nvPr>
        </p:nvSpPr>
        <p:spPr>
          <a:xfrm>
            <a:off x="6769284" y="4409317"/>
            <a:ext cx="2731098" cy="338554"/>
          </a:xfrm>
          <a:prstGeom prst="rect">
            <a:avLst/>
          </a:prstGeom>
          <a:noFill/>
        </p:spPr>
        <p:txBody>
          <a:bodyPr wrap="square" rtlCol="0" anchor="t">
            <a:spAutoFit/>
          </a:bodyPr>
          <a:lstStyle/>
          <a:p>
            <a:pPr lvl="0" algn="l">
              <a:buClrTx/>
              <a:buSzTx/>
              <a:buFontTx/>
            </a:pPr>
            <a:r>
              <a:rPr lang="zh-CN" altLang="en-US" sz="1600" b="1" dirty="0">
                <a:solidFill>
                  <a:schemeClr val="tx1">
                    <a:lumMod val="85000"/>
                    <a:lumOff val="15000"/>
                  </a:schemeClr>
                </a:solidFill>
                <a:latin typeface="Arial" panose="020B0604020202020204" pitchFamily="34" charset="0"/>
                <a:ea typeface="微软雅黑" panose="020B0503020204020204" pitchFamily="34" charset="-122"/>
                <a:cs typeface="包图粗黑体" panose="02000800000000000000" charset="-122"/>
                <a:sym typeface="Arial" panose="020B0604020202020204" pitchFamily="34" charset="0"/>
              </a:rPr>
              <a:t>汇报时间：</a:t>
            </a:r>
            <a:r>
              <a:rPr lang="en-US" altLang="zh-CN" sz="1600" b="1" dirty="0">
                <a:solidFill>
                  <a:schemeClr val="tx1">
                    <a:lumMod val="85000"/>
                    <a:lumOff val="15000"/>
                  </a:schemeClr>
                </a:solidFill>
                <a:latin typeface="Arial" panose="020B0604020202020204" pitchFamily="34" charset="0"/>
                <a:ea typeface="微软雅黑" panose="020B0503020204020204" pitchFamily="34" charset="-122"/>
                <a:cs typeface="包图粗黑体" panose="02000800000000000000" charset="-122"/>
                <a:sym typeface="Arial" panose="020B0604020202020204" pitchFamily="34" charset="0"/>
              </a:rPr>
              <a:t>2026</a:t>
            </a:r>
            <a:r>
              <a:rPr lang="zh-CN" altLang="en-US" sz="1600" b="1" dirty="0">
                <a:solidFill>
                  <a:schemeClr val="tx1">
                    <a:lumMod val="85000"/>
                    <a:lumOff val="15000"/>
                  </a:schemeClr>
                </a:solidFill>
                <a:latin typeface="Arial" panose="020B0604020202020204" pitchFamily="34" charset="0"/>
                <a:ea typeface="微软雅黑" panose="020B0503020204020204" pitchFamily="34" charset="-122"/>
                <a:cs typeface="包图粗黑体" panose="02000800000000000000" charset="-122"/>
                <a:sym typeface="Arial" panose="020B0604020202020204" pitchFamily="34" charset="0"/>
              </a:rPr>
              <a:t>年</a:t>
            </a:r>
            <a:r>
              <a:rPr lang="en-US" altLang="zh-CN" sz="1600" b="1" dirty="0">
                <a:solidFill>
                  <a:schemeClr val="tx1">
                    <a:lumMod val="85000"/>
                    <a:lumOff val="15000"/>
                  </a:schemeClr>
                </a:solidFill>
                <a:latin typeface="Arial" panose="020B0604020202020204" pitchFamily="34" charset="0"/>
                <a:ea typeface="微软雅黑" panose="020B0503020204020204" pitchFamily="34" charset="-122"/>
                <a:cs typeface="包图粗黑体" panose="02000800000000000000" charset="-122"/>
                <a:sym typeface="Arial" panose="020B0604020202020204" pitchFamily="34" charset="0"/>
              </a:rPr>
              <a:t>4</a:t>
            </a:r>
            <a:r>
              <a:rPr lang="zh-CN" altLang="en-US" sz="1600" b="1" dirty="0">
                <a:solidFill>
                  <a:schemeClr val="tx1">
                    <a:lumMod val="85000"/>
                    <a:lumOff val="15000"/>
                  </a:schemeClr>
                </a:solidFill>
                <a:latin typeface="Arial" panose="020B0604020202020204" pitchFamily="34" charset="0"/>
                <a:ea typeface="微软雅黑" panose="020B0503020204020204" pitchFamily="34" charset="-122"/>
                <a:cs typeface="包图粗黑体" panose="02000800000000000000" charset="-122"/>
                <a:sym typeface="Arial" panose="020B0604020202020204" pitchFamily="34" charset="0"/>
              </a:rPr>
              <a:t>月</a:t>
            </a:r>
            <a:r>
              <a:rPr lang="en-US" altLang="zh-CN" sz="1600" b="1" dirty="0">
                <a:solidFill>
                  <a:schemeClr val="tx1">
                    <a:lumMod val="85000"/>
                    <a:lumOff val="15000"/>
                  </a:schemeClr>
                </a:solidFill>
                <a:latin typeface="Arial" panose="020B0604020202020204" pitchFamily="34" charset="0"/>
                <a:ea typeface="微软雅黑" panose="020B0503020204020204" pitchFamily="34" charset="-122"/>
                <a:cs typeface="包图粗黑体" panose="02000800000000000000" charset="-122"/>
                <a:sym typeface="Arial" panose="020B0604020202020204" pitchFamily="34" charset="0"/>
              </a:rPr>
              <a:t>24</a:t>
            </a:r>
            <a:r>
              <a:rPr lang="zh-CN" altLang="en-US" sz="1600" b="1" dirty="0">
                <a:solidFill>
                  <a:schemeClr val="tx1">
                    <a:lumMod val="85000"/>
                    <a:lumOff val="15000"/>
                  </a:schemeClr>
                </a:solidFill>
                <a:latin typeface="Arial" panose="020B0604020202020204" pitchFamily="34" charset="0"/>
                <a:ea typeface="微软雅黑" panose="020B0503020204020204" pitchFamily="34" charset="-122"/>
                <a:cs typeface="包图粗黑体" panose="02000800000000000000" charset="-122"/>
                <a:sym typeface="Arial" panose="020B0604020202020204" pitchFamily="34" charset="0"/>
              </a:rPr>
              <a:t>日</a:t>
            </a:r>
            <a:endParaRPr lang="en-US" altLang="zh-CN" sz="1600" b="1" dirty="0">
              <a:solidFill>
                <a:schemeClr val="tx1">
                  <a:lumMod val="85000"/>
                  <a:lumOff val="15000"/>
                </a:schemeClr>
              </a:solidFill>
              <a:latin typeface="Arial" panose="020B0604020202020204" pitchFamily="34" charset="0"/>
              <a:ea typeface="微软雅黑" panose="020B0503020204020204" pitchFamily="34" charset="-122"/>
              <a:cs typeface="包图粗黑体" panose="02000800000000000000" charset="-122"/>
              <a:sym typeface="Arial" panose="020B0604020202020204" pitchFamily="34" charset="0"/>
            </a:endParaRPr>
          </a:p>
        </p:txBody>
      </p:sp>
      <p:sp>
        <p:nvSpPr>
          <p:cNvPr id="14" name="图形"/>
          <p:cNvSpPr/>
          <p:nvPr>
            <p:custDataLst>
              <p:tags r:id="rId5"/>
            </p:custDataLst>
          </p:nvPr>
        </p:nvSpPr>
        <p:spPr>
          <a:xfrm>
            <a:off x="3506910" y="4330755"/>
            <a:ext cx="510566" cy="510566"/>
          </a:xfrm>
          <a:prstGeom prst="ellipse">
            <a:avLst/>
          </a:prstGeom>
          <a:solidFill>
            <a:srgbClr val="004C9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gradFill>
                <a:gsLst>
                  <a:gs pos="0">
                    <a:srgbClr val="FFEBC4"/>
                  </a:gs>
                  <a:gs pos="100000">
                    <a:srgbClr val="FEDA90"/>
                  </a:gs>
                </a:gsLst>
                <a:lin ang="2700000" scaled="0"/>
              </a:gradFill>
              <a:latin typeface="Arial" panose="020B0604020202020204" pitchFamily="34" charset="0"/>
              <a:ea typeface="微软雅黑" panose="020B0503020204020204" pitchFamily="34" charset="-122"/>
              <a:cs typeface="思源黑体旧字形 Light" panose="020B0300000000000000" charset="-128"/>
              <a:sym typeface="Arial" panose="020B0604020202020204" pitchFamily="34" charset="0"/>
            </a:endParaRPr>
          </a:p>
        </p:txBody>
      </p:sp>
      <p:pic>
        <p:nvPicPr>
          <p:cNvPr id="15" name="图形" descr="303b32313533373635313bbbe3b1a8d5df"/>
          <p:cNvPicPr>
            <a:picLocks noChangeAspect="1"/>
          </p:cNvPicPr>
          <p:nvPr>
            <p:custDataLst>
              <p:tags r:id="rId6"/>
            </p:custDataLst>
          </p:nvPr>
        </p:nvPicPr>
        <p:blipFill>
          <a:blip r:embed="rId7">
            <a:extLst>
              <a:ext uri="{96DAC541-7B7A-43D3-8B79-37D633B846F1}">
                <asvg:svgBlip xmlns:asvg="http://schemas.microsoft.com/office/drawing/2016/SVG/main" r:embed="rId8"/>
              </a:ext>
            </a:extLst>
          </a:blip>
          <a:stretch>
            <a:fillRect/>
          </a:stretch>
        </p:blipFill>
        <p:spPr>
          <a:xfrm>
            <a:off x="3587899" y="4402777"/>
            <a:ext cx="352294" cy="352294"/>
          </a:xfrm>
          <a:prstGeom prst="rect">
            <a:avLst/>
          </a:prstGeom>
        </p:spPr>
      </p:pic>
      <p:sp>
        <p:nvSpPr>
          <p:cNvPr id="16" name="图形"/>
          <p:cNvSpPr/>
          <p:nvPr>
            <p:custDataLst>
              <p:tags r:id="rId9"/>
            </p:custDataLst>
          </p:nvPr>
        </p:nvSpPr>
        <p:spPr>
          <a:xfrm>
            <a:off x="6191691" y="4330755"/>
            <a:ext cx="510566" cy="510566"/>
          </a:xfrm>
          <a:prstGeom prst="ellipse">
            <a:avLst/>
          </a:prstGeom>
          <a:solidFill>
            <a:srgbClr val="004C9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gradFill>
                <a:gsLst>
                  <a:gs pos="0">
                    <a:srgbClr val="FFEBC4"/>
                  </a:gs>
                  <a:gs pos="100000">
                    <a:srgbClr val="FEDA90"/>
                  </a:gs>
                </a:gsLst>
                <a:lin ang="2700000" scaled="0"/>
              </a:gradFill>
              <a:latin typeface="Arial" panose="020B0604020202020204" pitchFamily="34" charset="0"/>
              <a:ea typeface="微软雅黑" panose="020B0503020204020204" pitchFamily="34" charset="-122"/>
              <a:cs typeface="思源黑体旧字形 Light" panose="020B0300000000000000" charset="-128"/>
              <a:sym typeface="Arial" panose="020B0604020202020204" pitchFamily="34" charset="0"/>
            </a:endParaRPr>
          </a:p>
        </p:txBody>
      </p:sp>
      <p:grpSp>
        <p:nvGrpSpPr>
          <p:cNvPr id="17" name="组合 16"/>
          <p:cNvGrpSpPr/>
          <p:nvPr/>
        </p:nvGrpSpPr>
        <p:grpSpPr>
          <a:xfrm>
            <a:off x="6264669" y="4457312"/>
            <a:ext cx="351985" cy="257452"/>
            <a:chOff x="2751138" y="4071938"/>
            <a:chExt cx="1558925" cy="1158875"/>
          </a:xfrm>
          <a:solidFill>
            <a:srgbClr val="0A0301"/>
          </a:solidFill>
        </p:grpSpPr>
        <p:sp>
          <p:nvSpPr>
            <p:cNvPr id="18" name="图形"/>
            <p:cNvSpPr/>
            <p:nvPr>
              <p:custDataLst>
                <p:tags r:id="rId10"/>
              </p:custDataLst>
            </p:nvPr>
          </p:nvSpPr>
          <p:spPr bwMode="auto">
            <a:xfrm>
              <a:off x="3770313" y="4562475"/>
              <a:ext cx="539750" cy="477838"/>
            </a:xfrm>
            <a:custGeom>
              <a:avLst/>
              <a:gdLst>
                <a:gd name="T0" fmla="*/ 255 w 340"/>
                <a:gd name="T1" fmla="*/ 0 h 301"/>
                <a:gd name="T2" fmla="*/ 136 w 340"/>
                <a:gd name="T3" fmla="*/ 99 h 301"/>
                <a:gd name="T4" fmla="*/ 28 w 340"/>
                <a:gd name="T5" fmla="*/ 8 h 301"/>
                <a:gd name="T6" fmla="*/ 28 w 340"/>
                <a:gd name="T7" fmla="*/ 8 h 301"/>
                <a:gd name="T8" fmla="*/ 14 w 340"/>
                <a:gd name="T9" fmla="*/ 31 h 301"/>
                <a:gd name="T10" fmla="*/ 0 w 340"/>
                <a:gd name="T11" fmla="*/ 50 h 301"/>
                <a:gd name="T12" fmla="*/ 0 w 340"/>
                <a:gd name="T13" fmla="*/ 50 h 301"/>
                <a:gd name="T14" fmla="*/ 24 w 340"/>
                <a:gd name="T15" fmla="*/ 70 h 301"/>
                <a:gd name="T16" fmla="*/ 47 w 340"/>
                <a:gd name="T17" fmla="*/ 95 h 301"/>
                <a:gd name="T18" fmla="*/ 68 w 340"/>
                <a:gd name="T19" fmla="*/ 122 h 301"/>
                <a:gd name="T20" fmla="*/ 84 w 340"/>
                <a:gd name="T21" fmla="*/ 149 h 301"/>
                <a:gd name="T22" fmla="*/ 99 w 340"/>
                <a:gd name="T23" fmla="*/ 180 h 301"/>
                <a:gd name="T24" fmla="*/ 109 w 340"/>
                <a:gd name="T25" fmla="*/ 213 h 301"/>
                <a:gd name="T26" fmla="*/ 115 w 340"/>
                <a:gd name="T27" fmla="*/ 248 h 301"/>
                <a:gd name="T28" fmla="*/ 117 w 340"/>
                <a:gd name="T29" fmla="*/ 283 h 301"/>
                <a:gd name="T30" fmla="*/ 117 w 340"/>
                <a:gd name="T31" fmla="*/ 283 h 301"/>
                <a:gd name="T32" fmla="*/ 115 w 340"/>
                <a:gd name="T33" fmla="*/ 301 h 301"/>
                <a:gd name="T34" fmla="*/ 115 w 340"/>
                <a:gd name="T35" fmla="*/ 301 h 301"/>
                <a:gd name="T36" fmla="*/ 136 w 340"/>
                <a:gd name="T37" fmla="*/ 301 h 301"/>
                <a:gd name="T38" fmla="*/ 136 w 340"/>
                <a:gd name="T39" fmla="*/ 301 h 301"/>
                <a:gd name="T40" fmla="*/ 167 w 340"/>
                <a:gd name="T41" fmla="*/ 299 h 301"/>
                <a:gd name="T42" fmla="*/ 200 w 340"/>
                <a:gd name="T43" fmla="*/ 293 h 301"/>
                <a:gd name="T44" fmla="*/ 233 w 340"/>
                <a:gd name="T45" fmla="*/ 285 h 301"/>
                <a:gd name="T46" fmla="*/ 266 w 340"/>
                <a:gd name="T47" fmla="*/ 270 h 301"/>
                <a:gd name="T48" fmla="*/ 282 w 340"/>
                <a:gd name="T49" fmla="*/ 262 h 301"/>
                <a:gd name="T50" fmla="*/ 295 w 340"/>
                <a:gd name="T51" fmla="*/ 252 h 301"/>
                <a:gd name="T52" fmla="*/ 307 w 340"/>
                <a:gd name="T53" fmla="*/ 242 h 301"/>
                <a:gd name="T54" fmla="*/ 319 w 340"/>
                <a:gd name="T55" fmla="*/ 229 h 301"/>
                <a:gd name="T56" fmla="*/ 328 w 340"/>
                <a:gd name="T57" fmla="*/ 217 h 301"/>
                <a:gd name="T58" fmla="*/ 334 w 340"/>
                <a:gd name="T59" fmla="*/ 204 h 301"/>
                <a:gd name="T60" fmla="*/ 338 w 340"/>
                <a:gd name="T61" fmla="*/ 190 h 301"/>
                <a:gd name="T62" fmla="*/ 340 w 340"/>
                <a:gd name="T63" fmla="*/ 176 h 301"/>
                <a:gd name="T64" fmla="*/ 340 w 340"/>
                <a:gd name="T65" fmla="*/ 176 h 301"/>
                <a:gd name="T66" fmla="*/ 338 w 340"/>
                <a:gd name="T67" fmla="*/ 149 h 301"/>
                <a:gd name="T68" fmla="*/ 334 w 340"/>
                <a:gd name="T69" fmla="*/ 122 h 301"/>
                <a:gd name="T70" fmla="*/ 328 w 340"/>
                <a:gd name="T71" fmla="*/ 97 h 301"/>
                <a:gd name="T72" fmla="*/ 317 w 340"/>
                <a:gd name="T73" fmla="*/ 74 h 301"/>
                <a:gd name="T74" fmla="*/ 305 w 340"/>
                <a:gd name="T75" fmla="*/ 54 h 301"/>
                <a:gd name="T76" fmla="*/ 290 w 340"/>
                <a:gd name="T77" fmla="*/ 33 h 301"/>
                <a:gd name="T78" fmla="*/ 274 w 340"/>
                <a:gd name="T79" fmla="*/ 15 h 301"/>
                <a:gd name="T80" fmla="*/ 255 w 340"/>
                <a:gd name="T81" fmla="*/ 0 h 301"/>
                <a:gd name="T82" fmla="*/ 255 w 340"/>
                <a:gd name="T83" fmla="*/ 0 h 3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340" h="301">
                  <a:moveTo>
                    <a:pt x="255" y="0"/>
                  </a:moveTo>
                  <a:lnTo>
                    <a:pt x="136" y="99"/>
                  </a:lnTo>
                  <a:lnTo>
                    <a:pt x="28" y="8"/>
                  </a:lnTo>
                  <a:lnTo>
                    <a:pt x="28" y="8"/>
                  </a:lnTo>
                  <a:lnTo>
                    <a:pt x="14" y="31"/>
                  </a:lnTo>
                  <a:lnTo>
                    <a:pt x="0" y="50"/>
                  </a:lnTo>
                  <a:lnTo>
                    <a:pt x="0" y="50"/>
                  </a:lnTo>
                  <a:lnTo>
                    <a:pt x="24" y="70"/>
                  </a:lnTo>
                  <a:lnTo>
                    <a:pt x="47" y="95"/>
                  </a:lnTo>
                  <a:lnTo>
                    <a:pt x="68" y="122"/>
                  </a:lnTo>
                  <a:lnTo>
                    <a:pt x="84" y="149"/>
                  </a:lnTo>
                  <a:lnTo>
                    <a:pt x="99" y="180"/>
                  </a:lnTo>
                  <a:lnTo>
                    <a:pt x="109" y="213"/>
                  </a:lnTo>
                  <a:lnTo>
                    <a:pt x="115" y="248"/>
                  </a:lnTo>
                  <a:lnTo>
                    <a:pt x="117" y="283"/>
                  </a:lnTo>
                  <a:lnTo>
                    <a:pt x="117" y="283"/>
                  </a:lnTo>
                  <a:lnTo>
                    <a:pt x="115" y="301"/>
                  </a:lnTo>
                  <a:lnTo>
                    <a:pt x="115" y="301"/>
                  </a:lnTo>
                  <a:lnTo>
                    <a:pt x="136" y="301"/>
                  </a:lnTo>
                  <a:lnTo>
                    <a:pt x="136" y="301"/>
                  </a:lnTo>
                  <a:lnTo>
                    <a:pt x="167" y="299"/>
                  </a:lnTo>
                  <a:lnTo>
                    <a:pt x="200" y="293"/>
                  </a:lnTo>
                  <a:lnTo>
                    <a:pt x="233" y="285"/>
                  </a:lnTo>
                  <a:lnTo>
                    <a:pt x="266" y="270"/>
                  </a:lnTo>
                  <a:lnTo>
                    <a:pt x="282" y="262"/>
                  </a:lnTo>
                  <a:lnTo>
                    <a:pt x="295" y="252"/>
                  </a:lnTo>
                  <a:lnTo>
                    <a:pt x="307" y="242"/>
                  </a:lnTo>
                  <a:lnTo>
                    <a:pt x="319" y="229"/>
                  </a:lnTo>
                  <a:lnTo>
                    <a:pt x="328" y="217"/>
                  </a:lnTo>
                  <a:lnTo>
                    <a:pt x="334" y="204"/>
                  </a:lnTo>
                  <a:lnTo>
                    <a:pt x="338" y="190"/>
                  </a:lnTo>
                  <a:lnTo>
                    <a:pt x="340" y="176"/>
                  </a:lnTo>
                  <a:lnTo>
                    <a:pt x="340" y="176"/>
                  </a:lnTo>
                  <a:lnTo>
                    <a:pt x="338" y="149"/>
                  </a:lnTo>
                  <a:lnTo>
                    <a:pt x="334" y="122"/>
                  </a:lnTo>
                  <a:lnTo>
                    <a:pt x="328" y="97"/>
                  </a:lnTo>
                  <a:lnTo>
                    <a:pt x="317" y="74"/>
                  </a:lnTo>
                  <a:lnTo>
                    <a:pt x="305" y="54"/>
                  </a:lnTo>
                  <a:lnTo>
                    <a:pt x="290" y="33"/>
                  </a:lnTo>
                  <a:lnTo>
                    <a:pt x="274" y="15"/>
                  </a:lnTo>
                  <a:lnTo>
                    <a:pt x="255" y="0"/>
                  </a:lnTo>
                  <a:lnTo>
                    <a:pt x="255" y="0"/>
                  </a:ln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gradFill>
                  <a:gsLst>
                    <a:gs pos="0">
                      <a:srgbClr val="FFEBC4"/>
                    </a:gs>
                    <a:gs pos="100000">
                      <a:srgbClr val="FEDA90"/>
                    </a:gs>
                  </a:gsLst>
                  <a:lin ang="2700000" scaled="0"/>
                </a:gradFill>
                <a:latin typeface="Arial" panose="020B0604020202020204" pitchFamily="34" charset="0"/>
                <a:ea typeface="微软雅黑" panose="020B0503020204020204" pitchFamily="34" charset="-122"/>
                <a:cs typeface="思源黑体旧字形 Light" panose="020B0300000000000000" charset="-128"/>
                <a:sym typeface="Arial" panose="020B0604020202020204" pitchFamily="34" charset="0"/>
              </a:endParaRPr>
            </a:p>
          </p:txBody>
        </p:sp>
        <p:sp>
          <p:nvSpPr>
            <p:cNvPr id="19" name="图形"/>
            <p:cNvSpPr/>
            <p:nvPr>
              <p:custDataLst>
                <p:tags r:id="rId11"/>
              </p:custDataLst>
            </p:nvPr>
          </p:nvSpPr>
          <p:spPr bwMode="auto">
            <a:xfrm>
              <a:off x="3773488" y="4071938"/>
              <a:ext cx="441325" cy="450850"/>
            </a:xfrm>
            <a:custGeom>
              <a:avLst/>
              <a:gdLst>
                <a:gd name="T0" fmla="*/ 49 w 278"/>
                <a:gd name="T1" fmla="*/ 225 h 284"/>
                <a:gd name="T2" fmla="*/ 49 w 278"/>
                <a:gd name="T3" fmla="*/ 225 h 284"/>
                <a:gd name="T4" fmla="*/ 49 w 278"/>
                <a:gd name="T5" fmla="*/ 239 h 284"/>
                <a:gd name="T6" fmla="*/ 47 w 278"/>
                <a:gd name="T7" fmla="*/ 255 h 284"/>
                <a:gd name="T8" fmla="*/ 47 w 278"/>
                <a:gd name="T9" fmla="*/ 255 h 284"/>
                <a:gd name="T10" fmla="*/ 66 w 278"/>
                <a:gd name="T11" fmla="*/ 268 h 284"/>
                <a:gd name="T12" fmla="*/ 88 w 278"/>
                <a:gd name="T13" fmla="*/ 276 h 284"/>
                <a:gd name="T14" fmla="*/ 111 w 278"/>
                <a:gd name="T15" fmla="*/ 282 h 284"/>
                <a:gd name="T16" fmla="*/ 134 w 278"/>
                <a:gd name="T17" fmla="*/ 284 h 284"/>
                <a:gd name="T18" fmla="*/ 134 w 278"/>
                <a:gd name="T19" fmla="*/ 284 h 284"/>
                <a:gd name="T20" fmla="*/ 148 w 278"/>
                <a:gd name="T21" fmla="*/ 284 h 284"/>
                <a:gd name="T22" fmla="*/ 163 w 278"/>
                <a:gd name="T23" fmla="*/ 282 h 284"/>
                <a:gd name="T24" fmla="*/ 177 w 278"/>
                <a:gd name="T25" fmla="*/ 278 h 284"/>
                <a:gd name="T26" fmla="*/ 189 w 278"/>
                <a:gd name="T27" fmla="*/ 274 h 284"/>
                <a:gd name="T28" fmla="*/ 202 w 278"/>
                <a:gd name="T29" fmla="*/ 268 h 284"/>
                <a:gd name="T30" fmla="*/ 214 w 278"/>
                <a:gd name="T31" fmla="*/ 260 h 284"/>
                <a:gd name="T32" fmla="*/ 224 w 278"/>
                <a:gd name="T33" fmla="*/ 251 h 284"/>
                <a:gd name="T34" fmla="*/ 235 w 278"/>
                <a:gd name="T35" fmla="*/ 243 h 284"/>
                <a:gd name="T36" fmla="*/ 245 w 278"/>
                <a:gd name="T37" fmla="*/ 233 h 284"/>
                <a:gd name="T38" fmla="*/ 253 w 278"/>
                <a:gd name="T39" fmla="*/ 222 h 284"/>
                <a:gd name="T40" fmla="*/ 260 w 278"/>
                <a:gd name="T41" fmla="*/ 210 h 284"/>
                <a:gd name="T42" fmla="*/ 266 w 278"/>
                <a:gd name="T43" fmla="*/ 198 h 284"/>
                <a:gd name="T44" fmla="*/ 272 w 278"/>
                <a:gd name="T45" fmla="*/ 185 h 284"/>
                <a:gd name="T46" fmla="*/ 274 w 278"/>
                <a:gd name="T47" fmla="*/ 171 h 284"/>
                <a:gd name="T48" fmla="*/ 276 w 278"/>
                <a:gd name="T49" fmla="*/ 156 h 284"/>
                <a:gd name="T50" fmla="*/ 278 w 278"/>
                <a:gd name="T51" fmla="*/ 142 h 284"/>
                <a:gd name="T52" fmla="*/ 278 w 278"/>
                <a:gd name="T53" fmla="*/ 142 h 284"/>
                <a:gd name="T54" fmla="*/ 276 w 278"/>
                <a:gd name="T55" fmla="*/ 128 h 284"/>
                <a:gd name="T56" fmla="*/ 274 w 278"/>
                <a:gd name="T57" fmla="*/ 113 h 284"/>
                <a:gd name="T58" fmla="*/ 272 w 278"/>
                <a:gd name="T59" fmla="*/ 99 h 284"/>
                <a:gd name="T60" fmla="*/ 266 w 278"/>
                <a:gd name="T61" fmla="*/ 86 h 284"/>
                <a:gd name="T62" fmla="*/ 260 w 278"/>
                <a:gd name="T63" fmla="*/ 74 h 284"/>
                <a:gd name="T64" fmla="*/ 253 w 278"/>
                <a:gd name="T65" fmla="*/ 62 h 284"/>
                <a:gd name="T66" fmla="*/ 245 w 278"/>
                <a:gd name="T67" fmla="*/ 51 h 284"/>
                <a:gd name="T68" fmla="*/ 235 w 278"/>
                <a:gd name="T69" fmla="*/ 41 h 284"/>
                <a:gd name="T70" fmla="*/ 224 w 278"/>
                <a:gd name="T71" fmla="*/ 31 h 284"/>
                <a:gd name="T72" fmla="*/ 214 w 278"/>
                <a:gd name="T73" fmla="*/ 22 h 284"/>
                <a:gd name="T74" fmla="*/ 202 w 278"/>
                <a:gd name="T75" fmla="*/ 16 h 284"/>
                <a:gd name="T76" fmla="*/ 189 w 278"/>
                <a:gd name="T77" fmla="*/ 10 h 284"/>
                <a:gd name="T78" fmla="*/ 177 w 278"/>
                <a:gd name="T79" fmla="*/ 6 h 284"/>
                <a:gd name="T80" fmla="*/ 163 w 278"/>
                <a:gd name="T81" fmla="*/ 2 h 284"/>
                <a:gd name="T82" fmla="*/ 148 w 278"/>
                <a:gd name="T83" fmla="*/ 0 h 284"/>
                <a:gd name="T84" fmla="*/ 134 w 278"/>
                <a:gd name="T85" fmla="*/ 0 h 284"/>
                <a:gd name="T86" fmla="*/ 134 w 278"/>
                <a:gd name="T87" fmla="*/ 0 h 284"/>
                <a:gd name="T88" fmla="*/ 111 w 278"/>
                <a:gd name="T89" fmla="*/ 0 h 284"/>
                <a:gd name="T90" fmla="*/ 90 w 278"/>
                <a:gd name="T91" fmla="*/ 6 h 284"/>
                <a:gd name="T92" fmla="*/ 70 w 278"/>
                <a:gd name="T93" fmla="*/ 14 h 284"/>
                <a:gd name="T94" fmla="*/ 51 w 278"/>
                <a:gd name="T95" fmla="*/ 24 h 284"/>
                <a:gd name="T96" fmla="*/ 35 w 278"/>
                <a:gd name="T97" fmla="*/ 39 h 284"/>
                <a:gd name="T98" fmla="*/ 20 w 278"/>
                <a:gd name="T99" fmla="*/ 55 h 284"/>
                <a:gd name="T100" fmla="*/ 10 w 278"/>
                <a:gd name="T101" fmla="*/ 72 h 284"/>
                <a:gd name="T102" fmla="*/ 0 w 278"/>
                <a:gd name="T103" fmla="*/ 92 h 284"/>
                <a:gd name="T104" fmla="*/ 0 w 278"/>
                <a:gd name="T105" fmla="*/ 92 h 284"/>
                <a:gd name="T106" fmla="*/ 12 w 278"/>
                <a:gd name="T107" fmla="*/ 107 h 284"/>
                <a:gd name="T108" fmla="*/ 20 w 278"/>
                <a:gd name="T109" fmla="*/ 121 h 284"/>
                <a:gd name="T110" fmla="*/ 28 w 278"/>
                <a:gd name="T111" fmla="*/ 136 h 284"/>
                <a:gd name="T112" fmla="*/ 37 w 278"/>
                <a:gd name="T113" fmla="*/ 152 h 284"/>
                <a:gd name="T114" fmla="*/ 43 w 278"/>
                <a:gd name="T115" fmla="*/ 169 h 284"/>
                <a:gd name="T116" fmla="*/ 47 w 278"/>
                <a:gd name="T117" fmla="*/ 187 h 284"/>
                <a:gd name="T118" fmla="*/ 49 w 278"/>
                <a:gd name="T119" fmla="*/ 206 h 284"/>
                <a:gd name="T120" fmla="*/ 49 w 278"/>
                <a:gd name="T121" fmla="*/ 225 h 284"/>
                <a:gd name="T122" fmla="*/ 49 w 278"/>
                <a:gd name="T123" fmla="*/ 225 h 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78" h="284">
                  <a:moveTo>
                    <a:pt x="49" y="225"/>
                  </a:moveTo>
                  <a:lnTo>
                    <a:pt x="49" y="225"/>
                  </a:lnTo>
                  <a:lnTo>
                    <a:pt x="49" y="239"/>
                  </a:lnTo>
                  <a:lnTo>
                    <a:pt x="47" y="255"/>
                  </a:lnTo>
                  <a:lnTo>
                    <a:pt x="47" y="255"/>
                  </a:lnTo>
                  <a:lnTo>
                    <a:pt x="66" y="268"/>
                  </a:lnTo>
                  <a:lnTo>
                    <a:pt x="88" y="276"/>
                  </a:lnTo>
                  <a:lnTo>
                    <a:pt x="111" y="282"/>
                  </a:lnTo>
                  <a:lnTo>
                    <a:pt x="134" y="284"/>
                  </a:lnTo>
                  <a:lnTo>
                    <a:pt x="134" y="284"/>
                  </a:lnTo>
                  <a:lnTo>
                    <a:pt x="148" y="284"/>
                  </a:lnTo>
                  <a:lnTo>
                    <a:pt x="163" y="282"/>
                  </a:lnTo>
                  <a:lnTo>
                    <a:pt x="177" y="278"/>
                  </a:lnTo>
                  <a:lnTo>
                    <a:pt x="189" y="274"/>
                  </a:lnTo>
                  <a:lnTo>
                    <a:pt x="202" y="268"/>
                  </a:lnTo>
                  <a:lnTo>
                    <a:pt x="214" y="260"/>
                  </a:lnTo>
                  <a:lnTo>
                    <a:pt x="224" y="251"/>
                  </a:lnTo>
                  <a:lnTo>
                    <a:pt x="235" y="243"/>
                  </a:lnTo>
                  <a:lnTo>
                    <a:pt x="245" y="233"/>
                  </a:lnTo>
                  <a:lnTo>
                    <a:pt x="253" y="222"/>
                  </a:lnTo>
                  <a:lnTo>
                    <a:pt x="260" y="210"/>
                  </a:lnTo>
                  <a:lnTo>
                    <a:pt x="266" y="198"/>
                  </a:lnTo>
                  <a:lnTo>
                    <a:pt x="272" y="185"/>
                  </a:lnTo>
                  <a:lnTo>
                    <a:pt x="274" y="171"/>
                  </a:lnTo>
                  <a:lnTo>
                    <a:pt x="276" y="156"/>
                  </a:lnTo>
                  <a:lnTo>
                    <a:pt x="278" y="142"/>
                  </a:lnTo>
                  <a:lnTo>
                    <a:pt x="278" y="142"/>
                  </a:lnTo>
                  <a:lnTo>
                    <a:pt x="276" y="128"/>
                  </a:lnTo>
                  <a:lnTo>
                    <a:pt x="274" y="113"/>
                  </a:lnTo>
                  <a:lnTo>
                    <a:pt x="272" y="99"/>
                  </a:lnTo>
                  <a:lnTo>
                    <a:pt x="266" y="86"/>
                  </a:lnTo>
                  <a:lnTo>
                    <a:pt x="260" y="74"/>
                  </a:lnTo>
                  <a:lnTo>
                    <a:pt x="253" y="62"/>
                  </a:lnTo>
                  <a:lnTo>
                    <a:pt x="245" y="51"/>
                  </a:lnTo>
                  <a:lnTo>
                    <a:pt x="235" y="41"/>
                  </a:lnTo>
                  <a:lnTo>
                    <a:pt x="224" y="31"/>
                  </a:lnTo>
                  <a:lnTo>
                    <a:pt x="214" y="22"/>
                  </a:lnTo>
                  <a:lnTo>
                    <a:pt x="202" y="16"/>
                  </a:lnTo>
                  <a:lnTo>
                    <a:pt x="189" y="10"/>
                  </a:lnTo>
                  <a:lnTo>
                    <a:pt x="177" y="6"/>
                  </a:lnTo>
                  <a:lnTo>
                    <a:pt x="163" y="2"/>
                  </a:lnTo>
                  <a:lnTo>
                    <a:pt x="148" y="0"/>
                  </a:lnTo>
                  <a:lnTo>
                    <a:pt x="134" y="0"/>
                  </a:lnTo>
                  <a:lnTo>
                    <a:pt x="134" y="0"/>
                  </a:lnTo>
                  <a:lnTo>
                    <a:pt x="111" y="0"/>
                  </a:lnTo>
                  <a:lnTo>
                    <a:pt x="90" y="6"/>
                  </a:lnTo>
                  <a:lnTo>
                    <a:pt x="70" y="14"/>
                  </a:lnTo>
                  <a:lnTo>
                    <a:pt x="51" y="24"/>
                  </a:lnTo>
                  <a:lnTo>
                    <a:pt x="35" y="39"/>
                  </a:lnTo>
                  <a:lnTo>
                    <a:pt x="20" y="55"/>
                  </a:lnTo>
                  <a:lnTo>
                    <a:pt x="10" y="72"/>
                  </a:lnTo>
                  <a:lnTo>
                    <a:pt x="0" y="92"/>
                  </a:lnTo>
                  <a:lnTo>
                    <a:pt x="0" y="92"/>
                  </a:lnTo>
                  <a:lnTo>
                    <a:pt x="12" y="107"/>
                  </a:lnTo>
                  <a:lnTo>
                    <a:pt x="20" y="121"/>
                  </a:lnTo>
                  <a:lnTo>
                    <a:pt x="28" y="136"/>
                  </a:lnTo>
                  <a:lnTo>
                    <a:pt x="37" y="152"/>
                  </a:lnTo>
                  <a:lnTo>
                    <a:pt x="43" y="169"/>
                  </a:lnTo>
                  <a:lnTo>
                    <a:pt x="47" y="187"/>
                  </a:lnTo>
                  <a:lnTo>
                    <a:pt x="49" y="206"/>
                  </a:lnTo>
                  <a:lnTo>
                    <a:pt x="49" y="225"/>
                  </a:lnTo>
                  <a:lnTo>
                    <a:pt x="49" y="225"/>
                  </a:ln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gradFill>
                  <a:gsLst>
                    <a:gs pos="0">
                      <a:srgbClr val="FFEBC4"/>
                    </a:gs>
                    <a:gs pos="100000">
                      <a:srgbClr val="FEDA90"/>
                    </a:gs>
                  </a:gsLst>
                  <a:lin ang="2700000" scaled="0"/>
                </a:gradFill>
                <a:latin typeface="Arial" panose="020B0604020202020204" pitchFamily="34" charset="0"/>
                <a:ea typeface="微软雅黑" panose="020B0503020204020204" pitchFamily="34" charset="-122"/>
                <a:cs typeface="思源黑体旧字形 Light" panose="020B0300000000000000" charset="-128"/>
                <a:sym typeface="Arial" panose="020B0604020202020204" pitchFamily="34" charset="0"/>
              </a:endParaRPr>
            </a:p>
          </p:txBody>
        </p:sp>
        <p:sp>
          <p:nvSpPr>
            <p:cNvPr id="20" name="图形"/>
            <p:cNvSpPr/>
            <p:nvPr>
              <p:custDataLst>
                <p:tags r:id="rId12"/>
              </p:custDataLst>
            </p:nvPr>
          </p:nvSpPr>
          <p:spPr bwMode="auto">
            <a:xfrm>
              <a:off x="2751138" y="4562475"/>
              <a:ext cx="542925" cy="477838"/>
            </a:xfrm>
            <a:custGeom>
              <a:avLst/>
              <a:gdLst>
                <a:gd name="T0" fmla="*/ 204 w 342"/>
                <a:gd name="T1" fmla="*/ 301 h 301"/>
                <a:gd name="T2" fmla="*/ 204 w 342"/>
                <a:gd name="T3" fmla="*/ 301 h 301"/>
                <a:gd name="T4" fmla="*/ 225 w 342"/>
                <a:gd name="T5" fmla="*/ 301 h 301"/>
                <a:gd name="T6" fmla="*/ 225 w 342"/>
                <a:gd name="T7" fmla="*/ 301 h 301"/>
                <a:gd name="T8" fmla="*/ 225 w 342"/>
                <a:gd name="T9" fmla="*/ 283 h 301"/>
                <a:gd name="T10" fmla="*/ 225 w 342"/>
                <a:gd name="T11" fmla="*/ 283 h 301"/>
                <a:gd name="T12" fmla="*/ 227 w 342"/>
                <a:gd name="T13" fmla="*/ 248 h 301"/>
                <a:gd name="T14" fmla="*/ 233 w 342"/>
                <a:gd name="T15" fmla="*/ 213 h 301"/>
                <a:gd name="T16" fmla="*/ 243 w 342"/>
                <a:gd name="T17" fmla="*/ 180 h 301"/>
                <a:gd name="T18" fmla="*/ 256 w 342"/>
                <a:gd name="T19" fmla="*/ 149 h 301"/>
                <a:gd name="T20" fmla="*/ 272 w 342"/>
                <a:gd name="T21" fmla="*/ 122 h 301"/>
                <a:gd name="T22" fmla="*/ 293 w 342"/>
                <a:gd name="T23" fmla="*/ 95 h 301"/>
                <a:gd name="T24" fmla="*/ 316 w 342"/>
                <a:gd name="T25" fmla="*/ 70 h 301"/>
                <a:gd name="T26" fmla="*/ 342 w 342"/>
                <a:gd name="T27" fmla="*/ 50 h 301"/>
                <a:gd name="T28" fmla="*/ 342 w 342"/>
                <a:gd name="T29" fmla="*/ 50 h 301"/>
                <a:gd name="T30" fmla="*/ 326 w 342"/>
                <a:gd name="T31" fmla="*/ 31 h 301"/>
                <a:gd name="T32" fmla="*/ 313 w 342"/>
                <a:gd name="T33" fmla="*/ 8 h 301"/>
                <a:gd name="T34" fmla="*/ 204 w 342"/>
                <a:gd name="T35" fmla="*/ 99 h 301"/>
                <a:gd name="T36" fmla="*/ 84 w 342"/>
                <a:gd name="T37" fmla="*/ 0 h 301"/>
                <a:gd name="T38" fmla="*/ 84 w 342"/>
                <a:gd name="T39" fmla="*/ 0 h 301"/>
                <a:gd name="T40" fmla="*/ 66 w 342"/>
                <a:gd name="T41" fmla="*/ 15 h 301"/>
                <a:gd name="T42" fmla="*/ 49 w 342"/>
                <a:gd name="T43" fmla="*/ 33 h 301"/>
                <a:gd name="T44" fmla="*/ 35 w 342"/>
                <a:gd name="T45" fmla="*/ 54 h 301"/>
                <a:gd name="T46" fmla="*/ 23 w 342"/>
                <a:gd name="T47" fmla="*/ 74 h 301"/>
                <a:gd name="T48" fmla="*/ 14 w 342"/>
                <a:gd name="T49" fmla="*/ 97 h 301"/>
                <a:gd name="T50" fmla="*/ 6 w 342"/>
                <a:gd name="T51" fmla="*/ 122 h 301"/>
                <a:gd name="T52" fmla="*/ 2 w 342"/>
                <a:gd name="T53" fmla="*/ 149 h 301"/>
                <a:gd name="T54" fmla="*/ 0 w 342"/>
                <a:gd name="T55" fmla="*/ 176 h 301"/>
                <a:gd name="T56" fmla="*/ 0 w 342"/>
                <a:gd name="T57" fmla="*/ 176 h 301"/>
                <a:gd name="T58" fmla="*/ 2 w 342"/>
                <a:gd name="T59" fmla="*/ 190 h 301"/>
                <a:gd name="T60" fmla="*/ 6 w 342"/>
                <a:gd name="T61" fmla="*/ 204 h 301"/>
                <a:gd name="T62" fmla="*/ 12 w 342"/>
                <a:gd name="T63" fmla="*/ 217 h 301"/>
                <a:gd name="T64" fmla="*/ 23 w 342"/>
                <a:gd name="T65" fmla="*/ 229 h 301"/>
                <a:gd name="T66" fmla="*/ 33 w 342"/>
                <a:gd name="T67" fmla="*/ 242 h 301"/>
                <a:gd name="T68" fmla="*/ 45 w 342"/>
                <a:gd name="T69" fmla="*/ 252 h 301"/>
                <a:gd name="T70" fmla="*/ 60 w 342"/>
                <a:gd name="T71" fmla="*/ 262 h 301"/>
                <a:gd name="T72" fmla="*/ 74 w 342"/>
                <a:gd name="T73" fmla="*/ 270 h 301"/>
                <a:gd name="T74" fmla="*/ 107 w 342"/>
                <a:gd name="T75" fmla="*/ 285 h 301"/>
                <a:gd name="T76" fmla="*/ 140 w 342"/>
                <a:gd name="T77" fmla="*/ 293 h 301"/>
                <a:gd name="T78" fmla="*/ 173 w 342"/>
                <a:gd name="T79" fmla="*/ 299 h 301"/>
                <a:gd name="T80" fmla="*/ 204 w 342"/>
                <a:gd name="T81" fmla="*/ 301 h 301"/>
                <a:gd name="T82" fmla="*/ 204 w 342"/>
                <a:gd name="T83" fmla="*/ 301 h 3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342" h="301">
                  <a:moveTo>
                    <a:pt x="204" y="301"/>
                  </a:moveTo>
                  <a:lnTo>
                    <a:pt x="204" y="301"/>
                  </a:lnTo>
                  <a:lnTo>
                    <a:pt x="225" y="301"/>
                  </a:lnTo>
                  <a:lnTo>
                    <a:pt x="225" y="301"/>
                  </a:lnTo>
                  <a:lnTo>
                    <a:pt x="225" y="283"/>
                  </a:lnTo>
                  <a:lnTo>
                    <a:pt x="225" y="283"/>
                  </a:lnTo>
                  <a:lnTo>
                    <a:pt x="227" y="248"/>
                  </a:lnTo>
                  <a:lnTo>
                    <a:pt x="233" y="213"/>
                  </a:lnTo>
                  <a:lnTo>
                    <a:pt x="243" y="180"/>
                  </a:lnTo>
                  <a:lnTo>
                    <a:pt x="256" y="149"/>
                  </a:lnTo>
                  <a:lnTo>
                    <a:pt x="272" y="122"/>
                  </a:lnTo>
                  <a:lnTo>
                    <a:pt x="293" y="95"/>
                  </a:lnTo>
                  <a:lnTo>
                    <a:pt x="316" y="70"/>
                  </a:lnTo>
                  <a:lnTo>
                    <a:pt x="342" y="50"/>
                  </a:lnTo>
                  <a:lnTo>
                    <a:pt x="342" y="50"/>
                  </a:lnTo>
                  <a:lnTo>
                    <a:pt x="326" y="31"/>
                  </a:lnTo>
                  <a:lnTo>
                    <a:pt x="313" y="8"/>
                  </a:lnTo>
                  <a:lnTo>
                    <a:pt x="204" y="99"/>
                  </a:lnTo>
                  <a:lnTo>
                    <a:pt x="84" y="0"/>
                  </a:lnTo>
                  <a:lnTo>
                    <a:pt x="84" y="0"/>
                  </a:lnTo>
                  <a:lnTo>
                    <a:pt x="66" y="15"/>
                  </a:lnTo>
                  <a:lnTo>
                    <a:pt x="49" y="33"/>
                  </a:lnTo>
                  <a:lnTo>
                    <a:pt x="35" y="54"/>
                  </a:lnTo>
                  <a:lnTo>
                    <a:pt x="23" y="74"/>
                  </a:lnTo>
                  <a:lnTo>
                    <a:pt x="14" y="97"/>
                  </a:lnTo>
                  <a:lnTo>
                    <a:pt x="6" y="122"/>
                  </a:lnTo>
                  <a:lnTo>
                    <a:pt x="2" y="149"/>
                  </a:lnTo>
                  <a:lnTo>
                    <a:pt x="0" y="176"/>
                  </a:lnTo>
                  <a:lnTo>
                    <a:pt x="0" y="176"/>
                  </a:lnTo>
                  <a:lnTo>
                    <a:pt x="2" y="190"/>
                  </a:lnTo>
                  <a:lnTo>
                    <a:pt x="6" y="204"/>
                  </a:lnTo>
                  <a:lnTo>
                    <a:pt x="12" y="217"/>
                  </a:lnTo>
                  <a:lnTo>
                    <a:pt x="23" y="229"/>
                  </a:lnTo>
                  <a:lnTo>
                    <a:pt x="33" y="242"/>
                  </a:lnTo>
                  <a:lnTo>
                    <a:pt x="45" y="252"/>
                  </a:lnTo>
                  <a:lnTo>
                    <a:pt x="60" y="262"/>
                  </a:lnTo>
                  <a:lnTo>
                    <a:pt x="74" y="270"/>
                  </a:lnTo>
                  <a:lnTo>
                    <a:pt x="107" y="285"/>
                  </a:lnTo>
                  <a:lnTo>
                    <a:pt x="140" y="293"/>
                  </a:lnTo>
                  <a:lnTo>
                    <a:pt x="173" y="299"/>
                  </a:lnTo>
                  <a:lnTo>
                    <a:pt x="204" y="301"/>
                  </a:lnTo>
                  <a:lnTo>
                    <a:pt x="204" y="301"/>
                  </a:ln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gradFill>
                  <a:gsLst>
                    <a:gs pos="0">
                      <a:srgbClr val="FFEBC4"/>
                    </a:gs>
                    <a:gs pos="100000">
                      <a:srgbClr val="FEDA90"/>
                    </a:gs>
                  </a:gsLst>
                  <a:lin ang="2700000" scaled="0"/>
                </a:gradFill>
                <a:latin typeface="Arial" panose="020B0604020202020204" pitchFamily="34" charset="0"/>
                <a:ea typeface="微软雅黑" panose="020B0503020204020204" pitchFamily="34" charset="-122"/>
                <a:cs typeface="思源黑体旧字形 Light" panose="020B0300000000000000" charset="-128"/>
                <a:sym typeface="Arial" panose="020B0604020202020204" pitchFamily="34" charset="0"/>
              </a:endParaRPr>
            </a:p>
          </p:txBody>
        </p:sp>
        <p:sp>
          <p:nvSpPr>
            <p:cNvPr id="21" name="图形"/>
            <p:cNvSpPr/>
            <p:nvPr>
              <p:custDataLst>
                <p:tags r:id="rId13"/>
              </p:custDataLst>
            </p:nvPr>
          </p:nvSpPr>
          <p:spPr bwMode="auto">
            <a:xfrm>
              <a:off x="2849563" y="4071938"/>
              <a:ext cx="438150" cy="450850"/>
            </a:xfrm>
            <a:custGeom>
              <a:avLst/>
              <a:gdLst>
                <a:gd name="T0" fmla="*/ 142 w 276"/>
                <a:gd name="T1" fmla="*/ 284 h 284"/>
                <a:gd name="T2" fmla="*/ 142 w 276"/>
                <a:gd name="T3" fmla="*/ 284 h 284"/>
                <a:gd name="T4" fmla="*/ 167 w 276"/>
                <a:gd name="T5" fmla="*/ 282 h 284"/>
                <a:gd name="T6" fmla="*/ 190 w 276"/>
                <a:gd name="T7" fmla="*/ 276 h 284"/>
                <a:gd name="T8" fmla="*/ 210 w 276"/>
                <a:gd name="T9" fmla="*/ 268 h 284"/>
                <a:gd name="T10" fmla="*/ 229 w 276"/>
                <a:gd name="T11" fmla="*/ 255 h 284"/>
                <a:gd name="T12" fmla="*/ 229 w 276"/>
                <a:gd name="T13" fmla="*/ 255 h 284"/>
                <a:gd name="T14" fmla="*/ 229 w 276"/>
                <a:gd name="T15" fmla="*/ 239 h 284"/>
                <a:gd name="T16" fmla="*/ 227 w 276"/>
                <a:gd name="T17" fmla="*/ 225 h 284"/>
                <a:gd name="T18" fmla="*/ 227 w 276"/>
                <a:gd name="T19" fmla="*/ 225 h 284"/>
                <a:gd name="T20" fmla="*/ 229 w 276"/>
                <a:gd name="T21" fmla="*/ 206 h 284"/>
                <a:gd name="T22" fmla="*/ 231 w 276"/>
                <a:gd name="T23" fmla="*/ 187 h 284"/>
                <a:gd name="T24" fmla="*/ 235 w 276"/>
                <a:gd name="T25" fmla="*/ 169 h 284"/>
                <a:gd name="T26" fmla="*/ 241 w 276"/>
                <a:gd name="T27" fmla="*/ 152 h 284"/>
                <a:gd name="T28" fmla="*/ 247 w 276"/>
                <a:gd name="T29" fmla="*/ 136 h 284"/>
                <a:gd name="T30" fmla="*/ 256 w 276"/>
                <a:gd name="T31" fmla="*/ 121 h 284"/>
                <a:gd name="T32" fmla="*/ 266 w 276"/>
                <a:gd name="T33" fmla="*/ 107 h 284"/>
                <a:gd name="T34" fmla="*/ 276 w 276"/>
                <a:gd name="T35" fmla="*/ 92 h 284"/>
                <a:gd name="T36" fmla="*/ 276 w 276"/>
                <a:gd name="T37" fmla="*/ 92 h 284"/>
                <a:gd name="T38" fmla="*/ 268 w 276"/>
                <a:gd name="T39" fmla="*/ 72 h 284"/>
                <a:gd name="T40" fmla="*/ 256 w 276"/>
                <a:gd name="T41" fmla="*/ 55 h 284"/>
                <a:gd name="T42" fmla="*/ 241 w 276"/>
                <a:gd name="T43" fmla="*/ 39 h 284"/>
                <a:gd name="T44" fmla="*/ 225 w 276"/>
                <a:gd name="T45" fmla="*/ 24 h 284"/>
                <a:gd name="T46" fmla="*/ 206 w 276"/>
                <a:gd name="T47" fmla="*/ 14 h 284"/>
                <a:gd name="T48" fmla="*/ 185 w 276"/>
                <a:gd name="T49" fmla="*/ 6 h 284"/>
                <a:gd name="T50" fmla="*/ 165 w 276"/>
                <a:gd name="T51" fmla="*/ 0 h 284"/>
                <a:gd name="T52" fmla="*/ 142 w 276"/>
                <a:gd name="T53" fmla="*/ 0 h 284"/>
                <a:gd name="T54" fmla="*/ 142 w 276"/>
                <a:gd name="T55" fmla="*/ 0 h 284"/>
                <a:gd name="T56" fmla="*/ 128 w 276"/>
                <a:gd name="T57" fmla="*/ 0 h 284"/>
                <a:gd name="T58" fmla="*/ 113 w 276"/>
                <a:gd name="T59" fmla="*/ 2 h 284"/>
                <a:gd name="T60" fmla="*/ 99 w 276"/>
                <a:gd name="T61" fmla="*/ 6 h 284"/>
                <a:gd name="T62" fmla="*/ 86 w 276"/>
                <a:gd name="T63" fmla="*/ 10 h 284"/>
                <a:gd name="T64" fmla="*/ 74 w 276"/>
                <a:gd name="T65" fmla="*/ 16 h 284"/>
                <a:gd name="T66" fmla="*/ 62 w 276"/>
                <a:gd name="T67" fmla="*/ 22 h 284"/>
                <a:gd name="T68" fmla="*/ 51 w 276"/>
                <a:gd name="T69" fmla="*/ 31 h 284"/>
                <a:gd name="T70" fmla="*/ 41 w 276"/>
                <a:gd name="T71" fmla="*/ 41 h 284"/>
                <a:gd name="T72" fmla="*/ 31 w 276"/>
                <a:gd name="T73" fmla="*/ 51 h 284"/>
                <a:gd name="T74" fmla="*/ 22 w 276"/>
                <a:gd name="T75" fmla="*/ 62 h 284"/>
                <a:gd name="T76" fmla="*/ 16 w 276"/>
                <a:gd name="T77" fmla="*/ 74 h 284"/>
                <a:gd name="T78" fmla="*/ 10 w 276"/>
                <a:gd name="T79" fmla="*/ 86 h 284"/>
                <a:gd name="T80" fmla="*/ 6 w 276"/>
                <a:gd name="T81" fmla="*/ 99 h 284"/>
                <a:gd name="T82" fmla="*/ 2 w 276"/>
                <a:gd name="T83" fmla="*/ 113 h 284"/>
                <a:gd name="T84" fmla="*/ 0 w 276"/>
                <a:gd name="T85" fmla="*/ 128 h 284"/>
                <a:gd name="T86" fmla="*/ 0 w 276"/>
                <a:gd name="T87" fmla="*/ 142 h 284"/>
                <a:gd name="T88" fmla="*/ 0 w 276"/>
                <a:gd name="T89" fmla="*/ 142 h 284"/>
                <a:gd name="T90" fmla="*/ 0 w 276"/>
                <a:gd name="T91" fmla="*/ 156 h 284"/>
                <a:gd name="T92" fmla="*/ 2 w 276"/>
                <a:gd name="T93" fmla="*/ 171 h 284"/>
                <a:gd name="T94" fmla="*/ 6 w 276"/>
                <a:gd name="T95" fmla="*/ 185 h 284"/>
                <a:gd name="T96" fmla="*/ 10 w 276"/>
                <a:gd name="T97" fmla="*/ 198 h 284"/>
                <a:gd name="T98" fmla="*/ 16 w 276"/>
                <a:gd name="T99" fmla="*/ 210 h 284"/>
                <a:gd name="T100" fmla="*/ 22 w 276"/>
                <a:gd name="T101" fmla="*/ 222 h 284"/>
                <a:gd name="T102" fmla="*/ 31 w 276"/>
                <a:gd name="T103" fmla="*/ 233 h 284"/>
                <a:gd name="T104" fmla="*/ 41 w 276"/>
                <a:gd name="T105" fmla="*/ 243 h 284"/>
                <a:gd name="T106" fmla="*/ 51 w 276"/>
                <a:gd name="T107" fmla="*/ 251 h 284"/>
                <a:gd name="T108" fmla="*/ 62 w 276"/>
                <a:gd name="T109" fmla="*/ 260 h 284"/>
                <a:gd name="T110" fmla="*/ 74 w 276"/>
                <a:gd name="T111" fmla="*/ 268 h 284"/>
                <a:gd name="T112" fmla="*/ 86 w 276"/>
                <a:gd name="T113" fmla="*/ 274 h 284"/>
                <a:gd name="T114" fmla="*/ 99 w 276"/>
                <a:gd name="T115" fmla="*/ 278 h 284"/>
                <a:gd name="T116" fmla="*/ 113 w 276"/>
                <a:gd name="T117" fmla="*/ 282 h 284"/>
                <a:gd name="T118" fmla="*/ 128 w 276"/>
                <a:gd name="T119" fmla="*/ 284 h 284"/>
                <a:gd name="T120" fmla="*/ 142 w 276"/>
                <a:gd name="T121" fmla="*/ 284 h 284"/>
                <a:gd name="T122" fmla="*/ 142 w 276"/>
                <a:gd name="T123" fmla="*/ 284 h 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76" h="284">
                  <a:moveTo>
                    <a:pt x="142" y="284"/>
                  </a:moveTo>
                  <a:lnTo>
                    <a:pt x="142" y="284"/>
                  </a:lnTo>
                  <a:lnTo>
                    <a:pt x="167" y="282"/>
                  </a:lnTo>
                  <a:lnTo>
                    <a:pt x="190" y="276"/>
                  </a:lnTo>
                  <a:lnTo>
                    <a:pt x="210" y="268"/>
                  </a:lnTo>
                  <a:lnTo>
                    <a:pt x="229" y="255"/>
                  </a:lnTo>
                  <a:lnTo>
                    <a:pt x="229" y="255"/>
                  </a:lnTo>
                  <a:lnTo>
                    <a:pt x="229" y="239"/>
                  </a:lnTo>
                  <a:lnTo>
                    <a:pt x="227" y="225"/>
                  </a:lnTo>
                  <a:lnTo>
                    <a:pt x="227" y="225"/>
                  </a:lnTo>
                  <a:lnTo>
                    <a:pt x="229" y="206"/>
                  </a:lnTo>
                  <a:lnTo>
                    <a:pt x="231" y="187"/>
                  </a:lnTo>
                  <a:lnTo>
                    <a:pt x="235" y="169"/>
                  </a:lnTo>
                  <a:lnTo>
                    <a:pt x="241" y="152"/>
                  </a:lnTo>
                  <a:lnTo>
                    <a:pt x="247" y="136"/>
                  </a:lnTo>
                  <a:lnTo>
                    <a:pt x="256" y="121"/>
                  </a:lnTo>
                  <a:lnTo>
                    <a:pt x="266" y="107"/>
                  </a:lnTo>
                  <a:lnTo>
                    <a:pt x="276" y="92"/>
                  </a:lnTo>
                  <a:lnTo>
                    <a:pt x="276" y="92"/>
                  </a:lnTo>
                  <a:lnTo>
                    <a:pt x="268" y="72"/>
                  </a:lnTo>
                  <a:lnTo>
                    <a:pt x="256" y="55"/>
                  </a:lnTo>
                  <a:lnTo>
                    <a:pt x="241" y="39"/>
                  </a:lnTo>
                  <a:lnTo>
                    <a:pt x="225" y="24"/>
                  </a:lnTo>
                  <a:lnTo>
                    <a:pt x="206" y="14"/>
                  </a:lnTo>
                  <a:lnTo>
                    <a:pt x="185" y="6"/>
                  </a:lnTo>
                  <a:lnTo>
                    <a:pt x="165" y="0"/>
                  </a:lnTo>
                  <a:lnTo>
                    <a:pt x="142" y="0"/>
                  </a:lnTo>
                  <a:lnTo>
                    <a:pt x="142" y="0"/>
                  </a:lnTo>
                  <a:lnTo>
                    <a:pt x="128" y="0"/>
                  </a:lnTo>
                  <a:lnTo>
                    <a:pt x="113" y="2"/>
                  </a:lnTo>
                  <a:lnTo>
                    <a:pt x="99" y="6"/>
                  </a:lnTo>
                  <a:lnTo>
                    <a:pt x="86" y="10"/>
                  </a:lnTo>
                  <a:lnTo>
                    <a:pt x="74" y="16"/>
                  </a:lnTo>
                  <a:lnTo>
                    <a:pt x="62" y="22"/>
                  </a:lnTo>
                  <a:lnTo>
                    <a:pt x="51" y="31"/>
                  </a:lnTo>
                  <a:lnTo>
                    <a:pt x="41" y="41"/>
                  </a:lnTo>
                  <a:lnTo>
                    <a:pt x="31" y="51"/>
                  </a:lnTo>
                  <a:lnTo>
                    <a:pt x="22" y="62"/>
                  </a:lnTo>
                  <a:lnTo>
                    <a:pt x="16" y="74"/>
                  </a:lnTo>
                  <a:lnTo>
                    <a:pt x="10" y="86"/>
                  </a:lnTo>
                  <a:lnTo>
                    <a:pt x="6" y="99"/>
                  </a:lnTo>
                  <a:lnTo>
                    <a:pt x="2" y="113"/>
                  </a:lnTo>
                  <a:lnTo>
                    <a:pt x="0" y="128"/>
                  </a:lnTo>
                  <a:lnTo>
                    <a:pt x="0" y="142"/>
                  </a:lnTo>
                  <a:lnTo>
                    <a:pt x="0" y="142"/>
                  </a:lnTo>
                  <a:lnTo>
                    <a:pt x="0" y="156"/>
                  </a:lnTo>
                  <a:lnTo>
                    <a:pt x="2" y="171"/>
                  </a:lnTo>
                  <a:lnTo>
                    <a:pt x="6" y="185"/>
                  </a:lnTo>
                  <a:lnTo>
                    <a:pt x="10" y="198"/>
                  </a:lnTo>
                  <a:lnTo>
                    <a:pt x="16" y="210"/>
                  </a:lnTo>
                  <a:lnTo>
                    <a:pt x="22" y="222"/>
                  </a:lnTo>
                  <a:lnTo>
                    <a:pt x="31" y="233"/>
                  </a:lnTo>
                  <a:lnTo>
                    <a:pt x="41" y="243"/>
                  </a:lnTo>
                  <a:lnTo>
                    <a:pt x="51" y="251"/>
                  </a:lnTo>
                  <a:lnTo>
                    <a:pt x="62" y="260"/>
                  </a:lnTo>
                  <a:lnTo>
                    <a:pt x="74" y="268"/>
                  </a:lnTo>
                  <a:lnTo>
                    <a:pt x="86" y="274"/>
                  </a:lnTo>
                  <a:lnTo>
                    <a:pt x="99" y="278"/>
                  </a:lnTo>
                  <a:lnTo>
                    <a:pt x="113" y="282"/>
                  </a:lnTo>
                  <a:lnTo>
                    <a:pt x="128" y="284"/>
                  </a:lnTo>
                  <a:lnTo>
                    <a:pt x="142" y="284"/>
                  </a:lnTo>
                  <a:lnTo>
                    <a:pt x="142" y="284"/>
                  </a:ln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gradFill>
                  <a:gsLst>
                    <a:gs pos="0">
                      <a:srgbClr val="FFEBC4"/>
                    </a:gs>
                    <a:gs pos="100000">
                      <a:srgbClr val="FEDA90"/>
                    </a:gs>
                  </a:gsLst>
                  <a:lin ang="2700000" scaled="0"/>
                </a:gradFill>
                <a:latin typeface="Arial" panose="020B0604020202020204" pitchFamily="34" charset="0"/>
                <a:ea typeface="微软雅黑" panose="020B0503020204020204" pitchFamily="34" charset="-122"/>
                <a:cs typeface="思源黑体旧字形 Light" panose="020B0300000000000000" charset="-128"/>
                <a:sym typeface="Arial" panose="020B0604020202020204" pitchFamily="34" charset="0"/>
              </a:endParaRPr>
            </a:p>
          </p:txBody>
        </p:sp>
        <p:sp>
          <p:nvSpPr>
            <p:cNvPr id="22" name="图形"/>
            <p:cNvSpPr/>
            <p:nvPr>
              <p:custDataLst>
                <p:tags r:id="rId14"/>
              </p:custDataLst>
            </p:nvPr>
          </p:nvSpPr>
          <p:spPr bwMode="auto">
            <a:xfrm>
              <a:off x="3182938" y="4710113"/>
              <a:ext cx="698500" cy="520700"/>
            </a:xfrm>
            <a:custGeom>
              <a:avLst/>
              <a:gdLst>
                <a:gd name="T0" fmla="*/ 440 w 440"/>
                <a:gd name="T1" fmla="*/ 190 h 328"/>
                <a:gd name="T2" fmla="*/ 440 w 440"/>
                <a:gd name="T3" fmla="*/ 190 h 328"/>
                <a:gd name="T4" fmla="*/ 438 w 440"/>
                <a:gd name="T5" fmla="*/ 161 h 328"/>
                <a:gd name="T6" fmla="*/ 431 w 440"/>
                <a:gd name="T7" fmla="*/ 134 h 328"/>
                <a:gd name="T8" fmla="*/ 425 w 440"/>
                <a:gd name="T9" fmla="*/ 107 h 328"/>
                <a:gd name="T10" fmla="*/ 413 w 440"/>
                <a:gd name="T11" fmla="*/ 83 h 328"/>
                <a:gd name="T12" fmla="*/ 400 w 440"/>
                <a:gd name="T13" fmla="*/ 58 h 328"/>
                <a:gd name="T14" fmla="*/ 384 w 440"/>
                <a:gd name="T15" fmla="*/ 37 h 328"/>
                <a:gd name="T16" fmla="*/ 365 w 440"/>
                <a:gd name="T17" fmla="*/ 16 h 328"/>
                <a:gd name="T18" fmla="*/ 347 w 440"/>
                <a:gd name="T19" fmla="*/ 0 h 328"/>
                <a:gd name="T20" fmla="*/ 219 w 440"/>
                <a:gd name="T21" fmla="*/ 105 h 328"/>
                <a:gd name="T22" fmla="*/ 93 w 440"/>
                <a:gd name="T23" fmla="*/ 0 h 328"/>
                <a:gd name="T24" fmla="*/ 93 w 440"/>
                <a:gd name="T25" fmla="*/ 0 h 328"/>
                <a:gd name="T26" fmla="*/ 72 w 440"/>
                <a:gd name="T27" fmla="*/ 16 h 328"/>
                <a:gd name="T28" fmla="*/ 54 w 440"/>
                <a:gd name="T29" fmla="*/ 37 h 328"/>
                <a:gd name="T30" fmla="*/ 39 w 440"/>
                <a:gd name="T31" fmla="*/ 58 h 328"/>
                <a:gd name="T32" fmla="*/ 25 w 440"/>
                <a:gd name="T33" fmla="*/ 83 h 328"/>
                <a:gd name="T34" fmla="*/ 15 w 440"/>
                <a:gd name="T35" fmla="*/ 107 h 328"/>
                <a:gd name="T36" fmla="*/ 6 w 440"/>
                <a:gd name="T37" fmla="*/ 134 h 328"/>
                <a:gd name="T38" fmla="*/ 2 w 440"/>
                <a:gd name="T39" fmla="*/ 161 h 328"/>
                <a:gd name="T40" fmla="*/ 0 w 440"/>
                <a:gd name="T41" fmla="*/ 190 h 328"/>
                <a:gd name="T42" fmla="*/ 0 w 440"/>
                <a:gd name="T43" fmla="*/ 190 h 328"/>
                <a:gd name="T44" fmla="*/ 0 w 440"/>
                <a:gd name="T45" fmla="*/ 206 h 328"/>
                <a:gd name="T46" fmla="*/ 6 w 440"/>
                <a:gd name="T47" fmla="*/ 223 h 328"/>
                <a:gd name="T48" fmla="*/ 13 w 440"/>
                <a:gd name="T49" fmla="*/ 237 h 328"/>
                <a:gd name="T50" fmla="*/ 23 w 440"/>
                <a:gd name="T51" fmla="*/ 250 h 328"/>
                <a:gd name="T52" fmla="*/ 35 w 440"/>
                <a:gd name="T53" fmla="*/ 262 h 328"/>
                <a:gd name="T54" fmla="*/ 48 w 440"/>
                <a:gd name="T55" fmla="*/ 274 h 328"/>
                <a:gd name="T56" fmla="*/ 64 w 440"/>
                <a:gd name="T57" fmla="*/ 285 h 328"/>
                <a:gd name="T58" fmla="*/ 79 w 440"/>
                <a:gd name="T59" fmla="*/ 293 h 328"/>
                <a:gd name="T60" fmla="*/ 97 w 440"/>
                <a:gd name="T61" fmla="*/ 301 h 328"/>
                <a:gd name="T62" fmla="*/ 116 w 440"/>
                <a:gd name="T63" fmla="*/ 309 h 328"/>
                <a:gd name="T64" fmla="*/ 151 w 440"/>
                <a:gd name="T65" fmla="*/ 320 h 328"/>
                <a:gd name="T66" fmla="*/ 188 w 440"/>
                <a:gd name="T67" fmla="*/ 326 h 328"/>
                <a:gd name="T68" fmla="*/ 219 w 440"/>
                <a:gd name="T69" fmla="*/ 328 h 328"/>
                <a:gd name="T70" fmla="*/ 219 w 440"/>
                <a:gd name="T71" fmla="*/ 328 h 328"/>
                <a:gd name="T72" fmla="*/ 252 w 440"/>
                <a:gd name="T73" fmla="*/ 326 h 328"/>
                <a:gd name="T74" fmla="*/ 287 w 440"/>
                <a:gd name="T75" fmla="*/ 320 h 328"/>
                <a:gd name="T76" fmla="*/ 324 w 440"/>
                <a:gd name="T77" fmla="*/ 309 h 328"/>
                <a:gd name="T78" fmla="*/ 343 w 440"/>
                <a:gd name="T79" fmla="*/ 301 h 328"/>
                <a:gd name="T80" fmla="*/ 359 w 440"/>
                <a:gd name="T81" fmla="*/ 293 h 328"/>
                <a:gd name="T82" fmla="*/ 376 w 440"/>
                <a:gd name="T83" fmla="*/ 285 h 328"/>
                <a:gd name="T84" fmla="*/ 390 w 440"/>
                <a:gd name="T85" fmla="*/ 274 h 328"/>
                <a:gd name="T86" fmla="*/ 405 w 440"/>
                <a:gd name="T87" fmla="*/ 262 h 328"/>
                <a:gd name="T88" fmla="*/ 415 w 440"/>
                <a:gd name="T89" fmla="*/ 250 h 328"/>
                <a:gd name="T90" fmla="*/ 425 w 440"/>
                <a:gd name="T91" fmla="*/ 237 h 328"/>
                <a:gd name="T92" fmla="*/ 433 w 440"/>
                <a:gd name="T93" fmla="*/ 223 h 328"/>
                <a:gd name="T94" fmla="*/ 438 w 440"/>
                <a:gd name="T95" fmla="*/ 206 h 328"/>
                <a:gd name="T96" fmla="*/ 440 w 440"/>
                <a:gd name="T97" fmla="*/ 190 h 328"/>
                <a:gd name="T98" fmla="*/ 440 w 440"/>
                <a:gd name="T99" fmla="*/ 190 h 3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440" h="328">
                  <a:moveTo>
                    <a:pt x="440" y="190"/>
                  </a:moveTo>
                  <a:lnTo>
                    <a:pt x="440" y="190"/>
                  </a:lnTo>
                  <a:lnTo>
                    <a:pt x="438" y="161"/>
                  </a:lnTo>
                  <a:lnTo>
                    <a:pt x="431" y="134"/>
                  </a:lnTo>
                  <a:lnTo>
                    <a:pt x="425" y="107"/>
                  </a:lnTo>
                  <a:lnTo>
                    <a:pt x="413" y="83"/>
                  </a:lnTo>
                  <a:lnTo>
                    <a:pt x="400" y="58"/>
                  </a:lnTo>
                  <a:lnTo>
                    <a:pt x="384" y="37"/>
                  </a:lnTo>
                  <a:lnTo>
                    <a:pt x="365" y="16"/>
                  </a:lnTo>
                  <a:lnTo>
                    <a:pt x="347" y="0"/>
                  </a:lnTo>
                  <a:lnTo>
                    <a:pt x="219" y="105"/>
                  </a:lnTo>
                  <a:lnTo>
                    <a:pt x="93" y="0"/>
                  </a:lnTo>
                  <a:lnTo>
                    <a:pt x="93" y="0"/>
                  </a:lnTo>
                  <a:lnTo>
                    <a:pt x="72" y="16"/>
                  </a:lnTo>
                  <a:lnTo>
                    <a:pt x="54" y="37"/>
                  </a:lnTo>
                  <a:lnTo>
                    <a:pt x="39" y="58"/>
                  </a:lnTo>
                  <a:lnTo>
                    <a:pt x="25" y="83"/>
                  </a:lnTo>
                  <a:lnTo>
                    <a:pt x="15" y="107"/>
                  </a:lnTo>
                  <a:lnTo>
                    <a:pt x="6" y="134"/>
                  </a:lnTo>
                  <a:lnTo>
                    <a:pt x="2" y="161"/>
                  </a:lnTo>
                  <a:lnTo>
                    <a:pt x="0" y="190"/>
                  </a:lnTo>
                  <a:lnTo>
                    <a:pt x="0" y="190"/>
                  </a:lnTo>
                  <a:lnTo>
                    <a:pt x="0" y="206"/>
                  </a:lnTo>
                  <a:lnTo>
                    <a:pt x="6" y="223"/>
                  </a:lnTo>
                  <a:lnTo>
                    <a:pt x="13" y="237"/>
                  </a:lnTo>
                  <a:lnTo>
                    <a:pt x="23" y="250"/>
                  </a:lnTo>
                  <a:lnTo>
                    <a:pt x="35" y="262"/>
                  </a:lnTo>
                  <a:lnTo>
                    <a:pt x="48" y="274"/>
                  </a:lnTo>
                  <a:lnTo>
                    <a:pt x="64" y="285"/>
                  </a:lnTo>
                  <a:lnTo>
                    <a:pt x="79" y="293"/>
                  </a:lnTo>
                  <a:lnTo>
                    <a:pt x="97" y="301"/>
                  </a:lnTo>
                  <a:lnTo>
                    <a:pt x="116" y="309"/>
                  </a:lnTo>
                  <a:lnTo>
                    <a:pt x="151" y="320"/>
                  </a:lnTo>
                  <a:lnTo>
                    <a:pt x="188" y="326"/>
                  </a:lnTo>
                  <a:lnTo>
                    <a:pt x="219" y="328"/>
                  </a:lnTo>
                  <a:lnTo>
                    <a:pt x="219" y="328"/>
                  </a:lnTo>
                  <a:lnTo>
                    <a:pt x="252" y="326"/>
                  </a:lnTo>
                  <a:lnTo>
                    <a:pt x="287" y="320"/>
                  </a:lnTo>
                  <a:lnTo>
                    <a:pt x="324" y="309"/>
                  </a:lnTo>
                  <a:lnTo>
                    <a:pt x="343" y="301"/>
                  </a:lnTo>
                  <a:lnTo>
                    <a:pt x="359" y="293"/>
                  </a:lnTo>
                  <a:lnTo>
                    <a:pt x="376" y="285"/>
                  </a:lnTo>
                  <a:lnTo>
                    <a:pt x="390" y="274"/>
                  </a:lnTo>
                  <a:lnTo>
                    <a:pt x="405" y="262"/>
                  </a:lnTo>
                  <a:lnTo>
                    <a:pt x="415" y="250"/>
                  </a:lnTo>
                  <a:lnTo>
                    <a:pt x="425" y="237"/>
                  </a:lnTo>
                  <a:lnTo>
                    <a:pt x="433" y="223"/>
                  </a:lnTo>
                  <a:lnTo>
                    <a:pt x="438" y="206"/>
                  </a:lnTo>
                  <a:lnTo>
                    <a:pt x="440" y="190"/>
                  </a:lnTo>
                  <a:lnTo>
                    <a:pt x="440" y="190"/>
                  </a:ln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gradFill>
                  <a:gsLst>
                    <a:gs pos="0">
                      <a:srgbClr val="FFEBC4"/>
                    </a:gs>
                    <a:gs pos="100000">
                      <a:srgbClr val="FEDA90"/>
                    </a:gs>
                  </a:gsLst>
                  <a:lin ang="2700000" scaled="0"/>
                </a:gradFill>
                <a:latin typeface="Arial" panose="020B0604020202020204" pitchFamily="34" charset="0"/>
                <a:ea typeface="微软雅黑" panose="020B0503020204020204" pitchFamily="34" charset="-122"/>
                <a:cs typeface="思源黑体旧字形 Light" panose="020B0300000000000000" charset="-128"/>
                <a:sym typeface="Arial" panose="020B0604020202020204" pitchFamily="34" charset="0"/>
              </a:endParaRPr>
            </a:p>
          </p:txBody>
        </p:sp>
        <p:sp>
          <p:nvSpPr>
            <p:cNvPr id="23" name="图形"/>
            <p:cNvSpPr/>
            <p:nvPr>
              <p:custDataLst>
                <p:tags r:id="rId15"/>
              </p:custDataLst>
            </p:nvPr>
          </p:nvSpPr>
          <p:spPr bwMode="auto">
            <a:xfrm>
              <a:off x="3284538" y="4183063"/>
              <a:ext cx="492125" cy="487363"/>
            </a:xfrm>
            <a:custGeom>
              <a:avLst/>
              <a:gdLst>
                <a:gd name="T0" fmla="*/ 155 w 310"/>
                <a:gd name="T1" fmla="*/ 0 h 307"/>
                <a:gd name="T2" fmla="*/ 124 w 310"/>
                <a:gd name="T3" fmla="*/ 2 h 307"/>
                <a:gd name="T4" fmla="*/ 95 w 310"/>
                <a:gd name="T5" fmla="*/ 12 h 307"/>
                <a:gd name="T6" fmla="*/ 68 w 310"/>
                <a:gd name="T7" fmla="*/ 27 h 307"/>
                <a:gd name="T8" fmla="*/ 46 w 310"/>
                <a:gd name="T9" fmla="*/ 45 h 307"/>
                <a:gd name="T10" fmla="*/ 27 w 310"/>
                <a:gd name="T11" fmla="*/ 68 h 307"/>
                <a:gd name="T12" fmla="*/ 13 w 310"/>
                <a:gd name="T13" fmla="*/ 95 h 307"/>
                <a:gd name="T14" fmla="*/ 4 w 310"/>
                <a:gd name="T15" fmla="*/ 124 h 307"/>
                <a:gd name="T16" fmla="*/ 0 w 310"/>
                <a:gd name="T17" fmla="*/ 155 h 307"/>
                <a:gd name="T18" fmla="*/ 2 w 310"/>
                <a:gd name="T19" fmla="*/ 169 h 307"/>
                <a:gd name="T20" fmla="*/ 8 w 310"/>
                <a:gd name="T21" fmla="*/ 200 h 307"/>
                <a:gd name="T22" fmla="*/ 19 w 310"/>
                <a:gd name="T23" fmla="*/ 227 h 307"/>
                <a:gd name="T24" fmla="*/ 35 w 310"/>
                <a:gd name="T25" fmla="*/ 252 h 307"/>
                <a:gd name="T26" fmla="*/ 58 w 310"/>
                <a:gd name="T27" fmla="*/ 272 h 307"/>
                <a:gd name="T28" fmla="*/ 83 w 310"/>
                <a:gd name="T29" fmla="*/ 289 h 307"/>
                <a:gd name="T30" fmla="*/ 109 w 310"/>
                <a:gd name="T31" fmla="*/ 301 h 307"/>
                <a:gd name="T32" fmla="*/ 140 w 310"/>
                <a:gd name="T33" fmla="*/ 307 h 307"/>
                <a:gd name="T34" fmla="*/ 155 w 310"/>
                <a:gd name="T35" fmla="*/ 307 h 307"/>
                <a:gd name="T36" fmla="*/ 186 w 310"/>
                <a:gd name="T37" fmla="*/ 305 h 307"/>
                <a:gd name="T38" fmla="*/ 215 w 310"/>
                <a:gd name="T39" fmla="*/ 297 h 307"/>
                <a:gd name="T40" fmla="*/ 242 w 310"/>
                <a:gd name="T41" fmla="*/ 282 h 307"/>
                <a:gd name="T42" fmla="*/ 264 w 310"/>
                <a:gd name="T43" fmla="*/ 264 h 307"/>
                <a:gd name="T44" fmla="*/ 283 w 310"/>
                <a:gd name="T45" fmla="*/ 241 h 307"/>
                <a:gd name="T46" fmla="*/ 297 w 310"/>
                <a:gd name="T47" fmla="*/ 214 h 307"/>
                <a:gd name="T48" fmla="*/ 306 w 310"/>
                <a:gd name="T49" fmla="*/ 185 h 307"/>
                <a:gd name="T50" fmla="*/ 310 w 310"/>
                <a:gd name="T51" fmla="*/ 155 h 307"/>
                <a:gd name="T52" fmla="*/ 310 w 310"/>
                <a:gd name="T53" fmla="*/ 138 h 307"/>
                <a:gd name="T54" fmla="*/ 303 w 310"/>
                <a:gd name="T55" fmla="*/ 107 h 307"/>
                <a:gd name="T56" fmla="*/ 291 w 310"/>
                <a:gd name="T57" fmla="*/ 80 h 307"/>
                <a:gd name="T58" fmla="*/ 275 w 310"/>
                <a:gd name="T59" fmla="*/ 56 h 307"/>
                <a:gd name="T60" fmla="*/ 254 w 310"/>
                <a:gd name="T61" fmla="*/ 35 h 307"/>
                <a:gd name="T62" fmla="*/ 229 w 310"/>
                <a:gd name="T63" fmla="*/ 18 h 307"/>
                <a:gd name="T64" fmla="*/ 200 w 310"/>
                <a:gd name="T65" fmla="*/ 6 h 307"/>
                <a:gd name="T66" fmla="*/ 171 w 310"/>
                <a:gd name="T67" fmla="*/ 0 h 307"/>
                <a:gd name="T68" fmla="*/ 155 w 310"/>
                <a:gd name="T69" fmla="*/ 0 h 3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10" h="307">
                  <a:moveTo>
                    <a:pt x="155" y="0"/>
                  </a:moveTo>
                  <a:lnTo>
                    <a:pt x="155" y="0"/>
                  </a:lnTo>
                  <a:lnTo>
                    <a:pt x="140" y="0"/>
                  </a:lnTo>
                  <a:lnTo>
                    <a:pt x="124" y="2"/>
                  </a:lnTo>
                  <a:lnTo>
                    <a:pt x="109" y="6"/>
                  </a:lnTo>
                  <a:lnTo>
                    <a:pt x="95" y="12"/>
                  </a:lnTo>
                  <a:lnTo>
                    <a:pt x="83" y="18"/>
                  </a:lnTo>
                  <a:lnTo>
                    <a:pt x="68" y="27"/>
                  </a:lnTo>
                  <a:lnTo>
                    <a:pt x="58" y="35"/>
                  </a:lnTo>
                  <a:lnTo>
                    <a:pt x="46" y="45"/>
                  </a:lnTo>
                  <a:lnTo>
                    <a:pt x="35" y="56"/>
                  </a:lnTo>
                  <a:lnTo>
                    <a:pt x="27" y="68"/>
                  </a:lnTo>
                  <a:lnTo>
                    <a:pt x="19" y="80"/>
                  </a:lnTo>
                  <a:lnTo>
                    <a:pt x="13" y="95"/>
                  </a:lnTo>
                  <a:lnTo>
                    <a:pt x="8" y="107"/>
                  </a:lnTo>
                  <a:lnTo>
                    <a:pt x="4" y="124"/>
                  </a:lnTo>
                  <a:lnTo>
                    <a:pt x="2" y="138"/>
                  </a:lnTo>
                  <a:lnTo>
                    <a:pt x="0" y="155"/>
                  </a:lnTo>
                  <a:lnTo>
                    <a:pt x="0" y="155"/>
                  </a:lnTo>
                  <a:lnTo>
                    <a:pt x="2" y="169"/>
                  </a:lnTo>
                  <a:lnTo>
                    <a:pt x="4" y="185"/>
                  </a:lnTo>
                  <a:lnTo>
                    <a:pt x="8" y="200"/>
                  </a:lnTo>
                  <a:lnTo>
                    <a:pt x="13" y="214"/>
                  </a:lnTo>
                  <a:lnTo>
                    <a:pt x="19" y="227"/>
                  </a:lnTo>
                  <a:lnTo>
                    <a:pt x="27" y="241"/>
                  </a:lnTo>
                  <a:lnTo>
                    <a:pt x="35" y="252"/>
                  </a:lnTo>
                  <a:lnTo>
                    <a:pt x="46" y="264"/>
                  </a:lnTo>
                  <a:lnTo>
                    <a:pt x="58" y="272"/>
                  </a:lnTo>
                  <a:lnTo>
                    <a:pt x="68" y="282"/>
                  </a:lnTo>
                  <a:lnTo>
                    <a:pt x="83" y="289"/>
                  </a:lnTo>
                  <a:lnTo>
                    <a:pt x="95" y="297"/>
                  </a:lnTo>
                  <a:lnTo>
                    <a:pt x="109" y="301"/>
                  </a:lnTo>
                  <a:lnTo>
                    <a:pt x="124" y="305"/>
                  </a:lnTo>
                  <a:lnTo>
                    <a:pt x="140" y="307"/>
                  </a:lnTo>
                  <a:lnTo>
                    <a:pt x="155" y="307"/>
                  </a:lnTo>
                  <a:lnTo>
                    <a:pt x="155" y="307"/>
                  </a:lnTo>
                  <a:lnTo>
                    <a:pt x="171" y="307"/>
                  </a:lnTo>
                  <a:lnTo>
                    <a:pt x="186" y="305"/>
                  </a:lnTo>
                  <a:lnTo>
                    <a:pt x="200" y="301"/>
                  </a:lnTo>
                  <a:lnTo>
                    <a:pt x="215" y="297"/>
                  </a:lnTo>
                  <a:lnTo>
                    <a:pt x="229" y="289"/>
                  </a:lnTo>
                  <a:lnTo>
                    <a:pt x="242" y="282"/>
                  </a:lnTo>
                  <a:lnTo>
                    <a:pt x="254" y="272"/>
                  </a:lnTo>
                  <a:lnTo>
                    <a:pt x="264" y="264"/>
                  </a:lnTo>
                  <a:lnTo>
                    <a:pt x="275" y="252"/>
                  </a:lnTo>
                  <a:lnTo>
                    <a:pt x="283" y="241"/>
                  </a:lnTo>
                  <a:lnTo>
                    <a:pt x="291" y="227"/>
                  </a:lnTo>
                  <a:lnTo>
                    <a:pt x="297" y="214"/>
                  </a:lnTo>
                  <a:lnTo>
                    <a:pt x="303" y="200"/>
                  </a:lnTo>
                  <a:lnTo>
                    <a:pt x="306" y="185"/>
                  </a:lnTo>
                  <a:lnTo>
                    <a:pt x="310" y="169"/>
                  </a:lnTo>
                  <a:lnTo>
                    <a:pt x="310" y="155"/>
                  </a:lnTo>
                  <a:lnTo>
                    <a:pt x="310" y="155"/>
                  </a:lnTo>
                  <a:lnTo>
                    <a:pt x="310" y="138"/>
                  </a:lnTo>
                  <a:lnTo>
                    <a:pt x="306" y="124"/>
                  </a:lnTo>
                  <a:lnTo>
                    <a:pt x="303" y="107"/>
                  </a:lnTo>
                  <a:lnTo>
                    <a:pt x="297" y="95"/>
                  </a:lnTo>
                  <a:lnTo>
                    <a:pt x="291" y="80"/>
                  </a:lnTo>
                  <a:lnTo>
                    <a:pt x="283" y="68"/>
                  </a:lnTo>
                  <a:lnTo>
                    <a:pt x="275" y="56"/>
                  </a:lnTo>
                  <a:lnTo>
                    <a:pt x="264" y="45"/>
                  </a:lnTo>
                  <a:lnTo>
                    <a:pt x="254" y="35"/>
                  </a:lnTo>
                  <a:lnTo>
                    <a:pt x="242" y="27"/>
                  </a:lnTo>
                  <a:lnTo>
                    <a:pt x="229" y="18"/>
                  </a:lnTo>
                  <a:lnTo>
                    <a:pt x="215" y="12"/>
                  </a:lnTo>
                  <a:lnTo>
                    <a:pt x="200" y="6"/>
                  </a:lnTo>
                  <a:lnTo>
                    <a:pt x="186" y="2"/>
                  </a:lnTo>
                  <a:lnTo>
                    <a:pt x="171" y="0"/>
                  </a:lnTo>
                  <a:lnTo>
                    <a:pt x="155" y="0"/>
                  </a:lnTo>
                  <a:lnTo>
                    <a:pt x="155" y="0"/>
                  </a:ln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gradFill>
                  <a:gsLst>
                    <a:gs pos="0">
                      <a:srgbClr val="FFEBC4"/>
                    </a:gs>
                    <a:gs pos="100000">
                      <a:srgbClr val="FEDA90"/>
                    </a:gs>
                  </a:gsLst>
                  <a:lin ang="2700000" scaled="0"/>
                </a:gradFill>
                <a:latin typeface="Arial" panose="020B0604020202020204" pitchFamily="34" charset="0"/>
                <a:ea typeface="微软雅黑" panose="020B0503020204020204" pitchFamily="34" charset="-122"/>
                <a:cs typeface="思源黑体旧字形 Light" panose="020B0300000000000000" charset="-128"/>
                <a:sym typeface="Arial" panose="020B0604020202020204" pitchFamily="34" charset="0"/>
              </a:endParaRPr>
            </a:p>
          </p:txBody>
        </p:sp>
      </p:grpSp>
      <p:sp>
        <p:nvSpPr>
          <p:cNvPr id="2" name="文本框 1"/>
          <p:cNvSpPr txBox="1"/>
          <p:nvPr/>
        </p:nvSpPr>
        <p:spPr>
          <a:xfrm>
            <a:off x="4154778" y="60056"/>
            <a:ext cx="3882444" cy="337185"/>
          </a:xfrm>
          <a:prstGeom prst="rect">
            <a:avLst/>
          </a:prstGeom>
          <a:noFill/>
          <a:effectLst>
            <a:reflection endPos="0" dir="5400000" sy="-100000" algn="bl" rotWithShape="0"/>
          </a:effectLst>
        </p:spPr>
        <p:txBody>
          <a:bodyPr wrap="square" rtlCol="0">
            <a:spAutoFit/>
          </a:bodyPr>
          <a:lstStyle/>
          <a:p>
            <a:pPr algn="ctr"/>
            <a:r>
              <a:rPr lang="zh-CN" altLang="en-US" sz="1600" b="1" dirty="0">
                <a:solidFill>
                  <a:srgbClr val="004C9E"/>
                </a:solidFill>
                <a:latin typeface="微软雅黑" panose="020B0503020204020204" pitchFamily="34" charset="-122"/>
                <a:ea typeface="微软雅黑" panose="020B0503020204020204" pitchFamily="34" charset="-122"/>
                <a:sym typeface="思源黑体 CN Normal" panose="020B0400000000000000" pitchFamily="34" charset="-122"/>
              </a:rPr>
              <a:t>重庆大学研究生网络文化工作室  出品</a:t>
            </a:r>
            <a:endParaRPr lang="zh-CN" altLang="en-US" sz="1600" b="1" dirty="0">
              <a:solidFill>
                <a:srgbClr val="004C9E"/>
              </a:solidFill>
              <a:latin typeface="微软雅黑" panose="020B0503020204020204" pitchFamily="34" charset="-122"/>
              <a:ea typeface="微软雅黑" panose="020B0503020204020204" pitchFamily="34" charset="-122"/>
              <a:sym typeface="思源黑体 CN Normal" panose="020B0400000000000000"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KSO_WM_BEAUTIFY_FLAG" val=""/>
</p:tagLst>
</file>

<file path=ppt/tags/tag9.xml><?xml version="1.0" encoding="utf-8"?>
<p:tagLst xmlns:p="http://schemas.openxmlformats.org/presentationml/2006/main">
  <p:tag name="KSO_WM_BEAUTIFY_FLAG" val=""/>
</p:tagLst>
</file>

<file path=ppt/tags/tag10.xml><?xml version="1.0" encoding="utf-8"?>
<p:tagLst xmlns:p="http://schemas.openxmlformats.org/presentationml/2006/main">
  <p:tag name="KSO_WM_BEAUTIFY_FLAG" val=""/>
</p:tagLst>
</file>

<file path=ppt/tags/tag11.xml><?xml version="1.0" encoding="utf-8"?>
<p:tagLst xmlns:p="http://schemas.openxmlformats.org/presentationml/2006/main">
  <p:tag name="KSO_WM_BEAUTIFY_FLAG" val=""/>
</p:tagLst>
</file>

<file path=ppt/tags/tag12.xml><?xml version="1.0" encoding="utf-8"?>
<p:tagLst xmlns:p="http://schemas.openxmlformats.org/presentationml/2006/main">
  <p:tag name="KSO_WM_DIAGRAM_VIRTUALLY_FRAME" val="{&quot;height&quot;:241.6462992125984,&quot;left&quot;:131.88299212598423,&quot;top&quot;:165.4500787401575,&quot;width&quot;:682.758503937008}"/>
</p:tagLst>
</file>

<file path=ppt/tags/tag13.xml><?xml version="1.0" encoding="utf-8"?>
<p:tagLst xmlns:p="http://schemas.openxmlformats.org/presentationml/2006/main">
  <p:tag name="KSO_WM_DIAGRAM_VIRTUALLY_FRAME" val="{&quot;height&quot;:241.6462992125984,&quot;left&quot;:131.88299212598423,&quot;top&quot;:165.4500787401575,&quot;width&quot;:682.758503937008}"/>
</p:tagLst>
</file>

<file path=ppt/tags/tag14.xml><?xml version="1.0" encoding="utf-8"?>
<p:tagLst xmlns:p="http://schemas.openxmlformats.org/presentationml/2006/main">
  <p:tag name="KSO_WM_DIAGRAM_VIRTUALLY_FRAME" val="{&quot;height&quot;:241.6462992125984,&quot;left&quot;:131.88299212598423,&quot;top&quot;:165.4500787401575,&quot;width&quot;:682.758503937008}"/>
</p:tagLst>
</file>

<file path=ppt/tags/tag15.xml><?xml version="1.0" encoding="utf-8"?>
<p:tagLst xmlns:p="http://schemas.openxmlformats.org/presentationml/2006/main">
  <p:tag name="KSO_WM_DIAGRAM_VIRTUALLY_FRAME" val="{&quot;height&quot;:241.6462992125984,&quot;left&quot;:131.88299212598423,&quot;top&quot;:165.4500787401575,&quot;width&quot;:682.758503937008}"/>
</p:tagLst>
</file>

<file path=ppt/tags/tag16.xml><?xml version="1.0" encoding="utf-8"?>
<p:tagLst xmlns:p="http://schemas.openxmlformats.org/presentationml/2006/main">
  <p:tag name="KSO_WM_DIAGRAM_VIRTUALLY_FRAME" val="{&quot;height&quot;:241.6462992125984,&quot;left&quot;:131.88299212598423,&quot;top&quot;:165.4500787401575,&quot;width&quot;:682.758503937008}"/>
</p:tagLst>
</file>

<file path=ppt/tags/tag17.xml><?xml version="1.0" encoding="utf-8"?>
<p:tagLst xmlns:p="http://schemas.openxmlformats.org/presentationml/2006/main">
  <p:tag name="KSO_WM_DIAGRAM_VIRTUALLY_FRAME" val="{&quot;height&quot;:241.6462992125984,&quot;left&quot;:131.88299212598423,&quot;top&quot;:165.4500787401575,&quot;width&quot;:682.758503937008}"/>
</p:tagLst>
</file>

<file path=ppt/tags/tag18.xml><?xml version="1.0" encoding="utf-8"?>
<p:tagLst xmlns:p="http://schemas.openxmlformats.org/presentationml/2006/main">
  <p:tag name="KSO_WM_DIAGRAM_VIRTUALLY_FRAME" val="{&quot;height&quot;:241.6462992125984,&quot;left&quot;:131.88299212598423,&quot;top&quot;:165.4500787401575,&quot;width&quot;:682.758503937008}"/>
</p:tagLst>
</file>

<file path=ppt/tags/tag19.xml><?xml version="1.0" encoding="utf-8"?>
<p:tagLst xmlns:p="http://schemas.openxmlformats.org/presentationml/2006/main">
  <p:tag name="KSO_WM_DIAGRAM_VIRTUALLY_FRAME" val="{&quot;height&quot;:241.6462992125984,&quot;left&quot;:131.88299212598423,&quot;top&quot;:165.4500787401575,&quot;width&quot;:682.758503937008}"/>
</p:tagLst>
</file>

<file path=ppt/tags/tag20.xml><?xml version="1.0" encoding="utf-8"?>
<p:tagLst xmlns:p="http://schemas.openxmlformats.org/presentationml/2006/main">
  <p:tag name="KSO_WM_DIAGRAM_VIRTUALLY_FRAME" val="{&quot;height&quot;:241.6462992125984,&quot;left&quot;:131.88299212598423,&quot;top&quot;:165.4500787401575,&quot;width&quot;:682.758503937008}"/>
</p:tagLst>
</file>

<file path=ppt/tags/tag21.xml><?xml version="1.0" encoding="utf-8"?>
<p:tagLst xmlns:p="http://schemas.openxmlformats.org/presentationml/2006/main">
  <p:tag name="KSO_WM_DIAGRAM_VIRTUALLY_FRAME" val="{&quot;height&quot;:241.6462992125984,&quot;left&quot;:131.88299212598423,&quot;top&quot;:165.4500787401575,&quot;width&quot;:682.758503937008}"/>
</p:tagLst>
</file>

<file path=ppt/tags/tag22.xml><?xml version="1.0" encoding="utf-8"?>
<p:tagLst xmlns:p="http://schemas.openxmlformats.org/presentationml/2006/main">
  <p:tag name="KSO_WM_DIAGRAM_VIRTUALLY_FRAME" val="{&quot;height&quot;:241.6462992125984,&quot;left&quot;:131.88299212598423,&quot;top&quot;:165.4500787401575,&quot;width&quot;:682.758503937008}"/>
</p:tagLst>
</file>

<file path=ppt/tags/tag23.xml><?xml version="1.0" encoding="utf-8"?>
<p:tagLst xmlns:p="http://schemas.openxmlformats.org/presentationml/2006/main">
  <p:tag name="KSO_WM_DIAGRAM_VIRTUALLY_FRAME" val="{&quot;height&quot;:241.6462992125984,&quot;left&quot;:131.88299212598423,&quot;top&quot;:165.4500787401575,&quot;width&quot;:682.758503937008}"/>
</p:tagLst>
</file>

<file path=ppt/tags/tag24.xml><?xml version="1.0" encoding="utf-8"?>
<p:tagLst xmlns:p="http://schemas.openxmlformats.org/presentationml/2006/main">
  <p:tag name="KSO_WM_DIAGRAM_VIRTUALLY_FRAME" val="{&quot;height&quot;:241.6462992125984,&quot;left&quot;:131.88299212598423,&quot;top&quot;:165.4500787401575,&quot;width&quot;:682.758503937008}"/>
</p:tagLst>
</file>

<file path=ppt/tags/tag25.xml><?xml version="1.0" encoding="utf-8"?>
<p:tagLst xmlns:p="http://schemas.openxmlformats.org/presentationml/2006/main">
  <p:tag name="KSO_WM_DIAGRAM_VIRTUALLY_FRAME" val="{&quot;height&quot;:241.6462992125984,&quot;left&quot;:131.88299212598423,&quot;top&quot;:165.4500787401575,&quot;width&quot;:682.758503937008}"/>
</p:tagLst>
</file>

<file path=ppt/tags/tag26.xml><?xml version="1.0" encoding="utf-8"?>
<p:tagLst xmlns:p="http://schemas.openxmlformats.org/presentationml/2006/main">
  <p:tag name="KSO_WM_DIAGRAM_VIRTUALLY_FRAME" val="{&quot;height&quot;:241.6462992125984,&quot;left&quot;:131.88299212598423,&quot;top&quot;:165.4500787401575,&quot;width&quot;:682.758503937008}"/>
</p:tagLst>
</file>

<file path=ppt/tags/tag27.xml><?xml version="1.0" encoding="utf-8"?>
<p:tagLst xmlns:p="http://schemas.openxmlformats.org/presentationml/2006/main">
  <p:tag name="KSO_WM_DIAGRAM_VIRTUALLY_FRAME" val="{&quot;height&quot;:241.6462992125984,&quot;left&quot;:131.88299212598423,&quot;top&quot;:165.4500787401575,&quot;width&quot;:682.758503937008}"/>
</p:tagLst>
</file>

<file path=ppt/tags/tag28.xml><?xml version="1.0" encoding="utf-8"?>
<p:tagLst xmlns:p="http://schemas.openxmlformats.org/presentationml/2006/main">
  <p:tag name="KSO_WM_DIAGRAM_VIRTUALLY_FRAME" val="{&quot;height&quot;:241.6462992125984,&quot;left&quot;:131.88299212598423,&quot;top&quot;:165.4500787401575,&quot;width&quot;:682.758503937008}"/>
</p:tagLst>
</file>

<file path=ppt/tags/tag29.xml><?xml version="1.0" encoding="utf-8"?>
<p:tagLst xmlns:p="http://schemas.openxmlformats.org/presentationml/2006/main">
  <p:tag name="KSO_WM_DIAGRAM_VIRTUALLY_FRAME" val="{&quot;height&quot;:241.6462992125984,&quot;left&quot;:131.88299212598423,&quot;top&quot;:165.4500787401575,&quot;width&quot;:682.758503937008}"/>
</p:tagLst>
</file>

<file path=ppt/tags/tag30.xml><?xml version="1.0" encoding="utf-8"?>
<p:tagLst xmlns:p="http://schemas.openxmlformats.org/presentationml/2006/main">
  <p:tag name="KSO_WM_DIAGRAM_VIRTUALLY_FRAME" val="{&quot;height&quot;:241.6462992125984,&quot;left&quot;:131.88299212598423,&quot;top&quot;:165.4500787401575,&quot;width&quot;:682.758503937008}"/>
</p:tagLst>
</file>

<file path=ppt/tags/tag31.xml><?xml version="1.0" encoding="utf-8"?>
<p:tagLst xmlns:p="http://schemas.openxmlformats.org/presentationml/2006/main">
  <p:tag name="KSO_WM_DIAGRAM_VIRTUALLY_FRAME" val="{&quot;height&quot;:241.6462992125984,&quot;left&quot;:131.88299212598423,&quot;top&quot;:165.4500787401575,&quot;width&quot;:682.758503937008}"/>
</p:tagLst>
</file>

<file path=ppt/tags/tag32.xml><?xml version="1.0" encoding="utf-8"?>
<p:tagLst xmlns:p="http://schemas.openxmlformats.org/presentationml/2006/main">
  <p:tag name="KSO_WM_BEAUTIFY_FLAG" val=""/>
</p:tagLst>
</file>

<file path=ppt/tags/tag33.xml><?xml version="1.0" encoding="utf-8"?>
<p:tagLst xmlns:p="http://schemas.openxmlformats.org/presentationml/2006/main">
  <p:tag name="KSO_WM_BEAUTIFY_FLAG" val=""/>
</p:tagLst>
</file>

<file path=ppt/tags/tag34.xml><?xml version="1.0" encoding="utf-8"?>
<p:tagLst xmlns:p="http://schemas.openxmlformats.org/presentationml/2006/main">
  <p:tag name="KSO_WM_BEAUTIFY_FLAG" val=""/>
</p:tagLst>
</file>

<file path=ppt/tags/tag35.xml><?xml version="1.0" encoding="utf-8"?>
<p:tagLst xmlns:p="http://schemas.openxmlformats.org/presentationml/2006/main">
  <p:tag name="KSO_WM_BEAUTIFY_FLAG" val=""/>
</p:tagLst>
</file>

<file path=ppt/tags/tag36.xml><?xml version="1.0" encoding="utf-8"?>
<p:tagLst xmlns:p="http://schemas.openxmlformats.org/presentationml/2006/main">
  <p:tag name="KSO_WM_BEAUTIFY_FLAG" val=""/>
</p:tagLst>
</file>

<file path=ppt/tags/tag37.xml><?xml version="1.0" encoding="utf-8"?>
<p:tagLst xmlns:p="http://schemas.openxmlformats.org/presentationml/2006/main">
  <p:tag name="KSO_WM_BEAUTIFY_FLAG" val=""/>
</p:tagLst>
</file>

<file path=ppt/tags/tag38.xml><?xml version="1.0" encoding="utf-8"?>
<p:tagLst xmlns:p="http://schemas.openxmlformats.org/presentationml/2006/main">
  <p:tag name="KSO_WM_BEAUTIFY_FLAG" val=""/>
</p:tagLst>
</file>

<file path=ppt/tags/tag39.xml><?xml version="1.0" encoding="utf-8"?>
<p:tagLst xmlns:p="http://schemas.openxmlformats.org/presentationml/2006/main">
  <p:tag name="KSO_WM_BEAUTIFY_FLAG" val=""/>
</p:tagLst>
</file>

<file path=ppt/tags/tag40.xml><?xml version="1.0" encoding="utf-8"?>
<p:tagLst xmlns:p="http://schemas.openxmlformats.org/presentationml/2006/main">
  <p:tag name="KSO_WM_BEAUTIFY_FLAG" val=""/>
</p:tagLst>
</file>

<file path=ppt/tags/tag41.xml><?xml version="1.0" encoding="utf-8"?>
<p:tagLst xmlns:p="http://schemas.openxmlformats.org/presentationml/2006/main">
  <p:tag name="KSO_WM_BEAUTIFY_FLAG" val=""/>
</p:tagLst>
</file>

<file path=ppt/tags/tag42.xml><?xml version="1.0" encoding="utf-8"?>
<p:tagLst xmlns:p="http://schemas.openxmlformats.org/presentationml/2006/main">
  <p:tag name="KSO_WM_BEAUTIFY_FLAG" val=""/>
</p:tagLst>
</file>

<file path=ppt/tags/tag43.xml><?xml version="1.0" encoding="utf-8"?>
<p:tagLst xmlns:p="http://schemas.openxmlformats.org/presentationml/2006/main">
  <p:tag name="KSO_WM_BEAUTIFY_FLAG" val=""/>
</p:tagLst>
</file>

<file path=ppt/tags/tag44.xml><?xml version="1.0" encoding="utf-8"?>
<p:tagLst xmlns:p="http://schemas.openxmlformats.org/presentationml/2006/main">
  <p:tag name="KSO_WM_BEAUTIFY_FLAG" val=""/>
</p:tagLst>
</file>

<file path=ppt/tags/tag45.xml><?xml version="1.0" encoding="utf-8"?>
<p:tagLst xmlns:p="http://schemas.openxmlformats.org/presentationml/2006/main">
  <p:tag name="KSO_WM_BEAUTIFY_FLAG" val=""/>
</p:tagLst>
</file>

<file path=ppt/tags/tag46.xml><?xml version="1.0" encoding="utf-8"?>
<p:tagLst xmlns:p="http://schemas.openxmlformats.org/presentationml/2006/main">
  <p:tag name="PA" val="v5.2.11"/>
</p:tagLst>
</file>

<file path=ppt/tags/tag47.xml><?xml version="1.0" encoding="utf-8"?>
<p:tagLst xmlns:p="http://schemas.openxmlformats.org/presentationml/2006/main">
  <p:tag name="PA" val="v5.2.11"/>
</p:tagLst>
</file>

<file path=ppt/tags/tag48.xml><?xml version="1.0" encoding="utf-8"?>
<p:tagLst xmlns:p="http://schemas.openxmlformats.org/presentationml/2006/main">
  <p:tag name="PA" val="v5.2.11"/>
</p:tagLst>
</file>

<file path=ppt/tags/tag49.xml><?xml version="1.0" encoding="utf-8"?>
<p:tagLst xmlns:p="http://schemas.openxmlformats.org/presentationml/2006/main">
  <p:tag name="PA" val="v5.2.11"/>
</p:tagLst>
</file>

<file path=ppt/tags/tag50.xml><?xml version="1.0" encoding="utf-8"?>
<p:tagLst xmlns:p="http://schemas.openxmlformats.org/presentationml/2006/main">
  <p:tag name="PA" val="v5.2.11"/>
</p:tagLst>
</file>

<file path=ppt/tags/tag51.xml><?xml version="1.0" encoding="utf-8"?>
<p:tagLst xmlns:p="http://schemas.openxmlformats.org/presentationml/2006/main">
  <p:tag name="PA" val="v5.2.11"/>
</p:tagLst>
</file>

<file path=ppt/tags/tag52.xml><?xml version="1.0" encoding="utf-8"?>
<p:tagLst xmlns:p="http://schemas.openxmlformats.org/presentationml/2006/main">
  <p:tag name="PA" val="v5.2.11"/>
</p:tagLst>
</file>

<file path=ppt/tags/tag53.xml><?xml version="1.0" encoding="utf-8"?>
<p:tagLst xmlns:p="http://schemas.openxmlformats.org/presentationml/2006/main">
  <p:tag name="PA" val="v5.2.11"/>
</p:tagLst>
</file>

<file path=ppt/tags/tag54.xml><?xml version="1.0" encoding="utf-8"?>
<p:tagLst xmlns:p="http://schemas.openxmlformats.org/presentationml/2006/main">
  <p:tag name="PA" val="v5.2.11"/>
</p:tagLst>
</file>

<file path=ppt/tags/tag55.xml><?xml version="1.0" encoding="utf-8"?>
<p:tagLst xmlns:p="http://schemas.openxmlformats.org/presentationml/2006/main">
  <p:tag name="PA" val="v5.2.11"/>
</p:tagLst>
</file>

<file path=ppt/tags/tag56.xml><?xml version="1.0" encoding="utf-8"?>
<p:tagLst xmlns:p="http://schemas.openxmlformats.org/presentationml/2006/main">
  <p:tag name="PA" val="v5.2.11"/>
</p:tagLst>
</file>

<file path=ppt/tags/tag57.xml><?xml version="1.0" encoding="utf-8"?>
<p:tagLst xmlns:p="http://schemas.openxmlformats.org/presentationml/2006/main">
  <p:tag name="KSO_WM_BEAUTIFY_FLAG" val=""/>
</p:tagLst>
</file>

<file path=ppt/tags/tag58.xml><?xml version="1.0" encoding="utf-8"?>
<p:tagLst xmlns:p="http://schemas.openxmlformats.org/presentationml/2006/main">
  <p:tag name="KSO_WM_BEAUTIFY_FLAG" val=""/>
</p:tagLst>
</file>

<file path=ppt/tags/tag59.xml><?xml version="1.0" encoding="utf-8"?>
<p:tagLst xmlns:p="http://schemas.openxmlformats.org/presentationml/2006/main">
  <p:tag name="KSO_WM_BEAUTIFY_FLAG" val=""/>
</p:tagLst>
</file>

<file path=ppt/tags/tag60.xml><?xml version="1.0" encoding="utf-8"?>
<p:tagLst xmlns:p="http://schemas.openxmlformats.org/presentationml/2006/main">
  <p:tag name="KSO_WM_BEAUTIFY_FLAG" val=""/>
</p:tagLst>
</file>

<file path=ppt/tags/tag61.xml><?xml version="1.0" encoding="utf-8"?>
<p:tagLst xmlns:p="http://schemas.openxmlformats.org/presentationml/2006/main">
  <p:tag name="KSO_WM_BEAUTIFY_FLAG" val=""/>
</p:tagLst>
</file>

<file path=ppt/tags/tag62.xml><?xml version="1.0" encoding="utf-8"?>
<p:tagLst xmlns:p="http://schemas.openxmlformats.org/presentationml/2006/main">
  <p:tag name="KSO_WM_BEAUTIFY_FLAG" val=""/>
</p:tagLst>
</file>

<file path=ppt/tags/tag63.xml><?xml version="1.0" encoding="utf-8"?>
<p:tagLst xmlns:p="http://schemas.openxmlformats.org/presentationml/2006/main">
  <p:tag name="KSO_WM_BEAUTIFY_FLAG" val=""/>
</p:tagLst>
</file>

<file path=ppt/tags/tag64.xml><?xml version="1.0" encoding="utf-8"?>
<p:tagLst xmlns:p="http://schemas.openxmlformats.org/presentationml/2006/main">
  <p:tag name="KSO_WM_BEAUTIFY_FLAG" val=""/>
</p:tagLst>
</file>

<file path=ppt/tags/tag65.xml><?xml version="1.0" encoding="utf-8"?>
<p:tagLst xmlns:p="http://schemas.openxmlformats.org/presentationml/2006/main">
  <p:tag name="KSO_WM_BEAUTIFY_FLAG" val=""/>
</p:tagLst>
</file>

<file path=ppt/tags/tag66.xml><?xml version="1.0" encoding="utf-8"?>
<p:tagLst xmlns:p="http://schemas.openxmlformats.org/presentationml/2006/main">
  <p:tag name="KSO_WM_BEAUTIFY_FLAG" val=""/>
</p:tagLst>
</file>

<file path=ppt/tags/tag67.xml><?xml version="1.0" encoding="utf-8"?>
<p:tagLst xmlns:p="http://schemas.openxmlformats.org/presentationml/2006/main">
  <p:tag name="KSO_WM_BEAUTIFY_FLAG" val=""/>
</p:tagLst>
</file>

<file path=ppt/tags/tag68.xml><?xml version="1.0" encoding="utf-8"?>
<p:tagLst xmlns:p="http://schemas.openxmlformats.org/presentationml/2006/main">
  <p:tag name="KSO_WM_BEAUTIFY_FLAG" val=""/>
</p:tagLst>
</file>

<file path=ppt/tags/tag69.xml><?xml version="1.0" encoding="utf-8"?>
<p:tagLst xmlns:p="http://schemas.openxmlformats.org/presentationml/2006/main">
  <p:tag name="KSO_WM_BEAUTIFY_FLAG" val=""/>
</p:tagLst>
</file>

<file path=ppt/tags/tag70.xml><?xml version="1.0" encoding="utf-8"?>
<p:tagLst xmlns:p="http://schemas.openxmlformats.org/presentationml/2006/main">
  <p:tag name="KSO_WM_BEAUTIFY_FLAG" val=""/>
</p:tagLst>
</file>

<file path=ppt/tags/tag71.xml><?xml version="1.0" encoding="utf-8"?>
<p:tagLst xmlns:p="http://schemas.openxmlformats.org/presentationml/2006/main">
  <p:tag name="KSO_WM_BEAUTIFY_FLAG" val=""/>
</p:tagLst>
</file>

<file path=ppt/tags/tag72.xml><?xml version="1.0" encoding="utf-8"?>
<p:tagLst xmlns:p="http://schemas.openxmlformats.org/presentationml/2006/main">
  <p:tag name="KSO_WM_BEAUTIFY_FLAG" val=""/>
</p:tagLst>
</file>

<file path=ppt/tags/tag73.xml><?xml version="1.0" encoding="utf-8"?>
<p:tagLst xmlns:p="http://schemas.openxmlformats.org/presentationml/2006/main">
  <p:tag name="KSO_WM_BEAUTIFY_FLAG" val=""/>
</p:tagLst>
</file>

<file path=ppt/tags/tag74.xml><?xml version="1.0" encoding="utf-8"?>
<p:tagLst xmlns:p="http://schemas.openxmlformats.org/presentationml/2006/main">
  <p:tag name="KSO_WM_BEAUTIFY_FLAG" val=""/>
</p:tagLst>
</file>

<file path=ppt/tags/tag75.xml><?xml version="1.0" encoding="utf-8"?>
<p:tagLst xmlns:p="http://schemas.openxmlformats.org/presentationml/2006/main">
  <p:tag name="KSO_WM_BEAUTIFY_FLAG" val=""/>
</p:tagLst>
</file>

<file path=ppt/tags/tag76.xml><?xml version="1.0" encoding="utf-8"?>
<p:tagLst xmlns:p="http://schemas.openxmlformats.org/presentationml/2006/main">
  <p:tag name="PA" val="v5.2.11"/>
  <p:tag name="KSO_WM_DIAGRAM_VIRTUALLY_FRAME" val="{&quot;height&quot;:375.9987401574803,&quot;left&quot;:55.19433070866144,&quot;top&quot;:125.01417322834645,&quot;width&quot;:824.4081102362204}"/>
</p:tagLst>
</file>

<file path=ppt/tags/tag77.xml><?xml version="1.0" encoding="utf-8"?>
<p:tagLst xmlns:p="http://schemas.openxmlformats.org/presentationml/2006/main">
  <p:tag name="PA" val="v5.2.11"/>
  <p:tag name="KSO_WM_DIAGRAM_VIRTUALLY_FRAME" val="{&quot;height&quot;:375.9987401574803,&quot;left&quot;:55.19433070866144,&quot;top&quot;:125.01417322834645,&quot;width&quot;:824.4081102362204}"/>
</p:tagLst>
</file>

<file path=ppt/tags/tag78.xml><?xml version="1.0" encoding="utf-8"?>
<p:tagLst xmlns:p="http://schemas.openxmlformats.org/presentationml/2006/main">
  <p:tag name="PA" val="v5.2.11"/>
  <p:tag name="KSO_WM_DIAGRAM_VIRTUALLY_FRAME" val="{&quot;height&quot;:375.9987401574803,&quot;left&quot;:55.19433070866144,&quot;top&quot;:125.01417322834645,&quot;width&quot;:824.4081102362204}"/>
</p:tagLst>
</file>

<file path=ppt/tags/tag79.xml><?xml version="1.0" encoding="utf-8"?>
<p:tagLst xmlns:p="http://schemas.openxmlformats.org/presentationml/2006/main">
  <p:tag name="KSO_WM_DIAGRAM_VIRTUALLY_FRAME" val="{&quot;height&quot;:375.9987401574803,&quot;left&quot;:55.19433070866144,&quot;top&quot;:125.01417322834645,&quot;width&quot;:824.4081102362204}"/>
</p:tagLst>
</file>

<file path=ppt/tags/tag80.xml><?xml version="1.0" encoding="utf-8"?>
<p:tagLst xmlns:p="http://schemas.openxmlformats.org/presentationml/2006/main">
  <p:tag name="KSO_WM_DIAGRAM_VIRTUALLY_FRAME" val="{&quot;height&quot;:375.9987401574803,&quot;left&quot;:55.19433070866144,&quot;top&quot;:125.01417322834645,&quot;width&quot;:824.4081102362204}"/>
</p:tagLst>
</file>

<file path=ppt/tags/tag81.xml><?xml version="1.0" encoding="utf-8"?>
<p:tagLst xmlns:p="http://schemas.openxmlformats.org/presentationml/2006/main">
  <p:tag name="KSO_WM_DIAGRAM_VIRTUALLY_FRAME" val="{&quot;height&quot;:375.9987401574803,&quot;left&quot;:55.19433070866144,&quot;top&quot;:125.01417322834645,&quot;width&quot;:824.4081102362204}"/>
</p:tagLst>
</file>

<file path=ppt/tags/tag82.xml><?xml version="1.0" encoding="utf-8"?>
<p:tagLst xmlns:p="http://schemas.openxmlformats.org/presentationml/2006/main">
  <p:tag name="KSO_WM_DIAGRAM_VIRTUALLY_FRAME" val="{&quot;height&quot;:375.9987401574803,&quot;left&quot;:55.19433070866144,&quot;top&quot;:125.01417322834645,&quot;width&quot;:824.4081102362204}"/>
</p:tagLst>
</file>

<file path=ppt/tags/tag83.xml><?xml version="1.0" encoding="utf-8"?>
<p:tagLst xmlns:p="http://schemas.openxmlformats.org/presentationml/2006/main">
  <p:tag name="KSO_WM_DIAGRAM_VIRTUALLY_FRAME" val="{&quot;height&quot;:375.9987401574803,&quot;left&quot;:55.19433070866144,&quot;top&quot;:125.01417322834645,&quot;width&quot;:824.4081102362204}"/>
</p:tagLst>
</file>

<file path=ppt/tags/tag84.xml><?xml version="1.0" encoding="utf-8"?>
<p:tagLst xmlns:p="http://schemas.openxmlformats.org/presentationml/2006/main">
  <p:tag name="KSO_WM_DIAGRAM_VIRTUALLY_FRAME" val="{&quot;height&quot;:375.9987401574803,&quot;left&quot;:55.19433070866144,&quot;top&quot;:125.01417322834645,&quot;width&quot;:824.4081102362204}"/>
</p:tagLst>
</file>

<file path=ppt/tags/tag85.xml><?xml version="1.0" encoding="utf-8"?>
<p:tagLst xmlns:p="http://schemas.openxmlformats.org/presentationml/2006/main">
  <p:tag name="KSO_WM_DIAGRAM_VIRTUALLY_FRAME" val="{&quot;height&quot;:375.9987401574803,&quot;left&quot;:55.19433070866144,&quot;top&quot;:125.01417322834645,&quot;width&quot;:824.4081102362204}"/>
</p:tagLst>
</file>

<file path=ppt/tags/tag86.xml><?xml version="1.0" encoding="utf-8"?>
<p:tagLst xmlns:p="http://schemas.openxmlformats.org/presentationml/2006/main">
  <p:tag name="PA" val="v5.2.11"/>
</p:tagLst>
</file>

<file path=ppt/tags/tag87.xml><?xml version="1.0" encoding="utf-8"?>
<p:tagLst xmlns:p="http://schemas.openxmlformats.org/presentationml/2006/main">
  <p:tag name="PA" val="v5.2.11"/>
</p:tagLst>
</file>

<file path=ppt/tags/tag88.xml><?xml version="1.0" encoding="utf-8"?>
<p:tagLst xmlns:p="http://schemas.openxmlformats.org/presentationml/2006/main">
  <p:tag name="PA" val="v5.2.11"/>
</p:tagLst>
</file>

<file path=ppt/tags/tag89.xml><?xml version="1.0" encoding="utf-8"?>
<p:tagLst xmlns:p="http://schemas.openxmlformats.org/presentationml/2006/main">
  <p:tag name="PA" val="v5.2.11"/>
</p:tagLst>
</file>

<file path=ppt/tags/tag90.xml><?xml version="1.0" encoding="utf-8"?>
<p:tagLst xmlns:p="http://schemas.openxmlformats.org/presentationml/2006/main">
  <p:tag name="PA" val="v5.2.11"/>
</p:tagLst>
</file>

<file path=ppt/tags/tag91.xml><?xml version="1.0" encoding="utf-8"?>
<p:tagLst xmlns:p="http://schemas.openxmlformats.org/presentationml/2006/main">
  <p:tag name="PA" val="v5.2.11"/>
</p:tagLst>
</file>

<file path=ppt/tags/tag92.xml><?xml version="1.0" encoding="utf-8"?>
<p:tagLst xmlns:p="http://schemas.openxmlformats.org/presentationml/2006/main">
  <p:tag name="PA" val="v5.2.11"/>
</p:tagLst>
</file>

<file path=ppt/tags/tag93.xml><?xml version="1.0" encoding="utf-8"?>
<p:tagLst xmlns:p="http://schemas.openxmlformats.org/presentationml/2006/main">
  <p:tag name="PA" val="v5.2.11"/>
</p:tagLst>
</file>

<file path=ppt/tags/tag94.xml><?xml version="1.0" encoding="utf-8"?>
<p:tagLst xmlns:p="http://schemas.openxmlformats.org/presentationml/2006/main">
  <p:tag name="PA" val="v5.2.11"/>
</p:tagLst>
</file>

<file path=ppt/tags/tag95.xml><?xml version="1.0" encoding="utf-8"?>
<p:tagLst xmlns:p="http://schemas.openxmlformats.org/presentationml/2006/main">
  <p:tag name="PA" val="v5.2.11"/>
</p:tagLst>
</file>

<file path=ppt/tags/tag96.xml><?xml version="1.0" encoding="utf-8"?>
<p:tagLst xmlns:p="http://schemas.openxmlformats.org/presentationml/2006/main">
  <p:tag name="PA" val="v5.2.11"/>
</p:tagLst>
</file>

<file path=ppt/tags/tag97.xml><?xml version="1.0" encoding="utf-8"?>
<p:tagLst xmlns:p="http://schemas.openxmlformats.org/presentationml/2006/main">
  <p:tag name="PA" val="v5.2.11"/>
</p:tagLst>
</file>

<file path=ppt/tags/tag98.xml><?xml version="1.0" encoding="utf-8"?>
<p:tagLst xmlns:p="http://schemas.openxmlformats.org/presentationml/2006/main">
  <p:tag name="PA" val="v5.2.11"/>
</p:tagLst>
</file>

<file path=ppt/tags/tag99.xml><?xml version="1.0" encoding="utf-8"?>
<p:tagLst xmlns:p="http://schemas.openxmlformats.org/presentationml/2006/main">
  <p:tag name="PA" val="v5.2.11"/>
</p:tagLst>
</file>

<file path=ppt/tags/tag100.xml><?xml version="1.0" encoding="utf-8"?>
<p:tagLst xmlns:p="http://schemas.openxmlformats.org/presentationml/2006/main">
  <p:tag name="KSO_WM_DIAGRAM_VIRTUALLY_FRAME" val="{&quot;height&quot;:328.8445669291339,&quot;left&quot;:94.02196850393702,&quot;top&quot;:121.21968503937008,&quot;width&quot;:762.9899212598426}"/>
</p:tagLst>
</file>

<file path=ppt/tags/tag101.xml><?xml version="1.0" encoding="utf-8"?>
<p:tagLst xmlns:p="http://schemas.openxmlformats.org/presentationml/2006/main">
  <p:tag name="PA" val="v5.2.11"/>
  <p:tag name="KSO_WM_DIAGRAM_VIRTUALLY_FRAME" val="{&quot;height&quot;:328.8445669291339,&quot;left&quot;:94.02196850393702,&quot;top&quot;:121.21968503937008,&quot;width&quot;:762.9899212598426}"/>
</p:tagLst>
</file>

<file path=ppt/tags/tag102.xml><?xml version="1.0" encoding="utf-8"?>
<p:tagLst xmlns:p="http://schemas.openxmlformats.org/presentationml/2006/main">
  <p:tag name="PA" val="v5.2.11"/>
  <p:tag name="KSO_WM_DIAGRAM_VIRTUALLY_FRAME" val="{&quot;height&quot;:328.8445669291339,&quot;left&quot;:94.02196850393702,&quot;top&quot;:121.21968503937008,&quot;width&quot;:762.9899212598426}"/>
</p:tagLst>
</file>

<file path=ppt/tags/tag103.xml><?xml version="1.0" encoding="utf-8"?>
<p:tagLst xmlns:p="http://schemas.openxmlformats.org/presentationml/2006/main">
  <p:tag name="PA" val="v5.2.11"/>
  <p:tag name="KSO_WM_DIAGRAM_VIRTUALLY_FRAME" val="{&quot;height&quot;:328.8445669291339,&quot;left&quot;:94.02196850393702,&quot;top&quot;:121.21968503937008,&quot;width&quot;:762.9899212598426}"/>
</p:tagLst>
</file>

<file path=ppt/tags/tag104.xml><?xml version="1.0" encoding="utf-8"?>
<p:tagLst xmlns:p="http://schemas.openxmlformats.org/presentationml/2006/main">
  <p:tag name="KSO_WM_DIAGRAM_VIRTUALLY_FRAME" val="{&quot;height&quot;:328.8445669291339,&quot;left&quot;:94.02196850393702,&quot;top&quot;:121.21968503937008,&quot;width&quot;:762.9899212598426}"/>
</p:tagLst>
</file>

<file path=ppt/tags/tag105.xml><?xml version="1.0" encoding="utf-8"?>
<p:tagLst xmlns:p="http://schemas.openxmlformats.org/presentationml/2006/main">
  <p:tag name="KSO_WM_DIAGRAM_VIRTUALLY_FRAME" val="{&quot;height&quot;:328.8445669291339,&quot;left&quot;:94.02196850393702,&quot;top&quot;:121.21968503937008,&quot;width&quot;:762.9899212598426}"/>
</p:tagLst>
</file>

<file path=ppt/tags/tag106.xml><?xml version="1.0" encoding="utf-8"?>
<p:tagLst xmlns:p="http://schemas.openxmlformats.org/presentationml/2006/main">
  <p:tag name="PA" val="v5.2.11"/>
  <p:tag name="KSO_WM_DIAGRAM_VIRTUALLY_FRAME" val="{&quot;height&quot;:328.8445669291339,&quot;left&quot;:94.02196850393702,&quot;top&quot;:121.21968503937008,&quot;width&quot;:762.9899212598426}"/>
</p:tagLst>
</file>

<file path=ppt/tags/tag107.xml><?xml version="1.0" encoding="utf-8"?>
<p:tagLst xmlns:p="http://schemas.openxmlformats.org/presentationml/2006/main">
  <p:tag name="KSO_WM_DIAGRAM_VIRTUALLY_FRAME" val="{&quot;height&quot;:328.8445669291339,&quot;left&quot;:94.02196850393702,&quot;top&quot;:121.21968503937008,&quot;width&quot;:762.9899212598426}"/>
</p:tagLst>
</file>

<file path=ppt/tags/tag108.xml><?xml version="1.0" encoding="utf-8"?>
<p:tagLst xmlns:p="http://schemas.openxmlformats.org/presentationml/2006/main">
  <p:tag name="PA" val="v5.2.11"/>
  <p:tag name="KSO_WM_DIAGRAM_VIRTUALLY_FRAME" val="{&quot;height&quot;:328.8445669291339,&quot;left&quot;:94.02196850393702,&quot;top&quot;:121.21968503937008,&quot;width&quot;:762.9899212598426}"/>
</p:tagLst>
</file>

<file path=ppt/tags/tag109.xml><?xml version="1.0" encoding="utf-8"?>
<p:tagLst xmlns:p="http://schemas.openxmlformats.org/presentationml/2006/main">
  <p:tag name="PA" val="v5.2.11"/>
  <p:tag name="KSO_WM_DIAGRAM_VIRTUALLY_FRAME" val="{&quot;height&quot;:328.8445669291339,&quot;left&quot;:94.02196850393702,&quot;top&quot;:121.21968503937008,&quot;width&quot;:762.9899212598426}"/>
</p:tagLst>
</file>

<file path=ppt/tags/tag110.xml><?xml version="1.0" encoding="utf-8"?>
<p:tagLst xmlns:p="http://schemas.openxmlformats.org/presentationml/2006/main">
  <p:tag name="KSO_WM_DIAGRAM_VIRTUALLY_FRAME" val="{&quot;height&quot;:328.8445669291339,&quot;left&quot;:94.02196850393702,&quot;top&quot;:121.21968503937008,&quot;width&quot;:762.9899212598426}"/>
</p:tagLst>
</file>

<file path=ppt/tags/tag111.xml><?xml version="1.0" encoding="utf-8"?>
<p:tagLst xmlns:p="http://schemas.openxmlformats.org/presentationml/2006/main">
  <p:tag name="PA" val="v5.2.11"/>
  <p:tag name="KSO_WM_DIAGRAM_VIRTUALLY_FRAME" val="{&quot;height&quot;:328.8445669291339,&quot;left&quot;:94.02196850393702,&quot;top&quot;:121.21968503937008,&quot;width&quot;:762.9899212598426}"/>
</p:tagLst>
</file>

<file path=ppt/tags/tag112.xml><?xml version="1.0" encoding="utf-8"?>
<p:tagLst xmlns:p="http://schemas.openxmlformats.org/presentationml/2006/main">
  <p:tag name="KSO_WM_DIAGRAM_VIRTUALLY_FRAME" val="{&quot;height&quot;:328.8445669291339,&quot;left&quot;:94.02196850393702,&quot;top&quot;:121.21968503937008,&quot;width&quot;:762.9899212598426}"/>
</p:tagLst>
</file>

<file path=ppt/tags/tag113.xml><?xml version="1.0" encoding="utf-8"?>
<p:tagLst xmlns:p="http://schemas.openxmlformats.org/presentationml/2006/main">
  <p:tag name="PA" val="v5.2.11"/>
  <p:tag name="KSO_WM_DIAGRAM_VIRTUALLY_FRAME" val="{&quot;height&quot;:328.8445669291339,&quot;left&quot;:94.02196850393702,&quot;top&quot;:121.21968503937008,&quot;width&quot;:762.9899212598426}"/>
</p:tagLst>
</file>

<file path=ppt/tags/tag114.xml><?xml version="1.0" encoding="utf-8"?>
<p:tagLst xmlns:p="http://schemas.openxmlformats.org/presentationml/2006/main">
  <p:tag name="PA" val="v5.2.11"/>
  <p:tag name="KSO_WM_DIAGRAM_VIRTUALLY_FRAME" val="{&quot;height&quot;:328.8445669291339,&quot;left&quot;:94.02196850393702,&quot;top&quot;:121.21968503937008,&quot;width&quot;:762.9899212598426}"/>
</p:tagLst>
</file>

<file path=ppt/tags/tag115.xml><?xml version="1.0" encoding="utf-8"?>
<p:tagLst xmlns:p="http://schemas.openxmlformats.org/presentationml/2006/main">
  <p:tag name="KSO_WM_DIAGRAM_VIRTUALLY_FRAME" val="{&quot;height&quot;:328.8445669291339,&quot;left&quot;:94.02196850393702,&quot;top&quot;:121.21968503937008,&quot;width&quot;:762.9899212598426}"/>
</p:tagLst>
</file>

<file path=ppt/tags/tag116.xml><?xml version="1.0" encoding="utf-8"?>
<p:tagLst xmlns:p="http://schemas.openxmlformats.org/presentationml/2006/main">
  <p:tag name="PA" val="v5.2.11"/>
  <p:tag name="KSO_WM_DIAGRAM_VIRTUALLY_FRAME" val="{&quot;height&quot;:328.8445669291339,&quot;left&quot;:94.02196850393702,&quot;top&quot;:121.21968503937008,&quot;width&quot;:762.9899212598426}"/>
</p:tagLst>
</file>

<file path=ppt/tags/tag117.xml><?xml version="1.0" encoding="utf-8"?>
<p:tagLst xmlns:p="http://schemas.openxmlformats.org/presentationml/2006/main">
  <p:tag name="PA" val="v5.2.11"/>
  <p:tag name="KSO_WM_DIAGRAM_VIRTUALLY_FRAME" val="{&quot;height&quot;:328.8445669291339,&quot;left&quot;:94.02196850393702,&quot;top&quot;:121.21968503937008,&quot;width&quot;:762.9899212598426}"/>
</p:tagLst>
</file>

<file path=ppt/tags/tag118.xml><?xml version="1.0" encoding="utf-8"?>
<p:tagLst xmlns:p="http://schemas.openxmlformats.org/presentationml/2006/main">
  <p:tag name="PA" val="v5.2.11"/>
  <p:tag name="KSO_WM_DIAGRAM_VIRTUALLY_FRAME" val="{&quot;height&quot;:328.8445669291339,&quot;left&quot;:94.02196850393702,&quot;top&quot;:121.21968503937008,&quot;width&quot;:762.9899212598426}"/>
</p:tagLst>
</file>

<file path=ppt/tags/tag119.xml><?xml version="1.0" encoding="utf-8"?>
<p:tagLst xmlns:p="http://schemas.openxmlformats.org/presentationml/2006/main">
  <p:tag name="KSO_WM_DIAGRAM_VIRTUALLY_FRAME" val="{&quot;height&quot;:328.8445669291339,&quot;left&quot;:94.02196850393702,&quot;top&quot;:121.21968503937008,&quot;width&quot;:762.9899212598426}"/>
</p:tagLst>
</file>

<file path=ppt/tags/tag120.xml><?xml version="1.0" encoding="utf-8"?>
<p:tagLst xmlns:p="http://schemas.openxmlformats.org/presentationml/2006/main">
  <p:tag name="KSO_WM_DIAGRAM_VIRTUALLY_FRAME" val="{&quot;height&quot;:328.8445669291339,&quot;left&quot;:94.02196850393702,&quot;top&quot;:121.21968503937008,&quot;width&quot;:762.9899212598426}"/>
</p:tagLst>
</file>

<file path=ppt/tags/tag121.xml><?xml version="1.0" encoding="utf-8"?>
<p:tagLst xmlns:p="http://schemas.openxmlformats.org/presentationml/2006/main">
  <p:tag name="PA" val="v5.2.11"/>
  <p:tag name="KSO_WM_DIAGRAM_VIRTUALLY_FRAME" val="{&quot;height&quot;:328.8445669291339,&quot;left&quot;:94.02196850393702,&quot;top&quot;:121.21968503937008,&quot;width&quot;:762.9899212598426}"/>
</p:tagLst>
</file>

<file path=ppt/tags/tag122.xml><?xml version="1.0" encoding="utf-8"?>
<p:tagLst xmlns:p="http://schemas.openxmlformats.org/presentationml/2006/main">
  <p:tag name="KSO_WM_DIAGRAM_VIRTUALLY_FRAME" val="{&quot;height&quot;:328.8445669291339,&quot;left&quot;:94.02196850393702,&quot;top&quot;:121.21968503937008,&quot;width&quot;:762.9899212598426}"/>
</p:tagLst>
</file>

<file path=ppt/tags/tag123.xml><?xml version="1.0" encoding="utf-8"?>
<p:tagLst xmlns:p="http://schemas.openxmlformats.org/presentationml/2006/main">
  <p:tag name="PA" val="v5.2.11"/>
  <p:tag name="KSO_WM_DIAGRAM_VIRTUALLY_FRAME" val="{&quot;height&quot;:328.8445669291339,&quot;left&quot;:94.02196850393702,&quot;top&quot;:121.21968503937008,&quot;width&quot;:762.9899212598426}"/>
</p:tagLst>
</file>

<file path=ppt/tags/tag124.xml><?xml version="1.0" encoding="utf-8"?>
<p:tagLst xmlns:p="http://schemas.openxmlformats.org/presentationml/2006/main">
  <p:tag name="PA" val="v5.2.11"/>
  <p:tag name="KSO_WM_DIAGRAM_VIRTUALLY_FRAME" val="{&quot;height&quot;:328.8445669291339,&quot;left&quot;:94.02196850393702,&quot;top&quot;:121.21968503937008,&quot;width&quot;:762.9899212598426}"/>
</p:tagLst>
</file>

<file path=ppt/tags/tag125.xml><?xml version="1.0" encoding="utf-8"?>
<p:tagLst xmlns:p="http://schemas.openxmlformats.org/presentationml/2006/main">
  <p:tag name="KSO_WM_DIAGRAM_VIRTUALLY_FRAME" val="{&quot;height&quot;:328.8445669291339,&quot;left&quot;:94.02196850393702,&quot;top&quot;:121.21968503937008,&quot;width&quot;:762.9899212598426}"/>
</p:tagLst>
</file>

<file path=ppt/tags/tag126.xml><?xml version="1.0" encoding="utf-8"?>
<p:tagLst xmlns:p="http://schemas.openxmlformats.org/presentationml/2006/main">
  <p:tag name="PA" val="v5.2.11"/>
  <p:tag name="KSO_WM_DIAGRAM_VIRTUALLY_FRAME" val="{&quot;height&quot;:328.8445669291339,&quot;left&quot;:94.02196850393702,&quot;top&quot;:121.21968503937008,&quot;width&quot;:762.9899212598426}"/>
</p:tagLst>
</file>

<file path=ppt/tags/tag127.xml><?xml version="1.0" encoding="utf-8"?>
<p:tagLst xmlns:p="http://schemas.openxmlformats.org/presentationml/2006/main">
  <p:tag name="KSO_WM_DIAGRAM_VIRTUALLY_FRAME" val="{&quot;height&quot;:328.8445669291339,&quot;left&quot;:94.02196850393702,&quot;top&quot;:121.21968503937008,&quot;width&quot;:762.9899212598426}"/>
</p:tagLst>
</file>

<file path=ppt/tags/tag128.xml><?xml version="1.0" encoding="utf-8"?>
<p:tagLst xmlns:p="http://schemas.openxmlformats.org/presentationml/2006/main">
  <p:tag name="PA" val="v5.2.11"/>
  <p:tag name="KSO_WM_DIAGRAM_VIRTUALLY_FRAME" val="{&quot;height&quot;:328.8445669291339,&quot;left&quot;:94.02196850393702,&quot;top&quot;:121.21968503937008,&quot;width&quot;:762.9899212598426}"/>
</p:tagLst>
</file>

<file path=ppt/tags/tag129.xml><?xml version="1.0" encoding="utf-8"?>
<p:tagLst xmlns:p="http://schemas.openxmlformats.org/presentationml/2006/main">
  <p:tag name="PA" val="v5.2.11"/>
  <p:tag name="KSO_WM_DIAGRAM_VIRTUALLY_FRAME" val="{&quot;height&quot;:328.8445669291339,&quot;left&quot;:94.02196850393702,&quot;top&quot;:121.21968503937008,&quot;width&quot;:762.9899212598426}"/>
</p:tagLst>
</file>

<file path=ppt/tags/tag130.xml><?xml version="1.0" encoding="utf-8"?>
<p:tagLst xmlns:p="http://schemas.openxmlformats.org/presentationml/2006/main">
  <p:tag name="KSO_WM_DIAGRAM_VIRTUALLY_FRAME" val="{&quot;height&quot;:345.2564305120917,&quot;left&quot;:82.9,&quot;top&quot;:107.27603585727529,&quot;width&quot;:807.2925196850395}"/>
</p:tagLst>
</file>

<file path=ppt/tags/tag131.xml><?xml version="1.0" encoding="utf-8"?>
<p:tagLst xmlns:p="http://schemas.openxmlformats.org/presentationml/2006/main">
  <p:tag name="KSO_WM_DIAGRAM_VIRTUALLY_FRAME" val="{&quot;height&quot;:345.2564305120917,&quot;left&quot;:82.9,&quot;top&quot;:107.27603585727529,&quot;width&quot;:807.2925196850395}"/>
</p:tagLst>
</file>

<file path=ppt/tags/tag132.xml><?xml version="1.0" encoding="utf-8"?>
<p:tagLst xmlns:p="http://schemas.openxmlformats.org/presentationml/2006/main">
  <p:tag name="KSO_WM_DIAGRAM_VIRTUALLY_FRAME" val="{&quot;height&quot;:345.2564305120917,&quot;left&quot;:82.9,&quot;top&quot;:107.27603585727529,&quot;width&quot;:807.2925196850395}"/>
</p:tagLst>
</file>

<file path=ppt/tags/tag133.xml><?xml version="1.0" encoding="utf-8"?>
<p:tagLst xmlns:p="http://schemas.openxmlformats.org/presentationml/2006/main">
  <p:tag name="KSO_WM_DIAGRAM_VIRTUALLY_FRAME" val="{&quot;height&quot;:345.2564305120917,&quot;left&quot;:82.9,&quot;top&quot;:107.27603585727529,&quot;width&quot;:807.2925196850395}"/>
</p:tagLst>
</file>

<file path=ppt/tags/tag134.xml><?xml version="1.0" encoding="utf-8"?>
<p:tagLst xmlns:p="http://schemas.openxmlformats.org/presentationml/2006/main">
  <p:tag name="KSO_WM_DIAGRAM_VIRTUALLY_FRAME" val="{&quot;height&quot;:345.2564305120917,&quot;left&quot;:82.9,&quot;top&quot;:107.27603585727529,&quot;width&quot;:807.2925196850395}"/>
</p:tagLst>
</file>

<file path=ppt/tags/tag135.xml><?xml version="1.0" encoding="utf-8"?>
<p:tagLst xmlns:p="http://schemas.openxmlformats.org/presentationml/2006/main">
  <p:tag name="KSO_WM_DIAGRAM_VIRTUALLY_FRAME" val="{&quot;height&quot;:345.2564305120917,&quot;left&quot;:82.9,&quot;top&quot;:107.27603585727529,&quot;width&quot;:807.2925196850395}"/>
</p:tagLst>
</file>

<file path=ppt/tags/tag136.xml><?xml version="1.0" encoding="utf-8"?>
<p:tagLst xmlns:p="http://schemas.openxmlformats.org/presentationml/2006/main">
  <p:tag name="KSO_WM_DIAGRAM_VIRTUALLY_FRAME" val="{&quot;height&quot;:345.2564305120917,&quot;left&quot;:82.9,&quot;top&quot;:107.27603585727529,&quot;width&quot;:807.2925196850395}"/>
</p:tagLst>
</file>

<file path=ppt/tags/tag137.xml><?xml version="1.0" encoding="utf-8"?>
<p:tagLst xmlns:p="http://schemas.openxmlformats.org/presentationml/2006/main">
  <p:tag name="KSO_WM_DIAGRAM_VIRTUALLY_FRAME" val="{&quot;height&quot;:345.2564305120917,&quot;left&quot;:82.9,&quot;top&quot;:107.27603585727529,&quot;width&quot;:807.2925196850395}"/>
</p:tagLst>
</file>

<file path=ppt/tags/tag138.xml><?xml version="1.0" encoding="utf-8"?>
<p:tagLst xmlns:p="http://schemas.openxmlformats.org/presentationml/2006/main">
  <p:tag name="KSO_WM_DIAGRAM_VIRTUALLY_FRAME" val="{&quot;height&quot;:345.2564305120917,&quot;left&quot;:82.9,&quot;top&quot;:107.27603585727529,&quot;width&quot;:807.2925196850395}"/>
</p:tagLst>
</file>

<file path=ppt/tags/tag139.xml><?xml version="1.0" encoding="utf-8"?>
<p:tagLst xmlns:p="http://schemas.openxmlformats.org/presentationml/2006/main">
  <p:tag name="KSO_WM_DIAGRAM_VIRTUALLY_FRAME" val="{&quot;height&quot;:345.2564305120917,&quot;left&quot;:82.9,&quot;top&quot;:107.27603585727529,&quot;width&quot;:807.2925196850395}"/>
</p:tagLst>
</file>

<file path=ppt/tags/tag140.xml><?xml version="1.0" encoding="utf-8"?>
<p:tagLst xmlns:p="http://schemas.openxmlformats.org/presentationml/2006/main">
  <p:tag name="KSO_WM_DIAGRAM_VIRTUALLY_FRAME" val="{&quot;height&quot;:345.2564305120917,&quot;left&quot;:82.9,&quot;top&quot;:107.27603585727529,&quot;width&quot;:807.2925196850395}"/>
</p:tagLst>
</file>

<file path=ppt/tags/tag141.xml><?xml version="1.0" encoding="utf-8"?>
<p:tagLst xmlns:p="http://schemas.openxmlformats.org/presentationml/2006/main">
  <p:tag name="KSO_WM_DIAGRAM_VIRTUALLY_FRAME" val="{&quot;height&quot;:345.2564305120917,&quot;left&quot;:82.9,&quot;top&quot;:107.27603585727529,&quot;width&quot;:807.2925196850395}"/>
</p:tagLst>
</file>

<file path=ppt/tags/tag142.xml><?xml version="1.0" encoding="utf-8"?>
<p:tagLst xmlns:p="http://schemas.openxmlformats.org/presentationml/2006/main">
  <p:tag name="KSO_WM_DIAGRAM_VIRTUALLY_FRAME" val="{&quot;height&quot;:345.2564305120917,&quot;left&quot;:82.9,&quot;top&quot;:107.27603585727529,&quot;width&quot;:807.2925196850395}"/>
</p:tagLst>
</file>

<file path=ppt/tags/tag143.xml><?xml version="1.0" encoding="utf-8"?>
<p:tagLst xmlns:p="http://schemas.openxmlformats.org/presentationml/2006/main">
  <p:tag name="KSO_WM_DIAGRAM_VIRTUALLY_FRAME" val="{&quot;height&quot;:345.2564305120917,&quot;left&quot;:82.9,&quot;top&quot;:107.27603585727529,&quot;width&quot;:807.2925196850395}"/>
</p:tagLst>
</file>

<file path=ppt/tags/tag144.xml><?xml version="1.0" encoding="utf-8"?>
<p:tagLst xmlns:p="http://schemas.openxmlformats.org/presentationml/2006/main">
  <p:tag name="KSO_WM_DIAGRAM_VIRTUALLY_FRAME" val="{&quot;height&quot;:345.2564305120917,&quot;left&quot;:82.9,&quot;top&quot;:107.27603585727529,&quot;width&quot;:807.2925196850395}"/>
</p:tagLst>
</file>

<file path=ppt/tags/tag145.xml><?xml version="1.0" encoding="utf-8"?>
<p:tagLst xmlns:p="http://schemas.openxmlformats.org/presentationml/2006/main">
  <p:tag name="KSO_WM_DIAGRAM_VIRTUALLY_FRAME" val="{&quot;height&quot;:345.2564305120917,&quot;left&quot;:82.9,&quot;top&quot;:107.27603585727529,&quot;width&quot;:807.2925196850395}"/>
</p:tagLst>
</file>

<file path=ppt/tags/tag146.xml><?xml version="1.0" encoding="utf-8"?>
<p:tagLst xmlns:p="http://schemas.openxmlformats.org/presentationml/2006/main">
  <p:tag name="KSO_WM_DIAGRAM_VIRTUALLY_FRAME" val="{&quot;height&quot;:345.2564305120917,&quot;left&quot;:82.9,&quot;top&quot;:107.27603585727529,&quot;width&quot;:807.2925196850395}"/>
</p:tagLst>
</file>

<file path=ppt/tags/tag147.xml><?xml version="1.0" encoding="utf-8"?>
<p:tagLst xmlns:p="http://schemas.openxmlformats.org/presentationml/2006/main">
  <p:tag name="KSO_WM_DIAGRAM_VIRTUALLY_FRAME" val="{&quot;height&quot;:345.2564305120917,&quot;left&quot;:82.9,&quot;top&quot;:107.27603585727529,&quot;width&quot;:807.2925196850395}"/>
</p:tagLst>
</file>

<file path=ppt/tags/tag148.xml><?xml version="1.0" encoding="utf-8"?>
<p:tagLst xmlns:p="http://schemas.openxmlformats.org/presentationml/2006/main">
  <p:tag name="KSO_WM_DIAGRAM_VIRTUALLY_FRAME" val="{&quot;height&quot;:345.2564305120917,&quot;left&quot;:82.9,&quot;top&quot;:107.27603585727529,&quot;width&quot;:807.2925196850395}"/>
</p:tagLst>
</file>

<file path=ppt/tags/tag149.xml><?xml version="1.0" encoding="utf-8"?>
<p:tagLst xmlns:p="http://schemas.openxmlformats.org/presentationml/2006/main">
  <p:tag name="KSO_WM_DIAGRAM_VIRTUALLY_FRAME" val="{&quot;height&quot;:345.2564305120917,&quot;left&quot;:82.9,&quot;top&quot;:107.27603585727529,&quot;width&quot;:807.2925196850395}"/>
</p:tagLst>
</file>

<file path=ppt/tags/tag150.xml><?xml version="1.0" encoding="utf-8"?>
<p:tagLst xmlns:p="http://schemas.openxmlformats.org/presentationml/2006/main">
  <p:tag name="KSO_WM_DIAGRAM_VIRTUALLY_FRAME" val="{&quot;height&quot;:345.2564305120917,&quot;left&quot;:82.9,&quot;top&quot;:107.27603585727529,&quot;width&quot;:807.2925196850395}"/>
</p:tagLst>
</file>

<file path=ppt/tags/tag151.xml><?xml version="1.0" encoding="utf-8"?>
<p:tagLst xmlns:p="http://schemas.openxmlformats.org/presentationml/2006/main">
  <p:tag name="KSO_WM_DIAGRAM_VIRTUALLY_FRAME" val="{&quot;height&quot;:345.2564305120917,&quot;left&quot;:82.9,&quot;top&quot;:107.27603585727529,&quot;width&quot;:807.2925196850395}"/>
</p:tagLst>
</file>

<file path=ppt/tags/tag152.xml><?xml version="1.0" encoding="utf-8"?>
<p:tagLst xmlns:p="http://schemas.openxmlformats.org/presentationml/2006/main">
  <p:tag name="KSO_WM_DIAGRAM_VIRTUALLY_FRAME" val="{&quot;height&quot;:345.2564305120917,&quot;left&quot;:82.9,&quot;top&quot;:107.27603585727529,&quot;width&quot;:807.2925196850395}"/>
</p:tagLst>
</file>

<file path=ppt/tags/tag153.xml><?xml version="1.0" encoding="utf-8"?>
<p:tagLst xmlns:p="http://schemas.openxmlformats.org/presentationml/2006/main">
  <p:tag name="KSO_WM_DIAGRAM_VIRTUALLY_FRAME" val="{&quot;height&quot;:345.2564305120917,&quot;left&quot;:82.9,&quot;top&quot;:107.27603585727529,&quot;width&quot;:807.2925196850395}"/>
</p:tagLst>
</file>

<file path=ppt/tags/tag154.xml><?xml version="1.0" encoding="utf-8"?>
<p:tagLst xmlns:p="http://schemas.openxmlformats.org/presentationml/2006/main">
  <p:tag name="KSO_WM_DIAGRAM_VIRTUALLY_FRAME" val="{&quot;height&quot;:345.2564305120917,&quot;left&quot;:82.9,&quot;top&quot;:107.27603585727529,&quot;width&quot;:807.2925196850395}"/>
</p:tagLst>
</file>

<file path=ppt/tags/tag155.xml><?xml version="1.0" encoding="utf-8"?>
<p:tagLst xmlns:p="http://schemas.openxmlformats.org/presentationml/2006/main">
  <p:tag name="KSO_WM_DIAGRAM_VIRTUALLY_FRAME" val="{&quot;height&quot;:345.2564305120917,&quot;left&quot;:82.9,&quot;top&quot;:107.27603585727529,&quot;width&quot;:807.2925196850395}"/>
</p:tagLst>
</file>

<file path=ppt/tags/tag156.xml><?xml version="1.0" encoding="utf-8"?>
<p:tagLst xmlns:p="http://schemas.openxmlformats.org/presentationml/2006/main">
  <p:tag name="KSO_WM_DIAGRAM_VIRTUALLY_FRAME" val="{&quot;height&quot;:345.2564305120917,&quot;left&quot;:82.9,&quot;top&quot;:107.27603585727529,&quot;width&quot;:807.2925196850395}"/>
</p:tagLst>
</file>

<file path=ppt/tags/tag157.xml><?xml version="1.0" encoding="utf-8"?>
<p:tagLst xmlns:p="http://schemas.openxmlformats.org/presentationml/2006/main">
  <p:tag name="KSO_WM_DIAGRAM_VIRTUALLY_FRAME" val="{&quot;height&quot;:345.2564305120917,&quot;left&quot;:82.9,&quot;top&quot;:107.27603585727529,&quot;width&quot;:807.2925196850395}"/>
</p:tagLst>
</file>

<file path=ppt/tags/tag158.xml><?xml version="1.0" encoding="utf-8"?>
<p:tagLst xmlns:p="http://schemas.openxmlformats.org/presentationml/2006/main">
  <p:tag name="KSO_WM_DIAGRAM_VIRTUALLY_FRAME" val="{&quot;height&quot;:345.2564305120917,&quot;left&quot;:82.9,&quot;top&quot;:107.27603585727529,&quot;width&quot;:807.2925196850395}"/>
</p:tagLst>
</file>

<file path=ppt/tags/tag159.xml><?xml version="1.0" encoding="utf-8"?>
<p:tagLst xmlns:p="http://schemas.openxmlformats.org/presentationml/2006/main">
  <p:tag name="KSO_WM_DIAGRAM_VIRTUALLY_FRAME" val="{&quot;height&quot;:345.2564305120917,&quot;left&quot;:82.9,&quot;top&quot;:107.27603585727529,&quot;width&quot;:807.2925196850395}"/>
</p:tagLst>
</file>

<file path=ppt/tags/tag160.xml><?xml version="1.0" encoding="utf-8"?>
<p:tagLst xmlns:p="http://schemas.openxmlformats.org/presentationml/2006/main">
  <p:tag name="PA" val="v5.2.11"/>
  <p:tag name="KSO_WM_DIAGRAM_VIRTUALLY_FRAME" val="{&quot;height&quot;:345.2564305120917,&quot;left&quot;:82.9,&quot;top&quot;:107.27603585727529,&quot;width&quot;:807.2925196850395}"/>
</p:tagLst>
</file>

<file path=ppt/tags/tag161.xml><?xml version="1.0" encoding="utf-8"?>
<p:tagLst xmlns:p="http://schemas.openxmlformats.org/presentationml/2006/main">
  <p:tag name="PA" val="v5.2.11"/>
  <p:tag name="KSO_WM_DIAGRAM_VIRTUALLY_FRAME" val="{&quot;height&quot;:345.2564305120917,&quot;left&quot;:82.9,&quot;top&quot;:107.27603585727529,&quot;width&quot;:807.2925196850395}"/>
</p:tagLst>
</file>

<file path=ppt/tags/tag162.xml><?xml version="1.0" encoding="utf-8"?>
<p:tagLst xmlns:p="http://schemas.openxmlformats.org/presentationml/2006/main">
  <p:tag name="PA" val="v5.2.11"/>
  <p:tag name="KSO_WM_DIAGRAM_VIRTUALLY_FRAME" val="{&quot;height&quot;:345.2564305120917,&quot;left&quot;:82.9,&quot;top&quot;:107.27603585727529,&quot;width&quot;:807.2925196850395}"/>
</p:tagLst>
</file>

<file path=ppt/tags/tag163.xml><?xml version="1.0" encoding="utf-8"?>
<p:tagLst xmlns:p="http://schemas.openxmlformats.org/presentationml/2006/main">
  <p:tag name="PA" val="v5.2.11"/>
  <p:tag name="KSO_WM_DIAGRAM_VIRTUALLY_FRAME" val="{&quot;height&quot;:345.2564305120917,&quot;left&quot;:82.9,&quot;top&quot;:107.27603585727529,&quot;width&quot;:807.2925196850395}"/>
</p:tagLst>
</file>

<file path=ppt/tags/tag164.xml><?xml version="1.0" encoding="utf-8"?>
<p:tagLst xmlns:p="http://schemas.openxmlformats.org/presentationml/2006/main">
  <p:tag name="PA" val="v5.2.11"/>
  <p:tag name="KSO_WM_DIAGRAM_VIRTUALLY_FRAME" val="{&quot;height&quot;:345.2564305120917,&quot;left&quot;:82.9,&quot;top&quot;:107.27603585727529,&quot;width&quot;:807.2925196850395}"/>
</p:tagLst>
</file>

<file path=ppt/tags/tag165.xml><?xml version="1.0" encoding="utf-8"?>
<p:tagLst xmlns:p="http://schemas.openxmlformats.org/presentationml/2006/main">
  <p:tag name="PA" val="v5.2.11"/>
  <p:tag name="KSO_WM_DIAGRAM_VIRTUALLY_FRAME" val="{&quot;height&quot;:345.2564305120917,&quot;left&quot;:82.9,&quot;top&quot;:107.27603585727529,&quot;width&quot;:807.2925196850395}"/>
</p:tagLst>
</file>

<file path=ppt/tags/tag166.xml><?xml version="1.0" encoding="utf-8"?>
<p:tagLst xmlns:p="http://schemas.openxmlformats.org/presentationml/2006/main">
  <p:tag name="PA" val="v5.2.11"/>
  <p:tag name="KSO_WM_DIAGRAM_VIRTUALLY_FRAME" val="{&quot;height&quot;:345.2564305120917,&quot;left&quot;:82.9,&quot;top&quot;:107.27603585727529,&quot;width&quot;:807.2925196850395}"/>
</p:tagLst>
</file>

<file path=ppt/tags/tag167.xml><?xml version="1.0" encoding="utf-8"?>
<p:tagLst xmlns:p="http://schemas.openxmlformats.org/presentationml/2006/main">
  <p:tag name="PA" val="v5.2.11"/>
  <p:tag name="KSO_WM_DIAGRAM_VIRTUALLY_FRAME" val="{&quot;height&quot;:345.2564305120917,&quot;left&quot;:82.9,&quot;top&quot;:107.27603585727529,&quot;width&quot;:807.2925196850395}"/>
</p:tagLst>
</file>

<file path=ppt/tags/tag168.xml><?xml version="1.0" encoding="utf-8"?>
<p:tagLst xmlns:p="http://schemas.openxmlformats.org/presentationml/2006/main">
  <p:tag name="KSO_WM_DIAGRAM_VIRTUALLY_FRAME" val="{&quot;height&quot;:345.2564305120917,&quot;left&quot;:82.9,&quot;top&quot;:107.27603585727529,&quot;width&quot;:807.2925196850395}"/>
</p:tagLst>
</file>

<file path=ppt/tags/tag169.xml><?xml version="1.0" encoding="utf-8"?>
<p:tagLst xmlns:p="http://schemas.openxmlformats.org/presentationml/2006/main">
  <p:tag name="KSO_WM_BEAUTIFY_FLAG" val=""/>
</p:tagLst>
</file>

<file path=ppt/tags/tag170.xml><?xml version="1.0" encoding="utf-8"?>
<p:tagLst xmlns:p="http://schemas.openxmlformats.org/presentationml/2006/main">
  <p:tag name="KSO_WM_BEAUTIFY_FLAG" val=""/>
</p:tagLst>
</file>

<file path=ppt/tags/tag171.xml><?xml version="1.0" encoding="utf-8"?>
<p:tagLst xmlns:p="http://schemas.openxmlformats.org/presentationml/2006/main">
  <p:tag name="KSO_WM_BEAUTIFY_FLAG" val=""/>
</p:tagLst>
</file>

<file path=ppt/tags/tag172.xml><?xml version="1.0" encoding="utf-8"?>
<p:tagLst xmlns:p="http://schemas.openxmlformats.org/presentationml/2006/main">
  <p:tag name="KSO_WM_BEAUTIFY_FLAG" val=""/>
</p:tagLst>
</file>

<file path=ppt/tags/tag173.xml><?xml version="1.0" encoding="utf-8"?>
<p:tagLst xmlns:p="http://schemas.openxmlformats.org/presentationml/2006/main">
  <p:tag name="KSO_WM_BEAUTIFY_FLAG" val=""/>
</p:tagLst>
</file>

<file path=ppt/tags/tag174.xml><?xml version="1.0" encoding="utf-8"?>
<p:tagLst xmlns:p="http://schemas.openxmlformats.org/presentationml/2006/main">
  <p:tag name="KSO_WM_BEAUTIFY_FLAG" val=""/>
</p:tagLst>
</file>

<file path=ppt/tags/tag175.xml><?xml version="1.0" encoding="utf-8"?>
<p:tagLst xmlns:p="http://schemas.openxmlformats.org/presentationml/2006/main">
  <p:tag name="KSO_WM_BEAUTIFY_FLAG" val=""/>
</p:tagLst>
</file>

<file path=ppt/tags/tag176.xml><?xml version="1.0" encoding="utf-8"?>
<p:tagLst xmlns:p="http://schemas.openxmlformats.org/presentationml/2006/main">
  <p:tag name="KSO_WM_BEAUTIFY_FLAG" val=""/>
</p:tagLst>
</file>

<file path=ppt/tags/tag177.xml><?xml version="1.0" encoding="utf-8"?>
<p:tagLst xmlns:p="http://schemas.openxmlformats.org/presentationml/2006/main">
  <p:tag name="KSO_WM_BEAUTIFY_FLAG" val=""/>
</p:tagLst>
</file>

<file path=ppt/tags/tag178.xml><?xml version="1.0" encoding="utf-8"?>
<p:tagLst xmlns:p="http://schemas.openxmlformats.org/presentationml/2006/main">
  <p:tag name="KSO_WM_BEAUTIFY_FLAG" val=""/>
</p:tagLst>
</file>

<file path=ppt/tags/tag179.xml><?xml version="1.0" encoding="utf-8"?>
<p:tagLst xmlns:p="http://schemas.openxmlformats.org/presentationml/2006/main">
  <p:tag name="KSO_WM_BEAUTIFY_FLAG" val=""/>
</p:tagLst>
</file>

<file path=ppt/tags/tag180.xml><?xml version="1.0" encoding="utf-8"?>
<p:tagLst xmlns:p="http://schemas.openxmlformats.org/presentationml/2006/main">
  <p:tag name="COMMONDATA" val="eyJoZGlkIjoiZjQ2NjU0MWJhYWJlODQ0MTg4NWU0OTZhN2QyMDhiYzM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4667</Words>
  <Application>WPS 演示</Application>
  <PresentationFormat>宽屏</PresentationFormat>
  <Paragraphs>514</Paragraphs>
  <Slides>19</Slides>
  <Notes>0</Notes>
  <HiddenSlides>0</HiddenSlides>
  <MMClips>0</MMClips>
  <ScaleCrop>false</ScaleCrop>
  <HeadingPairs>
    <vt:vector size="6" baseType="variant">
      <vt:variant>
        <vt:lpstr>已用的字体</vt:lpstr>
      </vt:variant>
      <vt:variant>
        <vt:i4>19</vt:i4>
      </vt:variant>
      <vt:variant>
        <vt:lpstr>主题</vt:lpstr>
      </vt:variant>
      <vt:variant>
        <vt:i4>1</vt:i4>
      </vt:variant>
      <vt:variant>
        <vt:lpstr>幻灯片标题</vt:lpstr>
      </vt:variant>
      <vt:variant>
        <vt:i4>19</vt:i4>
      </vt:variant>
    </vt:vector>
  </HeadingPairs>
  <TitlesOfParts>
    <vt:vector size="39" baseType="lpstr">
      <vt:lpstr>Arial</vt:lpstr>
      <vt:lpstr>宋体</vt:lpstr>
      <vt:lpstr>Wingdings</vt:lpstr>
      <vt:lpstr>微软雅黑</vt:lpstr>
      <vt:lpstr>包图粗黑体</vt:lpstr>
      <vt:lpstr>黑体</vt:lpstr>
      <vt:lpstr>思源黑体旧字形 Light</vt:lpstr>
      <vt:lpstr>思源黑体 CN Normal</vt:lpstr>
      <vt:lpstr>quote-cjk-patch</vt:lpstr>
      <vt:lpstr>FFont-Family</vt:lpstr>
      <vt:lpstr>阿里巴巴普惠体 H</vt:lpstr>
      <vt:lpstr>OPPOSans M</vt:lpstr>
      <vt:lpstr>Menlo</vt:lpstr>
      <vt:lpstr>Calibri Light</vt:lpstr>
      <vt:lpstr>思源黑体 CN Heavy</vt:lpstr>
      <vt:lpstr>等线</vt:lpstr>
      <vt:lpstr>Arial Unicode MS</vt:lpstr>
      <vt:lpstr>等线 Light</vt:lpstr>
      <vt:lpstr>KSOFBD28ECAF</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 R C</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Windows User</dc:creator>
  <cp:lastModifiedBy>WPS_1718022752</cp:lastModifiedBy>
  <cp:revision>45</cp:revision>
  <dcterms:created xsi:type="dcterms:W3CDTF">2024-10-27T04:46:00Z</dcterms:created>
  <dcterms:modified xsi:type="dcterms:W3CDTF">2026-10-27T07:59:27Z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273EF3A92BBA4E24A2EF9026B50640C1_13</vt:lpwstr>
  </property>
  <property fmtid="{D5CDD505-2E9C-101B-9397-08002B2CF9AE}" pid="3" name="KSOProductBuildVer">
    <vt:lpwstr>2052-12.1.0.28505</vt:lpwstr>
  </property>
</Properties>
</file>