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6"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72"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6A4423-D95F-4365-9FC5-8C7810202C7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8332645-EAF7-407B-9804-4B48540D91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F064954-798C-49A6-BD7A-C6F13D36DFA0}"/>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5" name="页脚占位符 4">
            <a:extLst>
              <a:ext uri="{FF2B5EF4-FFF2-40B4-BE49-F238E27FC236}">
                <a16:creationId xmlns:a16="http://schemas.microsoft.com/office/drawing/2014/main" id="{5804A6AB-1DAB-47E4-8616-35824B52C3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2848E4-5DF0-4C3F-A62B-937ACAA466B7}"/>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622401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29D8C-BA3F-49ED-807B-520585B5CF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C6C3BE-7334-4000-A3BB-650925A2387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C829AC-47D6-4A9C-AC41-B961E9E3A4AF}"/>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5" name="页脚占位符 4">
            <a:extLst>
              <a:ext uri="{FF2B5EF4-FFF2-40B4-BE49-F238E27FC236}">
                <a16:creationId xmlns:a16="http://schemas.microsoft.com/office/drawing/2014/main" id="{5C30776A-2F33-484F-AFF6-1D78F0BFCF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8A9E4B-408A-4C80-B7B7-97EABC1225BA}"/>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2928696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36BA74-8C80-49FF-987F-B55DB6EC917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7C537BB-82F4-4FF6-9136-67C283A255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E886C69-0731-4638-9D4C-294B3C0C059E}"/>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5" name="页脚占位符 4">
            <a:extLst>
              <a:ext uri="{FF2B5EF4-FFF2-40B4-BE49-F238E27FC236}">
                <a16:creationId xmlns:a16="http://schemas.microsoft.com/office/drawing/2014/main" id="{C8422A61-7AD5-4F59-8E56-EAA246F513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92069E-29C5-4AC1-8C6F-AC69BD9EAE8A}"/>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3820903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F5024-BEB2-411F-A44F-FB2C5075CF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EF32F3B-6EBC-4D83-A719-C2FCFCF2A07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A9309FD-E1E7-4FDC-A951-8EFF36C0155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AEF1DD9-F2BC-4DA1-9641-6B52033109CD}"/>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6" name="页脚占位符 5">
            <a:extLst>
              <a:ext uri="{FF2B5EF4-FFF2-40B4-BE49-F238E27FC236}">
                <a16:creationId xmlns:a16="http://schemas.microsoft.com/office/drawing/2014/main" id="{E11553F0-26E0-4B2B-A0AB-45BE8CA9D48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48891F-5598-44F2-8D19-3615702228AD}"/>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2631907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A6650F-5F01-43C1-82F6-48E1F9985B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EB50258-0504-4A9C-A047-1C52BD24F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BB387E5-E1E9-4084-B174-B339181A25F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7B619C5-1C2B-425F-BF41-A03A8922DD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2A75BC1-EA22-4935-A7BE-08061F25A8F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1FAA16A-2413-4E45-BBBD-A7E1581BBDFF}"/>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8" name="页脚占位符 7">
            <a:extLst>
              <a:ext uri="{FF2B5EF4-FFF2-40B4-BE49-F238E27FC236}">
                <a16:creationId xmlns:a16="http://schemas.microsoft.com/office/drawing/2014/main" id="{0A3F5095-A0AA-4079-A73A-265548F8E1C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34BA96F-6E16-4033-99D1-C3C16F1760B8}"/>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3414114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3851E0-5A51-4BF3-A099-B44EF94717A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4C4E2CB-4007-40EC-B6B7-DE0316E1502F}"/>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4" name="页脚占位符 3">
            <a:extLst>
              <a:ext uri="{FF2B5EF4-FFF2-40B4-BE49-F238E27FC236}">
                <a16:creationId xmlns:a16="http://schemas.microsoft.com/office/drawing/2014/main" id="{178F4DB9-F5C3-4220-A5F3-A6842AD65C1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A727E79-0545-4A8D-A532-9179BCB0DDD1}"/>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1091514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E7CF26-E064-4420-B795-B8B3BA9B4152}"/>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3" name="页脚占位符 2">
            <a:extLst>
              <a:ext uri="{FF2B5EF4-FFF2-40B4-BE49-F238E27FC236}">
                <a16:creationId xmlns:a16="http://schemas.microsoft.com/office/drawing/2014/main" id="{54BD710B-9C09-436D-A34A-9C23EB451D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4D31FDD-F4FE-4608-9E25-95D20DB9F2F5}"/>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3602493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973028-5223-4CE7-A26A-EED1EEE1E68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4362BE-6C21-44A5-A7A6-C23F7FCB61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A7DC371-5106-4EA2-B558-38D466D27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BA512A4-8BC0-43C9-993D-C151E246C523}"/>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6" name="页脚占位符 5">
            <a:extLst>
              <a:ext uri="{FF2B5EF4-FFF2-40B4-BE49-F238E27FC236}">
                <a16:creationId xmlns:a16="http://schemas.microsoft.com/office/drawing/2014/main" id="{BFFE912B-1CF4-4607-9C66-46FE5A26DE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5E160E-7030-4E02-90E2-02ED9A1C2EB7}"/>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2787230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A32D37-A011-4A07-BACF-EEB4210CD5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4AFD54C-0692-4F48-8D8F-F68E6474B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D04BE81-3045-4382-9823-C1BDD44EC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B585262-9F01-495B-8CD0-4665FE62E573}"/>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6" name="页脚占位符 5">
            <a:extLst>
              <a:ext uri="{FF2B5EF4-FFF2-40B4-BE49-F238E27FC236}">
                <a16:creationId xmlns:a16="http://schemas.microsoft.com/office/drawing/2014/main" id="{98F0C614-B695-487D-816F-F915E4D2F0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808A74-EF3D-44E4-BCAC-D8C2749D64F8}"/>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232168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544E46-3C06-444D-9CD4-9A9B19AEB2A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0DDCFE-0C4C-4BB7-9AB2-0D3C553A3EA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662252-9B35-456B-BD74-53D54A4565D1}"/>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5" name="页脚占位符 4">
            <a:extLst>
              <a:ext uri="{FF2B5EF4-FFF2-40B4-BE49-F238E27FC236}">
                <a16:creationId xmlns:a16="http://schemas.microsoft.com/office/drawing/2014/main" id="{24C9A34D-567C-44D9-887F-728DF7EDC7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16ADBA-E282-4906-8CAE-CEB8826739C9}"/>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596492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A4F8B57-37A4-45A2-B242-0FEACB7BC9F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00AA78-8773-40EA-AD04-B687B37CCE5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A911F44-9C0E-4655-BADC-9D40443ADA09}"/>
              </a:ext>
            </a:extLst>
          </p:cNvPr>
          <p:cNvSpPr>
            <a:spLocks noGrp="1"/>
          </p:cNvSpPr>
          <p:nvPr>
            <p:ph type="dt" sz="half" idx="10"/>
          </p:nvPr>
        </p:nvSpPr>
        <p:spPr/>
        <p:txBody>
          <a:bodyPr/>
          <a:lstStyle/>
          <a:p>
            <a:fld id="{A12E72A3-31EC-4123-B7EA-30C9A9F0C15B}" type="datetimeFigureOut">
              <a:rPr lang="zh-CN" altLang="en-US" smtClean="0"/>
              <a:t>2025/3/31</a:t>
            </a:fld>
            <a:endParaRPr lang="zh-CN" altLang="en-US"/>
          </a:p>
        </p:txBody>
      </p:sp>
      <p:sp>
        <p:nvSpPr>
          <p:cNvPr id="5" name="页脚占位符 4">
            <a:extLst>
              <a:ext uri="{FF2B5EF4-FFF2-40B4-BE49-F238E27FC236}">
                <a16:creationId xmlns:a16="http://schemas.microsoft.com/office/drawing/2014/main" id="{3CDB77EB-0113-4EBE-AA26-74AE165157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BEA5A9-ACED-405B-9067-FBD7F6099A1F}"/>
              </a:ext>
            </a:extLst>
          </p:cNvPr>
          <p:cNvSpPr>
            <a:spLocks noGrp="1"/>
          </p:cNvSpPr>
          <p:nvPr>
            <p:ph type="sldNum" sz="quarter" idx="12"/>
          </p:nvPr>
        </p:nvSpPr>
        <p:spPr/>
        <p:txBody>
          <a:body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225049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D054C6-1B8B-46AE-9C6E-2DCF4F3335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ACD72DE-3258-46A2-873A-5DD5785E6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0258AD4-EC91-457C-8092-DF7361FCE2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E72A3-31EC-4123-B7EA-30C9A9F0C15B}" type="datetimeFigureOut">
              <a:rPr lang="zh-CN" altLang="en-US" smtClean="0"/>
              <a:t>2025/3/31</a:t>
            </a:fld>
            <a:endParaRPr lang="zh-CN" altLang="en-US"/>
          </a:p>
        </p:txBody>
      </p:sp>
      <p:sp>
        <p:nvSpPr>
          <p:cNvPr id="5" name="页脚占位符 4">
            <a:extLst>
              <a:ext uri="{FF2B5EF4-FFF2-40B4-BE49-F238E27FC236}">
                <a16:creationId xmlns:a16="http://schemas.microsoft.com/office/drawing/2014/main" id="{8847AE3A-AA09-49E6-A1A2-E16156A01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FB1C6A0-8E6E-48E9-8F61-E306E6285C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49282-A887-437C-8E21-BA7846E9991B}" type="slidenum">
              <a:rPr lang="zh-CN" altLang="en-US" smtClean="0"/>
              <a:t>‹#›</a:t>
            </a:fld>
            <a:endParaRPr lang="zh-CN" altLang="en-US"/>
          </a:p>
        </p:txBody>
      </p:sp>
    </p:spTree>
    <p:extLst>
      <p:ext uri="{BB962C8B-B14F-4D97-AF65-F5344CB8AC3E}">
        <p14:creationId xmlns:p14="http://schemas.microsoft.com/office/powerpoint/2010/main" val="208560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B4617-80AC-472E-A770-EC38B799E58A}"/>
              </a:ext>
            </a:extLst>
          </p:cNvPr>
          <p:cNvSpPr>
            <a:spLocks noGrp="1"/>
          </p:cNvSpPr>
          <p:nvPr>
            <p:ph type="title"/>
          </p:nvPr>
        </p:nvSpPr>
        <p:spPr/>
        <p:txBody>
          <a:bodyPr/>
          <a:lstStyle/>
          <a:p>
            <a:pPr marL="571500" indent="-571500">
              <a:buFont typeface="Wingdings" panose="05000000000000000000" pitchFamily="2" charset="2"/>
              <a:buChar char="u"/>
            </a:pPr>
            <a:r>
              <a:rPr lang="zh-CN" altLang="en-US" b="1" dirty="0">
                <a:solidFill>
                  <a:srgbClr val="FF0000"/>
                </a:solidFill>
                <a:latin typeface="楷体" panose="02010609060101010101" pitchFamily="49" charset="-122"/>
                <a:ea typeface="楷体" panose="02010609060101010101" pitchFamily="49" charset="-122"/>
              </a:rPr>
              <a:t>从使用目的和实现方式两个方面阐述消息鉴别码和加密算法的差异</a:t>
            </a:r>
          </a:p>
        </p:txBody>
      </p:sp>
      <p:sp>
        <p:nvSpPr>
          <p:cNvPr id="3" name="内容占位符 2">
            <a:extLst>
              <a:ext uri="{FF2B5EF4-FFF2-40B4-BE49-F238E27FC236}">
                <a16:creationId xmlns:a16="http://schemas.microsoft.com/office/drawing/2014/main" id="{CE88AA50-239E-4DF8-8032-00F2D155A2BB}"/>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l"/>
            </a:pPr>
            <a:r>
              <a:rPr lang="zh-CN" altLang="en-US" b="1" dirty="0">
                <a:latin typeface="楷体" panose="02010609060101010101" pitchFamily="49" charset="-122"/>
                <a:ea typeface="楷体" panose="02010609060101010101" pitchFamily="49" charset="-122"/>
              </a:rPr>
              <a:t>使用目的：消息鉴别码通常用于验证消息的完整性和来源，以防止消息被篡改或伪造。加密算法主要用于保护数据的机密性和隐私性，防止数据在传输或存储过程中被非法获取和利用。</a:t>
            </a:r>
            <a:endParaRPr lang="en-US" altLang="zh-CN" b="1" dirty="0">
              <a:latin typeface="楷体" panose="02010609060101010101" pitchFamily="49" charset="-122"/>
              <a:ea typeface="楷体" panose="02010609060101010101" pitchFamily="49" charset="-122"/>
            </a:endParaRPr>
          </a:p>
          <a:p>
            <a:pPr>
              <a:lnSpc>
                <a:spcPct val="150000"/>
              </a:lnSpc>
            </a:pPr>
            <a:endParaRPr lang="en-US" altLang="zh-CN" b="1" dirty="0">
              <a:latin typeface="楷体" panose="02010609060101010101" pitchFamily="49" charset="-122"/>
              <a:ea typeface="楷体" panose="02010609060101010101" pitchFamily="49" charset="-122"/>
            </a:endParaRPr>
          </a:p>
          <a:p>
            <a:pPr>
              <a:lnSpc>
                <a:spcPct val="150000"/>
              </a:lnSpc>
              <a:buFont typeface="Wingdings" panose="05000000000000000000" pitchFamily="2" charset="2"/>
              <a:buChar char="l"/>
            </a:pPr>
            <a:r>
              <a:rPr lang="zh-CN" altLang="zh-CN" b="1" kern="100" dirty="0">
                <a:effectLst/>
                <a:latin typeface="楷体" panose="02010609060101010101" pitchFamily="49" charset="-122"/>
                <a:ea typeface="楷体" panose="02010609060101010101" pitchFamily="49" charset="-122"/>
                <a:cs typeface="Times New Roman" panose="02020603050405020304" pitchFamily="18" charset="0"/>
              </a:rPr>
              <a:t>实现方式：消息鉴别码通常基于单向函数生成，而加解密算法必须是可逆的。在实践中，加密算法的某些特性可以被利用来实现消息鉴别码，从而同时提供数据的完整性和来源认证。不过，即使是使用加密算法实现的消息认证码也并不提供数据的机密性。</a:t>
            </a:r>
            <a:endParaRPr lang="zh-CN" altLang="en-US"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75713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D88CF9-7DA7-4B5C-8E93-76FE34E25BC5}"/>
              </a:ext>
            </a:extLst>
          </p:cNvPr>
          <p:cNvSpPr>
            <a:spLocks noGrp="1"/>
          </p:cNvSpPr>
          <p:nvPr>
            <p:ph type="title"/>
          </p:nvPr>
        </p:nvSpPr>
        <p:spPr/>
        <p:txBody>
          <a:bodyPr/>
          <a:lstStyle/>
          <a:p>
            <a:pPr marL="571500" indent="-571500">
              <a:buFont typeface="Wingdings" panose="05000000000000000000" pitchFamily="2" charset="2"/>
              <a:buChar char="u"/>
            </a:pPr>
            <a:r>
              <a:rPr lang="zh-CN" altLang="zh-CN" b="1" dirty="0">
                <a:solidFill>
                  <a:srgbClr val="FF0000"/>
                </a:solidFill>
                <a:latin typeface="楷体" panose="02010609060101010101" pitchFamily="49" charset="-122"/>
                <a:ea typeface="楷体" panose="02010609060101010101" pitchFamily="49" charset="-122"/>
              </a:rPr>
              <a:t>为什么数据加密和消息鉴别都不能满足数字签名的要求</a:t>
            </a:r>
            <a:endParaRPr lang="zh-CN" altLang="en-US" b="1" dirty="0">
              <a:solidFill>
                <a:srgbClr val="FF0000"/>
              </a:solidFill>
              <a:latin typeface="楷体" panose="02010609060101010101" pitchFamily="49" charset="-122"/>
              <a:ea typeface="楷体" panose="02010609060101010101" pitchFamily="49" charset="-122"/>
            </a:endParaRPr>
          </a:p>
        </p:txBody>
      </p:sp>
      <p:sp>
        <p:nvSpPr>
          <p:cNvPr id="3" name="内容占位符 2">
            <a:extLst>
              <a:ext uri="{FF2B5EF4-FFF2-40B4-BE49-F238E27FC236}">
                <a16:creationId xmlns:a16="http://schemas.microsoft.com/office/drawing/2014/main" id="{6E0F4C2A-54BE-489E-B45D-84B7013B2570}"/>
              </a:ext>
            </a:extLst>
          </p:cNvPr>
          <p:cNvSpPr>
            <a:spLocks noGrp="1"/>
          </p:cNvSpPr>
          <p:nvPr>
            <p:ph idx="1"/>
          </p:nvPr>
        </p:nvSpPr>
        <p:spPr>
          <a:xfrm>
            <a:off x="7419975" y="2141537"/>
            <a:ext cx="3562350" cy="4351338"/>
          </a:xfrm>
        </p:spPr>
        <p:txBody>
          <a:bodyPr>
            <a:normAutofit fontScale="92500" lnSpcReduction="10000"/>
          </a:bodyPr>
          <a:lstStyle/>
          <a:p>
            <a:pPr marL="0" indent="0">
              <a:lnSpc>
                <a:spcPct val="125000"/>
              </a:lnSpc>
              <a:buNone/>
            </a:pPr>
            <a:r>
              <a:rPr lang="zh-CN" altLang="en-US" b="1" dirty="0">
                <a:latin typeface="楷体" panose="02010609060101010101" pitchFamily="49" charset="-122"/>
                <a:ea typeface="楷体" panose="02010609060101010101" pitchFamily="49" charset="-122"/>
              </a:rPr>
              <a:t>    虽然数据加密和消息鉴别在保护数据机密性和完整性方面有重要作用，但它们并不能替代数字签名的功能，数据加密不具备不可抵赖性、可仲裁性。消息鉴别不具备不可重用性、不可伪造性、可仲裁性。</a:t>
            </a:r>
          </a:p>
        </p:txBody>
      </p:sp>
      <p:sp>
        <p:nvSpPr>
          <p:cNvPr id="4" name="文本框 3">
            <a:extLst>
              <a:ext uri="{FF2B5EF4-FFF2-40B4-BE49-F238E27FC236}">
                <a16:creationId xmlns:a16="http://schemas.microsoft.com/office/drawing/2014/main" id="{FFBCFD6D-E232-4C3F-B845-8BD9B324C463}"/>
              </a:ext>
            </a:extLst>
          </p:cNvPr>
          <p:cNvSpPr txBox="1"/>
          <p:nvPr/>
        </p:nvSpPr>
        <p:spPr>
          <a:xfrm>
            <a:off x="838200" y="2141537"/>
            <a:ext cx="6487673" cy="3693319"/>
          </a:xfrm>
          <a:prstGeom prst="rect">
            <a:avLst/>
          </a:prstGeom>
          <a:noFill/>
        </p:spPr>
        <p:txBody>
          <a:bodyPr wrap="none" rtlCol="0">
            <a:spAutoFit/>
          </a:bodyPr>
          <a:lstStyle/>
          <a:p>
            <a:pPr indent="266700" algn="just">
              <a:lnSpc>
                <a:spcPct val="150000"/>
              </a:lnSpc>
            </a:pPr>
            <a:r>
              <a:rPr lang="zh-CN" altLang="zh-CN" sz="2400" b="1" kern="100" dirty="0">
                <a:effectLst/>
                <a:latin typeface="楷体" panose="02010609060101010101" pitchFamily="49" charset="-122"/>
                <a:ea typeface="楷体" panose="02010609060101010101" pitchFamily="49" charset="-122"/>
              </a:rPr>
              <a:t>数据签名的基本要求是</a:t>
            </a:r>
            <a:endParaRPr lang="zh-CN" altLang="zh-CN" sz="2400" kern="100" dirty="0">
              <a:effectLst/>
              <a:latin typeface="楷体" panose="02010609060101010101" pitchFamily="49" charset="-122"/>
              <a:ea typeface="楷体" panose="02010609060101010101" pitchFamily="49" charset="-122"/>
            </a:endParaRPr>
          </a:p>
          <a:p>
            <a:pPr indent="266700" algn="just">
              <a:lnSpc>
                <a:spcPct val="150000"/>
              </a:lnSpc>
            </a:pPr>
            <a:r>
              <a:rPr lang="en-US" altLang="zh-CN" sz="2400" b="1" kern="100" dirty="0">
                <a:effectLst/>
                <a:latin typeface="楷体" panose="02010609060101010101" pitchFamily="49" charset="-122"/>
                <a:ea typeface="楷体" panose="02010609060101010101" pitchFamily="49" charset="-122"/>
              </a:rPr>
              <a:t>1</a:t>
            </a:r>
            <a:r>
              <a:rPr lang="zh-CN" altLang="zh-CN" sz="2400" b="1" kern="100" dirty="0">
                <a:effectLst/>
                <a:latin typeface="楷体" panose="02010609060101010101" pitchFamily="49" charset="-122"/>
                <a:ea typeface="楷体" panose="02010609060101010101" pitchFamily="49" charset="-122"/>
              </a:rPr>
              <a:t>）不可伪造，特异性</a:t>
            </a:r>
            <a:endParaRPr lang="zh-CN" altLang="zh-CN" sz="2400" kern="100" dirty="0">
              <a:effectLst/>
              <a:latin typeface="楷体" panose="02010609060101010101" pitchFamily="49" charset="-122"/>
              <a:ea typeface="楷体" panose="02010609060101010101" pitchFamily="49" charset="-122"/>
            </a:endParaRPr>
          </a:p>
          <a:p>
            <a:pPr indent="266700" algn="just">
              <a:lnSpc>
                <a:spcPct val="150000"/>
              </a:lnSpc>
            </a:pPr>
            <a:r>
              <a:rPr lang="en-US" altLang="zh-CN" sz="2400" b="1" kern="100" dirty="0">
                <a:effectLst/>
                <a:latin typeface="楷体" panose="02010609060101010101" pitchFamily="49" charset="-122"/>
                <a:ea typeface="楷体" panose="02010609060101010101" pitchFamily="49" charset="-122"/>
              </a:rPr>
              <a:t>2</a:t>
            </a:r>
            <a:r>
              <a:rPr lang="zh-CN" altLang="zh-CN" sz="2400" b="1" kern="100" dirty="0">
                <a:effectLst/>
                <a:latin typeface="楷体" panose="02010609060101010101" pitchFamily="49" charset="-122"/>
                <a:ea typeface="楷体" panose="02010609060101010101" pitchFamily="49" charset="-122"/>
              </a:rPr>
              <a:t>）不可重用，日期和时间相关性</a:t>
            </a:r>
            <a:endParaRPr lang="zh-CN" altLang="zh-CN" sz="2400" kern="100" dirty="0">
              <a:effectLst/>
              <a:latin typeface="楷体" panose="02010609060101010101" pitchFamily="49" charset="-122"/>
              <a:ea typeface="楷体" panose="02010609060101010101" pitchFamily="49" charset="-122"/>
            </a:endParaRPr>
          </a:p>
          <a:p>
            <a:pPr indent="266700" algn="just">
              <a:lnSpc>
                <a:spcPct val="150000"/>
              </a:lnSpc>
            </a:pPr>
            <a:r>
              <a:rPr lang="en-US" altLang="zh-CN" sz="2400" b="1" kern="100" dirty="0">
                <a:effectLst/>
                <a:latin typeface="楷体" panose="02010609060101010101" pitchFamily="49" charset="-122"/>
                <a:ea typeface="楷体" panose="02010609060101010101" pitchFamily="49" charset="-122"/>
              </a:rPr>
              <a:t>3</a:t>
            </a:r>
            <a:r>
              <a:rPr lang="zh-CN" altLang="zh-CN" sz="2400" b="1" kern="100" dirty="0">
                <a:effectLst/>
                <a:latin typeface="楷体" panose="02010609060101010101" pitchFamily="49" charset="-122"/>
                <a:ea typeface="楷体" panose="02010609060101010101" pitchFamily="49" charset="-122"/>
              </a:rPr>
              <a:t>）不可改变，能发现涂改、转移意义或用途</a:t>
            </a:r>
            <a:endParaRPr lang="zh-CN" altLang="zh-CN" sz="2400" kern="100" dirty="0">
              <a:effectLst/>
              <a:latin typeface="楷体" panose="02010609060101010101" pitchFamily="49" charset="-122"/>
              <a:ea typeface="楷体" panose="02010609060101010101" pitchFamily="49" charset="-122"/>
            </a:endParaRPr>
          </a:p>
          <a:p>
            <a:pPr indent="266700" algn="just">
              <a:lnSpc>
                <a:spcPct val="150000"/>
              </a:lnSpc>
            </a:pPr>
            <a:r>
              <a:rPr lang="en-US" altLang="zh-CN" sz="2400" b="1" kern="100" dirty="0">
                <a:effectLst/>
                <a:latin typeface="楷体" panose="02010609060101010101" pitchFamily="49" charset="-122"/>
                <a:ea typeface="楷体" panose="02010609060101010101" pitchFamily="49" charset="-122"/>
              </a:rPr>
              <a:t>4</a:t>
            </a:r>
            <a:r>
              <a:rPr lang="zh-CN" altLang="zh-CN" sz="2400" b="1" kern="100" dirty="0">
                <a:effectLst/>
                <a:latin typeface="楷体" panose="02010609060101010101" pitchFamily="49" charset="-122"/>
                <a:ea typeface="楷体" panose="02010609060101010101" pitchFamily="49" charset="-122"/>
              </a:rPr>
              <a:t>）不可抵赖，不能抵赖，能够质证</a:t>
            </a:r>
            <a:endParaRPr lang="zh-CN" altLang="zh-CN" sz="2400" kern="100" dirty="0">
              <a:effectLst/>
              <a:latin typeface="楷体" panose="02010609060101010101" pitchFamily="49" charset="-122"/>
              <a:ea typeface="楷体" panose="02010609060101010101" pitchFamily="49" charset="-122"/>
            </a:endParaRPr>
          </a:p>
          <a:p>
            <a:pPr indent="266700" algn="just">
              <a:lnSpc>
                <a:spcPct val="150000"/>
              </a:lnSpc>
            </a:pPr>
            <a:r>
              <a:rPr lang="en-US" altLang="zh-CN" sz="2400" b="1" kern="100" dirty="0">
                <a:effectLst/>
                <a:latin typeface="楷体" panose="02010609060101010101" pitchFamily="49" charset="-122"/>
                <a:ea typeface="楷体" panose="02010609060101010101" pitchFamily="49" charset="-122"/>
              </a:rPr>
              <a:t>5</a:t>
            </a:r>
            <a:r>
              <a:rPr lang="zh-CN" altLang="zh-CN" sz="2400" b="1" kern="100" dirty="0">
                <a:effectLst/>
                <a:latin typeface="楷体" panose="02010609060101010101" pitchFamily="49" charset="-122"/>
                <a:ea typeface="楷体" panose="02010609060101010101" pitchFamily="49" charset="-122"/>
              </a:rPr>
              <a:t>）可仲裁的，可做为法律证据</a:t>
            </a:r>
            <a:endParaRPr lang="zh-CN" altLang="zh-CN" sz="2400" kern="100" dirty="0">
              <a:effectLst/>
              <a:latin typeface="楷体" panose="02010609060101010101" pitchFamily="49" charset="-122"/>
              <a:ea typeface="楷体" panose="02010609060101010101" pitchFamily="49" charset="-122"/>
            </a:endParaRPr>
          </a:p>
          <a:p>
            <a:endParaRPr lang="zh-CN" altLang="en-US" dirty="0"/>
          </a:p>
        </p:txBody>
      </p:sp>
    </p:spTree>
    <p:extLst>
      <p:ext uri="{BB962C8B-B14F-4D97-AF65-F5344CB8AC3E}">
        <p14:creationId xmlns:p14="http://schemas.microsoft.com/office/powerpoint/2010/main" val="179791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D88CF9-7DA7-4B5C-8E93-76FE34E25BC5}"/>
              </a:ext>
            </a:extLst>
          </p:cNvPr>
          <p:cNvSpPr>
            <a:spLocks noGrp="1"/>
          </p:cNvSpPr>
          <p:nvPr>
            <p:ph type="title"/>
          </p:nvPr>
        </p:nvSpPr>
        <p:spPr/>
        <p:txBody>
          <a:bodyPr>
            <a:noAutofit/>
          </a:bodyPr>
          <a:lstStyle/>
          <a:p>
            <a:pPr marL="571500" indent="-571500">
              <a:buFont typeface="Wingdings" panose="05000000000000000000" pitchFamily="2" charset="2"/>
              <a:buChar char="u"/>
            </a:pPr>
            <a:r>
              <a:rPr lang="zh-CN" altLang="en-US" sz="3600" b="1" dirty="0">
                <a:solidFill>
                  <a:srgbClr val="FF0000"/>
                </a:solidFill>
                <a:latin typeface="楷体" panose="02010609060101010101" pitchFamily="49" charset="-122"/>
                <a:ea typeface="楷体" panose="02010609060101010101" pitchFamily="49" charset="-122"/>
              </a:rPr>
              <a:t>在</a:t>
            </a:r>
            <a:r>
              <a:rPr lang="en-US" altLang="zh-CN" sz="3600" b="1" dirty="0">
                <a:solidFill>
                  <a:srgbClr val="FF0000"/>
                </a:solidFill>
                <a:latin typeface="楷体" panose="02010609060101010101" pitchFamily="49" charset="-122"/>
                <a:ea typeface="楷体" panose="02010609060101010101" pitchFamily="49" charset="-122"/>
              </a:rPr>
              <a:t>BB84</a:t>
            </a:r>
            <a:r>
              <a:rPr lang="zh-CN" altLang="en-US" sz="3600" b="1" dirty="0">
                <a:solidFill>
                  <a:srgbClr val="FF0000"/>
                </a:solidFill>
                <a:latin typeface="楷体" panose="02010609060101010101" pitchFamily="49" charset="-122"/>
                <a:ea typeface="楷体" panose="02010609060101010101" pitchFamily="49" charset="-122"/>
              </a:rPr>
              <a:t>量子密钥分发协议中，</a:t>
            </a:r>
            <a:r>
              <a:rPr lang="en-US" altLang="zh-CN" sz="3600" b="1" dirty="0">
                <a:solidFill>
                  <a:srgbClr val="FF0000"/>
                </a:solidFill>
                <a:latin typeface="楷体" panose="02010609060101010101" pitchFamily="49" charset="-122"/>
                <a:ea typeface="楷体" panose="02010609060101010101" pitchFamily="49" charset="-122"/>
              </a:rPr>
              <a:t>Alice</a:t>
            </a:r>
            <a:r>
              <a:rPr lang="zh-CN" altLang="en-US" sz="3600" b="1" dirty="0">
                <a:solidFill>
                  <a:srgbClr val="FF0000"/>
                </a:solidFill>
                <a:latin typeface="楷体" panose="02010609060101010101" pitchFamily="49" charset="-122"/>
                <a:ea typeface="楷体" panose="02010609060101010101" pitchFamily="49" charset="-122"/>
              </a:rPr>
              <a:t>作为发送方，</a:t>
            </a:r>
            <a:r>
              <a:rPr lang="en-US" altLang="zh-CN" sz="3600" b="1" dirty="0">
                <a:solidFill>
                  <a:srgbClr val="FF0000"/>
                </a:solidFill>
                <a:latin typeface="楷体" panose="02010609060101010101" pitchFamily="49" charset="-122"/>
                <a:ea typeface="楷体" panose="02010609060101010101" pitchFamily="49" charset="-122"/>
              </a:rPr>
              <a:t>Bob</a:t>
            </a:r>
            <a:r>
              <a:rPr lang="zh-CN" altLang="en-US" sz="3600" b="1" dirty="0">
                <a:solidFill>
                  <a:srgbClr val="FF0000"/>
                </a:solidFill>
                <a:latin typeface="楷体" panose="02010609060101010101" pitchFamily="49" charset="-122"/>
                <a:ea typeface="楷体" panose="02010609060101010101" pitchFamily="49" charset="-122"/>
              </a:rPr>
              <a:t>作为接收方，如何发现是否存在</a:t>
            </a:r>
            <a:r>
              <a:rPr lang="en-US" altLang="zh-CN" sz="3600" b="1" dirty="0">
                <a:solidFill>
                  <a:srgbClr val="FF0000"/>
                </a:solidFill>
                <a:latin typeface="楷体" panose="02010609060101010101" pitchFamily="49" charset="-122"/>
                <a:ea typeface="楷体" panose="02010609060101010101" pitchFamily="49" charset="-122"/>
              </a:rPr>
              <a:t>Eve</a:t>
            </a:r>
            <a:r>
              <a:rPr lang="zh-CN" altLang="en-US" sz="3600" b="1" dirty="0">
                <a:solidFill>
                  <a:srgbClr val="FF0000"/>
                </a:solidFill>
                <a:latin typeface="楷体" panose="02010609060101010101" pitchFamily="49" charset="-122"/>
                <a:ea typeface="楷体" panose="02010609060101010101" pitchFamily="49" charset="-122"/>
              </a:rPr>
              <a:t>窃听</a:t>
            </a:r>
          </a:p>
        </p:txBody>
      </p:sp>
      <p:sp>
        <p:nvSpPr>
          <p:cNvPr id="3" name="内容占位符 2">
            <a:extLst>
              <a:ext uri="{FF2B5EF4-FFF2-40B4-BE49-F238E27FC236}">
                <a16:creationId xmlns:a16="http://schemas.microsoft.com/office/drawing/2014/main" id="{6E0F4C2A-54BE-489E-B45D-84B7013B2570}"/>
              </a:ext>
            </a:extLst>
          </p:cNvPr>
          <p:cNvSpPr>
            <a:spLocks noGrp="1"/>
          </p:cNvSpPr>
          <p:nvPr>
            <p:ph idx="1"/>
          </p:nvPr>
        </p:nvSpPr>
        <p:spPr>
          <a:xfrm>
            <a:off x="614362" y="1797050"/>
            <a:ext cx="10963275" cy="4851400"/>
          </a:xfrm>
        </p:spPr>
        <p:txBody>
          <a:bodyPr>
            <a:normAutofit fontScale="47500" lnSpcReduction="20000"/>
          </a:bodyPr>
          <a:lstStyle/>
          <a:p>
            <a:pPr>
              <a:lnSpc>
                <a:spcPct val="145000"/>
              </a:lnSpc>
              <a:buFont typeface="Wingdings" panose="05000000000000000000" pitchFamily="2" charset="2"/>
              <a:buChar char="l"/>
            </a:pPr>
            <a:r>
              <a:rPr lang="en-US" altLang="zh-CN" sz="5100" b="1" dirty="0">
                <a:latin typeface="楷体" panose="02010609060101010101" pitchFamily="49" charset="-122"/>
                <a:ea typeface="楷体" panose="02010609060101010101" pitchFamily="49" charset="-122"/>
              </a:rPr>
              <a:t>Alice</a:t>
            </a:r>
            <a:r>
              <a:rPr lang="zh-CN" altLang="en-US" sz="5100" b="1" dirty="0">
                <a:latin typeface="楷体" panose="02010609060101010101" pitchFamily="49" charset="-122"/>
                <a:ea typeface="楷体" panose="02010609060101010101" pitchFamily="49" charset="-122"/>
              </a:rPr>
              <a:t>和</a:t>
            </a:r>
            <a:r>
              <a:rPr lang="en-US" altLang="zh-CN" sz="5100" b="1" dirty="0">
                <a:latin typeface="楷体" panose="02010609060101010101" pitchFamily="49" charset="-122"/>
                <a:ea typeface="楷体" panose="02010609060101010101" pitchFamily="49" charset="-122"/>
              </a:rPr>
              <a:t>Bob</a:t>
            </a:r>
            <a:r>
              <a:rPr lang="zh-CN" altLang="en-US" sz="5100" b="1" dirty="0">
                <a:latin typeface="楷体" panose="02010609060101010101" pitchFamily="49" charset="-122"/>
                <a:ea typeface="楷体" panose="02010609060101010101" pitchFamily="49" charset="-122"/>
              </a:rPr>
              <a:t>会公开一部分光子的编码基和测量基，比较这些光子的测量结果；</a:t>
            </a:r>
          </a:p>
          <a:p>
            <a:pPr>
              <a:lnSpc>
                <a:spcPct val="145000"/>
              </a:lnSpc>
              <a:buFont typeface="Wingdings" panose="05000000000000000000" pitchFamily="2" charset="2"/>
              <a:buChar char="l"/>
            </a:pPr>
            <a:r>
              <a:rPr lang="en-US" altLang="zh-CN" sz="5100" b="1" dirty="0">
                <a:latin typeface="楷体" panose="02010609060101010101" pitchFamily="49" charset="-122"/>
                <a:ea typeface="楷体" panose="02010609060101010101" pitchFamily="49" charset="-122"/>
              </a:rPr>
              <a:t>Bob</a:t>
            </a:r>
            <a:r>
              <a:rPr lang="zh-CN" altLang="en-US" sz="5100" b="1" dirty="0">
                <a:latin typeface="楷体" panose="02010609060101010101" pitchFamily="49" charset="-122"/>
                <a:ea typeface="楷体" panose="02010609060101010101" pitchFamily="49" charset="-122"/>
              </a:rPr>
              <a:t>统计这部分光子中的错误数量，并计算错误率</a:t>
            </a:r>
            <a:r>
              <a:rPr lang="en-US" altLang="zh-CN" sz="5100" b="1" dirty="0">
                <a:latin typeface="楷体" panose="02010609060101010101" pitchFamily="49" charset="-122"/>
                <a:ea typeface="楷体" panose="02010609060101010101" pitchFamily="49" charset="-122"/>
              </a:rPr>
              <a:t>=</a:t>
            </a:r>
            <a:r>
              <a:rPr lang="zh-CN" altLang="en-US" sz="5100" b="1" dirty="0">
                <a:latin typeface="楷体" panose="02010609060101010101" pitchFamily="49" charset="-122"/>
                <a:ea typeface="楷体" panose="02010609060101010101" pitchFamily="49" charset="-122"/>
              </a:rPr>
              <a:t>错误的光子数 </a:t>
            </a:r>
            <a:r>
              <a:rPr lang="en-US" altLang="zh-CN" sz="5100" b="1" dirty="0">
                <a:latin typeface="楷体" panose="02010609060101010101" pitchFamily="49" charset="-122"/>
                <a:ea typeface="楷体" panose="02010609060101010101" pitchFamily="49" charset="-122"/>
              </a:rPr>
              <a:t>/ </a:t>
            </a:r>
            <a:r>
              <a:rPr lang="zh-CN" altLang="en-US" sz="5100" b="1" dirty="0">
                <a:latin typeface="楷体" panose="02010609060101010101" pitchFamily="49" charset="-122"/>
                <a:ea typeface="楷体" panose="02010609060101010101" pitchFamily="49" charset="-122"/>
              </a:rPr>
              <a:t>公开比较的光子总数；</a:t>
            </a:r>
          </a:p>
          <a:p>
            <a:pPr>
              <a:lnSpc>
                <a:spcPct val="145000"/>
              </a:lnSpc>
              <a:buFont typeface="Wingdings" panose="05000000000000000000" pitchFamily="2" charset="2"/>
              <a:buChar char="l"/>
            </a:pPr>
            <a:r>
              <a:rPr lang="zh-CN" altLang="en-US" sz="5100" b="1" dirty="0">
                <a:latin typeface="楷体" panose="02010609060101010101" pitchFamily="49" charset="-122"/>
                <a:ea typeface="楷体" panose="02010609060101010101" pitchFamily="49" charset="-122"/>
              </a:rPr>
              <a:t>如果没有窃听，由于量子信道本身的噪声和设备的误差，</a:t>
            </a:r>
            <a:r>
              <a:rPr lang="en-US" altLang="zh-CN" sz="5100" b="1" dirty="0">
                <a:latin typeface="楷体" panose="02010609060101010101" pitchFamily="49" charset="-122"/>
                <a:ea typeface="楷体" panose="02010609060101010101" pitchFamily="49" charset="-122"/>
              </a:rPr>
              <a:t>Bob</a:t>
            </a:r>
            <a:r>
              <a:rPr lang="zh-CN" altLang="en-US" sz="5100" b="1" dirty="0">
                <a:latin typeface="楷体" panose="02010609060101010101" pitchFamily="49" charset="-122"/>
                <a:ea typeface="楷体" panose="02010609060101010101" pitchFamily="49" charset="-122"/>
              </a:rPr>
              <a:t>的错误率应该在一个较低的预期范围内；</a:t>
            </a:r>
          </a:p>
          <a:p>
            <a:pPr>
              <a:lnSpc>
                <a:spcPct val="145000"/>
              </a:lnSpc>
              <a:buFont typeface="Wingdings" panose="05000000000000000000" pitchFamily="2" charset="2"/>
              <a:buChar char="l"/>
            </a:pPr>
            <a:r>
              <a:rPr lang="zh-CN" altLang="en-US" sz="5100" b="1" dirty="0">
                <a:latin typeface="楷体" panose="02010609060101010101" pitchFamily="49" charset="-122"/>
                <a:ea typeface="楷体" panose="02010609060101010101" pitchFamily="49" charset="-122"/>
              </a:rPr>
              <a:t>如果存在窃听，攻击者</a:t>
            </a:r>
            <a:r>
              <a:rPr lang="en-US" altLang="zh-CN" sz="5100" b="1" dirty="0">
                <a:latin typeface="楷体" panose="02010609060101010101" pitchFamily="49" charset="-122"/>
                <a:ea typeface="楷体" panose="02010609060101010101" pitchFamily="49" charset="-122"/>
              </a:rPr>
              <a:t>Eve</a:t>
            </a:r>
            <a:r>
              <a:rPr lang="zh-CN" altLang="en-US" sz="5100" b="1" dirty="0">
                <a:latin typeface="楷体" panose="02010609060101010101" pitchFamily="49" charset="-122"/>
                <a:ea typeface="楷体" panose="02010609060101010101" pitchFamily="49" charset="-122"/>
              </a:rPr>
              <a:t>的测量会引入额外的错误，导致</a:t>
            </a:r>
            <a:r>
              <a:rPr lang="en-US" altLang="zh-CN" sz="5100" b="1" dirty="0">
                <a:latin typeface="楷体" panose="02010609060101010101" pitchFamily="49" charset="-122"/>
                <a:ea typeface="楷体" panose="02010609060101010101" pitchFamily="49" charset="-122"/>
              </a:rPr>
              <a:t>Bob</a:t>
            </a:r>
            <a:r>
              <a:rPr lang="zh-CN" altLang="en-US" sz="5100" b="1" dirty="0">
                <a:latin typeface="楷体" panose="02010609060101010101" pitchFamily="49" charset="-122"/>
                <a:ea typeface="楷体" panose="02010609060101010101" pitchFamily="49" charset="-122"/>
              </a:rPr>
              <a:t>的错误率显著上升；</a:t>
            </a:r>
          </a:p>
          <a:p>
            <a:pPr>
              <a:lnSpc>
                <a:spcPct val="145000"/>
              </a:lnSpc>
              <a:buFont typeface="Wingdings" panose="05000000000000000000" pitchFamily="2" charset="2"/>
              <a:buChar char="l"/>
            </a:pPr>
            <a:r>
              <a:rPr lang="zh-CN" altLang="en-US" sz="5100" b="1" dirty="0">
                <a:latin typeface="楷体" panose="02010609060101010101" pitchFamily="49" charset="-122"/>
                <a:ea typeface="楷体" panose="02010609060101010101" pitchFamily="49" charset="-122"/>
              </a:rPr>
              <a:t>设定一个合理的阈值。如果</a:t>
            </a:r>
            <a:r>
              <a:rPr lang="en-US" altLang="zh-CN" sz="5100" b="1" dirty="0">
                <a:latin typeface="楷体" panose="02010609060101010101" pitchFamily="49" charset="-122"/>
                <a:ea typeface="楷体" panose="02010609060101010101" pitchFamily="49" charset="-122"/>
              </a:rPr>
              <a:t>Bob</a:t>
            </a:r>
            <a:r>
              <a:rPr lang="zh-CN" altLang="en-US" sz="5100" b="1" dirty="0">
                <a:latin typeface="楷体" panose="02010609060101010101" pitchFamily="49" charset="-122"/>
                <a:ea typeface="楷体" panose="02010609060101010101" pitchFamily="49" charset="-122"/>
              </a:rPr>
              <a:t>的错误率超过这个阈值，就可以认为存在窃听攻击。</a:t>
            </a:r>
          </a:p>
          <a:p>
            <a:endParaRPr lang="zh-CN" altLang="en-US" b="1" dirty="0"/>
          </a:p>
        </p:txBody>
      </p:sp>
    </p:spTree>
    <p:extLst>
      <p:ext uri="{BB962C8B-B14F-4D97-AF65-F5344CB8AC3E}">
        <p14:creationId xmlns:p14="http://schemas.microsoft.com/office/powerpoint/2010/main" val="417395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62090-15A4-4604-B44F-8D798F41C094}"/>
              </a:ext>
            </a:extLst>
          </p:cNvPr>
          <p:cNvSpPr>
            <a:spLocks noGrp="1"/>
          </p:cNvSpPr>
          <p:nvPr>
            <p:ph type="title"/>
          </p:nvPr>
        </p:nvSpPr>
        <p:spPr/>
        <p:txBody>
          <a:bodyPr>
            <a:normAutofit fontScale="90000"/>
          </a:bodyPr>
          <a:lstStyle/>
          <a:p>
            <a:pPr marL="571500" indent="-571500">
              <a:buFont typeface="Wingdings" panose="05000000000000000000" pitchFamily="2" charset="2"/>
              <a:buChar char="u"/>
            </a:pPr>
            <a:r>
              <a:rPr lang="zh-CN" altLang="en-US" sz="3600" b="1" dirty="0">
                <a:solidFill>
                  <a:srgbClr val="FF0000"/>
                </a:solidFill>
                <a:latin typeface="楷体" panose="02010609060101010101" pitchFamily="49" charset="-122"/>
                <a:ea typeface="楷体" panose="02010609060101010101" pitchFamily="49" charset="-122"/>
              </a:rPr>
              <a:t>选取两个不同的质数：</a:t>
            </a:r>
            <a:r>
              <a:rPr lang="en-US" altLang="zh-CN" sz="3600" b="1" dirty="0">
                <a:solidFill>
                  <a:srgbClr val="FF0000"/>
                </a:solidFill>
                <a:latin typeface="楷体" panose="02010609060101010101" pitchFamily="49" charset="-122"/>
                <a:ea typeface="楷体" panose="02010609060101010101" pitchFamily="49" charset="-122"/>
              </a:rPr>
              <a:t>p = 7, q = 19</a:t>
            </a:r>
            <a:r>
              <a:rPr lang="zh-CN" altLang="en-US" sz="3600" b="1" dirty="0">
                <a:solidFill>
                  <a:srgbClr val="FF0000"/>
                </a:solidFill>
                <a:latin typeface="楷体" panose="02010609060101010101" pitchFamily="49" charset="-122"/>
                <a:ea typeface="楷体" panose="02010609060101010101" pitchFamily="49" charset="-122"/>
              </a:rPr>
              <a:t>，请使用</a:t>
            </a:r>
            <a:r>
              <a:rPr lang="en-US" altLang="zh-CN" sz="3600" b="1" dirty="0">
                <a:solidFill>
                  <a:srgbClr val="FF0000"/>
                </a:solidFill>
                <a:latin typeface="楷体" panose="02010609060101010101" pitchFamily="49" charset="-122"/>
                <a:ea typeface="楷体" panose="02010609060101010101" pitchFamily="49" charset="-122"/>
              </a:rPr>
              <a:t>RSA</a:t>
            </a:r>
            <a:r>
              <a:rPr lang="zh-CN" altLang="en-US" sz="3600" b="1" dirty="0">
                <a:solidFill>
                  <a:srgbClr val="FF0000"/>
                </a:solidFill>
                <a:latin typeface="楷体" panose="02010609060101010101" pitchFamily="49" charset="-122"/>
                <a:ea typeface="楷体" panose="02010609060101010101" pitchFamily="49" charset="-122"/>
              </a:rPr>
              <a:t>算法完成消息的加密。请根据上述信息回答以下问题，并写出计算过程。</a:t>
            </a:r>
          </a:p>
        </p:txBody>
      </p:sp>
      <p:sp>
        <p:nvSpPr>
          <p:cNvPr id="3" name="内容占位符 2">
            <a:extLst>
              <a:ext uri="{FF2B5EF4-FFF2-40B4-BE49-F238E27FC236}">
                <a16:creationId xmlns:a16="http://schemas.microsoft.com/office/drawing/2014/main" id="{F077589A-1064-4F02-BAB6-0D29B95AAAD0}"/>
              </a:ext>
            </a:extLst>
          </p:cNvPr>
          <p:cNvSpPr>
            <a:spLocks noGrp="1"/>
          </p:cNvSpPr>
          <p:nvPr>
            <p:ph sz="half" idx="1"/>
          </p:nvPr>
        </p:nvSpPr>
        <p:spPr>
          <a:xfrm>
            <a:off x="838199" y="1825625"/>
            <a:ext cx="10086975" cy="4351338"/>
          </a:xfrm>
        </p:spPr>
        <p:txBody>
          <a:bodyPr>
            <a:normAutofit fontScale="92500" lnSpcReduction="20000"/>
          </a:bodyPr>
          <a:lstStyle/>
          <a:p>
            <a:pPr indent="0" algn="just">
              <a:lnSpc>
                <a:spcPct val="125000"/>
              </a:lnSpc>
              <a:buNone/>
            </a:pP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）计算</a:t>
            </a:r>
            <a:r>
              <a:rPr lang="en-US" altLang="zh-CN" sz="2400" b="1" kern="100" dirty="0">
                <a:effectLst/>
                <a:latin typeface="Times New Roman" panose="02020603050405020304" pitchFamily="18" charset="0"/>
                <a:ea typeface="宋体" panose="02010600030101010101" pitchFamily="2" charset="-122"/>
              </a:rPr>
              <a:t> n </a:t>
            </a:r>
            <a:r>
              <a:rPr lang="zh-CN" altLang="zh-CN" sz="2400" b="1" kern="100" dirty="0">
                <a:effectLst/>
                <a:latin typeface="Times New Roman" panose="02020603050405020304" pitchFamily="18" charset="0"/>
                <a:ea typeface="宋体" panose="02010600030101010101" pitchFamily="2" charset="-122"/>
              </a:rPr>
              <a:t>的值：</a:t>
            </a:r>
            <a:endParaRPr lang="en-US" altLang="zh-CN" sz="2400" b="1" kern="100" dirty="0">
              <a:effectLst/>
              <a:latin typeface="Times New Roman" panose="02020603050405020304" pitchFamily="18" charset="0"/>
              <a:ea typeface="宋体" panose="02010600030101010101" pitchFamily="2" charset="-122"/>
            </a:endParaRPr>
          </a:p>
          <a:p>
            <a:pPr indent="0" algn="just">
              <a:lnSpc>
                <a:spcPct val="125000"/>
              </a:lnSpc>
              <a:buNone/>
            </a:pPr>
            <a:r>
              <a:rPr lang="en-US" altLang="zh-CN" sz="2000" b="1" kern="100" dirty="0">
                <a:latin typeface="Times New Roman" panose="02020603050405020304" pitchFamily="18" charset="0"/>
                <a:ea typeface="宋体" panose="02010600030101010101" pitchFamily="2" charset="-122"/>
              </a:rPr>
              <a:t>        </a:t>
            </a:r>
            <a:r>
              <a:rPr lang="en-US" altLang="zh-CN" sz="2000" b="1" kern="100" dirty="0">
                <a:effectLst/>
                <a:latin typeface="Times New Roman" panose="02020603050405020304" pitchFamily="18" charset="0"/>
                <a:ea typeface="宋体" panose="02010600030101010101" pitchFamily="2" charset="-122"/>
              </a:rPr>
              <a:t>n = p * q = 7 * 19 = 133</a:t>
            </a:r>
          </a:p>
          <a:p>
            <a:pPr indent="0" algn="just">
              <a:lnSpc>
                <a:spcPct val="125000"/>
              </a:lnSpc>
              <a:buNone/>
            </a:pPr>
            <a:r>
              <a:rPr lang="en-US" altLang="zh-CN" sz="2400" b="1" kern="100" dirty="0">
                <a:effectLst/>
                <a:latin typeface="Times New Roman" panose="02020603050405020304" pitchFamily="18" charset="0"/>
                <a:ea typeface="宋体" panose="02010600030101010101" pitchFamily="2" charset="-122"/>
              </a:rPr>
              <a:t>2</a:t>
            </a:r>
            <a:r>
              <a:rPr lang="zh-CN" altLang="zh-CN" sz="2400" b="1" kern="100" dirty="0">
                <a:effectLst/>
                <a:latin typeface="Times New Roman" panose="02020603050405020304" pitchFamily="18" charset="0"/>
                <a:ea typeface="宋体" panose="02010600030101010101" pitchFamily="2" charset="-122"/>
              </a:rPr>
              <a:t>）计算 φ</a:t>
            </a:r>
            <a:r>
              <a:rPr lang="en-US" altLang="zh-CN" sz="2400" b="1" kern="100" dirty="0">
                <a:effectLst/>
                <a:latin typeface="Times New Roman" panose="02020603050405020304" pitchFamily="18" charset="0"/>
                <a:ea typeface="宋体" panose="02010600030101010101" pitchFamily="2" charset="-122"/>
              </a:rPr>
              <a:t>(n) </a:t>
            </a:r>
            <a:r>
              <a:rPr lang="zh-CN" altLang="zh-CN" sz="2400" b="1" kern="100" dirty="0">
                <a:effectLst/>
                <a:latin typeface="Times New Roman" panose="02020603050405020304" pitchFamily="18" charset="0"/>
                <a:ea typeface="宋体" panose="02010600030101010101" pitchFamily="2" charset="-122"/>
              </a:rPr>
              <a:t>的值：</a:t>
            </a:r>
          </a:p>
          <a:p>
            <a:pPr marL="0" indent="0">
              <a:lnSpc>
                <a:spcPct val="125000"/>
              </a:lnSpc>
              <a:buNone/>
            </a:pPr>
            <a:r>
              <a:rPr lang="en-US" altLang="zh-CN" sz="2100" b="1" kern="100" dirty="0">
                <a:latin typeface="Times New Roman" panose="02020603050405020304" pitchFamily="18" charset="0"/>
                <a:ea typeface="宋体" panose="02010600030101010101" pitchFamily="2" charset="-122"/>
              </a:rPr>
              <a:t>           </a:t>
            </a:r>
            <a:r>
              <a:rPr lang="zh-CN" altLang="zh-CN" sz="2100" b="1" kern="100" dirty="0">
                <a:latin typeface="Times New Roman" panose="02020603050405020304" pitchFamily="18" charset="0"/>
                <a:ea typeface="宋体" panose="02010600030101010101" pitchFamily="2" charset="-122"/>
              </a:rPr>
              <a:t>φ</a:t>
            </a:r>
            <a:r>
              <a:rPr lang="en-US" altLang="zh-CN" sz="2400" b="1" kern="100" dirty="0">
                <a:effectLst/>
                <a:latin typeface="Times New Roman" panose="02020603050405020304" pitchFamily="18" charset="0"/>
                <a:ea typeface="宋体" panose="02010600030101010101" pitchFamily="2" charset="-122"/>
              </a:rPr>
              <a:t>(n) = (p-1) * (q-1) = 6 * 18 = 108</a:t>
            </a:r>
            <a:endParaRPr lang="en-US" altLang="zh-CN" sz="2400" b="1" kern="100" dirty="0">
              <a:latin typeface="Times New Roman" panose="02020603050405020304" pitchFamily="18" charset="0"/>
              <a:ea typeface="宋体" panose="02010600030101010101" pitchFamily="2" charset="-122"/>
            </a:endParaRPr>
          </a:p>
          <a:p>
            <a:pPr marL="0" indent="0">
              <a:lnSpc>
                <a:spcPct val="125000"/>
              </a:lnSpc>
              <a:buNone/>
            </a:pPr>
            <a:r>
              <a:rPr lang="en-US" altLang="zh-CN" sz="2400" b="1" kern="100" dirty="0">
                <a:effectLst/>
                <a:latin typeface="Times New Roman" panose="02020603050405020304" pitchFamily="18" charset="0"/>
                <a:ea typeface="宋体" panose="02010600030101010101" pitchFamily="2" charset="-122"/>
              </a:rPr>
              <a:t>    3</a:t>
            </a:r>
            <a:r>
              <a:rPr lang="zh-CN" altLang="zh-CN" sz="2400" b="1" kern="100" dirty="0">
                <a:effectLst/>
                <a:latin typeface="Times New Roman" panose="02020603050405020304" pitchFamily="18" charset="0"/>
                <a:ea typeface="宋体" panose="02010600030101010101" pitchFamily="2" charset="-122"/>
              </a:rPr>
              <a:t>）计算私钥</a:t>
            </a:r>
            <a:r>
              <a:rPr lang="en-US" altLang="zh-CN" sz="2400" b="1" kern="100" dirty="0">
                <a:effectLst/>
                <a:latin typeface="Times New Roman" panose="02020603050405020304" pitchFamily="18" charset="0"/>
                <a:ea typeface="宋体" panose="02010600030101010101" pitchFamily="2" charset="-122"/>
              </a:rPr>
              <a:t> d </a:t>
            </a:r>
            <a:r>
              <a:rPr lang="zh-CN" altLang="zh-CN" sz="2400" b="1" kern="100" dirty="0">
                <a:effectLst/>
                <a:latin typeface="Times New Roman" panose="02020603050405020304" pitchFamily="18" charset="0"/>
                <a:ea typeface="宋体" panose="02010600030101010101" pitchFamily="2" charset="-122"/>
              </a:rPr>
              <a:t>的值：</a:t>
            </a:r>
            <a:endParaRPr lang="en-US" altLang="zh-CN" sz="2400" b="1" kern="100" dirty="0">
              <a:latin typeface="Times New Roman" panose="02020603050405020304" pitchFamily="18" charset="0"/>
              <a:ea typeface="宋体" panose="02010600030101010101" pitchFamily="2" charset="-122"/>
            </a:endParaRPr>
          </a:p>
          <a:p>
            <a:pPr marL="0" indent="0">
              <a:lnSpc>
                <a:spcPct val="125000"/>
              </a:lnSpc>
              <a:buNone/>
            </a:pPr>
            <a:r>
              <a:rPr lang="en-US" altLang="zh-CN" sz="2400" b="1" kern="100" dirty="0">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根据扩展欧几里得算法，求解</a:t>
            </a:r>
            <a:r>
              <a:rPr lang="en-US" altLang="zh-CN" sz="2400" b="1" kern="100" dirty="0">
                <a:effectLst/>
                <a:latin typeface="Times New Roman" panose="02020603050405020304" pitchFamily="18" charset="0"/>
                <a:ea typeface="宋体" panose="02010600030101010101" pitchFamily="2" charset="-122"/>
              </a:rPr>
              <a:t> (d * e) mod </a:t>
            </a:r>
            <a:r>
              <a:rPr lang="zh-CN" altLang="zh-CN" sz="2400" b="1" kern="100" dirty="0">
                <a:effectLst/>
                <a:latin typeface="Times New Roman" panose="02020603050405020304" pitchFamily="18" charset="0"/>
                <a:ea typeface="宋体" panose="02010600030101010101" pitchFamily="2" charset="-122"/>
              </a:rPr>
              <a:t>φ</a:t>
            </a:r>
            <a:r>
              <a:rPr lang="en-US" altLang="zh-CN" sz="2400" b="1" kern="100" dirty="0">
                <a:effectLst/>
                <a:latin typeface="Times New Roman" panose="02020603050405020304" pitchFamily="18" charset="0"/>
                <a:ea typeface="宋体" panose="02010600030101010101" pitchFamily="2" charset="-122"/>
              </a:rPr>
              <a:t>(n) = 1</a:t>
            </a:r>
            <a:r>
              <a:rPr lang="zh-CN"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得到</a:t>
            </a:r>
            <a:r>
              <a:rPr lang="en-US" altLang="zh-CN" sz="2400" b="1" kern="100" dirty="0">
                <a:effectLst/>
                <a:latin typeface="Times New Roman" panose="02020603050405020304" pitchFamily="18" charset="0"/>
                <a:ea typeface="宋体" panose="02010600030101010101" pitchFamily="2" charset="-122"/>
              </a:rPr>
              <a:t> d = 59</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lgn="just">
              <a:lnSpc>
                <a:spcPct val="125000"/>
              </a:lnSpc>
              <a:buNone/>
            </a:pPr>
            <a:r>
              <a:rPr lang="en-US" altLang="zh-CN" sz="2400" b="1" kern="100" dirty="0">
                <a:latin typeface="Times New Roman" panose="02020603050405020304" pitchFamily="18" charset="0"/>
                <a:ea typeface="宋体" panose="02010600030101010101" pitchFamily="2" charset="-122"/>
              </a:rPr>
              <a:t>4</a:t>
            </a:r>
            <a:r>
              <a:rPr lang="zh-CN" altLang="zh-CN" sz="2400" b="1" kern="100" dirty="0">
                <a:latin typeface="Times New Roman" panose="02020603050405020304" pitchFamily="18" charset="0"/>
                <a:ea typeface="宋体" panose="02010600030101010101" pitchFamily="2" charset="-122"/>
              </a:rPr>
              <a:t>）使用公钥加密消息</a:t>
            </a:r>
            <a:r>
              <a:rPr lang="en-US" altLang="zh-CN" sz="2400" b="1" kern="100" dirty="0">
                <a:latin typeface="Times New Roman" panose="02020603050405020304" pitchFamily="18" charset="0"/>
                <a:ea typeface="宋体" panose="02010600030101010101" pitchFamily="2" charset="-122"/>
              </a:rPr>
              <a:t> M = 3</a:t>
            </a:r>
            <a:r>
              <a:rPr lang="zh-CN" altLang="zh-CN" sz="2400" b="1" kern="100" dirty="0">
                <a:latin typeface="Times New Roman" panose="02020603050405020304" pitchFamily="18" charset="0"/>
                <a:ea typeface="宋体" panose="02010600030101010101" pitchFamily="2" charset="-122"/>
              </a:rPr>
              <a:t>：</a:t>
            </a:r>
          </a:p>
          <a:p>
            <a:pPr indent="0" algn="just">
              <a:lnSpc>
                <a:spcPct val="125000"/>
              </a:lnSpc>
              <a:buNone/>
            </a:pPr>
            <a:r>
              <a:rPr lang="en-US" altLang="zh-CN" sz="2400" b="1" kern="100" dirty="0">
                <a:latin typeface="Times New Roman" panose="02020603050405020304" pitchFamily="18" charset="0"/>
                <a:ea typeface="宋体" panose="02010600030101010101" pitchFamily="2" charset="-122"/>
              </a:rPr>
              <a:t>      </a:t>
            </a:r>
            <a:r>
              <a:rPr lang="zh-CN" altLang="zh-CN" sz="2400" b="1" kern="100" dirty="0">
                <a:latin typeface="Times New Roman" panose="02020603050405020304" pitchFamily="18" charset="0"/>
                <a:ea typeface="宋体" panose="02010600030101010101" pitchFamily="2" charset="-122"/>
              </a:rPr>
              <a:t>加密公式为</a:t>
            </a:r>
            <a:r>
              <a:rPr lang="en-US" altLang="zh-CN" sz="2400" b="1" kern="100" dirty="0">
                <a:latin typeface="Times New Roman" panose="02020603050405020304" pitchFamily="18" charset="0"/>
                <a:ea typeface="宋体" panose="02010600030101010101" pitchFamily="2" charset="-122"/>
              </a:rPr>
              <a:t> C = </a:t>
            </a:r>
            <a:r>
              <a:rPr lang="en-US" altLang="zh-CN" sz="2400" b="1" kern="100" dirty="0" err="1">
                <a:latin typeface="Times New Roman" panose="02020603050405020304" pitchFamily="18" charset="0"/>
                <a:ea typeface="宋体" panose="02010600030101010101" pitchFamily="2" charset="-122"/>
              </a:rPr>
              <a:t>M^e</a:t>
            </a:r>
            <a:r>
              <a:rPr lang="en-US" altLang="zh-CN" sz="2400" b="1" kern="100" dirty="0">
                <a:latin typeface="Times New Roman" panose="02020603050405020304" pitchFamily="18" charset="0"/>
                <a:ea typeface="宋体" panose="02010600030101010101" pitchFamily="2" charset="-122"/>
              </a:rPr>
              <a:t> mod n</a:t>
            </a:r>
            <a:r>
              <a:rPr lang="zh-CN" altLang="en-US" sz="2400" b="1" kern="100" dirty="0">
                <a:latin typeface="Times New Roman" panose="02020603050405020304" pitchFamily="18" charset="0"/>
                <a:ea typeface="宋体" panose="02010600030101010101" pitchFamily="2" charset="-122"/>
              </a:rPr>
              <a:t>；</a:t>
            </a:r>
            <a:r>
              <a:rPr lang="en-US" altLang="zh-CN" sz="2400" b="1" kern="100" dirty="0">
                <a:latin typeface="Times New Roman" panose="02020603050405020304" pitchFamily="18" charset="0"/>
                <a:ea typeface="宋体" panose="02010600030101010101" pitchFamily="2" charset="-122"/>
              </a:rPr>
              <a:t>C = 3^11 mod 133 = 177147 mod 133 = 124</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因此，将消息</a:t>
            </a:r>
            <a:r>
              <a:rPr lang="en-US" altLang="zh-CN" sz="2400" b="1" kern="100" dirty="0">
                <a:latin typeface="Times New Roman" panose="02020603050405020304" pitchFamily="18" charset="0"/>
                <a:ea typeface="宋体" panose="02010600030101010101" pitchFamily="2" charset="-122"/>
              </a:rPr>
              <a:t> M = 3 </a:t>
            </a:r>
            <a:r>
              <a:rPr lang="zh-CN" altLang="zh-CN" sz="2400" b="1" kern="100" dirty="0">
                <a:latin typeface="Times New Roman" panose="02020603050405020304" pitchFamily="18" charset="0"/>
                <a:ea typeface="宋体" panose="02010600030101010101" pitchFamily="2" charset="-122"/>
              </a:rPr>
              <a:t>加密后得到</a:t>
            </a:r>
            <a:r>
              <a:rPr lang="en-US" altLang="zh-CN" sz="2400" b="1" kern="100" dirty="0">
                <a:latin typeface="Times New Roman" panose="02020603050405020304" pitchFamily="18" charset="0"/>
                <a:ea typeface="宋体" panose="02010600030101010101" pitchFamily="2" charset="-122"/>
              </a:rPr>
              <a:t> C = 124</a:t>
            </a:r>
            <a:r>
              <a:rPr lang="zh-CN" altLang="zh-CN" sz="2400" b="1" kern="100" dirty="0">
                <a:latin typeface="Times New Roman" panose="02020603050405020304" pitchFamily="18" charset="0"/>
                <a:ea typeface="宋体" panose="02010600030101010101" pitchFamily="2" charset="-122"/>
              </a:rPr>
              <a:t>。</a:t>
            </a:r>
            <a:endParaRPr lang="zh-CN" altLang="en-US" sz="2400" b="1" kern="100" dirty="0">
              <a:latin typeface="Times New Roman" panose="02020603050405020304" pitchFamily="18" charset="0"/>
              <a:ea typeface="宋体" panose="02010600030101010101" pitchFamily="2" charset="-122"/>
            </a:endParaRPr>
          </a:p>
          <a:p>
            <a:pPr marL="0" indent="0">
              <a:lnSpc>
                <a:spcPct val="125000"/>
              </a:lnSpc>
              <a:buNone/>
            </a:pPr>
            <a:endParaRPr lang="zh-CN" altLang="en-US" sz="2400" b="1" dirty="0"/>
          </a:p>
        </p:txBody>
      </p:sp>
    </p:spTree>
    <p:extLst>
      <p:ext uri="{BB962C8B-B14F-4D97-AF65-F5344CB8AC3E}">
        <p14:creationId xmlns:p14="http://schemas.microsoft.com/office/powerpoint/2010/main" val="186376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62090-15A4-4604-B44F-8D798F41C094}"/>
              </a:ext>
            </a:extLst>
          </p:cNvPr>
          <p:cNvSpPr>
            <a:spLocks noGrp="1"/>
          </p:cNvSpPr>
          <p:nvPr>
            <p:ph type="title"/>
          </p:nvPr>
        </p:nvSpPr>
        <p:spPr/>
        <p:txBody>
          <a:bodyPr>
            <a:normAutofit/>
          </a:bodyPr>
          <a:lstStyle/>
          <a:p>
            <a:pPr marL="571500" indent="-571500">
              <a:buFont typeface="Wingdings" panose="05000000000000000000" pitchFamily="2" charset="2"/>
              <a:buChar char="u"/>
            </a:pPr>
            <a:r>
              <a:rPr lang="zh-CN" altLang="en-US" sz="3600" b="1" dirty="0">
                <a:solidFill>
                  <a:srgbClr val="FF0000"/>
                </a:solidFill>
                <a:latin typeface="楷体" panose="02010609060101010101" pitchFamily="49" charset="-122"/>
                <a:ea typeface="楷体" panose="02010609060101010101" pitchFamily="49" charset="-122"/>
              </a:rPr>
              <a:t>求满足以下条件的最小自然数</a:t>
            </a:r>
            <a:r>
              <a:rPr lang="en-US" altLang="zh-CN" sz="3600" b="1" dirty="0">
                <a:solidFill>
                  <a:srgbClr val="FF0000"/>
                </a:solidFill>
                <a:latin typeface="楷体" panose="02010609060101010101" pitchFamily="49" charset="-122"/>
                <a:ea typeface="楷体" panose="02010609060101010101" pitchFamily="49" charset="-122"/>
              </a:rPr>
              <a:t>X</a:t>
            </a:r>
            <a:r>
              <a:rPr lang="zh-CN" altLang="en-US" sz="3600" b="1" dirty="0">
                <a:solidFill>
                  <a:srgbClr val="FF0000"/>
                </a:solidFill>
                <a:latin typeface="楷体" panose="02010609060101010101" pitchFamily="49" charset="-122"/>
                <a:ea typeface="楷体" panose="02010609060101010101" pitchFamily="49" charset="-122"/>
              </a:rPr>
              <a:t>：</a:t>
            </a:r>
            <a:r>
              <a:rPr lang="zh-CN" altLang="zh-CN" sz="3600" b="1" dirty="0">
                <a:solidFill>
                  <a:srgbClr val="FF0000"/>
                </a:solidFill>
                <a:latin typeface="楷体" panose="02010609060101010101" pitchFamily="49" charset="-122"/>
                <a:ea typeface="楷体" panose="02010609060101010101" pitchFamily="49" charset="-122"/>
              </a:rPr>
              <a:t>①</a:t>
            </a:r>
            <a:r>
              <a:rPr lang="en-US" altLang="zh-CN" sz="3600" b="1" dirty="0">
                <a:solidFill>
                  <a:srgbClr val="FF0000"/>
                </a:solidFill>
                <a:latin typeface="楷体" panose="02010609060101010101" pitchFamily="49" charset="-122"/>
                <a:ea typeface="楷体" panose="02010609060101010101" pitchFamily="49" charset="-122"/>
              </a:rPr>
              <a:t>X</a:t>
            </a:r>
            <a:r>
              <a:rPr lang="zh-CN" altLang="zh-CN" sz="3600" b="1" dirty="0">
                <a:solidFill>
                  <a:srgbClr val="FF0000"/>
                </a:solidFill>
                <a:latin typeface="楷体" panose="02010609060101010101" pitchFamily="49" charset="-122"/>
                <a:ea typeface="楷体" panose="02010609060101010101" pitchFamily="49" charset="-122"/>
              </a:rPr>
              <a:t>≡</a:t>
            </a:r>
            <a:r>
              <a:rPr lang="en-US" altLang="zh-CN" sz="3600" b="1" dirty="0">
                <a:solidFill>
                  <a:srgbClr val="FF0000"/>
                </a:solidFill>
                <a:latin typeface="楷体" panose="02010609060101010101" pitchFamily="49" charset="-122"/>
                <a:ea typeface="楷体" panose="02010609060101010101" pitchFamily="49" charset="-122"/>
              </a:rPr>
              <a:t>19 (mod 5)</a:t>
            </a:r>
            <a:r>
              <a:rPr lang="zh-CN" altLang="zh-CN" sz="3600" b="1" dirty="0">
                <a:solidFill>
                  <a:srgbClr val="FF0000"/>
                </a:solidFill>
                <a:latin typeface="楷体" panose="02010609060101010101" pitchFamily="49" charset="-122"/>
                <a:ea typeface="楷体" panose="02010609060101010101" pitchFamily="49" charset="-122"/>
              </a:rPr>
              <a:t>；②</a:t>
            </a:r>
            <a:r>
              <a:rPr lang="en-US" altLang="zh-CN" sz="3600" b="1" dirty="0">
                <a:solidFill>
                  <a:srgbClr val="FF0000"/>
                </a:solidFill>
                <a:latin typeface="楷体" panose="02010609060101010101" pitchFamily="49" charset="-122"/>
                <a:ea typeface="楷体" panose="02010609060101010101" pitchFamily="49" charset="-122"/>
              </a:rPr>
              <a:t>X</a:t>
            </a:r>
            <a:r>
              <a:rPr lang="zh-CN" altLang="zh-CN" sz="3600" b="1" dirty="0">
                <a:solidFill>
                  <a:srgbClr val="FF0000"/>
                </a:solidFill>
                <a:latin typeface="楷体" panose="02010609060101010101" pitchFamily="49" charset="-122"/>
                <a:ea typeface="楷体" panose="02010609060101010101" pitchFamily="49" charset="-122"/>
              </a:rPr>
              <a:t>≡</a:t>
            </a:r>
            <a:r>
              <a:rPr lang="en-US" altLang="zh-CN" sz="3600" b="1" dirty="0">
                <a:solidFill>
                  <a:srgbClr val="FF0000"/>
                </a:solidFill>
                <a:latin typeface="楷体" panose="02010609060101010101" pitchFamily="49" charset="-122"/>
                <a:ea typeface="楷体" panose="02010609060101010101" pitchFamily="49" charset="-122"/>
              </a:rPr>
              <a:t>23 (mod 7)</a:t>
            </a:r>
            <a:r>
              <a:rPr lang="zh-CN" altLang="zh-CN" sz="3600" b="1" dirty="0">
                <a:solidFill>
                  <a:srgbClr val="FF0000"/>
                </a:solidFill>
                <a:latin typeface="楷体" panose="02010609060101010101" pitchFamily="49" charset="-122"/>
                <a:ea typeface="楷体" panose="02010609060101010101" pitchFamily="49" charset="-122"/>
              </a:rPr>
              <a:t>；③</a:t>
            </a:r>
            <a:r>
              <a:rPr lang="en-US" altLang="zh-CN" sz="3600" b="1" dirty="0">
                <a:solidFill>
                  <a:srgbClr val="FF0000"/>
                </a:solidFill>
                <a:latin typeface="楷体" panose="02010609060101010101" pitchFamily="49" charset="-122"/>
                <a:ea typeface="楷体" panose="02010609060101010101" pitchFamily="49" charset="-122"/>
              </a:rPr>
              <a:t>X</a:t>
            </a:r>
            <a:r>
              <a:rPr lang="zh-CN" altLang="zh-CN" sz="3600" b="1" dirty="0">
                <a:solidFill>
                  <a:srgbClr val="FF0000"/>
                </a:solidFill>
                <a:latin typeface="楷体" panose="02010609060101010101" pitchFamily="49" charset="-122"/>
                <a:ea typeface="楷体" panose="02010609060101010101" pitchFamily="49" charset="-122"/>
              </a:rPr>
              <a:t>≡</a:t>
            </a:r>
            <a:r>
              <a:rPr lang="en-US" altLang="zh-CN" sz="3600" b="1" dirty="0">
                <a:solidFill>
                  <a:srgbClr val="FF0000"/>
                </a:solidFill>
                <a:latin typeface="楷体" panose="02010609060101010101" pitchFamily="49" charset="-122"/>
                <a:ea typeface="楷体" panose="02010609060101010101" pitchFamily="49" charset="-122"/>
              </a:rPr>
              <a:t>31 (mod 9)</a:t>
            </a:r>
            <a:endParaRPr lang="zh-CN" altLang="en-US" sz="3600" b="1" dirty="0">
              <a:solidFill>
                <a:srgbClr val="FF0000"/>
              </a:solidFill>
              <a:latin typeface="楷体" panose="02010609060101010101" pitchFamily="49" charset="-122"/>
              <a:ea typeface="楷体" panose="02010609060101010101" pitchFamily="49" charset="-122"/>
            </a:endParaRPr>
          </a:p>
        </p:txBody>
      </p:sp>
      <p:sp>
        <p:nvSpPr>
          <p:cNvPr id="3" name="内容占位符 2">
            <a:extLst>
              <a:ext uri="{FF2B5EF4-FFF2-40B4-BE49-F238E27FC236}">
                <a16:creationId xmlns:a16="http://schemas.microsoft.com/office/drawing/2014/main" id="{F077589A-1064-4F02-BAB6-0D29B95AAAD0}"/>
              </a:ext>
            </a:extLst>
          </p:cNvPr>
          <p:cNvSpPr>
            <a:spLocks noGrp="1"/>
          </p:cNvSpPr>
          <p:nvPr>
            <p:ph sz="half" idx="1"/>
          </p:nvPr>
        </p:nvSpPr>
        <p:spPr>
          <a:xfrm>
            <a:off x="838199" y="1825625"/>
            <a:ext cx="10086975" cy="4351338"/>
          </a:xfrm>
        </p:spPr>
        <p:txBody>
          <a:bodyPr>
            <a:normAutofit lnSpcReduction="10000"/>
          </a:bodyPr>
          <a:lstStyle/>
          <a:p>
            <a:pPr marL="342900" lvl="0" indent="-342900" algn="l">
              <a:lnSpc>
                <a:spcPct val="125000"/>
              </a:lnSpc>
              <a:buFont typeface="+mj-lt"/>
              <a:buAutoNum type="arabicPeriod"/>
            </a:pP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计算</a:t>
            </a:r>
            <a:r>
              <a:rPr lang="en-US" altLang="zh-CN" sz="2000" b="1" i="1" kern="0" dirty="0">
                <a:solidFill>
                  <a:srgbClr val="05073B"/>
                </a:solidFill>
                <a:effectLst/>
                <a:latin typeface="楷体" panose="02010609060101010101" pitchFamily="49" charset="-122"/>
                <a:ea typeface="楷体" panose="02010609060101010101" pitchFamily="49" charset="-122"/>
              </a:rPr>
              <a:t>N</a:t>
            </a:r>
            <a:r>
              <a:rPr lang="en-US" altLang="zh-CN" sz="2000" b="1" kern="0" dirty="0">
                <a:solidFill>
                  <a:srgbClr val="05073B"/>
                </a:solidFill>
                <a:effectLst/>
                <a:latin typeface="楷体" panose="02010609060101010101" pitchFamily="49" charset="-122"/>
                <a:ea typeface="楷体" panose="02010609060101010101" pitchFamily="49" charset="-122"/>
              </a:rPr>
              <a:t>1</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a:t>
            </a:r>
            <a:r>
              <a:rPr lang="en-US" altLang="zh-CN" sz="2000" b="1" i="1" kern="0" dirty="0">
                <a:solidFill>
                  <a:srgbClr val="05073B"/>
                </a:solidFill>
                <a:effectLst/>
                <a:latin typeface="楷体" panose="02010609060101010101" pitchFamily="49" charset="-122"/>
                <a:ea typeface="楷体" panose="02010609060101010101" pitchFamily="49" charset="-122"/>
              </a:rPr>
              <a:t>N</a:t>
            </a:r>
            <a:r>
              <a:rPr lang="en-US" altLang="zh-CN" sz="2000" b="1" kern="0" dirty="0">
                <a:solidFill>
                  <a:srgbClr val="05073B"/>
                </a:solidFill>
                <a:effectLst/>
                <a:latin typeface="楷体" panose="02010609060101010101" pitchFamily="49" charset="-122"/>
                <a:ea typeface="楷体" panose="02010609060101010101" pitchFamily="49" charset="-122"/>
              </a:rPr>
              <a:t>2</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a:t>
            </a:r>
            <a:r>
              <a:rPr lang="en-US" altLang="zh-CN" sz="2000" b="1" i="1" kern="0" dirty="0">
                <a:solidFill>
                  <a:srgbClr val="05073B"/>
                </a:solidFill>
                <a:effectLst/>
                <a:latin typeface="楷体" panose="02010609060101010101" pitchFamily="49" charset="-122"/>
                <a:ea typeface="楷体" panose="02010609060101010101" pitchFamily="49" charset="-122"/>
              </a:rPr>
              <a:t>N</a:t>
            </a:r>
            <a:r>
              <a:rPr lang="en-US" altLang="zh-CN" sz="2000" b="1" kern="0" dirty="0">
                <a:solidFill>
                  <a:srgbClr val="05073B"/>
                </a:solidFill>
                <a:effectLst/>
                <a:latin typeface="楷体" panose="02010609060101010101" pitchFamily="49" charset="-122"/>
                <a:ea typeface="楷体" panose="02010609060101010101" pitchFamily="49" charset="-122"/>
              </a:rPr>
              <a:t>3</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a:t>
            </a:r>
            <a:r>
              <a:rPr lang="en-US" altLang="zh-CN" sz="2000" b="1" i="1" kern="0" dirty="0">
                <a:solidFill>
                  <a:srgbClr val="05073B"/>
                </a:solidFill>
                <a:effectLst/>
                <a:latin typeface="楷体" panose="02010609060101010101" pitchFamily="49" charset="-122"/>
                <a:ea typeface="楷体" panose="02010609060101010101" pitchFamily="49" charset="-122"/>
              </a:rPr>
              <a:t>N</a:t>
            </a:r>
            <a:r>
              <a:rPr lang="en-US" altLang="zh-CN" sz="2000" b="1" kern="0" dirty="0">
                <a:solidFill>
                  <a:srgbClr val="05073B"/>
                </a:solidFill>
                <a:effectLst/>
                <a:latin typeface="楷体" panose="02010609060101010101" pitchFamily="49" charset="-122"/>
                <a:ea typeface="楷体" panose="02010609060101010101" pitchFamily="49" charset="-122"/>
              </a:rPr>
              <a:t>1</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=7×9</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=63</a:t>
            </a:r>
            <a:r>
              <a:rPr lang="zh-CN" altLang="zh-CN" sz="2000" b="1" kern="0" dirty="0">
                <a:solidFill>
                  <a:srgbClr val="05073B"/>
                </a:solidFill>
                <a:effectLst/>
                <a:latin typeface="楷体" panose="02010609060101010101" pitchFamily="49" charset="-122"/>
                <a:ea typeface="楷体" panose="02010609060101010101" pitchFamily="49" charset="-122"/>
              </a:rPr>
              <a:t>；</a:t>
            </a:r>
            <a:r>
              <a:rPr lang="en-US" altLang="zh-CN" sz="2000" b="1" i="1" kern="0" dirty="0">
                <a:solidFill>
                  <a:srgbClr val="05073B"/>
                </a:solidFill>
                <a:effectLst/>
                <a:latin typeface="楷体" panose="02010609060101010101" pitchFamily="49" charset="-122"/>
                <a:ea typeface="楷体" panose="02010609060101010101" pitchFamily="49" charset="-122"/>
              </a:rPr>
              <a:t>N</a:t>
            </a:r>
            <a:r>
              <a:rPr lang="en-US" altLang="zh-CN" sz="2000" b="1" kern="0" dirty="0">
                <a:solidFill>
                  <a:srgbClr val="05073B"/>
                </a:solidFill>
                <a:effectLst/>
                <a:latin typeface="楷体" panose="02010609060101010101" pitchFamily="49" charset="-122"/>
                <a:ea typeface="楷体" panose="02010609060101010101" pitchFamily="49" charset="-122"/>
              </a:rPr>
              <a:t>2</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=5×9</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=45</a:t>
            </a:r>
            <a:r>
              <a:rPr lang="zh-CN" altLang="zh-CN" sz="2000" b="1" kern="0" dirty="0">
                <a:solidFill>
                  <a:srgbClr val="05073B"/>
                </a:solidFill>
                <a:effectLst/>
                <a:latin typeface="楷体" panose="02010609060101010101" pitchFamily="49" charset="-122"/>
                <a:ea typeface="楷体" panose="02010609060101010101" pitchFamily="49" charset="-122"/>
              </a:rPr>
              <a:t>；</a:t>
            </a:r>
            <a:r>
              <a:rPr lang="en-US" altLang="zh-CN" sz="2000" b="1" i="1" kern="0" dirty="0">
                <a:solidFill>
                  <a:srgbClr val="05073B"/>
                </a:solidFill>
                <a:effectLst/>
                <a:latin typeface="楷体" panose="02010609060101010101" pitchFamily="49" charset="-122"/>
                <a:ea typeface="楷体" panose="02010609060101010101" pitchFamily="49" charset="-122"/>
              </a:rPr>
              <a:t>N</a:t>
            </a:r>
            <a:r>
              <a:rPr lang="en-US" altLang="zh-CN" sz="2000" b="1" kern="0" dirty="0">
                <a:solidFill>
                  <a:srgbClr val="05073B"/>
                </a:solidFill>
                <a:effectLst/>
                <a:latin typeface="楷体" panose="02010609060101010101" pitchFamily="49" charset="-122"/>
                <a:ea typeface="楷体" panose="02010609060101010101" pitchFamily="49" charset="-122"/>
              </a:rPr>
              <a:t>3</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=5×7</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=35</a:t>
            </a:r>
            <a:endParaRPr lang="zh-CN" altLang="zh-CN" sz="2000" kern="100" dirty="0">
              <a:effectLst/>
              <a:latin typeface="楷体" panose="02010609060101010101" pitchFamily="49" charset="-122"/>
              <a:ea typeface="楷体" panose="02010609060101010101" pitchFamily="49" charset="-122"/>
            </a:endParaRPr>
          </a:p>
          <a:p>
            <a:pPr marL="342900" lvl="0" indent="-342900" algn="l">
              <a:lnSpc>
                <a:spcPct val="125000"/>
              </a:lnSpc>
              <a:buFont typeface="+mj-lt"/>
              <a:buAutoNum type="arabicPeriod"/>
            </a:pP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计算</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1</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2</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3</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a:t>
            </a:r>
            <a:endParaRPr lang="zh-CN" altLang="zh-CN" sz="2000" kern="100" dirty="0">
              <a:effectLst/>
              <a:latin typeface="楷体" panose="02010609060101010101" pitchFamily="49" charset="-122"/>
              <a:ea typeface="楷体" panose="02010609060101010101" pitchFamily="49" charset="-122"/>
            </a:endParaRPr>
          </a:p>
          <a:p>
            <a:pPr lvl="1">
              <a:lnSpc>
                <a:spcPct val="125000"/>
              </a:lnSpc>
            </a:pPr>
            <a:r>
              <a:rPr lang="en-US" altLang="zh-CN" sz="2000" b="1" kern="0" dirty="0">
                <a:solidFill>
                  <a:srgbClr val="05073B"/>
                </a:solidFill>
                <a:effectLst/>
                <a:latin typeface="楷体" panose="02010609060101010101" pitchFamily="49" charset="-122"/>
                <a:ea typeface="楷体" panose="02010609060101010101" pitchFamily="49" charset="-122"/>
              </a:rPr>
              <a:t>63×</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1</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≡1(mod5)</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，解得</a:t>
            </a:r>
            <a:r>
              <a:rPr lang="en-US" altLang="zh-CN" sz="2000" b="1" kern="0" dirty="0">
                <a:solidFill>
                  <a:srgbClr val="05073B"/>
                </a:solidFill>
                <a:effectLst/>
                <a:latin typeface="楷体" panose="02010609060101010101" pitchFamily="49" charset="-122"/>
                <a:ea typeface="楷体" panose="02010609060101010101" pitchFamily="49" charset="-122"/>
                <a:cs typeface="Calibri" panose="020F0502020204030204" pitchFamily="34" charset="0"/>
              </a:rPr>
              <a:t> </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1</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=2</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（因为</a:t>
            </a:r>
            <a:r>
              <a:rPr lang="en-US" altLang="zh-CN" sz="2000" b="1" kern="0" dirty="0">
                <a:solidFill>
                  <a:srgbClr val="05073B"/>
                </a:solidFill>
                <a:effectLst/>
                <a:latin typeface="楷体" panose="02010609060101010101" pitchFamily="49" charset="-122"/>
                <a:ea typeface="楷体" panose="02010609060101010101" pitchFamily="49" charset="-122"/>
                <a:cs typeface="Calibri" panose="020F0502020204030204" pitchFamily="34" charset="0"/>
              </a:rPr>
              <a:t> </a:t>
            </a:r>
            <a:r>
              <a:rPr lang="en-US" altLang="zh-CN" sz="2000" b="1" kern="0" dirty="0">
                <a:solidFill>
                  <a:srgbClr val="05073B"/>
                </a:solidFill>
                <a:effectLst/>
                <a:latin typeface="楷体" panose="02010609060101010101" pitchFamily="49" charset="-122"/>
                <a:ea typeface="楷体" panose="02010609060101010101" pitchFamily="49" charset="-122"/>
              </a:rPr>
              <a:t>63×2≡126≡1(mod5)</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a:t>
            </a:r>
            <a:endParaRPr lang="zh-CN" altLang="zh-CN" sz="2000" kern="100" dirty="0">
              <a:effectLst/>
              <a:latin typeface="楷体" panose="02010609060101010101" pitchFamily="49" charset="-122"/>
              <a:ea typeface="楷体" panose="02010609060101010101" pitchFamily="49" charset="-122"/>
            </a:endParaRPr>
          </a:p>
          <a:p>
            <a:pPr lvl="1">
              <a:lnSpc>
                <a:spcPct val="125000"/>
              </a:lnSpc>
            </a:pPr>
            <a:r>
              <a:rPr lang="en-US" altLang="zh-CN" sz="2000" b="1" kern="0" dirty="0">
                <a:solidFill>
                  <a:srgbClr val="05073B"/>
                </a:solidFill>
                <a:effectLst/>
                <a:latin typeface="楷体" panose="02010609060101010101" pitchFamily="49" charset="-122"/>
                <a:ea typeface="楷体" panose="02010609060101010101" pitchFamily="49" charset="-122"/>
              </a:rPr>
              <a:t>45×</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2</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≡1(mod7)</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，解得</a:t>
            </a:r>
            <a:r>
              <a:rPr lang="en-US" altLang="zh-CN" sz="2000" b="1" kern="0" dirty="0">
                <a:solidFill>
                  <a:srgbClr val="05073B"/>
                </a:solidFill>
                <a:effectLst/>
                <a:latin typeface="楷体" panose="02010609060101010101" pitchFamily="49" charset="-122"/>
                <a:ea typeface="楷体" panose="02010609060101010101" pitchFamily="49" charset="-122"/>
                <a:cs typeface="Calibri" panose="020F0502020204030204" pitchFamily="34" charset="0"/>
              </a:rPr>
              <a:t> </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2</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=12</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（因为</a:t>
            </a:r>
            <a:r>
              <a:rPr lang="en-US" altLang="zh-CN" sz="2000" b="1" kern="0" dirty="0">
                <a:solidFill>
                  <a:srgbClr val="05073B"/>
                </a:solidFill>
                <a:effectLst/>
                <a:latin typeface="楷体" panose="02010609060101010101" pitchFamily="49" charset="-122"/>
                <a:ea typeface="楷体" panose="02010609060101010101" pitchFamily="49" charset="-122"/>
                <a:cs typeface="Calibri" panose="020F0502020204030204" pitchFamily="34" charset="0"/>
              </a:rPr>
              <a:t> </a:t>
            </a:r>
            <a:r>
              <a:rPr lang="en-US" altLang="zh-CN" sz="2000" b="1" kern="0" dirty="0">
                <a:solidFill>
                  <a:srgbClr val="05073B"/>
                </a:solidFill>
                <a:effectLst/>
                <a:latin typeface="楷体" panose="02010609060101010101" pitchFamily="49" charset="-122"/>
                <a:ea typeface="楷体" panose="02010609060101010101" pitchFamily="49" charset="-122"/>
              </a:rPr>
              <a:t>45×12≡540≡1(mod7)</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a:t>
            </a:r>
            <a:endParaRPr lang="zh-CN" altLang="zh-CN" sz="2000" kern="100" dirty="0">
              <a:effectLst/>
              <a:latin typeface="楷体" panose="02010609060101010101" pitchFamily="49" charset="-122"/>
              <a:ea typeface="楷体" panose="02010609060101010101" pitchFamily="49" charset="-122"/>
            </a:endParaRPr>
          </a:p>
          <a:p>
            <a:pPr lvl="1">
              <a:lnSpc>
                <a:spcPct val="125000"/>
              </a:lnSpc>
            </a:pPr>
            <a:r>
              <a:rPr lang="en-US" altLang="zh-CN" sz="2000" b="1" kern="0" dirty="0">
                <a:solidFill>
                  <a:srgbClr val="05073B"/>
                </a:solidFill>
                <a:effectLst/>
                <a:latin typeface="楷体" panose="02010609060101010101" pitchFamily="49" charset="-122"/>
                <a:ea typeface="楷体" panose="02010609060101010101" pitchFamily="49" charset="-122"/>
              </a:rPr>
              <a:t>35×</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3</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≡1(mod9)</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，解得</a:t>
            </a:r>
            <a:r>
              <a:rPr lang="en-US" altLang="zh-CN" sz="2000" b="1" kern="0" dirty="0">
                <a:solidFill>
                  <a:srgbClr val="05073B"/>
                </a:solidFill>
                <a:effectLst/>
                <a:latin typeface="楷体" panose="02010609060101010101" pitchFamily="49" charset="-122"/>
                <a:ea typeface="楷体" panose="02010609060101010101" pitchFamily="49" charset="-122"/>
                <a:cs typeface="Calibri" panose="020F0502020204030204" pitchFamily="34" charset="0"/>
              </a:rPr>
              <a:t> </a:t>
            </a:r>
            <a:r>
              <a:rPr lang="en-US" altLang="zh-CN" sz="2000" b="1" i="1" kern="0" dirty="0">
                <a:solidFill>
                  <a:srgbClr val="05073B"/>
                </a:solidFill>
                <a:effectLst/>
                <a:latin typeface="楷体" panose="02010609060101010101" pitchFamily="49" charset="-122"/>
                <a:ea typeface="楷体" panose="02010609060101010101" pitchFamily="49" charset="-122"/>
              </a:rPr>
              <a:t>y</a:t>
            </a:r>
            <a:r>
              <a:rPr lang="en-US" altLang="zh-CN" sz="2000" b="1" kern="0" dirty="0">
                <a:solidFill>
                  <a:srgbClr val="05073B"/>
                </a:solidFill>
                <a:effectLst/>
                <a:latin typeface="楷体" panose="02010609060101010101" pitchFamily="49" charset="-122"/>
                <a:ea typeface="楷体" panose="02010609060101010101" pitchFamily="49" charset="-122"/>
              </a:rPr>
              <a:t>3</a:t>
            </a:r>
            <a:r>
              <a:rPr lang="zh-CN" altLang="zh-CN" sz="2000" b="1" kern="0" dirty="0">
                <a:solidFill>
                  <a:srgbClr val="05073B"/>
                </a:solidFill>
                <a:effectLst/>
                <a:latin typeface="楷体" panose="02010609060101010101" pitchFamily="49" charset="-122"/>
                <a:ea typeface="楷体" panose="02010609060101010101" pitchFamily="49" charset="-122"/>
                <a:cs typeface="MS Gothic" panose="020B0609070205080204" pitchFamily="49" charset="-128"/>
              </a:rPr>
              <a:t>​</a:t>
            </a:r>
            <a:r>
              <a:rPr lang="en-US" altLang="zh-CN" sz="2000" b="1" kern="0" dirty="0">
                <a:solidFill>
                  <a:srgbClr val="05073B"/>
                </a:solidFill>
                <a:effectLst/>
                <a:latin typeface="楷体" panose="02010609060101010101" pitchFamily="49" charset="-122"/>
                <a:ea typeface="楷体" panose="02010609060101010101" pitchFamily="49" charset="-122"/>
              </a:rPr>
              <a:t>=8</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（因为</a:t>
            </a:r>
            <a:r>
              <a:rPr lang="en-US" altLang="zh-CN" sz="2000" b="1" kern="0" dirty="0">
                <a:solidFill>
                  <a:srgbClr val="05073B"/>
                </a:solidFill>
                <a:effectLst/>
                <a:latin typeface="楷体" panose="02010609060101010101" pitchFamily="49" charset="-122"/>
                <a:ea typeface="楷体" panose="02010609060101010101" pitchFamily="49" charset="-122"/>
                <a:cs typeface="Calibri" panose="020F0502020204030204" pitchFamily="34" charset="0"/>
              </a:rPr>
              <a:t> </a:t>
            </a:r>
            <a:r>
              <a:rPr lang="en-US" altLang="zh-CN" sz="2000" b="1" kern="0" dirty="0">
                <a:solidFill>
                  <a:srgbClr val="05073B"/>
                </a:solidFill>
                <a:effectLst/>
                <a:latin typeface="楷体" panose="02010609060101010101" pitchFamily="49" charset="-122"/>
                <a:ea typeface="楷体" panose="02010609060101010101" pitchFamily="49" charset="-122"/>
              </a:rPr>
              <a:t>35×8≡280≡1(mod9)</a:t>
            </a:r>
            <a:r>
              <a:rPr lang="zh-CN" altLang="zh-CN" sz="2000" b="1" kern="0" dirty="0">
                <a:solidFill>
                  <a:srgbClr val="05073B"/>
                </a:solidFill>
                <a:effectLst/>
                <a:latin typeface="楷体" panose="02010609060101010101" pitchFamily="49" charset="-122"/>
                <a:ea typeface="楷体" panose="02010609060101010101" pitchFamily="49" charset="-122"/>
                <a:cs typeface="Segoe UI" panose="020B0502040204020203" pitchFamily="34" charset="0"/>
              </a:rPr>
              <a:t>）</a:t>
            </a:r>
            <a:endParaRPr lang="zh-CN" altLang="zh-CN" sz="2000" kern="100" dirty="0">
              <a:effectLst/>
              <a:latin typeface="楷体" panose="02010609060101010101" pitchFamily="49" charset="-122"/>
              <a:ea typeface="楷体" panose="02010609060101010101" pitchFamily="49" charset="-122"/>
            </a:endParaRPr>
          </a:p>
          <a:p>
            <a:pPr marL="342900" indent="-342900">
              <a:lnSpc>
                <a:spcPct val="125000"/>
              </a:lnSpc>
              <a:buFont typeface="+mj-lt"/>
              <a:buAutoNum type="arabicPeriod"/>
            </a:pPr>
            <a:r>
              <a:rPr lang="zh-CN" altLang="zh-CN" sz="2000" b="1" kern="0" dirty="0">
                <a:solidFill>
                  <a:srgbClr val="05073B"/>
                </a:solidFill>
                <a:latin typeface="楷体" panose="02010609060101010101" pitchFamily="49" charset="-122"/>
                <a:ea typeface="楷体" panose="02010609060101010101" pitchFamily="49" charset="-122"/>
                <a:cs typeface="Segoe UI" panose="020B0502040204020203" pitchFamily="34" charset="0"/>
              </a:rPr>
              <a:t>计算</a:t>
            </a:r>
            <a:r>
              <a:rPr lang="en-US" altLang="zh-CN" sz="2000" b="1" kern="0" dirty="0">
                <a:solidFill>
                  <a:srgbClr val="05073B"/>
                </a:solidFill>
                <a:latin typeface="楷体" panose="02010609060101010101" pitchFamily="49" charset="-122"/>
                <a:ea typeface="楷体" panose="02010609060101010101" pitchFamily="49" charset="-122"/>
                <a:cs typeface="Segoe UI" panose="020B0502040204020203" pitchFamily="34" charset="0"/>
              </a:rPr>
              <a:t>X</a:t>
            </a:r>
            <a:r>
              <a:rPr lang="zh-CN" altLang="zh-CN" sz="2000" b="1" kern="0" dirty="0">
                <a:solidFill>
                  <a:srgbClr val="05073B"/>
                </a:solidFill>
                <a:latin typeface="楷体" panose="02010609060101010101" pitchFamily="49" charset="-122"/>
                <a:ea typeface="楷体" panose="02010609060101010101" pitchFamily="49" charset="-122"/>
                <a:cs typeface="Segoe UI" panose="020B0502040204020203" pitchFamily="34" charset="0"/>
              </a:rPr>
              <a:t>： </a:t>
            </a:r>
            <a:r>
              <a:rPr lang="en-US" altLang="zh-CN" sz="2000" b="1" kern="0" dirty="0">
                <a:solidFill>
                  <a:srgbClr val="05073B"/>
                </a:solidFill>
                <a:latin typeface="楷体" panose="02010609060101010101" pitchFamily="49" charset="-122"/>
                <a:ea typeface="楷体" panose="02010609060101010101" pitchFamily="49" charset="-122"/>
                <a:cs typeface="Segoe UI" panose="020B0502040204020203" pitchFamily="34" charset="0"/>
              </a:rPr>
              <a:t>X=19×63×2+23×45×12+31×35×8</a:t>
            </a:r>
            <a:endParaRPr lang="zh-CN" altLang="zh-CN" sz="2000" b="1" kern="0" dirty="0">
              <a:solidFill>
                <a:srgbClr val="05073B"/>
              </a:solidFill>
              <a:latin typeface="楷体" panose="02010609060101010101" pitchFamily="49" charset="-122"/>
              <a:ea typeface="楷体" panose="02010609060101010101" pitchFamily="49" charset="-122"/>
              <a:cs typeface="Segoe UI" panose="020B0502040204020203" pitchFamily="34" charset="0"/>
            </a:endParaRPr>
          </a:p>
          <a:p>
            <a:pPr lvl="1">
              <a:lnSpc>
                <a:spcPct val="125000"/>
              </a:lnSpc>
            </a:pPr>
            <a:r>
              <a:rPr lang="en-US" altLang="zh-CN" sz="2000" b="1" kern="0" dirty="0">
                <a:solidFill>
                  <a:srgbClr val="05073B"/>
                </a:solidFill>
                <a:latin typeface="楷体" panose="02010609060101010101" pitchFamily="49" charset="-122"/>
                <a:ea typeface="楷体" panose="02010609060101010101" pitchFamily="49" charset="-122"/>
              </a:rPr>
              <a:t>X=2394+12420+8680=23494  </a:t>
            </a:r>
            <a:endParaRPr lang="zh-CN" altLang="zh-CN" sz="2000" b="1" kern="0" dirty="0">
              <a:solidFill>
                <a:srgbClr val="05073B"/>
              </a:solidFill>
              <a:latin typeface="楷体" panose="02010609060101010101" pitchFamily="49" charset="-122"/>
              <a:ea typeface="楷体" panose="02010609060101010101" pitchFamily="49" charset="-122"/>
            </a:endParaRPr>
          </a:p>
          <a:p>
            <a:pPr lvl="1">
              <a:lnSpc>
                <a:spcPct val="125000"/>
              </a:lnSpc>
            </a:pPr>
            <a:r>
              <a:rPr lang="zh-CN" altLang="zh-CN" sz="2000" b="1" kern="0" dirty="0">
                <a:solidFill>
                  <a:srgbClr val="05073B"/>
                </a:solidFill>
                <a:latin typeface="楷体" panose="02010609060101010101" pitchFamily="49" charset="-122"/>
                <a:ea typeface="楷体" panose="02010609060101010101" pitchFamily="49" charset="-122"/>
              </a:rPr>
              <a:t>但是</a:t>
            </a:r>
            <a:r>
              <a:rPr lang="en-US" altLang="zh-CN" sz="2000" b="1" kern="0" dirty="0">
                <a:solidFill>
                  <a:srgbClr val="05073B"/>
                </a:solidFill>
                <a:latin typeface="楷体" panose="02010609060101010101" pitchFamily="49" charset="-122"/>
                <a:ea typeface="楷体" panose="02010609060101010101" pitchFamily="49" charset="-122"/>
              </a:rPr>
              <a:t>23494</a:t>
            </a:r>
            <a:r>
              <a:rPr lang="zh-CN" altLang="zh-CN" sz="2000" b="1" kern="0" dirty="0">
                <a:solidFill>
                  <a:srgbClr val="05073B"/>
                </a:solidFill>
                <a:latin typeface="楷体" panose="02010609060101010101" pitchFamily="49" charset="-122"/>
                <a:ea typeface="楷体" panose="02010609060101010101" pitchFamily="49" charset="-122"/>
              </a:rPr>
              <a:t>不是最小的解，可以减去</a:t>
            </a:r>
            <a:r>
              <a:rPr lang="en-US" altLang="zh-CN" sz="2000" b="1" kern="0" dirty="0">
                <a:solidFill>
                  <a:srgbClr val="05073B"/>
                </a:solidFill>
                <a:latin typeface="楷体" panose="02010609060101010101" pitchFamily="49" charset="-122"/>
                <a:ea typeface="楷体" panose="02010609060101010101" pitchFamily="49" charset="-122"/>
              </a:rPr>
              <a:t>5×7×9=315</a:t>
            </a:r>
            <a:r>
              <a:rPr lang="zh-CN" altLang="zh-CN" sz="2000" b="1" kern="0" dirty="0">
                <a:solidFill>
                  <a:srgbClr val="05073B"/>
                </a:solidFill>
                <a:latin typeface="楷体" panose="02010609060101010101" pitchFamily="49" charset="-122"/>
                <a:ea typeface="楷体" panose="02010609060101010101" pitchFamily="49" charset="-122"/>
              </a:rPr>
              <a:t>的倍数来找到更小的解。最小的解是：</a:t>
            </a:r>
            <a:r>
              <a:rPr lang="en-US" altLang="zh-CN" sz="2000" b="1" kern="0" dirty="0">
                <a:solidFill>
                  <a:srgbClr val="05073B"/>
                </a:solidFill>
                <a:latin typeface="楷体" panose="02010609060101010101" pitchFamily="49" charset="-122"/>
                <a:ea typeface="楷体" panose="02010609060101010101" pitchFamily="49" charset="-122"/>
              </a:rPr>
              <a:t>X=23494mod315=184</a:t>
            </a:r>
            <a:endParaRPr lang="zh-CN" altLang="zh-CN" sz="2000" b="1" kern="0" dirty="0">
              <a:solidFill>
                <a:srgbClr val="05073B"/>
              </a:solidFill>
              <a:latin typeface="楷体" panose="02010609060101010101" pitchFamily="49" charset="-122"/>
              <a:ea typeface="楷体" panose="02010609060101010101" pitchFamily="49" charset="-122"/>
            </a:endParaRPr>
          </a:p>
          <a:p>
            <a:pPr lvl="1">
              <a:lnSpc>
                <a:spcPct val="125000"/>
              </a:lnSpc>
            </a:pPr>
            <a:r>
              <a:rPr lang="zh-CN" altLang="zh-CN" sz="2000" b="1" kern="0" dirty="0">
                <a:solidFill>
                  <a:srgbClr val="05073B"/>
                </a:solidFill>
                <a:latin typeface="楷体" panose="02010609060101010101" pitchFamily="49" charset="-122"/>
                <a:ea typeface="楷体" panose="02010609060101010101" pitchFamily="49" charset="-122"/>
              </a:rPr>
              <a:t>所以，满足条件的最小自然数</a:t>
            </a:r>
            <a:r>
              <a:rPr lang="en-US" altLang="zh-CN" sz="2000" b="1" kern="0" dirty="0">
                <a:solidFill>
                  <a:srgbClr val="05073B"/>
                </a:solidFill>
                <a:latin typeface="楷体" panose="02010609060101010101" pitchFamily="49" charset="-122"/>
                <a:ea typeface="楷体" panose="02010609060101010101" pitchFamily="49" charset="-122"/>
              </a:rPr>
              <a:t> X </a:t>
            </a:r>
            <a:r>
              <a:rPr lang="zh-CN" altLang="zh-CN" sz="2000" b="1" kern="0" dirty="0">
                <a:solidFill>
                  <a:srgbClr val="05073B"/>
                </a:solidFill>
                <a:latin typeface="楷体" panose="02010609060101010101" pitchFamily="49" charset="-122"/>
                <a:ea typeface="楷体" panose="02010609060101010101" pitchFamily="49" charset="-122"/>
              </a:rPr>
              <a:t>是</a:t>
            </a:r>
            <a:r>
              <a:rPr lang="en-US" altLang="zh-CN" sz="2000" b="1" kern="0" dirty="0">
                <a:solidFill>
                  <a:srgbClr val="05073B"/>
                </a:solidFill>
                <a:latin typeface="楷体" panose="02010609060101010101" pitchFamily="49" charset="-122"/>
                <a:ea typeface="楷体" panose="02010609060101010101" pitchFamily="49" charset="-122"/>
              </a:rPr>
              <a:t> 184</a:t>
            </a:r>
            <a:endParaRPr lang="zh-CN" altLang="zh-CN" sz="2000" b="1" kern="0" dirty="0">
              <a:solidFill>
                <a:srgbClr val="05073B"/>
              </a:solidFill>
              <a:latin typeface="楷体" panose="02010609060101010101" pitchFamily="49" charset="-122"/>
              <a:ea typeface="楷体" panose="02010609060101010101" pitchFamily="49" charset="-122"/>
            </a:endParaRPr>
          </a:p>
          <a:p>
            <a:pPr marL="0" indent="0">
              <a:lnSpc>
                <a:spcPct val="125000"/>
              </a:lnSpc>
              <a:buNone/>
            </a:pPr>
            <a:endParaRPr lang="zh-CN" altLang="en-US" sz="2400" b="1" dirty="0"/>
          </a:p>
        </p:txBody>
      </p:sp>
    </p:spTree>
    <p:extLst>
      <p:ext uri="{BB962C8B-B14F-4D97-AF65-F5344CB8AC3E}">
        <p14:creationId xmlns:p14="http://schemas.microsoft.com/office/powerpoint/2010/main" val="2505906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B4E22-01B3-4622-8711-0E3E2D0987C9}"/>
              </a:ext>
            </a:extLst>
          </p:cNvPr>
          <p:cNvSpPr>
            <a:spLocks noGrp="1"/>
          </p:cNvSpPr>
          <p:nvPr>
            <p:ph type="title"/>
          </p:nvPr>
        </p:nvSpPr>
        <p:spPr>
          <a:xfrm>
            <a:off x="838200" y="365125"/>
            <a:ext cx="10515600" cy="2635250"/>
          </a:xfrm>
        </p:spPr>
        <p:txBody>
          <a:bodyPr>
            <a:normAutofit/>
          </a:bodyPr>
          <a:lstStyle/>
          <a:p>
            <a:pPr marL="571500" indent="-571500">
              <a:lnSpc>
                <a:spcPct val="125000"/>
              </a:lnSpc>
              <a:buFont typeface="Wingdings" panose="05000000000000000000" pitchFamily="2" charset="2"/>
              <a:buChar char="u"/>
            </a:pPr>
            <a:r>
              <a:rPr lang="en-US" altLang="zh-CN" sz="2400" b="1" dirty="0">
                <a:solidFill>
                  <a:srgbClr val="FF0000"/>
                </a:solidFill>
                <a:latin typeface="楷体" panose="02010609060101010101" pitchFamily="49" charset="-122"/>
                <a:ea typeface="楷体" panose="02010609060101010101" pitchFamily="49" charset="-122"/>
              </a:rPr>
              <a:t>Alice</a:t>
            </a:r>
            <a:r>
              <a:rPr lang="zh-CN" altLang="en-US" sz="2400" b="1" dirty="0">
                <a:solidFill>
                  <a:srgbClr val="FF0000"/>
                </a:solidFill>
                <a:latin typeface="楷体" panose="02010609060101010101" pitchFamily="49" charset="-122"/>
                <a:ea typeface="楷体" panose="02010609060101010101" pitchFamily="49" charset="-122"/>
              </a:rPr>
              <a:t>和</a:t>
            </a:r>
            <a:r>
              <a:rPr lang="en-US" altLang="zh-CN" sz="2400" b="1" dirty="0">
                <a:solidFill>
                  <a:srgbClr val="FF0000"/>
                </a:solidFill>
                <a:latin typeface="楷体" panose="02010609060101010101" pitchFamily="49" charset="-122"/>
                <a:ea typeface="楷体" panose="02010609060101010101" pitchFamily="49" charset="-122"/>
              </a:rPr>
              <a:t>Bob</a:t>
            </a:r>
            <a:r>
              <a:rPr lang="zh-CN" altLang="en-US" sz="2400" b="1" dirty="0">
                <a:solidFill>
                  <a:srgbClr val="FF0000"/>
                </a:solidFill>
                <a:latin typeface="楷体" panose="02010609060101010101" pitchFamily="49" charset="-122"/>
                <a:ea typeface="楷体" panose="02010609060101010101" pitchFamily="49" charset="-122"/>
              </a:rPr>
              <a:t>希望在不安全的通信渠道上建立一个共享密钥，以确保后续通信的隐私和安全。他们决定</a:t>
            </a:r>
            <a:r>
              <a:rPr lang="en-US" altLang="zh-CN" sz="2400" b="1" dirty="0">
                <a:solidFill>
                  <a:srgbClr val="FF0000"/>
                </a:solidFill>
                <a:latin typeface="楷体" panose="02010609060101010101" pitchFamily="49" charset="-122"/>
                <a:ea typeface="楷体" panose="02010609060101010101" pitchFamily="49" charset="-122"/>
              </a:rPr>
              <a:t>DH</a:t>
            </a:r>
            <a:r>
              <a:rPr lang="zh-CN" altLang="en-US" sz="2400" b="1" dirty="0">
                <a:solidFill>
                  <a:srgbClr val="FF0000"/>
                </a:solidFill>
                <a:latin typeface="楷体" panose="02010609060101010101" pitchFamily="49" charset="-122"/>
                <a:ea typeface="楷体" panose="02010609060101010101" pitchFamily="49" charset="-122"/>
              </a:rPr>
              <a:t>密钥交换协议</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参数选择</a:t>
            </a:r>
            <a:r>
              <a:rPr lang="en-US" altLang="zh-CN" sz="2400" b="1" dirty="0">
                <a:solidFill>
                  <a:srgbClr val="FF0000"/>
                </a:solidFill>
                <a:latin typeface="楷体" panose="02010609060101010101" pitchFamily="49" charset="-122"/>
                <a:ea typeface="楷体" panose="02010609060101010101" pitchFamily="49" charset="-122"/>
              </a:rPr>
              <a:t>p=11,g=2</a:t>
            </a:r>
            <a:r>
              <a:rPr lang="zh-CN" altLang="en-US" sz="2400" b="1" dirty="0">
                <a:solidFill>
                  <a:srgbClr val="FF0000"/>
                </a:solidFill>
                <a:latin typeface="楷体" panose="02010609060101010101" pitchFamily="49" charset="-122"/>
                <a:ea typeface="楷体" panose="02010609060101010101" pitchFamily="49" charset="-122"/>
              </a:rPr>
              <a:t>；</a:t>
            </a:r>
            <a:r>
              <a:rPr lang="en-US" altLang="zh-CN" sz="2400" b="1" dirty="0">
                <a:solidFill>
                  <a:srgbClr val="FF0000"/>
                </a:solidFill>
                <a:latin typeface="楷体" panose="02010609060101010101" pitchFamily="49" charset="-122"/>
                <a:ea typeface="楷体" panose="02010609060101010101" pitchFamily="49" charset="-122"/>
              </a:rPr>
              <a:t>Alice</a:t>
            </a:r>
            <a:r>
              <a:rPr lang="zh-CN" altLang="en-US" sz="2400" b="1" dirty="0">
                <a:solidFill>
                  <a:srgbClr val="FF0000"/>
                </a:solidFill>
                <a:latin typeface="楷体" panose="02010609060101010101" pitchFamily="49" charset="-122"/>
                <a:ea typeface="楷体" panose="02010609060101010101" pitchFamily="49" charset="-122"/>
              </a:rPr>
              <a:t>选择私钥</a:t>
            </a:r>
            <a:r>
              <a:rPr lang="en-US" altLang="zh-CN" sz="2400" b="1" dirty="0">
                <a:solidFill>
                  <a:srgbClr val="FF0000"/>
                </a:solidFill>
                <a:latin typeface="楷体" panose="02010609060101010101" pitchFamily="49" charset="-122"/>
                <a:ea typeface="楷体" panose="02010609060101010101" pitchFamily="49" charset="-122"/>
              </a:rPr>
              <a:t>(a = 3)</a:t>
            </a:r>
            <a:r>
              <a:rPr lang="zh-CN" altLang="en-US" sz="2400" b="1" dirty="0">
                <a:solidFill>
                  <a:srgbClr val="FF0000"/>
                </a:solidFill>
                <a:latin typeface="楷体" panose="02010609060101010101" pitchFamily="49" charset="-122"/>
                <a:ea typeface="楷体" panose="02010609060101010101" pitchFamily="49" charset="-122"/>
              </a:rPr>
              <a:t>，</a:t>
            </a:r>
            <a:r>
              <a:rPr lang="en-US" altLang="zh-CN" sz="2400" b="1" dirty="0">
                <a:solidFill>
                  <a:srgbClr val="FF0000"/>
                </a:solidFill>
                <a:latin typeface="楷体" panose="02010609060101010101" pitchFamily="49" charset="-122"/>
                <a:ea typeface="楷体" panose="02010609060101010101" pitchFamily="49" charset="-122"/>
              </a:rPr>
              <a:t>Bob</a:t>
            </a:r>
            <a:r>
              <a:rPr lang="zh-CN" altLang="en-US" sz="2400" b="1" dirty="0">
                <a:solidFill>
                  <a:srgbClr val="FF0000"/>
                </a:solidFill>
                <a:latin typeface="楷体" panose="02010609060101010101" pitchFamily="49" charset="-122"/>
                <a:ea typeface="楷体" panose="02010609060101010101" pitchFamily="49" charset="-122"/>
              </a:rPr>
              <a:t>选择私钥</a:t>
            </a:r>
            <a:r>
              <a:rPr lang="en-US" altLang="zh-CN" sz="2400" b="1" dirty="0">
                <a:solidFill>
                  <a:srgbClr val="FF0000"/>
                </a:solidFill>
                <a:latin typeface="楷体" panose="02010609060101010101" pitchFamily="49" charset="-122"/>
                <a:ea typeface="楷体" panose="02010609060101010101" pitchFamily="49" charset="-122"/>
              </a:rPr>
              <a:t>(b = 4)</a:t>
            </a:r>
            <a:r>
              <a:rPr lang="zh-CN" altLang="en-US" sz="2400" b="1" dirty="0">
                <a:solidFill>
                  <a:srgbClr val="FF0000"/>
                </a:solidFill>
                <a:latin typeface="楷体" panose="02010609060101010101" pitchFamily="49" charset="-122"/>
                <a:ea typeface="楷体" panose="02010609060101010101" pitchFamily="49" charset="-122"/>
              </a:rPr>
              <a:t>。求</a:t>
            </a:r>
            <a:r>
              <a:rPr lang="en-US" altLang="zh-CN" sz="2400" b="1" dirty="0">
                <a:solidFill>
                  <a:srgbClr val="FF0000"/>
                </a:solidFill>
                <a:latin typeface="楷体" panose="02010609060101010101" pitchFamily="49" charset="-122"/>
                <a:ea typeface="楷体" panose="02010609060101010101" pitchFamily="49" charset="-122"/>
              </a:rPr>
              <a:t>A,B</a:t>
            </a:r>
            <a:r>
              <a:rPr lang="zh-CN" altLang="en-US" sz="2400" b="1" dirty="0">
                <a:solidFill>
                  <a:srgbClr val="FF0000"/>
                </a:solidFill>
                <a:latin typeface="楷体" panose="02010609060101010101" pitchFamily="49" charset="-122"/>
                <a:ea typeface="楷体" panose="02010609060101010101" pitchFamily="49" charset="-122"/>
              </a:rPr>
              <a:t>的公钥，并计算他们共享的密钥</a:t>
            </a:r>
            <a:r>
              <a:rPr lang="en-US" altLang="zh-CN" sz="2400" b="1" dirty="0">
                <a:solidFill>
                  <a:srgbClr val="FF0000"/>
                </a:solidFill>
                <a:latin typeface="楷体" panose="02010609060101010101" pitchFamily="49" charset="-122"/>
                <a:ea typeface="楷体" panose="02010609060101010101" pitchFamily="49" charset="-122"/>
              </a:rPr>
              <a:t>S</a:t>
            </a:r>
            <a:r>
              <a:rPr lang="zh-CN" altLang="en-US" sz="2400" b="1" dirty="0">
                <a:solidFill>
                  <a:srgbClr val="FF0000"/>
                </a:solidFill>
                <a:latin typeface="楷体" panose="02010609060101010101" pitchFamily="49" charset="-122"/>
                <a:ea typeface="楷体" panose="02010609060101010101" pitchFamily="49" charset="-122"/>
              </a:rPr>
              <a:t>。</a:t>
            </a:r>
          </a:p>
        </p:txBody>
      </p:sp>
      <p:sp>
        <p:nvSpPr>
          <p:cNvPr id="3" name="内容占位符 2">
            <a:extLst>
              <a:ext uri="{FF2B5EF4-FFF2-40B4-BE49-F238E27FC236}">
                <a16:creationId xmlns:a16="http://schemas.microsoft.com/office/drawing/2014/main" id="{6F0EA044-F3FB-43CF-8610-027F5567B406}"/>
              </a:ext>
            </a:extLst>
          </p:cNvPr>
          <p:cNvSpPr>
            <a:spLocks noGrp="1"/>
          </p:cNvSpPr>
          <p:nvPr>
            <p:ph idx="1"/>
          </p:nvPr>
        </p:nvSpPr>
        <p:spPr>
          <a:xfrm>
            <a:off x="838200" y="2933700"/>
            <a:ext cx="10515600" cy="3243263"/>
          </a:xfrm>
        </p:spPr>
        <p:txBody>
          <a:bodyPr>
            <a:normAutofit lnSpcReduction="10000"/>
          </a:bodyPr>
          <a:lstStyle/>
          <a:p>
            <a:pPr>
              <a:lnSpc>
                <a:spcPct val="145000"/>
              </a:lnSpc>
            </a:pPr>
            <a:r>
              <a:rPr lang="en-US" altLang="zh-CN" sz="3300" b="1" dirty="0">
                <a:latin typeface="楷体" panose="02010609060101010101" pitchFamily="49" charset="-122"/>
                <a:ea typeface="楷体" panose="02010609060101010101" pitchFamily="49" charset="-122"/>
                <a:cs typeface="+mj-cs"/>
              </a:rPr>
              <a:t>Alice</a:t>
            </a:r>
            <a:r>
              <a:rPr lang="zh-CN" altLang="en-US" sz="3300" b="1" dirty="0">
                <a:latin typeface="楷体" panose="02010609060101010101" pitchFamily="49" charset="-122"/>
                <a:ea typeface="楷体" panose="02010609060101010101" pitchFamily="49" charset="-122"/>
                <a:cs typeface="+mj-cs"/>
              </a:rPr>
              <a:t>的公钥</a:t>
            </a:r>
            <a:r>
              <a:rPr lang="en-US" altLang="zh-CN" sz="3300" b="1" dirty="0">
                <a:latin typeface="楷体" panose="02010609060101010101" pitchFamily="49" charset="-122"/>
                <a:ea typeface="楷体" panose="02010609060101010101" pitchFamily="49" charset="-122"/>
                <a:cs typeface="+mj-cs"/>
              </a:rPr>
              <a:t>(A)</a:t>
            </a:r>
            <a:r>
              <a:rPr lang="zh-CN" altLang="en-US" sz="3300" b="1" dirty="0">
                <a:latin typeface="楷体" panose="02010609060101010101" pitchFamily="49" charset="-122"/>
                <a:ea typeface="楷体" panose="02010609060101010101" pitchFamily="49" charset="-122"/>
                <a:cs typeface="+mj-cs"/>
              </a:rPr>
              <a:t>：</a:t>
            </a:r>
            <a:r>
              <a:rPr lang="en-US" altLang="zh-CN" sz="3300" b="1" dirty="0">
                <a:latin typeface="楷体" panose="02010609060101010101" pitchFamily="49" charset="-122"/>
                <a:ea typeface="楷体" panose="02010609060101010101" pitchFamily="49" charset="-122"/>
                <a:cs typeface="+mj-cs"/>
              </a:rPr>
              <a:t>[ A = 2^3 \mod 11 = 8 ]. </a:t>
            </a:r>
          </a:p>
          <a:p>
            <a:pPr>
              <a:lnSpc>
                <a:spcPct val="145000"/>
              </a:lnSpc>
            </a:pPr>
            <a:r>
              <a:rPr lang="en-US" altLang="zh-CN" sz="3300" b="1" dirty="0">
                <a:latin typeface="楷体" panose="02010609060101010101" pitchFamily="49" charset="-122"/>
                <a:ea typeface="楷体" panose="02010609060101010101" pitchFamily="49" charset="-122"/>
                <a:cs typeface="+mj-cs"/>
              </a:rPr>
              <a:t>Bob</a:t>
            </a:r>
            <a:r>
              <a:rPr lang="zh-CN" altLang="en-US" sz="3300" b="1" dirty="0">
                <a:latin typeface="楷体" panose="02010609060101010101" pitchFamily="49" charset="-122"/>
                <a:ea typeface="楷体" panose="02010609060101010101" pitchFamily="49" charset="-122"/>
                <a:cs typeface="+mj-cs"/>
              </a:rPr>
              <a:t>的公钥</a:t>
            </a:r>
            <a:r>
              <a:rPr lang="en-US" altLang="zh-CN" sz="3300" b="1" dirty="0">
                <a:latin typeface="楷体" panose="02010609060101010101" pitchFamily="49" charset="-122"/>
                <a:ea typeface="楷体" panose="02010609060101010101" pitchFamily="49" charset="-122"/>
                <a:cs typeface="+mj-cs"/>
              </a:rPr>
              <a:t>(B)</a:t>
            </a:r>
            <a:r>
              <a:rPr lang="zh-CN" altLang="en-US" sz="3300" b="1" dirty="0">
                <a:latin typeface="楷体" panose="02010609060101010101" pitchFamily="49" charset="-122"/>
                <a:ea typeface="楷体" panose="02010609060101010101" pitchFamily="49" charset="-122"/>
                <a:cs typeface="+mj-cs"/>
              </a:rPr>
              <a:t>：</a:t>
            </a:r>
            <a:r>
              <a:rPr lang="en-US" altLang="zh-CN" sz="3300" b="1" dirty="0">
                <a:latin typeface="楷体" panose="02010609060101010101" pitchFamily="49" charset="-122"/>
                <a:ea typeface="楷体" panose="02010609060101010101" pitchFamily="49" charset="-122"/>
                <a:cs typeface="+mj-cs"/>
              </a:rPr>
              <a:t>[ B = 2^4 \mod 11 = 5 ]. </a:t>
            </a:r>
          </a:p>
          <a:p>
            <a:pPr>
              <a:lnSpc>
                <a:spcPct val="145000"/>
              </a:lnSpc>
            </a:pPr>
            <a:r>
              <a:rPr lang="en-US" altLang="zh-CN" sz="3300" b="1" dirty="0">
                <a:latin typeface="楷体" panose="02010609060101010101" pitchFamily="49" charset="-122"/>
                <a:ea typeface="楷体" panose="02010609060101010101" pitchFamily="49" charset="-122"/>
                <a:cs typeface="+mj-cs"/>
              </a:rPr>
              <a:t>Alice</a:t>
            </a:r>
            <a:r>
              <a:rPr lang="zh-CN" altLang="en-US" sz="3300" b="1" dirty="0">
                <a:latin typeface="楷体" panose="02010609060101010101" pitchFamily="49" charset="-122"/>
                <a:ea typeface="楷体" panose="02010609060101010101" pitchFamily="49" charset="-122"/>
                <a:cs typeface="+mj-cs"/>
              </a:rPr>
              <a:t>计算的共享密钥</a:t>
            </a:r>
            <a:r>
              <a:rPr lang="en-US" altLang="zh-CN" sz="3300" b="1" dirty="0">
                <a:latin typeface="楷体" panose="02010609060101010101" pitchFamily="49" charset="-122"/>
                <a:ea typeface="楷体" panose="02010609060101010101" pitchFamily="49" charset="-122"/>
                <a:cs typeface="+mj-cs"/>
              </a:rPr>
              <a:t>(s)</a:t>
            </a:r>
            <a:r>
              <a:rPr lang="zh-CN" altLang="en-US" sz="3300" b="1" dirty="0">
                <a:latin typeface="楷体" panose="02010609060101010101" pitchFamily="49" charset="-122"/>
                <a:ea typeface="楷体" panose="02010609060101010101" pitchFamily="49" charset="-122"/>
                <a:cs typeface="+mj-cs"/>
              </a:rPr>
              <a:t>： </a:t>
            </a:r>
            <a:r>
              <a:rPr lang="en-US" altLang="zh-CN" sz="3300" b="1" dirty="0">
                <a:latin typeface="楷体" panose="02010609060101010101" pitchFamily="49" charset="-122"/>
                <a:ea typeface="楷体" panose="02010609060101010101" pitchFamily="49" charset="-122"/>
                <a:cs typeface="+mj-cs"/>
              </a:rPr>
              <a:t>[ s = 5^3 \mod 11 = 4 ]</a:t>
            </a:r>
          </a:p>
          <a:p>
            <a:pPr>
              <a:lnSpc>
                <a:spcPct val="145000"/>
              </a:lnSpc>
            </a:pPr>
            <a:r>
              <a:rPr lang="en-US" altLang="zh-CN" sz="3300" b="1" dirty="0">
                <a:latin typeface="楷体" panose="02010609060101010101" pitchFamily="49" charset="-122"/>
                <a:ea typeface="楷体" panose="02010609060101010101" pitchFamily="49" charset="-122"/>
                <a:cs typeface="+mj-cs"/>
              </a:rPr>
              <a:t>Bob</a:t>
            </a:r>
            <a:r>
              <a:rPr lang="zh-CN" altLang="en-US" sz="3300" b="1" dirty="0">
                <a:latin typeface="楷体" panose="02010609060101010101" pitchFamily="49" charset="-122"/>
                <a:ea typeface="楷体" panose="02010609060101010101" pitchFamily="49" charset="-122"/>
                <a:cs typeface="+mj-cs"/>
              </a:rPr>
              <a:t>计算的共享密钥</a:t>
            </a:r>
            <a:r>
              <a:rPr lang="en-US" altLang="zh-CN" sz="3300" b="1" dirty="0">
                <a:latin typeface="楷体" panose="02010609060101010101" pitchFamily="49" charset="-122"/>
                <a:ea typeface="楷体" panose="02010609060101010101" pitchFamily="49" charset="-122"/>
                <a:cs typeface="+mj-cs"/>
              </a:rPr>
              <a:t>(s)</a:t>
            </a:r>
            <a:r>
              <a:rPr lang="zh-CN" altLang="en-US" sz="3300" b="1" dirty="0">
                <a:latin typeface="楷体" panose="02010609060101010101" pitchFamily="49" charset="-122"/>
                <a:ea typeface="楷体" panose="02010609060101010101" pitchFamily="49" charset="-122"/>
                <a:cs typeface="+mj-cs"/>
              </a:rPr>
              <a:t>： </a:t>
            </a:r>
            <a:r>
              <a:rPr lang="en-US" altLang="zh-CN" sz="3300" b="1" dirty="0">
                <a:latin typeface="楷体" panose="02010609060101010101" pitchFamily="49" charset="-122"/>
                <a:ea typeface="楷体" panose="02010609060101010101" pitchFamily="49" charset="-122"/>
                <a:cs typeface="+mj-cs"/>
              </a:rPr>
              <a:t>[ s = 8^4 \mod 11 = 4 ]</a:t>
            </a:r>
          </a:p>
          <a:p>
            <a:endParaRPr lang="en-US" altLang="zh-CN" sz="3600" b="1" dirty="0">
              <a:solidFill>
                <a:srgbClr val="FF0000"/>
              </a:solidFill>
              <a:latin typeface="楷体" panose="02010609060101010101" pitchFamily="49" charset="-122"/>
              <a:ea typeface="楷体" panose="02010609060101010101" pitchFamily="49" charset="-122"/>
              <a:cs typeface="+mj-cs"/>
            </a:endParaRPr>
          </a:p>
          <a:p>
            <a:endParaRPr lang="zh-CN" altLang="en-US" sz="3600" b="1" dirty="0">
              <a:solidFill>
                <a:srgbClr val="FF0000"/>
              </a:solidFill>
              <a:latin typeface="楷体" panose="02010609060101010101" pitchFamily="49" charset="-122"/>
              <a:ea typeface="楷体" panose="02010609060101010101" pitchFamily="49" charset="-122"/>
              <a:cs typeface="+mj-cs"/>
            </a:endParaRPr>
          </a:p>
        </p:txBody>
      </p:sp>
    </p:spTree>
    <p:extLst>
      <p:ext uri="{BB962C8B-B14F-4D97-AF65-F5344CB8AC3E}">
        <p14:creationId xmlns:p14="http://schemas.microsoft.com/office/powerpoint/2010/main" val="117150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A937CE-0935-43D2-BEA3-155009DCA256}"/>
              </a:ext>
            </a:extLst>
          </p:cNvPr>
          <p:cNvSpPr>
            <a:spLocks noGrp="1"/>
          </p:cNvSpPr>
          <p:nvPr>
            <p:ph type="title"/>
          </p:nvPr>
        </p:nvSpPr>
        <p:spPr/>
        <p:txBody>
          <a:bodyPr>
            <a:normAutofit/>
          </a:bodyPr>
          <a:lstStyle/>
          <a:p>
            <a:pPr marL="571500" indent="-571500">
              <a:lnSpc>
                <a:spcPct val="125000"/>
              </a:lnSpc>
              <a:buFont typeface="Wingdings" panose="05000000000000000000" pitchFamily="2" charset="2"/>
              <a:buChar char="u"/>
            </a:pPr>
            <a:r>
              <a:rPr lang="zh-CN" altLang="en-US" sz="2400" b="1" dirty="0">
                <a:solidFill>
                  <a:srgbClr val="FF0000"/>
                </a:solidFill>
                <a:latin typeface="楷体" panose="02010609060101010101" pitchFamily="49" charset="-122"/>
                <a:ea typeface="楷体" panose="02010609060101010101" pitchFamily="49" charset="-122"/>
              </a:rPr>
              <a:t>普莱费尔密码（</a:t>
            </a:r>
            <a:r>
              <a:rPr lang="en-US" altLang="zh-CN" sz="2400" b="1" dirty="0">
                <a:solidFill>
                  <a:srgbClr val="FF0000"/>
                </a:solidFill>
                <a:latin typeface="楷体" panose="02010609060101010101" pitchFamily="49" charset="-122"/>
                <a:ea typeface="楷体" panose="02010609060101010101" pitchFamily="49" charset="-122"/>
              </a:rPr>
              <a:t>Playfair cipher </a:t>
            </a:r>
            <a:r>
              <a:rPr lang="zh-CN" altLang="en-US" sz="2400" b="1" dirty="0">
                <a:solidFill>
                  <a:srgbClr val="FF0000"/>
                </a:solidFill>
                <a:latin typeface="楷体" panose="02010609060101010101" pitchFamily="49" charset="-122"/>
                <a:ea typeface="楷体" panose="02010609060101010101" pitchFamily="49" charset="-122"/>
              </a:rPr>
              <a:t>）是一种多字母替换密码，使用一个</a:t>
            </a:r>
            <a:r>
              <a:rPr lang="en-US" altLang="zh-CN" sz="2400" b="1" dirty="0">
                <a:solidFill>
                  <a:srgbClr val="FF0000"/>
                </a:solidFill>
                <a:latin typeface="楷体" panose="02010609060101010101" pitchFamily="49" charset="-122"/>
                <a:ea typeface="楷体" panose="02010609060101010101" pitchFamily="49" charset="-122"/>
              </a:rPr>
              <a:t>5*5</a:t>
            </a:r>
            <a:r>
              <a:rPr lang="zh-CN" altLang="en-US" sz="2400" b="1" dirty="0">
                <a:solidFill>
                  <a:srgbClr val="FF0000"/>
                </a:solidFill>
                <a:latin typeface="楷体" panose="02010609060101010101" pitchFamily="49" charset="-122"/>
                <a:ea typeface="楷体" panose="02010609060101010101" pitchFamily="49" charset="-122"/>
              </a:rPr>
              <a:t>的矩阵来加密字符对的加密法。</a:t>
            </a:r>
          </a:p>
        </p:txBody>
      </p:sp>
      <p:sp>
        <p:nvSpPr>
          <p:cNvPr id="3" name="内容占位符 2">
            <a:extLst>
              <a:ext uri="{FF2B5EF4-FFF2-40B4-BE49-F238E27FC236}">
                <a16:creationId xmlns:a16="http://schemas.microsoft.com/office/drawing/2014/main" id="{A0A750CD-356D-4EC5-AD20-5C28386B5B78}"/>
              </a:ext>
            </a:extLst>
          </p:cNvPr>
          <p:cNvSpPr>
            <a:spLocks noGrp="1"/>
          </p:cNvSpPr>
          <p:nvPr>
            <p:ph sz="half" idx="1"/>
          </p:nvPr>
        </p:nvSpPr>
        <p:spPr/>
        <p:txBody>
          <a:bodyPr>
            <a:normAutofit/>
          </a:bodyPr>
          <a:lstStyle/>
          <a:p>
            <a:pPr>
              <a:lnSpc>
                <a:spcPct val="125000"/>
              </a:lnSpc>
            </a:pPr>
            <a:r>
              <a:rPr lang="en-US" altLang="zh-CN" b="1" kern="0" dirty="0">
                <a:solidFill>
                  <a:srgbClr val="05073B"/>
                </a:solidFill>
                <a:latin typeface="楷体" panose="02010609060101010101" pitchFamily="49" charset="-122"/>
                <a:ea typeface="楷体" panose="02010609060101010101" pitchFamily="49" charset="-122"/>
              </a:rPr>
              <a:t>1</a:t>
            </a:r>
            <a:r>
              <a:rPr lang="zh-CN" altLang="en-US" b="1" kern="0" dirty="0">
                <a:solidFill>
                  <a:srgbClr val="05073B"/>
                </a:solidFill>
                <a:latin typeface="楷体" panose="02010609060101010101" pitchFamily="49" charset="-122"/>
                <a:ea typeface="楷体" panose="02010609060101010101" pitchFamily="49" charset="-122"/>
              </a:rPr>
              <a:t>）密钥是</a:t>
            </a:r>
            <a:r>
              <a:rPr lang="en-US" altLang="zh-CN" b="1" kern="0" dirty="0" err="1">
                <a:solidFill>
                  <a:srgbClr val="05073B"/>
                </a:solidFill>
                <a:latin typeface="楷体" panose="02010609060101010101" pitchFamily="49" charset="-122"/>
                <a:ea typeface="楷体" panose="02010609060101010101" pitchFamily="49" charset="-122"/>
              </a:rPr>
              <a:t>shiyanb</a:t>
            </a:r>
            <a:r>
              <a:rPr lang="zh-CN" altLang="en-US" b="1" kern="0" dirty="0">
                <a:solidFill>
                  <a:srgbClr val="05073B"/>
                </a:solidFill>
                <a:latin typeface="楷体" panose="02010609060101010101" pitchFamily="49" charset="-122"/>
                <a:ea typeface="楷体" panose="02010609060101010101" pitchFamily="49" charset="-122"/>
              </a:rPr>
              <a:t>，请用该密钥构造</a:t>
            </a:r>
            <a:r>
              <a:rPr lang="en-US" altLang="zh-CN" b="1" kern="0" dirty="0" err="1">
                <a:solidFill>
                  <a:srgbClr val="05073B"/>
                </a:solidFill>
                <a:latin typeface="楷体" panose="02010609060101010101" pitchFamily="49" charset="-122"/>
                <a:ea typeface="楷体" panose="02010609060101010101" pitchFamily="49" charset="-122"/>
              </a:rPr>
              <a:t>playfair</a:t>
            </a:r>
            <a:r>
              <a:rPr lang="zh-CN" altLang="en-US" b="1" kern="0" dirty="0">
                <a:solidFill>
                  <a:srgbClr val="05073B"/>
                </a:solidFill>
                <a:latin typeface="楷体" panose="02010609060101010101" pitchFamily="49" charset="-122"/>
                <a:ea typeface="楷体" panose="02010609060101010101" pitchFamily="49" charset="-122"/>
              </a:rPr>
              <a:t>矩阵。</a:t>
            </a:r>
          </a:p>
          <a:p>
            <a:pPr>
              <a:lnSpc>
                <a:spcPct val="125000"/>
              </a:lnSpc>
            </a:pPr>
            <a:r>
              <a:rPr lang="en-US" altLang="zh-CN" b="1" kern="0" dirty="0">
                <a:solidFill>
                  <a:srgbClr val="05073B"/>
                </a:solidFill>
                <a:latin typeface="楷体" panose="02010609060101010101" pitchFamily="49" charset="-122"/>
                <a:ea typeface="楷体" panose="02010609060101010101" pitchFamily="49" charset="-122"/>
              </a:rPr>
              <a:t>2</a:t>
            </a:r>
            <a:r>
              <a:rPr lang="zh-CN" altLang="en-US" b="1" kern="0" dirty="0">
                <a:solidFill>
                  <a:srgbClr val="05073B"/>
                </a:solidFill>
                <a:latin typeface="楷体" panose="02010609060101010101" pitchFamily="49" charset="-122"/>
                <a:ea typeface="楷体" panose="02010609060101010101" pitchFamily="49" charset="-122"/>
              </a:rPr>
              <a:t>）明文是</a:t>
            </a:r>
            <a:r>
              <a:rPr lang="en-US" altLang="zh-CN" b="1" kern="0" dirty="0" err="1">
                <a:solidFill>
                  <a:srgbClr val="05073B"/>
                </a:solidFill>
                <a:latin typeface="楷体" panose="02010609060101010101" pitchFamily="49" charset="-122"/>
                <a:ea typeface="楷体" panose="02010609060101010101" pitchFamily="49" charset="-122"/>
              </a:rPr>
              <a:t>cqulab</a:t>
            </a:r>
            <a:r>
              <a:rPr lang="zh-CN" altLang="en-US" b="1" kern="0" dirty="0">
                <a:solidFill>
                  <a:srgbClr val="05073B"/>
                </a:solidFill>
                <a:latin typeface="楷体" panose="02010609060101010101" pitchFamily="49" charset="-122"/>
                <a:ea typeface="楷体" panose="02010609060101010101" pitchFamily="49" charset="-122"/>
              </a:rPr>
              <a:t>，请用构造的</a:t>
            </a:r>
            <a:r>
              <a:rPr lang="en-US" altLang="zh-CN" b="1" kern="0" dirty="0" err="1">
                <a:solidFill>
                  <a:srgbClr val="05073B"/>
                </a:solidFill>
                <a:latin typeface="楷体" panose="02010609060101010101" pitchFamily="49" charset="-122"/>
                <a:ea typeface="楷体" panose="02010609060101010101" pitchFamily="49" charset="-122"/>
              </a:rPr>
              <a:t>playfair</a:t>
            </a:r>
            <a:r>
              <a:rPr lang="zh-CN" altLang="en-US" b="1" kern="0" dirty="0">
                <a:solidFill>
                  <a:srgbClr val="05073B"/>
                </a:solidFill>
                <a:latin typeface="楷体" panose="02010609060101010101" pitchFamily="49" charset="-122"/>
                <a:ea typeface="楷体" panose="02010609060101010101" pitchFamily="49" charset="-122"/>
              </a:rPr>
              <a:t>矩阵加密该明文。</a:t>
            </a:r>
          </a:p>
          <a:p>
            <a:pPr>
              <a:lnSpc>
                <a:spcPct val="125000"/>
              </a:lnSpc>
            </a:pPr>
            <a:r>
              <a:rPr lang="en-US" altLang="zh-CN" b="1" kern="0" dirty="0">
                <a:solidFill>
                  <a:srgbClr val="05073B"/>
                </a:solidFill>
                <a:latin typeface="楷体" panose="02010609060101010101" pitchFamily="49" charset="-122"/>
                <a:ea typeface="楷体" panose="02010609060101010101" pitchFamily="49" charset="-122"/>
              </a:rPr>
              <a:t>3</a:t>
            </a:r>
            <a:r>
              <a:rPr lang="zh-CN" altLang="en-US" b="1" kern="0" dirty="0">
                <a:solidFill>
                  <a:srgbClr val="05073B"/>
                </a:solidFill>
                <a:latin typeface="楷体" panose="02010609060101010101" pitchFamily="49" charset="-122"/>
                <a:ea typeface="楷体" panose="02010609060101010101" pitchFamily="49" charset="-122"/>
              </a:rPr>
              <a:t>）密文是</a:t>
            </a:r>
            <a:r>
              <a:rPr lang="en-US" altLang="zh-CN" b="1" kern="0" dirty="0">
                <a:solidFill>
                  <a:srgbClr val="05073B"/>
                </a:solidFill>
                <a:latin typeface="楷体" panose="02010609060101010101" pitchFamily="49" charset="-122"/>
                <a:ea typeface="楷体" panose="02010609060101010101" pitchFamily="49" charset="-122"/>
              </a:rPr>
              <a:t>NQGTZOET</a:t>
            </a:r>
            <a:r>
              <a:rPr lang="zh-CN" altLang="en-US" b="1" kern="0" dirty="0">
                <a:solidFill>
                  <a:srgbClr val="05073B"/>
                </a:solidFill>
                <a:latin typeface="楷体" panose="02010609060101010101" pitchFamily="49" charset="-122"/>
                <a:ea typeface="楷体" panose="02010609060101010101" pitchFamily="49" charset="-122"/>
              </a:rPr>
              <a:t>，请用构造的</a:t>
            </a:r>
            <a:r>
              <a:rPr lang="en-US" altLang="zh-CN" b="1" kern="0" dirty="0" err="1">
                <a:solidFill>
                  <a:srgbClr val="05073B"/>
                </a:solidFill>
                <a:latin typeface="楷体" panose="02010609060101010101" pitchFamily="49" charset="-122"/>
                <a:ea typeface="楷体" panose="02010609060101010101" pitchFamily="49" charset="-122"/>
              </a:rPr>
              <a:t>playfair</a:t>
            </a:r>
            <a:r>
              <a:rPr lang="zh-CN" altLang="en-US" b="1" kern="0" dirty="0">
                <a:solidFill>
                  <a:srgbClr val="05073B"/>
                </a:solidFill>
                <a:latin typeface="楷体" panose="02010609060101010101" pitchFamily="49" charset="-122"/>
                <a:ea typeface="楷体" panose="02010609060101010101" pitchFamily="49" charset="-122"/>
              </a:rPr>
              <a:t>矩阵解密该密文。</a:t>
            </a:r>
          </a:p>
          <a:p>
            <a:endParaRPr lang="zh-CN" altLang="en-US" dirty="0"/>
          </a:p>
        </p:txBody>
      </p:sp>
      <p:sp>
        <p:nvSpPr>
          <p:cNvPr id="4" name="内容占位符 3">
            <a:extLst>
              <a:ext uri="{FF2B5EF4-FFF2-40B4-BE49-F238E27FC236}">
                <a16:creationId xmlns:a16="http://schemas.microsoft.com/office/drawing/2014/main" id="{FB15FD90-F598-4468-8530-47492D0812AE}"/>
              </a:ext>
            </a:extLst>
          </p:cNvPr>
          <p:cNvSpPr>
            <a:spLocks noGrp="1"/>
          </p:cNvSpPr>
          <p:nvPr>
            <p:ph sz="half" idx="2"/>
          </p:nvPr>
        </p:nvSpPr>
        <p:spPr/>
        <p:txBody>
          <a:bodyPr>
            <a:normAutofit/>
          </a:bodyPr>
          <a:lstStyle/>
          <a:p>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a:t>
            </a:r>
            <a:r>
              <a:rPr lang="en-US" altLang="zh-CN" b="1" dirty="0" err="1">
                <a:latin typeface="楷体" panose="02010609060101010101" pitchFamily="49" charset="-122"/>
                <a:ea typeface="楷体" panose="02010609060101010101" pitchFamily="49" charset="-122"/>
              </a:rPr>
              <a:t>playfair</a:t>
            </a:r>
            <a:r>
              <a:rPr lang="zh-CN" altLang="en-US" b="1" dirty="0">
                <a:latin typeface="楷体" panose="02010609060101010101" pitchFamily="49" charset="-122"/>
                <a:ea typeface="楷体" panose="02010609060101010101" pitchFamily="49" charset="-122"/>
              </a:rPr>
              <a:t>矩阵</a:t>
            </a:r>
          </a:p>
          <a:p>
            <a:pPr marL="1371600" lvl="3" indent="0">
              <a:buNone/>
            </a:pPr>
            <a:r>
              <a:rPr lang="en-US" altLang="zh-CN" sz="2400" b="1" dirty="0">
                <a:latin typeface="楷体" panose="02010609060101010101" pitchFamily="49" charset="-122"/>
                <a:ea typeface="楷体" panose="02010609060101010101" pitchFamily="49" charset="-122"/>
              </a:rPr>
              <a:t>S H I/J Y A</a:t>
            </a:r>
          </a:p>
          <a:p>
            <a:pPr marL="1371600" lvl="3" indent="0">
              <a:buNone/>
            </a:pPr>
            <a:r>
              <a:rPr lang="en-US" altLang="zh-CN" sz="2400" b="1" dirty="0">
                <a:latin typeface="楷体" panose="02010609060101010101" pitchFamily="49" charset="-122"/>
                <a:ea typeface="楷体" panose="02010609060101010101" pitchFamily="49" charset="-122"/>
              </a:rPr>
              <a:t>N B C D E</a:t>
            </a:r>
          </a:p>
          <a:p>
            <a:pPr marL="1371600" lvl="3" indent="0">
              <a:buNone/>
            </a:pPr>
            <a:r>
              <a:rPr lang="en-US" altLang="zh-CN" sz="2400" b="1" dirty="0">
                <a:latin typeface="楷体" panose="02010609060101010101" pitchFamily="49" charset="-122"/>
                <a:ea typeface="楷体" panose="02010609060101010101" pitchFamily="49" charset="-122"/>
              </a:rPr>
              <a:t>F G K L M</a:t>
            </a:r>
          </a:p>
          <a:p>
            <a:pPr marL="1371600" lvl="3" indent="0">
              <a:buNone/>
            </a:pPr>
            <a:r>
              <a:rPr lang="en-US" altLang="zh-CN" sz="2400" b="1" dirty="0">
                <a:latin typeface="楷体" panose="02010609060101010101" pitchFamily="49" charset="-122"/>
                <a:ea typeface="楷体" panose="02010609060101010101" pitchFamily="49" charset="-122"/>
              </a:rPr>
              <a:t>O P Q R T</a:t>
            </a:r>
          </a:p>
          <a:p>
            <a:pPr marL="1371600" lvl="3" indent="0">
              <a:buNone/>
            </a:pPr>
            <a:r>
              <a:rPr lang="en-US" altLang="zh-CN" sz="2400" b="1" dirty="0">
                <a:latin typeface="楷体" panose="02010609060101010101" pitchFamily="49" charset="-122"/>
                <a:ea typeface="楷体" panose="02010609060101010101" pitchFamily="49" charset="-122"/>
              </a:rPr>
              <a:t>U V W X Z</a:t>
            </a:r>
          </a:p>
          <a:p>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a:t>
            </a:r>
            <a:r>
              <a:rPr lang="en-US" altLang="zh-CN" b="1" dirty="0" err="1">
                <a:latin typeface="楷体" panose="02010609060101010101" pitchFamily="49" charset="-122"/>
                <a:ea typeface="楷体" panose="02010609060101010101" pitchFamily="49" charset="-122"/>
              </a:rPr>
              <a:t>cqulab</a:t>
            </a:r>
            <a:r>
              <a:rPr lang="zh-CN" altLang="en-US" b="1" dirty="0">
                <a:latin typeface="楷体" panose="02010609060101010101" pitchFamily="49" charset="-122"/>
                <a:ea typeface="楷体" panose="02010609060101010101" pitchFamily="49" charset="-122"/>
              </a:rPr>
              <a:t>加密后的密文是 </a:t>
            </a:r>
            <a:r>
              <a:rPr lang="en-US" altLang="zh-CN" b="1" dirty="0">
                <a:latin typeface="楷体" panose="02010609060101010101" pitchFamily="49" charset="-122"/>
                <a:ea typeface="楷体" panose="02010609060101010101" pitchFamily="49" charset="-122"/>
              </a:rPr>
              <a:t>KWXFHE</a:t>
            </a:r>
          </a:p>
          <a:p>
            <a:r>
              <a:rPr lang="en-US" altLang="zh-CN" b="1" dirty="0">
                <a:latin typeface="楷体" panose="02010609060101010101" pitchFamily="49" charset="-122"/>
                <a:ea typeface="楷体" panose="02010609060101010101" pitchFamily="49" charset="-122"/>
              </a:rPr>
              <a:t>3</a:t>
            </a:r>
            <a:r>
              <a:rPr lang="zh-CN" altLang="en-US" b="1" dirty="0">
                <a:latin typeface="楷体" panose="02010609060101010101" pitchFamily="49" charset="-122"/>
                <a:ea typeface="楷体" panose="02010609060101010101" pitchFamily="49" charset="-122"/>
              </a:rPr>
              <a:t>）</a:t>
            </a:r>
            <a:r>
              <a:rPr lang="en-US" altLang="zh-CN" b="1" dirty="0">
                <a:latin typeface="楷体" panose="02010609060101010101" pitchFamily="49" charset="-122"/>
                <a:ea typeface="楷体" panose="02010609060101010101" pitchFamily="49" charset="-122"/>
              </a:rPr>
              <a:t>NQGTZOET</a:t>
            </a:r>
            <a:r>
              <a:rPr lang="zh-CN" altLang="en-US" b="1" dirty="0">
                <a:latin typeface="楷体" panose="02010609060101010101" pitchFamily="49" charset="-122"/>
                <a:ea typeface="楷体" panose="02010609060101010101" pitchFamily="49" charset="-122"/>
              </a:rPr>
              <a:t>解密后的明文是</a:t>
            </a:r>
            <a:r>
              <a:rPr lang="en-US" altLang="zh-CN" b="1" dirty="0">
                <a:latin typeface="楷体" panose="02010609060101010101" pitchFamily="49" charset="-122"/>
                <a:ea typeface="楷体" panose="02010609060101010101" pitchFamily="49" charset="-122"/>
              </a:rPr>
              <a:t>computer</a:t>
            </a:r>
          </a:p>
          <a:p>
            <a:endParaRPr lang="zh-CN" altLang="en-US" dirty="0"/>
          </a:p>
        </p:txBody>
      </p:sp>
    </p:spTree>
    <p:extLst>
      <p:ext uri="{BB962C8B-B14F-4D97-AF65-F5344CB8AC3E}">
        <p14:creationId xmlns:p14="http://schemas.microsoft.com/office/powerpoint/2010/main" val="282836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BCC04-A1EE-4CAE-8811-A6BEDDA2CFC2}"/>
              </a:ext>
            </a:extLst>
          </p:cNvPr>
          <p:cNvSpPr>
            <a:spLocks noGrp="1"/>
          </p:cNvSpPr>
          <p:nvPr>
            <p:ph type="title"/>
          </p:nvPr>
        </p:nvSpPr>
        <p:spPr/>
        <p:txBody>
          <a:bodyPr>
            <a:normAutofit/>
          </a:bodyPr>
          <a:lstStyle/>
          <a:p>
            <a:pPr marL="457200" indent="-457200">
              <a:buFont typeface="Wingdings" panose="05000000000000000000" pitchFamily="2" charset="2"/>
              <a:buChar char="u"/>
            </a:pPr>
            <a:r>
              <a:rPr lang="zh-CN" altLang="en-US" sz="2700" b="1" dirty="0">
                <a:solidFill>
                  <a:srgbClr val="FF0000"/>
                </a:solidFill>
                <a:latin typeface="楷体" panose="02010609060101010101" pitchFamily="49" charset="-122"/>
                <a:ea typeface="楷体" panose="02010609060101010101" pitchFamily="49" charset="-122"/>
              </a:rPr>
              <a:t>红军与蓝军交战时，红军截获蓝军的密文为‘</a:t>
            </a:r>
            <a:r>
              <a:rPr lang="en-US" altLang="zh-CN" sz="2700" b="1" dirty="0" err="1">
                <a:solidFill>
                  <a:srgbClr val="FF0000"/>
                </a:solidFill>
                <a:latin typeface="楷体" panose="02010609060101010101" pitchFamily="49" charset="-122"/>
                <a:ea typeface="楷体" panose="02010609060101010101" pitchFamily="49" charset="-122"/>
              </a:rPr>
              <a:t>ntaefoorn</a:t>
            </a:r>
            <a:r>
              <a:rPr lang="en-US" altLang="zh-CN" sz="2700" b="1" dirty="0">
                <a:solidFill>
                  <a:srgbClr val="FF0000"/>
                </a:solidFill>
                <a:latin typeface="楷体" panose="02010609060101010101" pitchFamily="49" charset="-122"/>
                <a:ea typeface="楷体" panose="02010609060101010101" pitchFamily="49" charset="-122"/>
              </a:rPr>
              <a:t>’</a:t>
            </a:r>
            <a:r>
              <a:rPr lang="zh-CN" altLang="en-US" sz="2700" b="1" dirty="0">
                <a:solidFill>
                  <a:srgbClr val="FF0000"/>
                </a:solidFill>
                <a:latin typeface="楷体" panose="02010609060101010101" pitchFamily="49" charset="-122"/>
                <a:ea typeface="楷体" panose="02010609060101010101" pitchFamily="49" charset="-122"/>
              </a:rPr>
              <a:t>，经破解其对应的明文为‘</a:t>
            </a:r>
            <a:r>
              <a:rPr lang="en-US" altLang="zh-CN" sz="2700" b="1" dirty="0">
                <a:solidFill>
                  <a:srgbClr val="FF0000"/>
                </a:solidFill>
                <a:latin typeface="楷体" panose="02010609060101010101" pitchFamily="49" charset="-122"/>
                <a:ea typeface="楷体" panose="02010609060101010101" pitchFamily="49" charset="-122"/>
              </a:rPr>
              <a:t>afternoon’</a:t>
            </a:r>
            <a:r>
              <a:rPr lang="zh-CN" altLang="en-US" sz="2700" b="1" dirty="0">
                <a:solidFill>
                  <a:srgbClr val="FF0000"/>
                </a:solidFill>
                <a:latin typeface="楷体" panose="02010609060101010101" pitchFamily="49" charset="-122"/>
                <a:ea typeface="楷体" panose="02010609060101010101" pitchFamily="49" charset="-122"/>
              </a:rPr>
              <a:t>。请说明蓝军加密的方法是什么？红军截获另一个密文为‘</a:t>
            </a:r>
            <a:r>
              <a:rPr lang="en-US" altLang="zh-CN" sz="2700" b="1" dirty="0" err="1">
                <a:solidFill>
                  <a:srgbClr val="FF0000"/>
                </a:solidFill>
                <a:latin typeface="楷体" panose="02010609060101010101" pitchFamily="49" charset="-122"/>
                <a:ea typeface="楷体" panose="02010609060101010101" pitchFamily="49" charset="-122"/>
              </a:rPr>
              <a:t>iomnoghlt</a:t>
            </a:r>
            <a:r>
              <a:rPr lang="en-US" altLang="zh-CN" sz="2700" b="1" dirty="0">
                <a:solidFill>
                  <a:srgbClr val="FF0000"/>
                </a:solidFill>
                <a:latin typeface="楷体" panose="02010609060101010101" pitchFamily="49" charset="-122"/>
                <a:ea typeface="楷体" panose="02010609060101010101" pitchFamily="49" charset="-122"/>
              </a:rPr>
              <a:t>’</a:t>
            </a:r>
            <a:r>
              <a:rPr lang="zh-CN" altLang="en-US" sz="2700" b="1" dirty="0">
                <a:solidFill>
                  <a:srgbClr val="FF0000"/>
                </a:solidFill>
                <a:latin typeface="楷体" panose="02010609060101010101" pitchFamily="49" charset="-122"/>
                <a:ea typeface="楷体" panose="02010609060101010101" pitchFamily="49" charset="-122"/>
              </a:rPr>
              <a:t>，则其对应的明文是什么？</a:t>
            </a:r>
          </a:p>
        </p:txBody>
      </p:sp>
      <p:sp>
        <p:nvSpPr>
          <p:cNvPr id="3" name="内容占位符 2">
            <a:extLst>
              <a:ext uri="{FF2B5EF4-FFF2-40B4-BE49-F238E27FC236}">
                <a16:creationId xmlns:a16="http://schemas.microsoft.com/office/drawing/2014/main" id="{89645B27-B7D1-4EC1-B88C-411AD29B5DF4}"/>
              </a:ext>
            </a:extLst>
          </p:cNvPr>
          <p:cNvSpPr>
            <a:spLocks noGrp="1"/>
          </p:cNvSpPr>
          <p:nvPr>
            <p:ph idx="1"/>
          </p:nvPr>
        </p:nvSpPr>
        <p:spPr/>
        <p:txBody>
          <a:bodyPr/>
          <a:lstStyle/>
          <a:p>
            <a:pPr>
              <a:lnSpc>
                <a:spcPct val="125000"/>
              </a:lnSpc>
              <a:buFont typeface="Wingdings" panose="05000000000000000000" pitchFamily="2" charset="2"/>
              <a:buChar char="l"/>
            </a:pPr>
            <a:r>
              <a:rPr lang="zh-CN" altLang="en-US" dirty="0"/>
              <a:t>加密的方法是换位密码技术。</a:t>
            </a:r>
            <a:endParaRPr lang="en-US" altLang="zh-CN" dirty="0"/>
          </a:p>
          <a:p>
            <a:pPr>
              <a:lnSpc>
                <a:spcPct val="125000"/>
              </a:lnSpc>
              <a:buFont typeface="Wingdings" panose="05000000000000000000" pitchFamily="2" charset="2"/>
              <a:buChar char="l"/>
            </a:pPr>
            <a:r>
              <a:rPr lang="zh-CN" altLang="en-US" dirty="0"/>
              <a:t>排列的顺序为</a:t>
            </a:r>
            <a:r>
              <a:rPr lang="en-US" altLang="zh-CN" dirty="0"/>
              <a:t>[6 3 1 4 2 7 8 5 9]</a:t>
            </a:r>
            <a:r>
              <a:rPr lang="zh-CN" altLang="en-US" dirty="0"/>
              <a:t>，即密文第</a:t>
            </a:r>
            <a:r>
              <a:rPr lang="en-US" altLang="zh-CN" dirty="0"/>
              <a:t>1</a:t>
            </a:r>
            <a:r>
              <a:rPr lang="zh-CN" altLang="en-US" dirty="0"/>
              <a:t>个字母来自明文第</a:t>
            </a:r>
            <a:r>
              <a:rPr lang="en-US" altLang="zh-CN" dirty="0"/>
              <a:t>6</a:t>
            </a:r>
            <a:r>
              <a:rPr lang="zh-CN" altLang="en-US" dirty="0"/>
              <a:t>个字母，密文第</a:t>
            </a:r>
            <a:r>
              <a:rPr lang="en-US" altLang="zh-CN" dirty="0"/>
              <a:t>2</a:t>
            </a:r>
            <a:r>
              <a:rPr lang="zh-CN" altLang="en-US" dirty="0"/>
              <a:t>个字母来自明文第</a:t>
            </a:r>
            <a:r>
              <a:rPr lang="en-US" altLang="zh-CN" dirty="0"/>
              <a:t>3</a:t>
            </a:r>
            <a:r>
              <a:rPr lang="zh-CN" altLang="en-US" dirty="0"/>
              <a:t>个字母，依次类推。 因此对应的明文为 </a:t>
            </a:r>
            <a:r>
              <a:rPr lang="en-US" altLang="zh-CN" dirty="0"/>
              <a:t>moonlight</a:t>
            </a:r>
            <a:r>
              <a:rPr lang="zh-CN" altLang="en-US" dirty="0"/>
              <a:t>。</a:t>
            </a:r>
          </a:p>
          <a:p>
            <a:endParaRPr lang="zh-CN" altLang="en-US" dirty="0"/>
          </a:p>
        </p:txBody>
      </p:sp>
    </p:spTree>
    <p:extLst>
      <p:ext uri="{BB962C8B-B14F-4D97-AF65-F5344CB8AC3E}">
        <p14:creationId xmlns:p14="http://schemas.microsoft.com/office/powerpoint/2010/main" val="133080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BCC04-A1EE-4CAE-8811-A6BEDDA2CFC2}"/>
              </a:ext>
            </a:extLst>
          </p:cNvPr>
          <p:cNvSpPr>
            <a:spLocks noGrp="1"/>
          </p:cNvSpPr>
          <p:nvPr>
            <p:ph type="title"/>
          </p:nvPr>
        </p:nvSpPr>
        <p:spPr/>
        <p:txBody>
          <a:bodyPr>
            <a:normAutofit/>
          </a:bodyPr>
          <a:lstStyle/>
          <a:p>
            <a:pPr marL="457200" indent="-457200">
              <a:buFont typeface="Wingdings" panose="05000000000000000000" pitchFamily="2" charset="2"/>
              <a:buChar char="u"/>
            </a:pPr>
            <a:r>
              <a:rPr lang="zh-CN" altLang="en-US" sz="2700" b="1" dirty="0">
                <a:solidFill>
                  <a:srgbClr val="FF0000"/>
                </a:solidFill>
                <a:latin typeface="楷体" panose="02010609060101010101" pitchFamily="49" charset="-122"/>
                <a:ea typeface="楷体" panose="02010609060101010101" pitchFamily="49" charset="-122"/>
              </a:rPr>
              <a:t>用户</a:t>
            </a:r>
            <a:r>
              <a:rPr lang="en-US" altLang="zh-CN" sz="2700" b="1" dirty="0">
                <a:solidFill>
                  <a:srgbClr val="FF0000"/>
                </a:solidFill>
                <a:latin typeface="楷体" panose="02010609060101010101" pitchFamily="49" charset="-122"/>
                <a:ea typeface="楷体" panose="02010609060101010101" pitchFamily="49" charset="-122"/>
              </a:rPr>
              <a:t>A</a:t>
            </a:r>
            <a:r>
              <a:rPr lang="zh-CN" altLang="en-US" sz="2700" b="1" dirty="0">
                <a:solidFill>
                  <a:srgbClr val="FF0000"/>
                </a:solidFill>
                <a:latin typeface="楷体" panose="02010609060101010101" pitchFamily="49" charset="-122"/>
                <a:ea typeface="楷体" panose="02010609060101010101" pitchFamily="49" charset="-122"/>
              </a:rPr>
              <a:t>需要通过计算机网络安全地将一份数据量非常大的机密文件传送给用户</a:t>
            </a:r>
            <a:r>
              <a:rPr lang="en-US" altLang="zh-CN" sz="2700" b="1" dirty="0">
                <a:solidFill>
                  <a:srgbClr val="FF0000"/>
                </a:solidFill>
                <a:latin typeface="楷体" panose="02010609060101010101" pitchFamily="49" charset="-122"/>
                <a:ea typeface="楷体" panose="02010609060101010101" pitchFamily="49" charset="-122"/>
              </a:rPr>
              <a:t>B</a:t>
            </a:r>
            <a:r>
              <a:rPr lang="zh-CN" altLang="en-US" sz="2700" b="1" dirty="0">
                <a:solidFill>
                  <a:srgbClr val="FF0000"/>
                </a:solidFill>
                <a:latin typeface="楷体" panose="02010609060101010101" pitchFamily="49" charset="-122"/>
                <a:ea typeface="楷体" panose="02010609060101010101" pitchFamily="49" charset="-122"/>
              </a:rPr>
              <a:t>，而且</a:t>
            </a:r>
            <a:r>
              <a:rPr lang="en-US" altLang="zh-CN" sz="2700" b="1" dirty="0">
                <a:solidFill>
                  <a:srgbClr val="FF0000"/>
                </a:solidFill>
                <a:latin typeface="楷体" panose="02010609060101010101" pitchFamily="49" charset="-122"/>
                <a:ea typeface="楷体" panose="02010609060101010101" pitchFamily="49" charset="-122"/>
              </a:rPr>
              <a:t>B</a:t>
            </a:r>
            <a:r>
              <a:rPr lang="zh-CN" altLang="en-US" sz="2700" b="1" dirty="0">
                <a:solidFill>
                  <a:srgbClr val="FF0000"/>
                </a:solidFill>
                <a:latin typeface="楷体" panose="02010609060101010101" pitchFamily="49" charset="-122"/>
                <a:ea typeface="楷体" panose="02010609060101010101" pitchFamily="49" charset="-122"/>
              </a:rPr>
              <a:t>希望</a:t>
            </a:r>
            <a:r>
              <a:rPr lang="en-US" altLang="zh-CN" sz="2700" b="1" dirty="0">
                <a:solidFill>
                  <a:srgbClr val="FF0000"/>
                </a:solidFill>
                <a:latin typeface="楷体" panose="02010609060101010101" pitchFamily="49" charset="-122"/>
                <a:ea typeface="楷体" panose="02010609060101010101" pitchFamily="49" charset="-122"/>
              </a:rPr>
              <a:t>A</a:t>
            </a:r>
            <a:r>
              <a:rPr lang="zh-CN" altLang="en-US" sz="2700" b="1" dirty="0">
                <a:solidFill>
                  <a:srgbClr val="FF0000"/>
                </a:solidFill>
                <a:latin typeface="楷体" panose="02010609060101010101" pitchFamily="49" charset="-122"/>
                <a:ea typeface="楷体" panose="02010609060101010101" pitchFamily="49" charset="-122"/>
              </a:rPr>
              <a:t>今后对该份机密文件无法抵赖，请问如何实现？需要进行哪些必要的步骤？</a:t>
            </a:r>
          </a:p>
        </p:txBody>
      </p:sp>
      <p:sp>
        <p:nvSpPr>
          <p:cNvPr id="3" name="内容占位符 2">
            <a:extLst>
              <a:ext uri="{FF2B5EF4-FFF2-40B4-BE49-F238E27FC236}">
                <a16:creationId xmlns:a16="http://schemas.microsoft.com/office/drawing/2014/main" id="{89645B27-B7D1-4EC1-B88C-411AD29B5DF4}"/>
              </a:ext>
            </a:extLst>
          </p:cNvPr>
          <p:cNvSpPr>
            <a:spLocks noGrp="1"/>
          </p:cNvSpPr>
          <p:nvPr>
            <p:ph idx="1"/>
          </p:nvPr>
        </p:nvSpPr>
        <p:spPr/>
        <p:txBody>
          <a:bodyPr/>
          <a:lstStyle/>
          <a:p>
            <a:pPr>
              <a:lnSpc>
                <a:spcPct val="125000"/>
              </a:lnSpc>
              <a:buFont typeface="Wingdings" panose="05000000000000000000" pitchFamily="2" charset="2"/>
              <a:buChar char="l"/>
            </a:pPr>
            <a:r>
              <a:rPr lang="zh-CN" altLang="en-US" dirty="0"/>
              <a:t>机密文件数据量大，需要先生成摘要（哈希值）再签名。数据量大应采用对称加密算法，加密机密文件后，再传输给用户</a:t>
            </a:r>
            <a:r>
              <a:rPr lang="en-US" altLang="zh-CN" dirty="0"/>
              <a:t>B</a:t>
            </a:r>
            <a:r>
              <a:rPr lang="zh-CN" altLang="en-US" dirty="0"/>
              <a:t>。包括密钥生成，密钥传递，哈希生成，公钥管理，数字签名，对称加密，解密，签名验证等算法步骤。</a:t>
            </a:r>
          </a:p>
        </p:txBody>
      </p:sp>
    </p:spTree>
    <p:extLst>
      <p:ext uri="{BB962C8B-B14F-4D97-AF65-F5344CB8AC3E}">
        <p14:creationId xmlns:p14="http://schemas.microsoft.com/office/powerpoint/2010/main" val="140982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1250</Words>
  <Application>Microsoft Office PowerPoint</Application>
  <PresentationFormat>宽屏</PresentationFormat>
  <Paragraphs>59</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等线</vt:lpstr>
      <vt:lpstr>等线 Light</vt:lpstr>
      <vt:lpstr>楷体</vt:lpstr>
      <vt:lpstr>Arial</vt:lpstr>
      <vt:lpstr>Times New Roman</vt:lpstr>
      <vt:lpstr>Wingdings</vt:lpstr>
      <vt:lpstr>Office 主题​​</vt:lpstr>
      <vt:lpstr>从使用目的和实现方式两个方面阐述消息鉴别码和加密算法的差异</vt:lpstr>
      <vt:lpstr>为什么数据加密和消息鉴别都不能满足数字签名的要求</vt:lpstr>
      <vt:lpstr>在BB84量子密钥分发协议中，Alice作为发送方，Bob作为接收方，如何发现是否存在Eve窃听</vt:lpstr>
      <vt:lpstr>选取两个不同的质数：p = 7, q = 19，请使用RSA算法完成消息的加密。请根据上述信息回答以下问题，并写出计算过程。</vt:lpstr>
      <vt:lpstr>求满足以下条件的最小自然数X：①X≡19 (mod 5)；②X≡23 (mod 7)；③X≡31 (mod 9)</vt:lpstr>
      <vt:lpstr>Alice和Bob希望在不安全的通信渠道上建立一个共享密钥，以确保后续通信的隐私和安全。他们决定DH密钥交换协议.参数选择p=11,g=2；Alice选择私钥(a = 3)，Bob选择私钥(b = 4)。求A,B的公钥，并计算他们共享的密钥S。</vt:lpstr>
      <vt:lpstr>普莱费尔密码（Playfair cipher ）是一种多字母替换密码，使用一个5*5的矩阵来加密字符对的加密法。</vt:lpstr>
      <vt:lpstr>红军与蓝军交战时，红军截获蓝军的密文为‘ntaefoorn’，经破解其对应的明文为‘afternoon’。请说明蓝军加密的方法是什么？红军截获另一个密文为‘iomnoghlt’，则其对应的明文是什么？</vt:lpstr>
      <vt:lpstr>用户A需要通过计算机网络安全地将一份数据量非常大的机密文件传送给用户B，而且B希望A今后对该份机密文件无法抵赖，请问如何实现？需要进行哪些必要的步骤？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从使用目的和实现方式两个方面阐述消息鉴别码和加密算法的差异</dc:title>
  <dc:creator>Administrator</dc:creator>
  <cp:lastModifiedBy>Administrator</cp:lastModifiedBy>
  <cp:revision>9</cp:revision>
  <dcterms:created xsi:type="dcterms:W3CDTF">2025-03-31T03:21:43Z</dcterms:created>
  <dcterms:modified xsi:type="dcterms:W3CDTF">2025-03-31T09:15:29Z</dcterms:modified>
</cp:coreProperties>
</file>