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1" r:id="rId5"/>
  </p:sldMasterIdLst>
  <p:notesMasterIdLst>
    <p:notesMasterId r:id="rId7"/>
  </p:notesMasterIdLst>
  <p:sldIdLst>
    <p:sldId id="413" r:id="rId6"/>
    <p:sldId id="554" r:id="rId8"/>
    <p:sldId id="546" r:id="rId9"/>
    <p:sldId id="551" r:id="rId10"/>
    <p:sldId id="549" r:id="rId11"/>
    <p:sldId id="550" r:id="rId12"/>
    <p:sldId id="292" r:id="rId13"/>
    <p:sldId id="293" r:id="rId14"/>
    <p:sldId id="304" r:id="rId15"/>
    <p:sldId id="305" r:id="rId16"/>
    <p:sldId id="306" r:id="rId17"/>
    <p:sldId id="294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547" r:id="rId26"/>
    <p:sldId id="548" r:id="rId27"/>
    <p:sldId id="476" r:id="rId28"/>
    <p:sldId id="478" r:id="rId29"/>
    <p:sldId id="479" r:id="rId30"/>
    <p:sldId id="481" r:id="rId31"/>
    <p:sldId id="482" r:id="rId32"/>
    <p:sldId id="485" r:id="rId33"/>
    <p:sldId id="486" r:id="rId34"/>
    <p:sldId id="487" r:id="rId35"/>
    <p:sldId id="488" r:id="rId36"/>
    <p:sldId id="489" r:id="rId37"/>
    <p:sldId id="490" r:id="rId38"/>
    <p:sldId id="491" r:id="rId39"/>
    <p:sldId id="492" r:id="rId40"/>
    <p:sldId id="494" r:id="rId41"/>
    <p:sldId id="496" r:id="rId42"/>
    <p:sldId id="495" r:id="rId43"/>
    <p:sldId id="499" r:id="rId44"/>
    <p:sldId id="497" r:id="rId45"/>
    <p:sldId id="500" r:id="rId46"/>
    <p:sldId id="498" r:id="rId47"/>
    <p:sldId id="501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9" autoAdjust="0"/>
    <p:restoredTop sz="92560" autoAdjust="0"/>
  </p:normalViewPr>
  <p:slideViewPr>
    <p:cSldViewPr snapToGrid="0">
      <p:cViewPr varScale="1">
        <p:scale>
          <a:sx n="83" d="100"/>
          <a:sy n="83" d="100"/>
        </p:scale>
        <p:origin x="10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Master" Target="slideMasters/slideMaster4.xml"/><Relationship Id="rId49" Type="http://schemas.openxmlformats.org/officeDocument/2006/relationships/presProps" Target="presProps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F2571-2EAA-4EE4-80AE-E3FF00818B6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A0913-3FA0-4218-9730-BC1394C0B04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  <a:t>Morgan Kaufmann Publishers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7491DE-8B05-427A-BBFC-B9DEEFC39EF4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556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  <a:t>Chapter 4 — The Processor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556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4BEAE9-8925-4E7F-8387-238523709907}" type="slidenum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556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56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R-</a:t>
            </a:r>
            <a:r>
              <a:rPr lang="zh-CN" altLang="en-US" dirty="0"/>
              <a:t>格式的指令执行涉及的数据通路</a:t>
            </a:r>
            <a:endParaRPr lang="en-US" altLang="zh-CN" dirty="0"/>
          </a:p>
          <a:p>
            <a:r>
              <a:rPr lang="en-US" baseline="0" dirty="0"/>
              <a:t> </a:t>
            </a:r>
            <a:r>
              <a:rPr lang="zh-CN" altLang="en-US" baseline="0" dirty="0"/>
              <a:t>需要从寄存器堆中读取两个值，运算后写入到指定的寄存器中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  <a:t>Morgan Kaufmann Publishers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7491DE-8B05-427A-BBFC-B9DEEFC39EF4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556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  <a:t>Chapter 4 — The Processor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556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4BEAE9-8925-4E7F-8387-238523709907}" type="slidenum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556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56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R-</a:t>
            </a:r>
            <a:r>
              <a:rPr lang="zh-CN" altLang="en-US" dirty="0"/>
              <a:t>格式的指令执行涉及的数据通路</a:t>
            </a:r>
            <a:endParaRPr lang="en-US" altLang="zh-CN" dirty="0"/>
          </a:p>
          <a:p>
            <a:r>
              <a:rPr lang="en-US" baseline="0" dirty="0"/>
              <a:t> </a:t>
            </a:r>
            <a:r>
              <a:rPr lang="zh-CN" altLang="en-US" baseline="0" dirty="0"/>
              <a:t>需要从寄存器堆中读取两个值，运算后写入到指定的寄存器中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  <a:t>Morgan Kaufmann Publishers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AC47EE1-381E-40A0-8570-BA9A18283D3A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691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  <a:t>Chapter 4 — The Processor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69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A2F1A-ABC5-46E6-9ECE-E939837A5AA7}" type="slidenum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69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69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有了基本的数据通路之后，需要测试这些数据通路是否正确。我们将分别测试</a:t>
            </a:r>
            <a:r>
              <a:rPr lang="en-US" altLang="zh-CN" dirty="0"/>
              <a:t>3</a:t>
            </a:r>
            <a:r>
              <a:rPr lang="zh-CN" altLang="en-US" dirty="0"/>
              <a:t>类指令是否能够在该数据通路上正确地被执行。</a:t>
            </a:r>
            <a:endParaRPr lang="en-US" altLang="zh-CN" dirty="0"/>
          </a:p>
          <a:p>
            <a:r>
              <a:rPr lang="zh-CN" altLang="en-US" dirty="0"/>
              <a:t>下面我们浅色部分的部件为不使用的部件。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AU" altLang="zh-CN" sz="1300">
                <a:latin typeface="Times New Roman" panose="02020503050405090304" charset="0"/>
              </a:rPr>
              <a:t>Morgan Kaufmann Publishers</a:t>
            </a:r>
            <a:endParaRPr lang="en-AU" altLang="zh-CN" sz="1300">
              <a:latin typeface="Times New Roman" panose="02020503050405090304" charset="0"/>
            </a:endParaRP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3DD3524-363C-4079-8FDA-DE3DB9AD86C7}" type="datetime3">
              <a:rPr lang="en-AU" altLang="zh-CN" sz="1300">
                <a:latin typeface="Times New Roman" panose="02020503050405090304" charset="0"/>
              </a:rPr>
            </a:fld>
            <a:endParaRPr lang="en-AU" altLang="zh-CN" sz="1300">
              <a:latin typeface="Times New Roman" panose="02020503050405090304" charset="0"/>
            </a:endParaRPr>
          </a:p>
        </p:txBody>
      </p:sp>
      <p:sp>
        <p:nvSpPr>
          <p:cNvPr id="15667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AU" altLang="zh-CN" sz="1300">
                <a:latin typeface="Times New Roman" panose="02020503050405090304" charset="0"/>
              </a:rPr>
              <a:t>Chapter 4 — The Processor</a:t>
            </a:r>
            <a:endParaRPr lang="en-AU" altLang="zh-CN" sz="1300">
              <a:latin typeface="Times New Roman" panose="02020503050405090304" charset="0"/>
            </a:endParaRPr>
          </a:p>
        </p:txBody>
      </p:sp>
      <p:sp>
        <p:nvSpPr>
          <p:cNvPr id="1566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0DA40A51-7EBB-46E3-9CB3-867FC6246F93}" type="slidenum">
              <a:rPr lang="en-AU" altLang="zh-CN" sz="1300">
                <a:latin typeface="Times New Roman" panose="02020503050405090304" charset="0"/>
              </a:rPr>
            </a:fld>
            <a:endParaRPr lang="en-AU" altLang="zh-CN" sz="1300">
              <a:latin typeface="Times New Roman" panose="02020503050405090304" charset="0"/>
            </a:endParaRPr>
          </a:p>
        </p:txBody>
      </p:sp>
      <p:sp>
        <p:nvSpPr>
          <p:cNvPr id="1566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66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读取数据指令，执行时涉及的数据通路</a:t>
            </a:r>
            <a:endParaRPr lang="en-US" altLang="zh-CN" dirty="0"/>
          </a:p>
          <a:p>
            <a:r>
              <a:rPr lang="en-US" dirty="0"/>
              <a:t>  </a:t>
            </a:r>
            <a:r>
              <a:rPr lang="zh-CN" altLang="en-US" dirty="0"/>
              <a:t>读取寄存器操作数</a:t>
            </a:r>
            <a:endParaRPr lang="en-US" altLang="zh-CN" dirty="0"/>
          </a:p>
          <a:p>
            <a:r>
              <a:rPr lang="en-US" baseline="0" dirty="0"/>
              <a:t> </a:t>
            </a:r>
            <a:r>
              <a:rPr lang="zh-CN" altLang="en-US" baseline="0" dirty="0"/>
              <a:t>与 </a:t>
            </a:r>
            <a:r>
              <a:rPr lang="en-US" altLang="zh-CN" baseline="0" dirty="0"/>
              <a:t>16</a:t>
            </a:r>
            <a:r>
              <a:rPr lang="zh-CN" altLang="en-US" baseline="0" dirty="0"/>
              <a:t>位的立即数运算的偏移地址运算读写的内存的地址</a:t>
            </a: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  <a:t>Morgan Kaufmann Publishers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81AB71-94A2-43F0-9520-95B65BDC6B29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794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  <a:t>Chapter 4 — The Processor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79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353793-A66E-48AE-AACB-EF1B45C00203}" type="slidenum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79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79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对于</a:t>
            </a:r>
            <a:r>
              <a:rPr lang="en-US" altLang="zh-CN" dirty="0"/>
              <a:t>Load</a:t>
            </a:r>
            <a:r>
              <a:rPr lang="zh-CN" altLang="en-US" dirty="0"/>
              <a:t>指令或者</a:t>
            </a:r>
            <a:r>
              <a:rPr lang="en-US" altLang="zh-CN" dirty="0"/>
              <a:t>Store</a:t>
            </a:r>
            <a:r>
              <a:rPr lang="zh-CN" altLang="en-US" dirty="0"/>
              <a:t>指令</a:t>
            </a:r>
            <a:endParaRPr lang="en-US" altLang="zh-CN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浅色部分的部件为不使用的部件。</a:t>
            </a:r>
            <a:endParaRPr lang="en-US" altLang="zh-CN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  <a:t>Morgan Kaufmann Publishers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74B148-82CB-44D4-A868-73C53F448892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5770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  <a:t>Chapter 4 — The Processor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577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7E0DFC-B350-46C6-8757-5107E62231AF}" type="slidenum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577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77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分支指令：</a:t>
            </a:r>
            <a:endParaRPr lang="en-US" altLang="zh-CN" dirty="0"/>
          </a:p>
          <a:p>
            <a:r>
              <a:rPr lang="en-US" dirty="0"/>
              <a:t>   </a:t>
            </a:r>
            <a:r>
              <a:rPr lang="zh-CN" altLang="en-US" dirty="0"/>
              <a:t>读取寄存器操作数</a:t>
            </a:r>
            <a:endParaRPr lang="en-US" altLang="zh-CN" dirty="0"/>
          </a:p>
          <a:p>
            <a:r>
              <a:rPr lang="en-US" dirty="0"/>
              <a:t> </a:t>
            </a:r>
            <a:r>
              <a:rPr lang="zh-CN" altLang="en-US" dirty="0"/>
              <a:t>比较运算</a:t>
            </a:r>
            <a:endParaRPr lang="en-US" altLang="zh-CN" dirty="0"/>
          </a:p>
          <a:p>
            <a:r>
              <a:rPr lang="en-US" dirty="0"/>
              <a:t> </a:t>
            </a:r>
            <a:r>
              <a:rPr lang="zh-CN" altLang="en-US" dirty="0"/>
              <a:t>计算目标地址</a:t>
            </a: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  <a:t>Morgan Kaufmann Publishers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BA9E05-EA94-457F-99B1-559F30CD000A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89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  <a:t>Chapter 4 — The Processor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89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3D55CD-F970-442A-B91D-75891A9B337F}" type="slidenum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89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9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对于</a:t>
            </a:r>
            <a:r>
              <a:rPr lang="en-US" altLang="zh-CN" dirty="0"/>
              <a:t>Branch</a:t>
            </a:r>
            <a:r>
              <a:rPr lang="zh-CN" altLang="en-US" dirty="0"/>
              <a:t>指令</a:t>
            </a:r>
            <a:endParaRPr lang="en-US" altLang="zh-CN" dirty="0"/>
          </a:p>
          <a:p>
            <a:r>
              <a:rPr lang="zh-CN" altLang="en-US" dirty="0"/>
              <a:t>浅色部分的部件为不使用的部件。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  <a:t>Morgan Kaufmann Publishers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E76BAA-54AA-4252-9286-E175AD6F0EB1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998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  <a:t>Chapter 4 — The Processor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99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64C352-401F-450C-8CCA-457645E4F3AE}" type="slidenum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99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99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  <a:t>Morgan Kaufmann Publishers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A73275A-D663-42AC-8260-4F5989FAD642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7101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  <a:t>Chapter 4 — The Processor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710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C995C1-71C3-4B20-941A-401C60AB12E7}" type="slidenum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710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10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浅色部分的部件为不使用的部件。</a:t>
            </a:r>
            <a:endParaRPr lang="en-US" altLang="zh-CN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  <a:t>Morgan Kaufmann Publishers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BA9E05-EA94-457F-99B1-559F30CD000A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89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  <a:t>Chapter 4 — The Processor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89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3D55CD-F970-442A-B91D-75891A9B337F}" type="slidenum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89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9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对于</a:t>
            </a:r>
            <a:r>
              <a:rPr lang="en-US" altLang="zh-CN" dirty="0"/>
              <a:t>Branch</a:t>
            </a:r>
            <a:r>
              <a:rPr lang="zh-CN" altLang="en-US" dirty="0"/>
              <a:t>指令</a:t>
            </a:r>
            <a:endParaRPr lang="en-US" altLang="zh-CN" dirty="0"/>
          </a:p>
          <a:p>
            <a:r>
              <a:rPr lang="zh-CN" altLang="en-US" dirty="0"/>
              <a:t>浅色部分的部件为不使用的部件。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  <a:t>Morgan Kaufmann Publishers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BA9E05-EA94-457F-99B1-559F30CD000A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89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  <a:t>Chapter 4 — The Processor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89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defTabSz="967105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defTabSz="967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3D55CD-F970-442A-B91D-75891A9B337F}" type="slidenum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+mn-cs"/>
            </a:endParaRPr>
          </a:p>
        </p:txBody>
      </p:sp>
      <p:sp>
        <p:nvSpPr>
          <p:cNvPr id="1689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9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对于</a:t>
            </a:r>
            <a:r>
              <a:rPr lang="en-US" altLang="zh-CN" dirty="0"/>
              <a:t>Branch</a:t>
            </a:r>
            <a:r>
              <a:rPr lang="zh-CN" altLang="en-US" dirty="0"/>
              <a:t>指令</a:t>
            </a:r>
            <a:endParaRPr lang="en-US" altLang="zh-CN" dirty="0"/>
          </a:p>
          <a:p>
            <a:r>
              <a:rPr lang="zh-CN" altLang="en-US" dirty="0"/>
              <a:t>浅色部分的部件为不使用的部件。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D1C497D-BAAF-4663-94BD-869D41A91B61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1E2FF9-E030-419D-B53F-CD75372687CF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F3ACA88-61E7-4A1A-9B15-4E2D8827653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4566E8A-C797-4C9B-9D3A-7827445D777A}" type="slidenum">
              <a:rPr lang="en-US"/>
            </a:fld>
            <a:endParaRPr lang="en-US"/>
          </a:p>
        </p:txBody>
      </p:sp>
      <p:sp>
        <p:nvSpPr>
          <p:cNvPr id="143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3F4D43F-D11A-439E-A2E3-AE659895A2EF}" type="slidenum">
              <a:rPr lang="en-US"/>
            </a:fld>
            <a:endParaRPr lang="en-US"/>
          </a:p>
        </p:txBody>
      </p:sp>
      <p:sp>
        <p:nvSpPr>
          <p:cNvPr id="143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0AA0542-134F-4852-BDAD-DE7B33690EED}" type="slidenum">
              <a:rPr lang="en-US"/>
            </a:fld>
            <a:endParaRPr lang="en-US"/>
          </a:p>
        </p:txBody>
      </p:sp>
      <p:sp>
        <p:nvSpPr>
          <p:cNvPr id="143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9BD2598-CECF-4725-8E73-E6498698778A}" type="slidenum">
              <a:rPr lang="en-US"/>
            </a:fld>
            <a:endParaRPr lang="en-US"/>
          </a:p>
        </p:txBody>
      </p:sp>
      <p:sp>
        <p:nvSpPr>
          <p:cNvPr id="144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6785B7C-AE28-4ABF-BE59-E2307A14CF19}" type="slidenum">
              <a:rPr lang="en-US"/>
            </a:fld>
            <a:endParaRPr lang="en-US"/>
          </a:p>
        </p:txBody>
      </p:sp>
      <p:sp>
        <p:nvSpPr>
          <p:cNvPr id="144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044F83D-A788-465D-8F6C-62F60A745528}" type="slidenum">
              <a:rPr lang="en-US"/>
            </a:fld>
            <a:endParaRPr lang="en-US"/>
          </a:p>
        </p:txBody>
      </p:sp>
      <p:sp>
        <p:nvSpPr>
          <p:cNvPr id="144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AD32D8E-8CD6-4B81-97F7-5F8D03F2A0A0}" type="slidenum">
              <a:rPr lang="en-US"/>
            </a:fld>
            <a:endParaRPr lang="en-US"/>
          </a:p>
        </p:txBody>
      </p:sp>
      <p:sp>
        <p:nvSpPr>
          <p:cNvPr id="144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8F58592-DAED-4876-A72F-034A0267A593}" type="slidenum">
              <a:rPr lang="en-US"/>
            </a:fld>
            <a:endParaRPr lang="en-US"/>
          </a:p>
        </p:txBody>
      </p:sp>
      <p:sp>
        <p:nvSpPr>
          <p:cNvPr id="144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BAC8A15-5C55-4C19-A80A-2C645E237EC7}" type="slidenum">
              <a:rPr lang="en-US"/>
            </a:fld>
            <a:endParaRPr lang="en-US"/>
          </a:p>
        </p:txBody>
      </p:sp>
      <p:sp>
        <p:nvSpPr>
          <p:cNvPr id="144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CBB637E-3FF7-41F8-95B0-D3B7E8B88F14}" type="slidenum">
              <a:rPr lang="en-US"/>
            </a:fld>
            <a:endParaRPr lang="en-US"/>
          </a:p>
        </p:txBody>
      </p:sp>
      <p:sp>
        <p:nvSpPr>
          <p:cNvPr id="144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6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043F203-F709-4960-A969-872A2BAAFE69}" type="slidenum">
              <a:rPr lang="en-US"/>
            </a:fld>
            <a:endParaRPr lang="en-US"/>
          </a:p>
        </p:txBody>
      </p:sp>
      <p:sp>
        <p:nvSpPr>
          <p:cNvPr id="144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B39A9FA-A004-47EE-B412-8DE89CB4D3B3}" type="slidenum">
              <a:rPr lang="en-US"/>
            </a:fld>
            <a:endParaRPr lang="en-US"/>
          </a:p>
        </p:txBody>
      </p:sp>
      <p:sp>
        <p:nvSpPr>
          <p:cNvPr id="145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5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04698CA-D6BC-41F2-A1B8-7182405279B1}" type="slidenum">
              <a:rPr lang="en-US"/>
            </a:fld>
            <a:endParaRPr lang="en-US"/>
          </a:p>
        </p:txBody>
      </p:sp>
      <p:sp>
        <p:nvSpPr>
          <p:cNvPr id="144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8F58592-DAED-4876-A72F-034A0267A593}" type="slidenum">
              <a:rPr lang="en-US"/>
            </a:fld>
            <a:endParaRPr lang="en-US"/>
          </a:p>
        </p:txBody>
      </p:sp>
      <p:sp>
        <p:nvSpPr>
          <p:cNvPr id="144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15B29BC-53BE-4854-9FA4-43C191B99F90}" type="slidenum">
              <a:rPr lang="en-US"/>
            </a:fld>
            <a:endParaRPr lang="en-US"/>
          </a:p>
        </p:txBody>
      </p:sp>
      <p:sp>
        <p:nvSpPr>
          <p:cNvPr id="145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5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8F58592-DAED-4876-A72F-034A0267A593}" type="slidenum">
              <a:rPr lang="en-US"/>
            </a:fld>
            <a:endParaRPr lang="en-US"/>
          </a:p>
        </p:txBody>
      </p:sp>
      <p:sp>
        <p:nvSpPr>
          <p:cNvPr id="144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A65A5EB-E028-4EAE-92E1-035091BEBA5E}" type="slidenum">
              <a:rPr lang="en-US"/>
            </a:fld>
            <a:endParaRPr lang="en-US"/>
          </a:p>
        </p:txBody>
      </p:sp>
      <p:sp>
        <p:nvSpPr>
          <p:cNvPr id="145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5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7"/>
          <p:cNvSpPr>
            <a:spLocks noChangeArrowheads="1"/>
          </p:cNvSpPr>
          <p:nvPr/>
        </p:nvSpPr>
        <p:spPr bwMode="auto">
          <a:xfrm>
            <a:off x="2159001" y="1125538"/>
            <a:ext cx="38100" cy="5732462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5" name="Rectangle 36"/>
          <p:cNvSpPr>
            <a:spLocks noChangeArrowheads="1"/>
          </p:cNvSpPr>
          <p:nvPr/>
        </p:nvSpPr>
        <p:spPr bwMode="auto">
          <a:xfrm>
            <a:off x="2641601" y="1987550"/>
            <a:ext cx="48684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6" name="Rectangle 37"/>
          <p:cNvSpPr>
            <a:spLocks noChangeArrowheads="1"/>
          </p:cNvSpPr>
          <p:nvPr/>
        </p:nvSpPr>
        <p:spPr bwMode="auto">
          <a:xfrm>
            <a:off x="2351618" y="2708276"/>
            <a:ext cx="9840383" cy="73025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0" y="0"/>
            <a:ext cx="12192000" cy="1125538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8" name="Rectangle 46"/>
          <p:cNvSpPr>
            <a:spLocks noChangeArrowheads="1"/>
          </p:cNvSpPr>
          <p:nvPr/>
        </p:nvSpPr>
        <p:spPr bwMode="auto">
          <a:xfrm>
            <a:off x="0" y="1125538"/>
            <a:ext cx="12192000" cy="17462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9" name="Rectangle 48"/>
          <p:cNvSpPr>
            <a:spLocks noChangeArrowheads="1"/>
          </p:cNvSpPr>
          <p:nvPr/>
        </p:nvSpPr>
        <p:spPr bwMode="auto">
          <a:xfrm>
            <a:off x="2159001" y="549276"/>
            <a:ext cx="38100" cy="576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41996" name="Rectangle 1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213101" y="1844675"/>
            <a:ext cx="7776633" cy="762000"/>
          </a:xfrm>
        </p:spPr>
        <p:txBody>
          <a:bodyPr anchor="t"/>
          <a:lstStyle>
            <a:lvl1pPr>
              <a:defRPr>
                <a:latin typeface="Arial Black" panose="020B0A04020102020204" pitchFamily="34" charset="0"/>
              </a:defRPr>
            </a:lvl1pPr>
          </a:lstStyle>
          <a:p>
            <a:r>
              <a:rPr lang="en-AU"/>
              <a:t>Chapter …</a:t>
            </a:r>
            <a:endParaRPr lang="en-AU"/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213101" y="2924175"/>
            <a:ext cx="7776633" cy="579438"/>
          </a:xfrm>
        </p:spPr>
        <p:txBody>
          <a:bodyPr>
            <a:spAutoFit/>
          </a:bodyPr>
          <a:lstStyle>
            <a:lvl1pPr marL="0" indent="0"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1pPr>
          </a:lstStyle>
          <a:p>
            <a:r>
              <a:rPr lang="en-AU"/>
              <a:t>Subtitle</a:t>
            </a:r>
            <a:endParaRPr lang="en-A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4 — The Processor — </a:t>
            </a:r>
            <a:fld id="{674585AB-5163-4015-AE4C-19433B4FC2F4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70788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4 — The Processor — </a:t>
            </a:r>
            <a:fld id="{E8B27435-2358-4100-9EF7-3AA432086275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2285" y="1125538"/>
            <a:ext cx="5412316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7800" y="1125538"/>
            <a:ext cx="5412317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4 — The Processor — </a:t>
            </a:r>
            <a:fld id="{44C85B02-8D65-4872-89A0-0AB2A6F20AD7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48197"/>
            <a:ext cx="10972800" cy="76944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4 — The Processor — </a:t>
            </a:r>
            <a:fld id="{36CDAF71-A2DC-467F-A98B-BD5B6D74BFAF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4 — The Processor — </a:t>
            </a:r>
            <a:fld id="{89F828F6-F379-4D27-9F3D-C213A43CF13B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4 — The Processor — </a:t>
            </a:r>
            <a:fld id="{23B99BC3-250D-4C6D-AFC3-96C6B6967280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034990"/>
            <a:ext cx="4011084" cy="40011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4 — The Processor — </a:t>
            </a:r>
            <a:fld id="{A92123BA-64DB-47F4-AA49-6623C82F1590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967228"/>
            <a:ext cx="7315200" cy="40011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4 — The Processor — </a:t>
            </a:r>
            <a:fld id="{DAD8E523-C497-4E62-AE68-4E83D248B380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4 — The Processor — </a:t>
            </a:r>
            <a:fld id="{32E03B9E-6E4C-4479-B610-2AAA00E12403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84218" y="146050"/>
            <a:ext cx="1538883" cy="60912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2284" y="146050"/>
            <a:ext cx="8068733" cy="60912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4 — The Processor — </a:t>
            </a:r>
            <a:fld id="{D5DADBA6-D081-4B74-A8AF-DC4DCD3A82F2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1219200" y="1"/>
            <a:ext cx="10972800" cy="919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extBox 8"/>
          <p:cNvSpPr txBox="1"/>
          <p:nvPr userDrawn="1"/>
        </p:nvSpPr>
        <p:spPr>
          <a:xfrm>
            <a:off x="7518400" y="6477001"/>
            <a:ext cx="25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0" dirty="0">
                <a:solidFill>
                  <a:schemeClr val="bg1">
                    <a:lumMod val="50000"/>
                  </a:schemeClr>
                </a:solidFill>
              </a:rPr>
              <a:t>Chapter 7 &lt;</a:t>
            </a:r>
            <a:fld id="{D1B2EFE9-D440-4A3B-858C-5FEDF5DD0E10}" type="slidenum">
              <a:rPr lang="en-US" sz="1400" smtClean="0">
                <a:solidFill>
                  <a:schemeClr val="bg1">
                    <a:lumMod val="50000"/>
                  </a:schemeClr>
                </a:solidFill>
              </a:rPr>
            </a:fld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&gt; 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 rot="16200000">
            <a:off x="-2743273" y="2870780"/>
            <a:ext cx="65124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i="1" cap="all" spc="0" dirty="0" err="1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MICROArchitecture</a:t>
            </a:r>
            <a:endParaRPr lang="en-US" sz="5400" b="1" i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1219200" y="1"/>
            <a:ext cx="10972800" cy="919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Box 5"/>
          <p:cNvSpPr txBox="1"/>
          <p:nvPr userDrawn="1"/>
        </p:nvSpPr>
        <p:spPr>
          <a:xfrm>
            <a:off x="7518400" y="6474024"/>
            <a:ext cx="264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0" dirty="0">
                <a:solidFill>
                  <a:schemeClr val="bg1">
                    <a:lumMod val="50000"/>
                  </a:schemeClr>
                </a:solidFill>
              </a:rPr>
              <a:t>Chapter 7 &lt;</a:t>
            </a:r>
            <a:fld id="{D1B2EFE9-D440-4A3B-858C-5FEDF5DD0E10}" type="slidenum">
              <a:rPr lang="en-US" sz="1400" smtClean="0">
                <a:solidFill>
                  <a:schemeClr val="bg1">
                    <a:lumMod val="50000"/>
                  </a:schemeClr>
                </a:solidFill>
              </a:rPr>
            </a:fld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&gt; 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 rot="16200000">
            <a:off x="-2742289" y="2870780"/>
            <a:ext cx="65124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i="1" cap="all" spc="0" dirty="0" err="1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MICROArchitecture</a:t>
            </a:r>
            <a:endParaRPr lang="en-US" sz="5400" b="1" i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CC12C447-90FA-420C-B74C-1A635C444937}" type="slidenum">
              <a:rPr lang="en-US"/>
            </a:fld>
            <a:r>
              <a:rPr lang="en-US"/>
              <a:t>&gt;</a:t>
            </a:r>
            <a:endParaRPr lang="en-US"/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67" y="101600"/>
            <a:ext cx="10363200" cy="889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219200"/>
            <a:ext cx="508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19200"/>
            <a:ext cx="508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771900"/>
            <a:ext cx="508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E7ED6BBA-2425-4A43-B586-383F2BB07C4C}" type="slidenum">
              <a:rPr lang="en-US"/>
            </a:fld>
            <a:r>
              <a:rPr lang="en-US"/>
              <a:t>&gt;</a:t>
            </a:r>
            <a:endParaRPr lang="en-US"/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67" y="101600"/>
            <a:ext cx="10363200" cy="889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219200"/>
            <a:ext cx="10363200" cy="4953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68946159-E475-47D9-8550-A9F0B445C791}" type="slidenum">
              <a:rPr lang="en-US"/>
            </a:fld>
            <a:r>
              <a:rPr lang="en-US"/>
              <a:t>&gt;</a:t>
            </a:r>
            <a:endParaRPr lang="en-US"/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35467" y="101600"/>
            <a:ext cx="10363200" cy="889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219200"/>
            <a:ext cx="508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19200"/>
            <a:ext cx="508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3771900"/>
            <a:ext cx="508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771900"/>
            <a:ext cx="508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CCDCC2DC-EBCD-44EE-92DB-9C06DDE632FD}" type="slidenum">
              <a:rPr lang="en-US"/>
            </a:fld>
            <a:r>
              <a:rPr lang="en-US"/>
              <a:t>&gt;</a:t>
            </a:r>
            <a:endParaRPr lang="en-US"/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219200"/>
            <a:ext cx="508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08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1-&lt;</a:t>
            </a:r>
            <a:fld id="{B4FEF99E-A19F-4A0B-A62E-3729EECDD901}" type="slidenum">
              <a:rPr lang="en-US"/>
            </a:fld>
            <a:r>
              <a:rPr lang="en-US"/>
              <a:t>&gt;</a:t>
            </a:r>
            <a:endParaRPr lang="en-US"/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67" y="101600"/>
            <a:ext cx="10363200" cy="889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219200"/>
            <a:ext cx="508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08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9F7ADD3E-E1D6-46D5-BCAD-B4AEBA813F75}" type="slidenum">
              <a:rPr lang="en-US"/>
            </a:fld>
            <a:r>
              <a:rPr lang="en-US"/>
              <a:t>&gt;</a:t>
            </a:r>
            <a:endParaRPr lang="en-US"/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标注 4"/>
          <p:cNvSpPr/>
          <p:nvPr userDrawn="1"/>
        </p:nvSpPr>
        <p:spPr>
          <a:xfrm>
            <a:off x="-1" y="1658619"/>
            <a:ext cx="12192001" cy="3462021"/>
          </a:xfrm>
          <a:prstGeom prst="wedgeRectCallout">
            <a:avLst>
              <a:gd name="adj1" fmla="val 21381"/>
              <a:gd name="adj2" fmla="val 49353"/>
            </a:avLst>
          </a:prstGeom>
          <a:solidFill>
            <a:srgbClr val="0256A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25052" y="1658619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3993515" y="3639820"/>
            <a:ext cx="4378960" cy="3835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zh-CN" altLang="en-US" sz="1800" b="0" i="0" u="none" strike="noStrike" kern="1200" cap="none" spc="0" normalizeH="0" baseline="0" noProof="1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指导老师：</a:t>
            </a:r>
            <a:endParaRPr lang="zh-CN" altLang="en-US"/>
          </a:p>
        </p:txBody>
      </p:sp>
      <p:sp>
        <p:nvSpPr>
          <p:cNvPr id="22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3993515" y="4278630"/>
            <a:ext cx="4378960" cy="3835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zh-CN" altLang="en-US" sz="1800" b="0" i="0" u="none" strike="noStrike" kern="1200" cap="none" spc="0" normalizeH="0" baseline="0" noProof="1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答辩人：</a:t>
            </a:r>
            <a:endParaRPr lang="zh-CN" altLang="en-US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30" y="323966"/>
            <a:ext cx="2396490" cy="75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bg>
      <p:bgPr>
        <a:solidFill>
          <a:srgbClr val="025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303b333637393534383bb2a9cabfc3b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3830" y="1413510"/>
            <a:ext cx="1704340" cy="1090295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4046855" y="4134485"/>
            <a:ext cx="40982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solidFill>
                  <a:schemeClr val="bg1"/>
                </a:solidFill>
              </a:rPr>
              <a:t>Chongqing University</a:t>
            </a:r>
            <a:endParaRPr lang="en-US" altLang="zh-CN" sz="1200">
              <a:solidFill>
                <a:schemeClr val="bg1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4094480" y="4269105"/>
            <a:ext cx="1120775" cy="5715"/>
          </a:xfrm>
          <a:prstGeom prst="line">
            <a:avLst/>
          </a:prstGeom>
          <a:ln w="12700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6966585" y="4274820"/>
            <a:ext cx="1120775" cy="5715"/>
          </a:xfrm>
          <a:prstGeom prst="line">
            <a:avLst/>
          </a:prstGeom>
          <a:ln w="12700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4558506" y="2613660"/>
            <a:ext cx="3074988" cy="14109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lang="zh-CN" altLang="en-US" sz="3200" kern="1200" dirty="0" smtClean="0">
                <a:solidFill>
                  <a:schemeClr val="bg1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</a:defRPr>
            </a:lvl1pPr>
          </a:lstStyle>
          <a:p>
            <a:pPr lvl="0"/>
            <a:r>
              <a:rPr lang="en-US" altLang="zh-CN"/>
              <a:t>Part 1</a:t>
            </a:r>
            <a:endParaRPr lang="en-US" altLang="zh-CN"/>
          </a:p>
          <a:p>
            <a:pPr lvl="0"/>
            <a:r>
              <a:rPr lang="zh-CN" altLang="en-US"/>
              <a:t>输入标题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0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4" Type="http://schemas.openxmlformats.org/officeDocument/2006/relationships/theme" Target="../theme/theme4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7EC7A-312B-4585-9946-EC953D934B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B8C87-D28A-4504-A188-F264C2394DC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6"/>
          <p:cNvSpPr>
            <a:spLocks noChangeArrowheads="1"/>
          </p:cNvSpPr>
          <p:nvPr/>
        </p:nvSpPr>
        <p:spPr bwMode="auto">
          <a:xfrm>
            <a:off x="624417" y="260350"/>
            <a:ext cx="48683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02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12284" y="146050"/>
            <a:ext cx="11013016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spAutoFit/>
          </a:bodyPr>
          <a:lstStyle/>
          <a:p>
            <a:pPr lvl="0"/>
            <a:r>
              <a:rPr lang="en-AU" altLang="zh-CN"/>
              <a:t>Click to edit Master title style</a:t>
            </a:r>
            <a:endParaRPr lang="en-AU" altLang="zh-CN"/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2285" y="1125538"/>
            <a:ext cx="11027833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AU" altLang="zh-CN"/>
              <a:t>Click to edit Master text styles</a:t>
            </a:r>
            <a:endParaRPr lang="en-AU" altLang="zh-CN"/>
          </a:p>
          <a:p>
            <a:pPr lvl="1"/>
            <a:r>
              <a:rPr lang="en-AU" altLang="zh-CN"/>
              <a:t>Second level</a:t>
            </a:r>
            <a:endParaRPr lang="en-AU" altLang="zh-CN"/>
          </a:p>
          <a:p>
            <a:pPr lvl="2"/>
            <a:r>
              <a:rPr lang="en-AU" altLang="zh-CN"/>
              <a:t>Third level</a:t>
            </a:r>
            <a:endParaRPr lang="en-AU" altLang="zh-CN"/>
          </a:p>
          <a:p>
            <a:pPr lvl="3"/>
            <a:r>
              <a:rPr lang="en-AU" altLang="zh-CN"/>
              <a:t>Fourth level</a:t>
            </a:r>
            <a:endParaRPr lang="en-AU" altLang="zh-CN"/>
          </a:p>
          <a:p>
            <a:pPr lvl="4"/>
            <a:r>
              <a:rPr lang="en-AU" altLang="zh-CN"/>
              <a:t>Fifth level</a:t>
            </a:r>
            <a:endParaRPr lang="en-AU" altLang="zh-CN"/>
          </a:p>
        </p:txBody>
      </p:sp>
      <p:sp>
        <p:nvSpPr>
          <p:cNvPr id="40979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56367" y="6381751"/>
            <a:ext cx="9696451" cy="358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b="1">
                <a:ea typeface="宋体" pitchFamily="2" charset="-122"/>
              </a:defRPr>
            </a:lvl1pPr>
          </a:lstStyle>
          <a:p>
            <a:r>
              <a:rPr lang="en-AU" altLang="zh-CN"/>
              <a:t>Chapter 4 — The Processor — </a:t>
            </a:r>
            <a:fld id="{1FDC520C-8204-41D1-B6DB-665CA07BC069}" type="slidenum">
              <a:rPr lang="en-AU" altLang="zh-CN"/>
            </a:fld>
            <a:endParaRPr lang="en-AU" altLang="zh-CN"/>
          </a:p>
        </p:txBody>
      </p:sp>
      <p:sp>
        <p:nvSpPr>
          <p:cNvPr id="1030" name="Rectangle 25"/>
          <p:cNvSpPr>
            <a:spLocks noChangeArrowheads="1"/>
          </p:cNvSpPr>
          <p:nvPr/>
        </p:nvSpPr>
        <p:spPr bwMode="auto">
          <a:xfrm>
            <a:off x="334434" y="981075"/>
            <a:ext cx="11425767" cy="7143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9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9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9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9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9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9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9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9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46080-453C-4BEF-9A1F-F094B996EB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2EFE9-D440-4A3B-858C-5FEDF5DD0E1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7D5C8-5278-47E1-8F28-66A8811C9E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A08893-B833-4CD4-B69F-0A0F18285CC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8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3.png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8.png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9.png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20.wmf"/><Relationship Id="rId2" Type="http://schemas.openxmlformats.org/officeDocument/2006/relationships/oleObject" Target="../embeddings/oleObject1.bin"/><Relationship Id="rId1" Type="http://schemas.openxmlformats.org/officeDocument/2006/relationships/tags" Target="../tags/tag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image" Target="../media/image21.wmf"/><Relationship Id="rId2" Type="http://schemas.openxmlformats.org/officeDocument/2006/relationships/oleObject" Target="../embeddings/oleObject2.bin"/><Relationship Id="rId1" Type="http://schemas.openxmlformats.org/officeDocument/2006/relationships/tags" Target="../tags/tag5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4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22.wmf"/><Relationship Id="rId2" Type="http://schemas.openxmlformats.org/officeDocument/2006/relationships/oleObject" Target="../embeddings/oleObject3.bin"/><Relationship Id="rId1" Type="http://schemas.openxmlformats.org/officeDocument/2006/relationships/tags" Target="../tags/tag8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image" Target="../media/image23.wmf"/><Relationship Id="rId2" Type="http://schemas.openxmlformats.org/officeDocument/2006/relationships/oleObject" Target="../embeddings/oleObject4.bin"/><Relationship Id="rId1" Type="http://schemas.openxmlformats.org/officeDocument/2006/relationships/tags" Target="../tags/tag16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8.xml"/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image" Target="../media/image24.wmf"/><Relationship Id="rId2" Type="http://schemas.openxmlformats.org/officeDocument/2006/relationships/oleObject" Target="../embeddings/oleObject5.bin"/><Relationship Id="rId1" Type="http://schemas.openxmlformats.org/officeDocument/2006/relationships/tags" Target="../tags/tag20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6.vml"/><Relationship Id="rId8" Type="http://schemas.openxmlformats.org/officeDocument/2006/relationships/slideLayout" Target="../slideLayouts/slideLayout24.xml"/><Relationship Id="rId7" Type="http://schemas.openxmlformats.org/officeDocument/2006/relationships/image" Target="../media/image26.png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image" Target="../media/image25.wmf"/><Relationship Id="rId2" Type="http://schemas.openxmlformats.org/officeDocument/2006/relationships/oleObject" Target="../embeddings/oleObject6.bin"/><Relationship Id="rId10" Type="http://schemas.openxmlformats.org/officeDocument/2006/relationships/notesSlide" Target="../notesSlides/notesSlide19.xml"/><Relationship Id="rId1" Type="http://schemas.openxmlformats.org/officeDocument/2006/relationships/tags" Target="../tags/tag24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4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7.vml"/><Relationship Id="rId8" Type="http://schemas.openxmlformats.org/officeDocument/2006/relationships/slideLayout" Target="../slideLayouts/slideLayout24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image" Target="../media/image27.wmf"/><Relationship Id="rId2" Type="http://schemas.openxmlformats.org/officeDocument/2006/relationships/oleObject" Target="../embeddings/oleObject7.bin"/><Relationship Id="rId10" Type="http://schemas.openxmlformats.org/officeDocument/2006/relationships/notesSlide" Target="../notesSlides/notesSlide21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8.vml"/><Relationship Id="rId8" Type="http://schemas.openxmlformats.org/officeDocument/2006/relationships/slideLayout" Target="../slideLayouts/slideLayout24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image" Target="../media/image28.wmf"/><Relationship Id="rId2" Type="http://schemas.openxmlformats.org/officeDocument/2006/relationships/oleObject" Target="../embeddings/oleObject8.bin"/><Relationship Id="rId10" Type="http://schemas.openxmlformats.org/officeDocument/2006/relationships/notesSlide" Target="../notesSlides/notesSlide22.xml"/><Relationship Id="rId1" Type="http://schemas.openxmlformats.org/officeDocument/2006/relationships/tags" Target="../tags/tag36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9.vml"/><Relationship Id="rId8" Type="http://schemas.openxmlformats.org/officeDocument/2006/relationships/slideLayout" Target="../slideLayouts/slideLayout24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image" Target="../media/image29.wmf"/><Relationship Id="rId2" Type="http://schemas.openxmlformats.org/officeDocument/2006/relationships/oleObject" Target="../embeddings/oleObject9.bin"/><Relationship Id="rId10" Type="http://schemas.openxmlformats.org/officeDocument/2006/relationships/notesSlide" Target="../notesSlides/notesSlide23.xml"/><Relationship Id="rId1" Type="http://schemas.openxmlformats.org/officeDocument/2006/relationships/tags" Target="../tags/tag41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0.vml"/><Relationship Id="rId8" Type="http://schemas.openxmlformats.org/officeDocument/2006/relationships/slideLayout" Target="../slideLayouts/slideLayout24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image" Target="../media/image30.wmf"/><Relationship Id="rId2" Type="http://schemas.openxmlformats.org/officeDocument/2006/relationships/oleObject" Target="../embeddings/oleObject10.bin"/><Relationship Id="rId10" Type="http://schemas.openxmlformats.org/officeDocument/2006/relationships/notesSlide" Target="../notesSlides/notesSlide26.xml"/><Relationship Id="rId1" Type="http://schemas.openxmlformats.org/officeDocument/2006/relationships/tags" Target="../tags/tag56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1.vml"/><Relationship Id="rId8" Type="http://schemas.openxmlformats.org/officeDocument/2006/relationships/slideLayout" Target="../slideLayouts/slideLayout24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image" Target="../media/image31.wmf"/><Relationship Id="rId2" Type="http://schemas.openxmlformats.org/officeDocument/2006/relationships/oleObject" Target="../embeddings/oleObject11.bin"/><Relationship Id="rId10" Type="http://schemas.openxmlformats.org/officeDocument/2006/relationships/notesSlide" Target="../notesSlides/notesSlide27.xml"/><Relationship Id="rId1" Type="http://schemas.openxmlformats.org/officeDocument/2006/relationships/tags" Target="../tags/tag61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image" Target="../media/image32.wmf"/><Relationship Id="rId2" Type="http://schemas.openxmlformats.org/officeDocument/2006/relationships/oleObject" Target="../embeddings/oleObject12.bin"/><Relationship Id="rId11" Type="http://schemas.openxmlformats.org/officeDocument/2006/relationships/notesSlide" Target="../notesSlides/notesSlide28.xml"/><Relationship Id="rId10" Type="http://schemas.openxmlformats.org/officeDocument/2006/relationships/vmlDrawing" Target="../drawings/vmlDrawing12.vml"/><Relationship Id="rId1" Type="http://schemas.openxmlformats.org/officeDocument/2006/relationships/tags" Target="../tags/tag66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3.vml"/><Relationship Id="rId8" Type="http://schemas.openxmlformats.org/officeDocument/2006/relationships/slideLayout" Target="../slideLayouts/slideLayout24.xml"/><Relationship Id="rId7" Type="http://schemas.openxmlformats.org/officeDocument/2006/relationships/image" Target="../media/image32.wmf"/><Relationship Id="rId6" Type="http://schemas.openxmlformats.org/officeDocument/2006/relationships/oleObject" Target="../embeddings/oleObject13.bin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0" Type="http://schemas.openxmlformats.org/officeDocument/2006/relationships/notesSlide" Target="../notesSlides/notesSlide29.xml"/><Relationship Id="rId1" Type="http://schemas.openxmlformats.org/officeDocument/2006/relationships/tags" Target="../tags/tag72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4.vml"/><Relationship Id="rId8" Type="http://schemas.openxmlformats.org/officeDocument/2006/relationships/slideLayout" Target="../slideLayouts/slideLayout24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image" Target="../media/image33.wmf"/><Relationship Id="rId2" Type="http://schemas.openxmlformats.org/officeDocument/2006/relationships/oleObject" Target="../embeddings/oleObject14.bin"/><Relationship Id="rId10" Type="http://schemas.openxmlformats.org/officeDocument/2006/relationships/notesSlide" Target="../notesSlides/notesSlide30.xml"/><Relationship Id="rId1" Type="http://schemas.openxmlformats.org/officeDocument/2006/relationships/tags" Target="../tags/tag77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5.vml"/><Relationship Id="rId8" Type="http://schemas.openxmlformats.org/officeDocument/2006/relationships/slideLayout" Target="../slideLayouts/slideLayout24.xml"/><Relationship Id="rId7" Type="http://schemas.openxmlformats.org/officeDocument/2006/relationships/image" Target="../media/image32.wmf"/><Relationship Id="rId6" Type="http://schemas.openxmlformats.org/officeDocument/2006/relationships/oleObject" Target="../embeddings/oleObject15.bin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0" Type="http://schemas.openxmlformats.org/officeDocument/2006/relationships/notesSlide" Target="../notesSlides/notesSlide31.xml"/><Relationship Id="rId1" Type="http://schemas.openxmlformats.org/officeDocument/2006/relationships/tags" Target="../tags/tag82.xml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2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0160" y="2735401"/>
            <a:ext cx="12192000" cy="814340"/>
          </a:xfrm>
        </p:spPr>
        <p:txBody>
          <a:bodyPr>
            <a:normAutofit/>
          </a:bodyPr>
          <a:lstStyle/>
          <a:p>
            <a:r>
              <a:rPr lang="zh-CN" altLang="en-US" sz="4400" dirty="0">
                <a:effectLst/>
                <a:latin typeface="Times New Roman" panose="02020503050405090304" charset="0"/>
                <a:cs typeface="Times New Roman" panose="02020503050405090304" charset="0"/>
                <a:sym typeface="+mn-ea"/>
              </a:rPr>
              <a:t>计组分享</a:t>
            </a:r>
            <a:endParaRPr lang="zh-CN" altLang="en-US" sz="4400" dirty="0">
              <a:effectLst/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5969976"/>
            <a:ext cx="1219199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2024.6.14</a:t>
            </a:r>
            <a:endParaRPr kumimoji="0" lang="zh-CN" altLang="en-US" sz="1800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4" name="文本占位符 8"/>
          <p:cNvSpPr txBox="1"/>
          <p:nvPr/>
        </p:nvSpPr>
        <p:spPr>
          <a:xfrm>
            <a:off x="-50514" y="4041753"/>
            <a:ext cx="12181840" cy="635291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800" b="0" i="0" u="none" strike="noStrike" kern="1200" cap="none" spc="0" normalizeH="0" baseline="0" noProof="1" dirty="0" smtClean="0">
                <a:solidFill>
                  <a:schemeClr val="bg1"/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信智竞 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姜锐</a:t>
            </a: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-214748261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0013" y="252095"/>
            <a:ext cx="5042535" cy="18707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614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548" y="252095"/>
            <a:ext cx="5093335" cy="62204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11685" y="3094651"/>
            <a:ext cx="1740193" cy="398780"/>
          </a:xfrm>
          <a:prstGeom prst="rect">
            <a:avLst/>
          </a:prstGeom>
          <a:solidFill>
            <a:srgbClr val="02529F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503050405090304" charset="0"/>
                <a:ea typeface="+mn-ea"/>
                <a:cs typeface="Times New Roman" panose="02020503050405090304" charset="0"/>
              </a:rPr>
              <a:t>浮点数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503050405090304" charset="0"/>
                <a:ea typeface="+mn-ea"/>
                <a:cs typeface="Times New Roman" panose="02020503050405090304" charset="0"/>
              </a:rPr>
              <a:t>运算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503050405090304" charset="0"/>
              <a:ea typeface="+mn-ea"/>
              <a:cs typeface="Times New Roman" panose="0202050305040509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0" y="3064802"/>
            <a:ext cx="459988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等线" panose="02010600030101010101" pitchFamily="2" charset="-122"/>
                <a:cs typeface="Times New Roman" panose="02020503050405090304" charset="0"/>
              </a:rPr>
              <a:t>浮点数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等线" panose="02010600030101010101" pitchFamily="2" charset="-122"/>
                <a:cs typeface="Times New Roman" panose="02020503050405090304" charset="0"/>
              </a:rPr>
              <a:t>加减法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等线" panose="02010600030101010101" pitchFamily="2" charset="-122"/>
              <a:cs typeface="Times New Roman" panose="0202050305040509030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636520" y="2228494"/>
            <a:ext cx="327466" cy="224664"/>
          </a:xfrm>
          <a:prstGeom prst="rect">
            <a:avLst/>
          </a:prstGeom>
          <a:solidFill>
            <a:srgbClr val="025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charset="0"/>
                <a:ea typeface="等线" panose="02010600030101010101" pitchFamily="2" charset="-122"/>
                <a:cs typeface="Times New Roman" panose="02020503050405090304" charset="0"/>
              </a:rPr>
              <a:t>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charset="0"/>
              <a:ea typeface="等线" panose="02010600030101010101" pitchFamily="2" charset="-122"/>
              <a:cs typeface="Times New Roman" panose="0202050305040509030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636520" y="3182374"/>
            <a:ext cx="327466" cy="224664"/>
          </a:xfrm>
          <a:prstGeom prst="rect">
            <a:avLst/>
          </a:prstGeom>
          <a:solidFill>
            <a:srgbClr val="025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charset="0"/>
                <a:ea typeface="等线" panose="02010600030101010101" pitchFamily="2" charset="-122"/>
                <a:cs typeface="Times New Roman" panose="02020503050405090304" charset="0"/>
              </a:rPr>
              <a:t>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charset="0"/>
              <a:ea typeface="等线" panose="02010600030101010101" pitchFamily="2" charset="-122"/>
              <a:cs typeface="Times New Roman" panose="02020503050405090304" charset="0"/>
            </a:endParaRPr>
          </a:p>
        </p:txBody>
      </p:sp>
      <p:sp>
        <p:nvSpPr>
          <p:cNvPr id="16" name="左大括号 15"/>
          <p:cNvSpPr/>
          <p:nvPr/>
        </p:nvSpPr>
        <p:spPr>
          <a:xfrm>
            <a:off x="5138994" y="2239405"/>
            <a:ext cx="327466" cy="2176417"/>
          </a:xfrm>
          <a:prstGeom prst="leftBrace">
            <a:avLst>
              <a:gd name="adj1" fmla="val 8333"/>
              <a:gd name="adj2" fmla="val 44334"/>
            </a:avLst>
          </a:prstGeom>
          <a:ln w="19050">
            <a:solidFill>
              <a:srgbClr val="02529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50018" y="2140771"/>
            <a:ext cx="248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0" y="2140771"/>
            <a:ext cx="382786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+mn-ea"/>
                <a:cs typeface="Times New Roman" panose="02020503050405090304" charset="0"/>
              </a:rPr>
              <a:t>浮点数表示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+mn-ea"/>
                <a:cs typeface="Times New Roman" panose="0202050305040509030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+mn-ea"/>
                <a:cs typeface="Times New Roman" panose="02020503050405090304" charset="0"/>
              </a:rPr>
              <a:t>IEEE 754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+mn-ea"/>
              <a:cs typeface="Times New Roman" panose="02020503050405090304" charset="0"/>
            </a:endParaRPr>
          </a:p>
        </p:txBody>
      </p:sp>
      <p:sp>
        <p:nvSpPr>
          <p:cNvPr id="9" name="矩形 12"/>
          <p:cNvSpPr/>
          <p:nvPr/>
        </p:nvSpPr>
        <p:spPr>
          <a:xfrm>
            <a:off x="5636520" y="4191158"/>
            <a:ext cx="327466" cy="224664"/>
          </a:xfrm>
          <a:prstGeom prst="rect">
            <a:avLst/>
          </a:prstGeom>
          <a:solidFill>
            <a:srgbClr val="025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prstClr val="white"/>
                </a:solidFill>
                <a:latin typeface="Times New Roman" panose="02020503050405090304" charset="0"/>
                <a:ea typeface="等线" panose="02010600030101010101" pitchFamily="2" charset="-122"/>
                <a:cs typeface="Times New Roman" panose="02020503050405090304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charset="0"/>
              <a:ea typeface="等线" panose="02010600030101010101" pitchFamily="2" charset="-122"/>
              <a:cs typeface="Times New Roman" panose="02020503050405090304" charset="0"/>
            </a:endParaRPr>
          </a:p>
        </p:txBody>
      </p:sp>
      <p:sp>
        <p:nvSpPr>
          <p:cNvPr id="10" name="文本框 7"/>
          <p:cNvSpPr txBox="1"/>
          <p:nvPr/>
        </p:nvSpPr>
        <p:spPr>
          <a:xfrm>
            <a:off x="6096000" y="4103435"/>
            <a:ext cx="459988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等线" panose="02010600030101010101" pitchFamily="2" charset="-122"/>
                <a:cs typeface="Times New Roman" panose="02020503050405090304" charset="0"/>
              </a:rPr>
              <a:t>浮点数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等线" panose="02010600030101010101" pitchFamily="2" charset="-122"/>
                <a:cs typeface="Times New Roman" panose="02020503050405090304" charset="0"/>
              </a:rPr>
              <a:t>乘除法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等线" panose="02010600030101010101" pitchFamily="2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880" y="1659255"/>
            <a:ext cx="9334500" cy="11176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98880" y="624205"/>
            <a:ext cx="6936105" cy="963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IEEE 754</a:t>
            </a:r>
            <a:r>
              <a:rPr lang="zh-CN" altLang="en-US"/>
              <a:t>规定，</a:t>
            </a:r>
            <a:r>
              <a:rPr lang="zh-CN" altLang="en-US">
                <a:solidFill>
                  <a:srgbClr val="FF0000"/>
                </a:solidFill>
              </a:rPr>
              <a:t>单精度</a:t>
            </a:r>
            <a:r>
              <a:rPr lang="zh-CN" altLang="en-US"/>
              <a:t>浮点数大小为</a:t>
            </a:r>
            <a:r>
              <a:rPr lang="en-US" altLang="zh-CN">
                <a:solidFill>
                  <a:srgbClr val="FF0000"/>
                </a:solidFill>
              </a:rPr>
              <a:t>32</a:t>
            </a:r>
            <a:r>
              <a:rPr lang="zh-CN" altLang="en-US">
                <a:solidFill>
                  <a:srgbClr val="FF0000"/>
                </a:solidFill>
              </a:rPr>
              <a:t>位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其中最高</a:t>
            </a:r>
            <a:r>
              <a:rPr lang="en-US" altLang="zh-CN"/>
              <a:t>1</a:t>
            </a:r>
            <a:r>
              <a:rPr lang="zh-CN" altLang="en-US"/>
              <a:t>位是</a:t>
            </a:r>
            <a:r>
              <a:rPr lang="zh-CN" altLang="en-US">
                <a:solidFill>
                  <a:srgbClr val="FF0000"/>
                </a:solidFill>
              </a:rPr>
              <a:t>符号位</a:t>
            </a:r>
            <a:r>
              <a:rPr lang="en-US" altLang="zh-CN">
                <a:solidFill>
                  <a:srgbClr val="FF0000"/>
                </a:solidFill>
              </a:rPr>
              <a:t>(sign)</a:t>
            </a:r>
            <a:r>
              <a:rPr lang="zh-CN" altLang="en-US"/>
              <a:t>，随后</a:t>
            </a:r>
            <a:r>
              <a:rPr lang="en-US" altLang="zh-CN"/>
              <a:t>8</a:t>
            </a:r>
            <a:r>
              <a:rPr lang="zh-CN" altLang="en-US"/>
              <a:t>位是</a:t>
            </a:r>
            <a:r>
              <a:rPr lang="zh-CN" altLang="en-US">
                <a:solidFill>
                  <a:srgbClr val="FF0000"/>
                </a:solidFill>
              </a:rPr>
              <a:t>指数域</a:t>
            </a:r>
            <a:r>
              <a:rPr lang="en-US" altLang="zh-CN">
                <a:solidFill>
                  <a:srgbClr val="FF0000"/>
                </a:solidFill>
              </a:rPr>
              <a:t>(exponent)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/>
              <a:t>剩下的位全部用来表示</a:t>
            </a:r>
            <a:r>
              <a:rPr lang="zh-CN" altLang="en-US">
                <a:solidFill>
                  <a:srgbClr val="FF0000"/>
                </a:solidFill>
              </a:rPr>
              <a:t>尾数</a:t>
            </a:r>
            <a:r>
              <a:rPr lang="en-US" altLang="zh-CN">
                <a:solidFill>
                  <a:srgbClr val="FF0000"/>
                </a:solidFill>
              </a:rPr>
              <a:t>(fraction)</a:t>
            </a:r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68730" y="3175635"/>
            <a:ext cx="6572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Arial Bold" panose="020B0604020202090204" charset="0"/>
              </a:rPr>
              <a:t>偏阶</a:t>
            </a:r>
            <a:r>
              <a:rPr lang="en-US" altLang="zh-CN" b="1">
                <a:latin typeface="Arial Bold" panose="020B0604020202090204" charset="0"/>
              </a:rPr>
              <a:t>？</a:t>
            </a:r>
            <a:r>
              <a:rPr lang="en-US" altLang="zh-CN"/>
              <a:t> 0-255   -&gt;   1-254 -&gt;   -126-127</a:t>
            </a:r>
            <a:endParaRPr lang="en-US" altLang="zh-CN"/>
          </a:p>
          <a:p>
            <a:r>
              <a:rPr lang="zh-CN" altLang="en-US"/>
              <a:t>表示范围</a:t>
            </a:r>
            <a:r>
              <a:rPr lang="en-US" altLang="zh-CN"/>
              <a:t>？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268730" y="3837305"/>
            <a:ext cx="9650730" cy="770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为了表示范围更大、精度更高的浮点数，</a:t>
            </a:r>
            <a:r>
              <a:rPr lang="en-US" altLang="zh-CN"/>
              <a:t>IEEE 754</a:t>
            </a:r>
            <a:r>
              <a:rPr lang="zh-CN" altLang="en-US"/>
              <a:t>提供了双精度浮点数标准</a:t>
            </a:r>
            <a:r>
              <a:rPr lang="en-US" altLang="zh-CN"/>
              <a:t>,</a:t>
            </a:r>
            <a:r>
              <a:rPr lang="zh-CN" altLang="en-US">
                <a:solidFill>
                  <a:srgbClr val="FF0000"/>
                </a:solidFill>
              </a:rPr>
              <a:t>共</a:t>
            </a:r>
            <a:r>
              <a:rPr lang="en-US" altLang="zh-CN">
                <a:solidFill>
                  <a:srgbClr val="FF0000"/>
                </a:solidFill>
              </a:rPr>
              <a:t>64</a:t>
            </a:r>
            <a:r>
              <a:rPr lang="zh-CN" altLang="en-US">
                <a:solidFill>
                  <a:srgbClr val="FF0000"/>
                </a:solidFill>
              </a:rPr>
              <a:t>位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其中</a:t>
            </a:r>
            <a:r>
              <a:rPr lang="zh-CN" altLang="en-US">
                <a:solidFill>
                  <a:srgbClr val="FF0000"/>
                </a:solidFill>
              </a:rPr>
              <a:t>最高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位是符号位</a:t>
            </a:r>
            <a:r>
              <a:rPr lang="zh-CN" altLang="en-US"/>
              <a:t>，随后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位是指数域</a:t>
            </a:r>
            <a:r>
              <a:rPr lang="zh-CN" altLang="en-US"/>
              <a:t>，剩下的位全部用来表示</a:t>
            </a:r>
            <a:r>
              <a:rPr lang="zh-CN" altLang="en-US">
                <a:solidFill>
                  <a:srgbClr val="FF0000"/>
                </a:solidFill>
              </a:rPr>
              <a:t>尾数</a:t>
            </a:r>
            <a:endParaRPr lang="zh-CN" altLang="en-US"/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68730" y="4774565"/>
            <a:ext cx="14465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偏阶</a:t>
            </a:r>
            <a:r>
              <a:rPr lang="en-US" altLang="zh-CN"/>
              <a:t>？</a:t>
            </a:r>
            <a:endParaRPr lang="en-US" altLang="zh-CN"/>
          </a:p>
          <a:p>
            <a:r>
              <a:rPr lang="zh-CN" altLang="en-US"/>
              <a:t>表示范围</a:t>
            </a:r>
            <a:r>
              <a:rPr lang="en-US" altLang="zh-CN"/>
              <a:t>？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285" y="0"/>
            <a:ext cx="7117715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51865" y="424815"/>
            <a:ext cx="15646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0.5 - 0.4375</a:t>
            </a:r>
            <a:endParaRPr lang="en-US" altLang="zh-CN"/>
          </a:p>
          <a:p>
            <a:r>
              <a:rPr lang="en-US" altLang="zh-CN"/>
              <a:t>0.5 * 0.4375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11685" y="3094651"/>
            <a:ext cx="1740193" cy="400110"/>
          </a:xfrm>
          <a:prstGeom prst="rect">
            <a:avLst/>
          </a:prstGeom>
          <a:solidFill>
            <a:srgbClr val="02529F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503050405090304" charset="0"/>
                <a:cs typeface="Times New Roman" panose="02020503050405090304" charset="0"/>
              </a:rPr>
              <a:t>单周期处理器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503050405090304" charset="0"/>
              <a:ea typeface="+mn-ea"/>
              <a:cs typeface="Times New Roman" panose="0202050305040509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0" y="3064802"/>
            <a:ext cx="4599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等线" panose="02010600030101010101" pitchFamily="2" charset="-122"/>
                <a:cs typeface="Times New Roman" panose="02020503050405090304" charset="0"/>
              </a:rPr>
              <a:t>关键路径问题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等线" panose="02010600030101010101" pitchFamily="2" charset="-122"/>
              <a:cs typeface="Times New Roman" panose="0202050305040509030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636520" y="2228494"/>
            <a:ext cx="327466" cy="224664"/>
          </a:xfrm>
          <a:prstGeom prst="rect">
            <a:avLst/>
          </a:prstGeom>
          <a:solidFill>
            <a:srgbClr val="025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charset="0"/>
                <a:ea typeface="等线" panose="02010600030101010101" pitchFamily="2" charset="-122"/>
                <a:cs typeface="Times New Roman" panose="02020503050405090304" charset="0"/>
              </a:rPr>
              <a:t>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charset="0"/>
              <a:ea typeface="等线" panose="02010600030101010101" pitchFamily="2" charset="-122"/>
              <a:cs typeface="Times New Roman" panose="0202050305040509030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636520" y="3182374"/>
            <a:ext cx="327466" cy="224664"/>
          </a:xfrm>
          <a:prstGeom prst="rect">
            <a:avLst/>
          </a:prstGeom>
          <a:solidFill>
            <a:srgbClr val="025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charset="0"/>
                <a:ea typeface="等线" panose="02010600030101010101" pitchFamily="2" charset="-122"/>
                <a:cs typeface="Times New Roman" panose="02020503050405090304" charset="0"/>
              </a:rPr>
              <a:t>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charset="0"/>
              <a:ea typeface="等线" panose="02010600030101010101" pitchFamily="2" charset="-122"/>
              <a:cs typeface="Times New Roman" panose="02020503050405090304" charset="0"/>
            </a:endParaRPr>
          </a:p>
        </p:txBody>
      </p:sp>
      <p:sp>
        <p:nvSpPr>
          <p:cNvPr id="16" name="左大括号 15"/>
          <p:cNvSpPr/>
          <p:nvPr/>
        </p:nvSpPr>
        <p:spPr>
          <a:xfrm>
            <a:off x="5138994" y="2239405"/>
            <a:ext cx="327466" cy="2176417"/>
          </a:xfrm>
          <a:prstGeom prst="leftBrace">
            <a:avLst>
              <a:gd name="adj1" fmla="val 8333"/>
              <a:gd name="adj2" fmla="val 44334"/>
            </a:avLst>
          </a:prstGeom>
          <a:ln w="19050">
            <a:solidFill>
              <a:srgbClr val="02529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50018" y="2140771"/>
            <a:ext cx="248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0" y="2140771"/>
            <a:ext cx="3827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503050405090304" charset="0"/>
                <a:cs typeface="Times New Roman" panose="02020503050405090304" charset="0"/>
              </a:rPr>
              <a:t>数据通路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+mn-ea"/>
              <a:cs typeface="Times New Roman" panose="02020503050405090304" charset="0"/>
            </a:endParaRPr>
          </a:p>
        </p:txBody>
      </p:sp>
      <p:sp>
        <p:nvSpPr>
          <p:cNvPr id="9" name="矩形 12"/>
          <p:cNvSpPr/>
          <p:nvPr/>
        </p:nvSpPr>
        <p:spPr>
          <a:xfrm>
            <a:off x="5636520" y="4191158"/>
            <a:ext cx="327466" cy="224664"/>
          </a:xfrm>
          <a:prstGeom prst="rect">
            <a:avLst/>
          </a:prstGeom>
          <a:solidFill>
            <a:srgbClr val="025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prstClr val="white"/>
                </a:solidFill>
                <a:latin typeface="Times New Roman" panose="02020503050405090304" charset="0"/>
                <a:ea typeface="等线" panose="02010600030101010101" pitchFamily="2" charset="-122"/>
                <a:cs typeface="Times New Roman" panose="02020503050405090304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charset="0"/>
              <a:ea typeface="等线" panose="02010600030101010101" pitchFamily="2" charset="-122"/>
              <a:cs typeface="Times New Roman" panose="02020503050405090304" charset="0"/>
            </a:endParaRPr>
          </a:p>
        </p:txBody>
      </p:sp>
      <p:sp>
        <p:nvSpPr>
          <p:cNvPr id="10" name="文本框 7"/>
          <p:cNvSpPr txBox="1"/>
          <p:nvPr/>
        </p:nvSpPr>
        <p:spPr>
          <a:xfrm>
            <a:off x="6096000" y="4103435"/>
            <a:ext cx="4599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等线" panose="02010600030101010101" pitchFamily="2" charset="-122"/>
                <a:cs typeface="Times New Roman" panose="02020503050405090304" charset="0"/>
              </a:rPr>
              <a:t>控制信号问题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等线" panose="02010600030101010101" pitchFamily="2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Instructions</a:t>
            </a:r>
            <a:endParaRPr lang="en-AU" altLang="zh-CN" dirty="0">
              <a:ea typeface="宋体" pitchFamily="2" charset="-122"/>
            </a:endParaRPr>
          </a:p>
        </p:txBody>
      </p:sp>
      <p:sp>
        <p:nvSpPr>
          <p:cNvPr id="16389" name="Rectangle 3"/>
          <p:cNvSpPr>
            <a:spLocks noGrp="1" noChangeArrowheads="1"/>
          </p:cNvSpPr>
          <p:nvPr>
            <p:ph idx="1"/>
          </p:nvPr>
        </p:nvSpPr>
        <p:spPr>
          <a:xfrm>
            <a:off x="1400139" y="1508125"/>
            <a:ext cx="8270875" cy="1920875"/>
          </a:xfrm>
        </p:spPr>
        <p:txBody>
          <a:bodyPr/>
          <a:lstStyle/>
          <a:p>
            <a:pPr eaLnBrk="1" hangingPunct="1"/>
            <a:r>
              <a:rPr lang="en-US" dirty="0"/>
              <a:t>R-Type: add, sub, and, or, </a:t>
            </a:r>
            <a:r>
              <a:rPr lang="en-US" dirty="0" err="1"/>
              <a:t>slt</a:t>
            </a:r>
            <a:endParaRPr lang="en-US" dirty="0"/>
          </a:p>
          <a:p>
            <a:pPr eaLnBrk="1" hangingPunct="1"/>
            <a:r>
              <a:rPr lang="en-US" dirty="0"/>
              <a:t>Memory: </a:t>
            </a:r>
            <a:r>
              <a:rPr lang="en-US" dirty="0" err="1"/>
              <a:t>lw</a:t>
            </a:r>
            <a:r>
              <a:rPr lang="en-US" dirty="0"/>
              <a:t>, </a:t>
            </a:r>
            <a:r>
              <a:rPr lang="en-US" dirty="0" err="1"/>
              <a:t>sw</a:t>
            </a:r>
            <a:endParaRPr lang="en-US" dirty="0"/>
          </a:p>
          <a:p>
            <a:pPr eaLnBrk="1" hangingPunct="1"/>
            <a:r>
              <a:rPr lang="en-US" altLang="zh-CN" dirty="0"/>
              <a:t>Branch: </a:t>
            </a:r>
            <a:r>
              <a:rPr lang="en-US" altLang="zh-CN" dirty="0" err="1"/>
              <a:t>beq</a:t>
            </a:r>
            <a:r>
              <a:rPr lang="en-US" altLang="zh-CN" dirty="0"/>
              <a:t>, j</a:t>
            </a:r>
            <a:endParaRPr lang="en-AU" altLang="zh-CN" dirty="0">
              <a:ea typeface="宋体" pitchFamily="2" charset="-122"/>
            </a:endParaRPr>
          </a:p>
        </p:txBody>
      </p:sp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AU" altLang="zh-CN" sz="1400">
                <a:solidFill>
                  <a:srgbClr val="000000"/>
                </a:solidFill>
              </a:rPr>
              <a:t>Chapter 4 — The Processor — </a:t>
            </a:r>
            <a:fld id="{5CEDF069-9D15-4E09-9FBF-75331E6D850E}" type="slidenum">
              <a:rPr lang="en-AU" altLang="zh-CN" sz="1400">
                <a:solidFill>
                  <a:srgbClr val="000000"/>
                </a:solidFill>
              </a:rPr>
            </a:fld>
            <a:endParaRPr lang="en-AU" altLang="zh-CN" sz="1400">
              <a:solidFill>
                <a:srgbClr val="00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954732" y="3656370"/>
            <a:ext cx="5785770" cy="2071065"/>
          </a:xfrm>
          <a:prstGeom prst="rect">
            <a:avLst/>
          </a:prstGeom>
        </p:spPr>
      </p:pic>
      <p:grpSp>
        <p:nvGrpSpPr>
          <p:cNvPr id="7" name="Group 14"/>
          <p:cNvGrpSpPr/>
          <p:nvPr/>
        </p:nvGrpSpPr>
        <p:grpSpPr bwMode="auto">
          <a:xfrm>
            <a:off x="2757682" y="5777278"/>
            <a:ext cx="4982820" cy="579259"/>
            <a:chOff x="1127" y="890"/>
            <a:chExt cx="3050" cy="635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1127" y="890"/>
              <a:ext cx="554" cy="33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sz="1400" dirty="0"/>
                <a:t>2</a:t>
              </a:r>
              <a:endParaRPr lang="en-AU" altLang="zh-CN" sz="1400" dirty="0">
                <a:ea typeface="宋体" pitchFamily="2" charset="-122"/>
              </a:endParaRP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1681" y="890"/>
              <a:ext cx="2496" cy="33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sz="1400" dirty="0"/>
                <a:t>address</a:t>
              </a:r>
              <a:endParaRPr lang="en-AU" altLang="zh-CN" sz="1200" dirty="0">
                <a:ea typeface="宋体" pitchFamily="2" charset="-122"/>
              </a:endParaRP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1127" y="1194"/>
              <a:ext cx="34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sz="1200" dirty="0"/>
                <a:t>31:26</a:t>
              </a:r>
              <a:endParaRPr lang="en-AU" altLang="zh-CN" sz="1200" dirty="0">
                <a:ea typeface="宋体" pitchFamily="2" charset="-122"/>
              </a:endParaRPr>
            </a:p>
          </p:txBody>
        </p:sp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3582" y="1221"/>
              <a:ext cx="411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sz="1200" dirty="0"/>
                <a:t>25:0</a:t>
              </a:r>
              <a:endParaRPr lang="en-AU" altLang="zh-CN" sz="1100" dirty="0">
                <a:ea typeface="宋体" pitchFamily="2" charset="-122"/>
              </a:endParaRPr>
            </a:p>
          </p:txBody>
        </p:sp>
      </p:grp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1976482" y="5800209"/>
            <a:ext cx="62228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l"/>
            <a:r>
              <a:rPr lang="en-US" sz="1400" dirty="0"/>
              <a:t>Jump</a:t>
            </a:r>
            <a:endParaRPr lang="en-AU" altLang="zh-CN" sz="1400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R-Format Instructions</a:t>
            </a:r>
            <a:endParaRPr lang="en-AU" altLang="zh-CN" dirty="0">
              <a:ea typeface="宋体" pitchFamily="2" charset="-122"/>
            </a:endParaRPr>
          </a:p>
        </p:txBody>
      </p:sp>
      <p:sp>
        <p:nvSpPr>
          <p:cNvPr id="16389" name="Rectangle 3"/>
          <p:cNvSpPr>
            <a:spLocks noGrp="1" noChangeArrowheads="1"/>
          </p:cNvSpPr>
          <p:nvPr>
            <p:ph idx="1"/>
          </p:nvPr>
        </p:nvSpPr>
        <p:spPr>
          <a:xfrm>
            <a:off x="2208214" y="1125539"/>
            <a:ext cx="8270875" cy="1920875"/>
          </a:xfrm>
        </p:spPr>
        <p:txBody>
          <a:bodyPr/>
          <a:lstStyle/>
          <a:p>
            <a:pPr eaLnBrk="1" hangingPunct="1"/>
            <a:r>
              <a:rPr lang="en-US" dirty="0"/>
              <a:t>Read two register operands</a:t>
            </a:r>
            <a:endParaRPr lang="en-US" dirty="0"/>
          </a:p>
          <a:p>
            <a:pPr eaLnBrk="1" hangingPunct="1"/>
            <a:r>
              <a:rPr lang="en-US" dirty="0"/>
              <a:t>Perform arithmetic/logical operation</a:t>
            </a:r>
            <a:endParaRPr lang="en-US" dirty="0"/>
          </a:p>
          <a:p>
            <a:pPr eaLnBrk="1" hangingPunct="1"/>
            <a:r>
              <a:rPr lang="en-US" dirty="0"/>
              <a:t>Write register result</a:t>
            </a:r>
            <a:endParaRPr lang="en-AU" altLang="zh-CN" dirty="0">
              <a:ea typeface="宋体" pitchFamily="2" charset="-122"/>
            </a:endParaRPr>
          </a:p>
        </p:txBody>
      </p:sp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AU" altLang="zh-CN" sz="1400">
                <a:solidFill>
                  <a:srgbClr val="000000"/>
                </a:solidFill>
              </a:rPr>
              <a:t>Chapter 4 — The Processor — </a:t>
            </a:r>
            <a:fld id="{5CEDF069-9D15-4E09-9FBF-75331E6D850E}" type="slidenum">
              <a:rPr lang="en-AU" altLang="zh-CN" sz="1400">
                <a:solidFill>
                  <a:srgbClr val="000000"/>
                </a:solidFill>
              </a:rPr>
            </a:fld>
            <a:endParaRPr lang="en-AU" altLang="zh-CN" sz="1400">
              <a:solidFill>
                <a:srgbClr val="000000"/>
              </a:solidFill>
            </a:endParaRPr>
          </a:p>
        </p:txBody>
      </p:sp>
      <p:pic>
        <p:nvPicPr>
          <p:cNvPr id="16387" name="Picture 6" descr="f04-07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051" y="2956719"/>
            <a:ext cx="6316662" cy="257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71275"/>
          <a:stretch>
            <a:fillRect/>
          </a:stretch>
        </p:blipFill>
        <p:spPr>
          <a:xfrm>
            <a:off x="3719737" y="5491522"/>
            <a:ext cx="3489243" cy="3587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>
                <a:ea typeface="宋体" pitchFamily="2" charset="-122"/>
              </a:rPr>
              <a:t>R-Type Instruction</a:t>
            </a:r>
            <a:endParaRPr lang="en-AU" altLang="zh-CN">
              <a:ea typeface="宋体" pitchFamily="2" charset="-122"/>
            </a:endParaRPr>
          </a:p>
        </p:txBody>
      </p:sp>
      <p:sp>
        <p:nvSpPr>
          <p:cNvPr id="27650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AU" altLang="zh-CN" sz="1400">
                <a:solidFill>
                  <a:srgbClr val="000000"/>
                </a:solidFill>
              </a:rPr>
              <a:t>Chapter 4 — The Processor — </a:t>
            </a:r>
            <a:fld id="{64C4F42B-CC1D-4A51-AAA2-5FE69DBD8497}" type="slidenum">
              <a:rPr lang="en-AU" altLang="zh-CN" sz="1400">
                <a:solidFill>
                  <a:srgbClr val="000000"/>
                </a:solidFill>
              </a:rPr>
            </a:fld>
            <a:endParaRPr lang="en-AU" altLang="zh-CN" sz="1400">
              <a:solidFill>
                <a:srgbClr val="000000"/>
              </a:solidFill>
            </a:endParaRPr>
          </a:p>
        </p:txBody>
      </p:sp>
      <p:pic>
        <p:nvPicPr>
          <p:cNvPr id="27651" name="Picture 6" descr="f04-19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1196976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3014" y="6209414"/>
            <a:ext cx="162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</a:t>
            </a:r>
            <a:r>
              <a:rPr lang="en-US" dirty="0" err="1"/>
              <a:t>rd</a:t>
            </a:r>
            <a:r>
              <a:rPr lang="en-US" dirty="0"/>
              <a:t>, </a:t>
            </a:r>
            <a:r>
              <a:rPr lang="en-US" dirty="0" err="1"/>
              <a:t>rs</a:t>
            </a:r>
            <a:r>
              <a:rPr lang="en-US" dirty="0"/>
              <a:t>, rt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Load/Store Instructions</a:t>
            </a:r>
            <a:endParaRPr lang="en-AU" altLang="zh-CN">
              <a:ea typeface="宋体" pitchFamily="2" charset="-122"/>
            </a:endParaRPr>
          </a:p>
        </p:txBody>
      </p:sp>
      <p:sp>
        <p:nvSpPr>
          <p:cNvPr id="17413" name="Rectangle 3"/>
          <p:cNvSpPr>
            <a:spLocks noGrp="1" noChangeArrowheads="1"/>
          </p:cNvSpPr>
          <p:nvPr>
            <p:ph idx="1"/>
          </p:nvPr>
        </p:nvSpPr>
        <p:spPr>
          <a:xfrm>
            <a:off x="2208213" y="1125539"/>
            <a:ext cx="8204200" cy="26114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Read register operands</a:t>
            </a:r>
            <a:endParaRPr lang="en-US" sz="2800"/>
          </a:p>
          <a:p>
            <a:pPr eaLnBrk="1" hangingPunct="1">
              <a:lnSpc>
                <a:spcPct val="90000"/>
              </a:lnSpc>
            </a:pPr>
            <a:r>
              <a:rPr lang="en-US" sz="2800"/>
              <a:t>Calculate address using 16-bit offset</a:t>
            </a:r>
            <a:endParaRPr lang="en-US" sz="2800"/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Use ALU, but sign-extend offset</a:t>
            </a:r>
            <a:endParaRPr lang="en-US" sz="2400"/>
          </a:p>
          <a:p>
            <a:pPr eaLnBrk="1" hangingPunct="1">
              <a:lnSpc>
                <a:spcPct val="90000"/>
              </a:lnSpc>
            </a:pPr>
            <a:r>
              <a:rPr lang="en-US" sz="2800">
                <a:solidFill>
                  <a:schemeClr val="tx2"/>
                </a:solidFill>
              </a:rPr>
              <a:t>Load</a:t>
            </a:r>
            <a:r>
              <a:rPr lang="en-US" sz="2800"/>
              <a:t>: Read memory and update register</a:t>
            </a:r>
            <a:endParaRPr lang="en-US" sz="2800"/>
          </a:p>
          <a:p>
            <a:pPr eaLnBrk="1" hangingPunct="1">
              <a:lnSpc>
                <a:spcPct val="90000"/>
              </a:lnSpc>
            </a:pPr>
            <a:r>
              <a:rPr lang="en-US" sz="2800">
                <a:solidFill>
                  <a:schemeClr val="tx2"/>
                </a:solidFill>
              </a:rPr>
              <a:t>Store</a:t>
            </a:r>
            <a:r>
              <a:rPr lang="en-US" sz="2800"/>
              <a:t>: Write register value to memory</a:t>
            </a:r>
            <a:endParaRPr lang="en-AU" altLang="zh-CN" sz="2800">
              <a:ea typeface="宋体" pitchFamily="2" charset="-122"/>
            </a:endParaRPr>
          </a:p>
        </p:txBody>
      </p:sp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AU" altLang="zh-CN" sz="1400"/>
              <a:t>Chapter 4 — The Processor — </a:t>
            </a:r>
            <a:fld id="{5E19344F-4ECE-4823-B801-9ED55A760023}" type="slidenum">
              <a:rPr lang="en-AU" altLang="zh-CN" sz="1400"/>
            </a:fld>
            <a:endParaRPr lang="en-AU" altLang="zh-CN" sz="1400"/>
          </a:p>
        </p:txBody>
      </p:sp>
      <p:pic>
        <p:nvPicPr>
          <p:cNvPr id="17411" name="Picture 6" descr="f04-08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513" y="3644901"/>
            <a:ext cx="4437062" cy="246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>
                <a:ea typeface="宋体" pitchFamily="2" charset="-122"/>
              </a:rPr>
              <a:t>Load Instruction</a:t>
            </a:r>
            <a:endParaRPr lang="en-AU" altLang="zh-CN">
              <a:ea typeface="宋体" pitchFamily="2" charset="-122"/>
            </a:endParaRPr>
          </a:p>
        </p:txBody>
      </p:sp>
      <p:sp>
        <p:nvSpPr>
          <p:cNvPr id="28674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AU" altLang="zh-CN" sz="1400">
                <a:solidFill>
                  <a:srgbClr val="000000"/>
                </a:solidFill>
              </a:rPr>
              <a:t>Chapter 4 — The Processor — </a:t>
            </a:r>
            <a:fld id="{574633D4-F564-479D-8CDE-F6C49D0A14BD}" type="slidenum">
              <a:rPr lang="en-AU" altLang="zh-CN" sz="1400">
                <a:solidFill>
                  <a:srgbClr val="000000"/>
                </a:solidFill>
              </a:rPr>
            </a:fld>
            <a:endParaRPr lang="en-AU" altLang="zh-CN" sz="1400">
              <a:solidFill>
                <a:srgbClr val="000000"/>
              </a:solidFill>
            </a:endParaRPr>
          </a:p>
        </p:txBody>
      </p:sp>
      <p:pic>
        <p:nvPicPr>
          <p:cNvPr id="28675" name="Picture 6" descr="f04-20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1196976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10363" y="6028660"/>
            <a:ext cx="220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lw</a:t>
            </a:r>
            <a:r>
              <a:rPr lang="en-US" dirty="0"/>
              <a:t> rt, offset(</a:t>
            </a:r>
            <a:r>
              <a:rPr lang="en-US" dirty="0" err="1"/>
              <a:t>rs</a:t>
            </a:r>
            <a:r>
              <a:rPr lang="en-US" dirty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Branch Instructions</a:t>
            </a:r>
            <a:endParaRPr lang="en-AU" altLang="zh-CN">
              <a:ea typeface="宋体" pitchFamily="2" charset="-122"/>
            </a:endParaRP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/>
              <a:t>Read register operands</a:t>
            </a:r>
            <a:endParaRPr lang="en-US" sz="2400" dirty="0"/>
          </a:p>
          <a:p>
            <a:pPr eaLnBrk="1" hangingPunct="1"/>
            <a:r>
              <a:rPr lang="en-US" sz="2400" dirty="0"/>
              <a:t>Compare operands</a:t>
            </a:r>
            <a:endParaRPr lang="en-US" sz="2400" dirty="0"/>
          </a:p>
          <a:p>
            <a:pPr lvl="1" eaLnBrk="1" hangingPunct="1"/>
            <a:r>
              <a:rPr lang="en-US" sz="2000" dirty="0"/>
              <a:t>Use ALU, subtract and check Zero output</a:t>
            </a:r>
            <a:endParaRPr lang="en-US" sz="2000" dirty="0"/>
          </a:p>
          <a:p>
            <a:pPr eaLnBrk="1" hangingPunct="1"/>
            <a:r>
              <a:rPr lang="en-US" sz="2400" dirty="0"/>
              <a:t>Calculate target address</a:t>
            </a:r>
            <a:endParaRPr lang="en-US" sz="2400" dirty="0"/>
          </a:p>
          <a:p>
            <a:pPr lvl="1" eaLnBrk="1" hangingPunct="1"/>
            <a:r>
              <a:rPr lang="en-US" sz="2000" dirty="0"/>
              <a:t>Sign-extend displacement</a:t>
            </a:r>
            <a:endParaRPr lang="en-US" sz="2000" dirty="0"/>
          </a:p>
          <a:p>
            <a:pPr lvl="1" eaLnBrk="1" hangingPunct="1"/>
            <a:r>
              <a:rPr lang="en-US" sz="2000" dirty="0"/>
              <a:t>Shift left 2 places (word displacement)</a:t>
            </a:r>
            <a:endParaRPr lang="en-US" sz="2000" dirty="0"/>
          </a:p>
          <a:p>
            <a:pPr lvl="1" eaLnBrk="1" hangingPunct="1"/>
            <a:r>
              <a:rPr lang="en-US" sz="2000" dirty="0"/>
              <a:t>Add to PC + 4</a:t>
            </a:r>
            <a:endParaRPr lang="en-US" sz="2000" dirty="0"/>
          </a:p>
          <a:p>
            <a:pPr lvl="2" eaLnBrk="1" hangingPunct="1"/>
            <a:r>
              <a:rPr lang="en-US" sz="1800" dirty="0"/>
              <a:t>Already calculated by instruction fetch</a:t>
            </a:r>
            <a:endParaRPr lang="en-AU" altLang="zh-CN" sz="1800" dirty="0">
              <a:ea typeface="宋体" pitchFamily="2" charset="-122"/>
            </a:endParaRPr>
          </a:p>
        </p:txBody>
      </p:sp>
      <p:sp>
        <p:nvSpPr>
          <p:cNvPr id="1843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AU" altLang="zh-CN" sz="1400">
                <a:solidFill>
                  <a:srgbClr val="000000"/>
                </a:solidFill>
              </a:rPr>
              <a:t>Chapter 4 — The Processor — </a:t>
            </a:r>
            <a:fld id="{40568CF9-01CE-4E61-B5C2-3B3EB95E1DD6}" type="slidenum">
              <a:rPr lang="en-AU" altLang="zh-CN" sz="1400">
                <a:solidFill>
                  <a:srgbClr val="000000"/>
                </a:solidFill>
              </a:rPr>
            </a:fld>
            <a:endParaRPr lang="en-AU" altLang="zh-CN" sz="1400">
              <a:solidFill>
                <a:srgbClr val="000000"/>
              </a:solidFill>
            </a:endParaRPr>
          </a:p>
        </p:txBody>
      </p:sp>
      <p:pic>
        <p:nvPicPr>
          <p:cNvPr id="7" name="Picture 7" descr="f04-09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3555" y="1196977"/>
            <a:ext cx="6231388" cy="453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>
                <a:ea typeface="宋体" pitchFamily="2" charset="-122"/>
              </a:rPr>
              <a:t>Branch-on-Equal Instruction</a:t>
            </a:r>
            <a:endParaRPr lang="en-AU" altLang="zh-CN">
              <a:ea typeface="宋体" pitchFamily="2" charset="-122"/>
            </a:endParaRPr>
          </a:p>
        </p:txBody>
      </p:sp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AU" altLang="zh-CN" sz="1400">
                <a:solidFill>
                  <a:srgbClr val="000000"/>
                </a:solidFill>
              </a:rPr>
              <a:t>Chapter 4 — The Processor — </a:t>
            </a:r>
            <a:fld id="{636CAE3E-5668-4E24-B1D5-8551F7340226}" type="slidenum">
              <a:rPr lang="en-AU" altLang="zh-CN" sz="1400">
                <a:solidFill>
                  <a:srgbClr val="000000"/>
                </a:solidFill>
              </a:rPr>
            </a:fld>
            <a:endParaRPr lang="en-AU" altLang="zh-CN" sz="1400">
              <a:solidFill>
                <a:srgbClr val="000000"/>
              </a:solidFill>
            </a:endParaRPr>
          </a:p>
        </p:txBody>
      </p:sp>
      <p:pic>
        <p:nvPicPr>
          <p:cNvPr id="29699" name="Picture 6" descr="f04-21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1196976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12284" y="6191806"/>
            <a:ext cx="127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beq</a:t>
            </a:r>
            <a:r>
              <a:rPr lang="en-US" dirty="0"/>
              <a:t> </a:t>
            </a:r>
            <a:r>
              <a:rPr lang="en-US" dirty="0" err="1"/>
              <a:t>rs</a:t>
            </a:r>
            <a:r>
              <a:rPr lang="en-US" dirty="0"/>
              <a:t>, rt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>
                <a:ea typeface="宋体" pitchFamily="2" charset="-122"/>
              </a:rPr>
              <a:t>Implementing Jumps</a:t>
            </a:r>
            <a:endParaRPr lang="en-AU" altLang="zh-CN">
              <a:ea typeface="宋体" pitchFamily="2" charset="-122"/>
            </a:endParaRPr>
          </a:p>
        </p:txBody>
      </p:sp>
      <p:sp>
        <p:nvSpPr>
          <p:cNvPr id="30724" name="Rectangle 3"/>
          <p:cNvSpPr>
            <a:spLocks noGrp="1" noChangeArrowheads="1"/>
          </p:cNvSpPr>
          <p:nvPr>
            <p:ph idx="1"/>
          </p:nvPr>
        </p:nvSpPr>
        <p:spPr>
          <a:xfrm>
            <a:off x="2208214" y="2349500"/>
            <a:ext cx="8270875" cy="3887788"/>
          </a:xfrm>
        </p:spPr>
        <p:txBody>
          <a:bodyPr/>
          <a:lstStyle/>
          <a:p>
            <a:pPr eaLnBrk="1" hangingPunct="1"/>
            <a:r>
              <a:rPr lang="en-AU" altLang="zh-CN" dirty="0">
                <a:ea typeface="宋体" pitchFamily="2" charset="-122"/>
              </a:rPr>
              <a:t>Jump uses word address</a:t>
            </a:r>
            <a:endParaRPr lang="en-AU" altLang="zh-CN" dirty="0">
              <a:ea typeface="宋体" pitchFamily="2" charset="-122"/>
            </a:endParaRPr>
          </a:p>
          <a:p>
            <a:pPr eaLnBrk="1" hangingPunct="1"/>
            <a:r>
              <a:rPr lang="en-AU" altLang="zh-CN" dirty="0">
                <a:ea typeface="宋体" pitchFamily="2" charset="-122"/>
              </a:rPr>
              <a:t>Update PC with concatenation of</a:t>
            </a:r>
            <a:endParaRPr lang="en-AU" altLang="zh-CN" dirty="0">
              <a:ea typeface="宋体" pitchFamily="2" charset="-122"/>
            </a:endParaRPr>
          </a:p>
          <a:p>
            <a:pPr lvl="1" eaLnBrk="1" hangingPunct="1"/>
            <a:r>
              <a:rPr lang="en-AU" altLang="zh-CN" dirty="0">
                <a:ea typeface="宋体" pitchFamily="2" charset="-122"/>
              </a:rPr>
              <a:t>Top 4 bits of old PC</a:t>
            </a:r>
            <a:endParaRPr lang="en-AU" altLang="zh-CN" dirty="0">
              <a:ea typeface="宋体" pitchFamily="2" charset="-122"/>
            </a:endParaRPr>
          </a:p>
          <a:p>
            <a:pPr lvl="1" eaLnBrk="1" hangingPunct="1"/>
            <a:r>
              <a:rPr lang="en-AU" altLang="zh-CN" dirty="0">
                <a:ea typeface="宋体" pitchFamily="2" charset="-122"/>
              </a:rPr>
              <a:t>26-bit jump address</a:t>
            </a:r>
            <a:endParaRPr lang="en-AU" altLang="zh-CN" dirty="0">
              <a:ea typeface="宋体" pitchFamily="2" charset="-122"/>
            </a:endParaRPr>
          </a:p>
          <a:p>
            <a:pPr lvl="1" eaLnBrk="1" hangingPunct="1"/>
            <a:r>
              <a:rPr lang="en-AU" altLang="zh-CN" dirty="0">
                <a:ea typeface="宋体" pitchFamily="2" charset="-122"/>
              </a:rPr>
              <a:t>00</a:t>
            </a:r>
            <a:endParaRPr lang="en-AU" altLang="zh-CN" dirty="0">
              <a:ea typeface="宋体" pitchFamily="2" charset="-122"/>
            </a:endParaRPr>
          </a:p>
          <a:p>
            <a:pPr eaLnBrk="1" hangingPunct="1"/>
            <a:r>
              <a:rPr lang="en-AU" altLang="zh-CN" dirty="0">
                <a:ea typeface="宋体" pitchFamily="2" charset="-122"/>
              </a:rPr>
              <a:t>Need an extra control signal decoded from </a:t>
            </a:r>
            <a:r>
              <a:rPr lang="en-AU" altLang="zh-CN" dirty="0" err="1">
                <a:ea typeface="宋体" pitchFamily="2" charset="-122"/>
              </a:rPr>
              <a:t>opcode</a:t>
            </a:r>
            <a:endParaRPr lang="en-AU" altLang="zh-CN" dirty="0">
              <a:ea typeface="宋体" pitchFamily="2" charset="-122"/>
            </a:endParaRPr>
          </a:p>
        </p:txBody>
      </p:sp>
      <p:sp>
        <p:nvSpPr>
          <p:cNvPr id="3072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AU" altLang="zh-CN" sz="1400">
                <a:solidFill>
                  <a:srgbClr val="000000"/>
                </a:solidFill>
              </a:rPr>
              <a:t>Chapter 4 — The Processor — </a:t>
            </a:r>
            <a:fld id="{8D3B1E9C-2225-48CF-9439-E0E3DB5F1425}" type="slidenum">
              <a:rPr lang="en-AU" altLang="zh-CN" sz="1400">
                <a:solidFill>
                  <a:srgbClr val="000000"/>
                </a:solidFill>
              </a:rPr>
            </a:fld>
            <a:endParaRPr lang="en-AU" altLang="zh-CN" sz="1400">
              <a:solidFill>
                <a:srgbClr val="000000"/>
              </a:solidFill>
            </a:endParaRPr>
          </a:p>
        </p:txBody>
      </p:sp>
      <p:grpSp>
        <p:nvGrpSpPr>
          <p:cNvPr id="30725" name="Group 14"/>
          <p:cNvGrpSpPr/>
          <p:nvPr/>
        </p:nvGrpSpPr>
        <p:grpSpPr bwMode="auto">
          <a:xfrm>
            <a:off x="3359151" y="1412876"/>
            <a:ext cx="6913563" cy="773113"/>
            <a:chOff x="1156" y="890"/>
            <a:chExt cx="4355" cy="487"/>
          </a:xfrm>
        </p:grpSpPr>
        <p:sp>
          <p:nvSpPr>
            <p:cNvPr id="30727" name="Text Box 5"/>
            <p:cNvSpPr txBox="1">
              <a:spLocks noChangeArrowheads="1"/>
            </p:cNvSpPr>
            <p:nvPr/>
          </p:nvSpPr>
          <p:spPr bwMode="auto">
            <a:xfrm>
              <a:off x="1156" y="890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0000"/>
                  </a:solidFill>
                </a:rPr>
                <a:t>2</a:t>
              </a:r>
              <a:endParaRPr lang="en-AU" altLang="zh-CN" sz="200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0728" name="Text Box 8"/>
            <p:cNvSpPr txBox="1">
              <a:spLocks noChangeArrowheads="1"/>
            </p:cNvSpPr>
            <p:nvPr/>
          </p:nvSpPr>
          <p:spPr bwMode="auto">
            <a:xfrm>
              <a:off x="1973" y="890"/>
              <a:ext cx="353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0000"/>
                  </a:solidFill>
                </a:rPr>
                <a:t>address</a:t>
              </a:r>
              <a:endParaRPr lang="en-AU" altLang="zh-CN" sz="200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0729" name="Text Box 9"/>
            <p:cNvSpPr txBox="1">
              <a:spLocks noChangeArrowheads="1"/>
            </p:cNvSpPr>
            <p:nvPr/>
          </p:nvSpPr>
          <p:spPr bwMode="auto">
            <a:xfrm>
              <a:off x="1332" y="1165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</a:rPr>
                <a:t>31:26</a:t>
              </a:r>
              <a:endParaRPr lang="en-AU" altLang="zh-CN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0730" name="Text Box 12"/>
            <p:cNvSpPr txBox="1">
              <a:spLocks noChangeArrowheads="1"/>
            </p:cNvSpPr>
            <p:nvPr/>
          </p:nvSpPr>
          <p:spPr bwMode="auto">
            <a:xfrm>
              <a:off x="3560" y="1165"/>
              <a:ext cx="4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</a:rPr>
                <a:t>25:0</a:t>
              </a:r>
              <a:endParaRPr lang="en-AU" altLang="zh-CN">
                <a:solidFill>
                  <a:srgbClr val="000000"/>
                </a:solidFill>
                <a:ea typeface="宋体" pitchFamily="2" charset="-122"/>
              </a:endParaRPr>
            </a:p>
          </p:txBody>
        </p:sp>
      </p:grpSp>
      <p:sp>
        <p:nvSpPr>
          <p:cNvPr id="30726" name="Text Box 13"/>
          <p:cNvSpPr txBox="1">
            <a:spLocks noChangeArrowheads="1"/>
          </p:cNvSpPr>
          <p:nvPr/>
        </p:nvSpPr>
        <p:spPr bwMode="auto">
          <a:xfrm>
            <a:off x="2335213" y="1489076"/>
            <a:ext cx="742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000000"/>
                </a:solidFill>
              </a:rPr>
              <a:t>Jump</a:t>
            </a:r>
            <a:endParaRPr lang="en-AU" altLang="zh-CN" sz="1800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>
                <a:ea typeface="宋体" pitchFamily="2" charset="-122"/>
              </a:rPr>
              <a:t>Datapath With Jumps Added</a:t>
            </a:r>
            <a:endParaRPr lang="en-AU" altLang="zh-CN">
              <a:ea typeface="宋体" pitchFamily="2" charset="-122"/>
            </a:endParaRPr>
          </a:p>
        </p:txBody>
      </p:sp>
      <p:sp>
        <p:nvSpPr>
          <p:cNvPr id="31746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AU" altLang="zh-CN" sz="1400">
                <a:solidFill>
                  <a:srgbClr val="000000"/>
                </a:solidFill>
              </a:rPr>
              <a:t>Chapter 4 — The Processor — </a:t>
            </a:r>
            <a:fld id="{3AE33FE5-54F3-45C7-8776-DBA67E341B24}" type="slidenum">
              <a:rPr lang="en-AU" altLang="zh-CN" sz="1400">
                <a:solidFill>
                  <a:srgbClr val="000000"/>
                </a:solidFill>
              </a:rPr>
            </a:fld>
            <a:endParaRPr lang="en-AU" altLang="zh-CN" sz="1400">
              <a:solidFill>
                <a:srgbClr val="000000"/>
              </a:solidFill>
            </a:endParaRPr>
          </a:p>
        </p:txBody>
      </p:sp>
      <p:pic>
        <p:nvPicPr>
          <p:cNvPr id="31747" name="Picture 6" descr="f04-24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88" y="1196976"/>
            <a:ext cx="6680200" cy="524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t="72596"/>
          <a:stretch>
            <a:fillRect/>
          </a:stretch>
        </p:blipFill>
        <p:spPr>
          <a:xfrm>
            <a:off x="1524001" y="6453337"/>
            <a:ext cx="3672407" cy="27607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Path-Load</a:t>
            </a:r>
            <a:endParaRPr lang="en-US" dirty="0"/>
          </a:p>
        </p:txBody>
      </p:sp>
      <p:pic>
        <p:nvPicPr>
          <p:cNvPr id="6" name="Picture 6" descr="f04-20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54" y="1190627"/>
            <a:ext cx="6335284" cy="4923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354076" y="1345340"/>
            <a:ext cx="220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</a:t>
            </a:r>
            <a:r>
              <a:rPr lang="en-US" altLang="zh-CN" dirty="0" err="1"/>
              <a:t>w</a:t>
            </a:r>
            <a:r>
              <a:rPr lang="en-US" dirty="0"/>
              <a:t> rt, offset(</a:t>
            </a:r>
            <a:r>
              <a:rPr lang="en-US" dirty="0" err="1"/>
              <a:t>rs</a:t>
            </a:r>
            <a:r>
              <a:rPr lang="en-US" dirty="0"/>
              <a:t>)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23641" y="1982702"/>
            <a:ext cx="5695950" cy="600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54076" y="3634451"/>
            <a:ext cx="459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I-MEM + Regs + MUX + ALU + D-MEM + MUX + Regs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47516" y="5755423"/>
            <a:ext cx="22686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T(ADD) &lt; T(I-MEM)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2436119" y="6393057"/>
            <a:ext cx="2575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T(SIG-Extend) &lt; T(Regs)</a:t>
            </a:r>
            <a:endParaRPr lang="en-US" sz="1400" dirty="0"/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256367" y="6381751"/>
            <a:ext cx="9696451" cy="358775"/>
          </a:xfrm>
        </p:spPr>
        <p:txBody>
          <a:bodyPr/>
          <a:lstStyle/>
          <a:p>
            <a:r>
              <a:rPr lang="en-AU" altLang="zh-CN" dirty="0"/>
              <a:t>Chapter 4 — The Processor — </a:t>
            </a:r>
            <a:fld id="{89F828F6-F379-4D27-9F3D-C213A43CF13B}" type="slidenum">
              <a:rPr lang="en-AU" altLang="zh-CN" smtClean="0"/>
            </a:fld>
            <a:endParaRPr lang="en-AU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Signals-Load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altLang="zh-CN" dirty="0"/>
              <a:t>Chapter 4 — The Processor — </a:t>
            </a:r>
            <a:fld id="{89F828F6-F379-4D27-9F3D-C213A43CF13B}" type="slidenum">
              <a:rPr lang="en-AU" altLang="zh-CN" smtClean="0"/>
            </a:fld>
            <a:endParaRPr lang="en-AU" altLang="zh-C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2271" y="3047792"/>
            <a:ext cx="3076575" cy="2752725"/>
          </a:xfrm>
          <a:prstGeom prst="rect">
            <a:avLst/>
          </a:prstGeom>
        </p:spPr>
      </p:pic>
      <p:pic>
        <p:nvPicPr>
          <p:cNvPr id="6" name="Picture 6" descr="f04-20-P37449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54" y="1190626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449229" y="1701010"/>
            <a:ext cx="220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lw</a:t>
            </a:r>
            <a:r>
              <a:rPr lang="en-US" dirty="0"/>
              <a:t> rt, offset(</a:t>
            </a:r>
            <a:r>
              <a:rPr lang="en-US" dirty="0" err="1"/>
              <a:t>rs</a:t>
            </a:r>
            <a:r>
              <a:rPr lang="en-US" dirty="0"/>
              <a:t>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32470" y="2097405"/>
            <a:ext cx="37611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zh-CN" altLang="en-US" dirty="0"/>
              <a:t>型指令  </a:t>
            </a:r>
            <a:r>
              <a:rPr lang="en-US" dirty="0" err="1"/>
              <a:t>aluop</a:t>
            </a:r>
            <a:r>
              <a:rPr lang="en-US" dirty="0"/>
              <a:t> = 10 </a:t>
            </a:r>
            <a:r>
              <a:rPr lang="zh-CN" altLang="en-US" dirty="0"/>
              <a:t>根据</a:t>
            </a:r>
            <a:r>
              <a:rPr lang="en-US" altLang="zh-CN" dirty="0"/>
              <a:t>func</a:t>
            </a:r>
            <a:r>
              <a:rPr lang="zh-CN" altLang="en-US" dirty="0"/>
              <a:t>确定</a:t>
            </a:r>
            <a:endParaRPr lang="en-US" dirty="0"/>
          </a:p>
          <a:p>
            <a:r>
              <a:rPr lang="en-US" altLang="zh-CN" dirty="0" err="1"/>
              <a:t>Lw,sw</a:t>
            </a:r>
            <a:r>
              <a:rPr lang="en-US" altLang="zh-CN" dirty="0"/>
              <a:t>      </a:t>
            </a:r>
            <a:r>
              <a:rPr lang="en-US" altLang="zh-CN" dirty="0" err="1"/>
              <a:t>aluop</a:t>
            </a:r>
            <a:r>
              <a:rPr lang="en-US" altLang="zh-CN" dirty="0"/>
              <a:t> = 00</a:t>
            </a:r>
            <a:endParaRPr lang="en-US" altLang="zh-CN" dirty="0"/>
          </a:p>
          <a:p>
            <a:r>
              <a:rPr lang="en-US" dirty="0" err="1"/>
              <a:t>Beq</a:t>
            </a:r>
            <a:r>
              <a:rPr lang="en-US" dirty="0"/>
              <a:t>         </a:t>
            </a:r>
            <a:r>
              <a:rPr lang="en-US" dirty="0" err="1"/>
              <a:t>aluop</a:t>
            </a:r>
            <a:r>
              <a:rPr lang="en-US" dirty="0"/>
              <a:t> = 01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792211" y="3429000"/>
            <a:ext cx="616834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0</a:t>
            </a:r>
            <a:endParaRPr lang="en-US" sz="1600" dirty="0"/>
          </a:p>
          <a:p>
            <a:r>
              <a:rPr lang="en-US" sz="1600" dirty="0"/>
              <a:t>1</a:t>
            </a:r>
            <a:endParaRPr lang="en-US" sz="1600" dirty="0"/>
          </a:p>
          <a:p>
            <a:r>
              <a:rPr lang="en-US" sz="1600" dirty="0"/>
              <a:t>1</a:t>
            </a:r>
            <a:endParaRPr lang="en-US" sz="1600" dirty="0"/>
          </a:p>
          <a:p>
            <a:r>
              <a:rPr lang="en-US" sz="1600" dirty="0"/>
              <a:t>1</a:t>
            </a:r>
            <a:endParaRPr lang="en-US" sz="1600" dirty="0"/>
          </a:p>
          <a:p>
            <a:r>
              <a:rPr lang="en-US" sz="1600" dirty="0"/>
              <a:t>1</a:t>
            </a:r>
            <a:endParaRPr lang="en-US" sz="1600" dirty="0"/>
          </a:p>
          <a:p>
            <a:r>
              <a:rPr lang="en-US" sz="1600" dirty="0"/>
              <a:t>0</a:t>
            </a:r>
            <a:endParaRPr lang="en-US" sz="1600" dirty="0"/>
          </a:p>
          <a:p>
            <a:r>
              <a:rPr lang="en-US" sz="1600" dirty="0"/>
              <a:t>0</a:t>
            </a:r>
            <a:endParaRPr lang="en-US" sz="1600" dirty="0"/>
          </a:p>
          <a:p>
            <a:r>
              <a:rPr lang="en-US" sz="1600" dirty="0"/>
              <a:t>0</a:t>
            </a:r>
            <a:endParaRPr lang="en-US" sz="1600" dirty="0"/>
          </a:p>
          <a:p>
            <a:r>
              <a:rPr lang="en-US" sz="1600" dirty="0"/>
              <a:t>0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dirty="0">
                <a:ea typeface="宋体" pitchFamily="2" charset="-122"/>
              </a:rPr>
              <a:t>Critical Path-Branch</a:t>
            </a:r>
            <a:endParaRPr lang="en-AU" altLang="zh-CN" dirty="0">
              <a:ea typeface="宋体" pitchFamily="2" charset="-122"/>
            </a:endParaRPr>
          </a:p>
        </p:txBody>
      </p:sp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Chapter 4 — The Processor — </a:t>
            </a:r>
            <a:fld id="{636CAE3E-5668-4E24-B1D5-8551F7340226}" type="slidenum">
              <a:rPr kumimoji="0" lang="en-AU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en-AU" altLang="zh-CN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29699" name="Picture 6" descr="f04-21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427" y="1144311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142605" y="1545590"/>
            <a:ext cx="1969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rPr>
              <a:t>beq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rPr>
              <a:t>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rPr>
              <a:t>, rt，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rPr>
              <a:t>label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23641" y="1982702"/>
            <a:ext cx="5695950" cy="600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72738" y="2989362"/>
            <a:ext cx="459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I-MEM + Regs + MUX + ALU + MUX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514842" y="6404173"/>
            <a:ext cx="4057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T(Shift-Left2) + T(ADD) &lt; T(MUX) + T(ALU)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Control Signals</a:t>
            </a:r>
            <a:r>
              <a:rPr lang="en-AU" altLang="zh-CN" dirty="0">
                <a:ea typeface="宋体" pitchFamily="2" charset="-122"/>
              </a:rPr>
              <a:t>-Branch</a:t>
            </a:r>
            <a:endParaRPr lang="en-AU" altLang="zh-CN" dirty="0">
              <a:ea typeface="宋体" pitchFamily="2" charset="-122"/>
            </a:endParaRPr>
          </a:p>
        </p:txBody>
      </p:sp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Chapter 4 — The Processor — </a:t>
            </a:r>
            <a:fld id="{636CAE3E-5668-4E24-B1D5-8551F7340226}" type="slidenum">
              <a:rPr kumimoji="0" lang="en-AU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en-AU" altLang="zh-CN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29699" name="Picture 6" descr="f04-21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25" y="1190626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428990" y="1634490"/>
            <a:ext cx="1898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rPr>
              <a:t>beq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rPr>
              <a:t>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rPr>
              <a:t>, rt，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rPr>
              <a:t>label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100" y="3005058"/>
            <a:ext cx="3076575" cy="27527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44281" y="3418205"/>
            <a:ext cx="61683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x</a:t>
            </a:r>
            <a:endParaRPr lang="en-US" sz="1600" dirty="0"/>
          </a:p>
          <a:p>
            <a:r>
              <a:rPr lang="en-US" sz="1600" dirty="0"/>
              <a:t>0</a:t>
            </a:r>
            <a:endParaRPr lang="en-US" sz="1600" dirty="0"/>
          </a:p>
          <a:p>
            <a:r>
              <a:rPr lang="en-US" sz="1600" dirty="0"/>
              <a:t>0</a:t>
            </a:r>
            <a:endParaRPr lang="en-US" sz="1600" dirty="0"/>
          </a:p>
          <a:p>
            <a:r>
              <a:rPr lang="en-US" sz="1600" dirty="0"/>
              <a:t>0</a:t>
            </a:r>
            <a:endParaRPr lang="en-US" sz="1600" dirty="0"/>
          </a:p>
          <a:p>
            <a:r>
              <a:rPr lang="en-US" sz="1600" dirty="0"/>
              <a:t>0</a:t>
            </a:r>
            <a:endParaRPr lang="en-US" sz="1600" dirty="0"/>
          </a:p>
          <a:p>
            <a:r>
              <a:rPr lang="en-US" sz="1600" dirty="0"/>
              <a:t>0</a:t>
            </a:r>
            <a:endParaRPr lang="en-US" sz="1600" dirty="0"/>
          </a:p>
          <a:p>
            <a:r>
              <a:rPr lang="en-US" sz="1600" dirty="0"/>
              <a:t>1</a:t>
            </a:r>
            <a:endParaRPr lang="en-US" sz="1600" dirty="0"/>
          </a:p>
          <a:p>
            <a:r>
              <a:rPr lang="en-US" sz="1600" dirty="0"/>
              <a:t>0</a:t>
            </a:r>
            <a:endParaRPr lang="en-US" sz="1600" dirty="0"/>
          </a:p>
          <a:p>
            <a:r>
              <a:rPr lang="en-US" sz="1600" dirty="0"/>
              <a:t>1</a:t>
            </a:r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8332470" y="2097405"/>
            <a:ext cx="37611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dirty="0"/>
              <a:t>R</a:t>
            </a:r>
            <a:r>
              <a:rPr lang="zh-CN" altLang="en-US" dirty="0"/>
              <a:t>型指令  </a:t>
            </a:r>
            <a:r>
              <a:rPr lang="en-US" dirty="0" err="1"/>
              <a:t>aluop</a:t>
            </a:r>
            <a:r>
              <a:rPr lang="en-US" dirty="0"/>
              <a:t> = 10 </a:t>
            </a:r>
            <a:r>
              <a:rPr lang="zh-CN" altLang="en-US" dirty="0"/>
              <a:t>根据</a:t>
            </a:r>
            <a:r>
              <a:rPr lang="en-US" altLang="zh-CN" dirty="0"/>
              <a:t>func</a:t>
            </a:r>
            <a:r>
              <a:rPr lang="zh-CN" altLang="en-US" dirty="0"/>
              <a:t>确定</a:t>
            </a:r>
            <a:endParaRPr lang="en-US" dirty="0"/>
          </a:p>
          <a:p>
            <a:r>
              <a:rPr lang="en-US" altLang="zh-CN" dirty="0" err="1"/>
              <a:t>Lw,sw</a:t>
            </a:r>
            <a:r>
              <a:rPr lang="en-US" altLang="zh-CN" dirty="0"/>
              <a:t>      </a:t>
            </a:r>
            <a:r>
              <a:rPr lang="en-US" altLang="zh-CN" dirty="0" err="1"/>
              <a:t>aluop</a:t>
            </a:r>
            <a:r>
              <a:rPr lang="en-US" altLang="zh-CN" dirty="0"/>
              <a:t> = 00</a:t>
            </a:r>
            <a:endParaRPr lang="en-US" altLang="zh-CN" dirty="0"/>
          </a:p>
          <a:p>
            <a:r>
              <a:rPr lang="en-US" dirty="0" err="1"/>
              <a:t>Beq</a:t>
            </a:r>
            <a:r>
              <a:rPr lang="en-US" dirty="0"/>
              <a:t>         </a:t>
            </a:r>
            <a:r>
              <a:rPr lang="en-US" dirty="0" err="1"/>
              <a:t>aluop</a:t>
            </a:r>
            <a:r>
              <a:rPr lang="en-US" dirty="0"/>
              <a:t> = 01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Signals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altLang="zh-CN"/>
              <a:t>Chapter 4 — The Processor — </a:t>
            </a:r>
            <a:fld id="{89F828F6-F379-4D27-9F3D-C213A43CF13B}" type="slidenum">
              <a:rPr lang="en-AU" altLang="zh-CN" smtClean="0"/>
            </a:fld>
            <a:endParaRPr lang="en-AU" altLang="zh-CN"/>
          </a:p>
        </p:txBody>
      </p:sp>
      <p:graphicFrame>
        <p:nvGraphicFramePr>
          <p:cNvPr id="7" name="Group 96"/>
          <p:cNvGraphicFramePr/>
          <p:nvPr>
            <p:custDataLst>
              <p:tags r:id="rId1"/>
            </p:custDataLst>
          </p:nvPr>
        </p:nvGraphicFramePr>
        <p:xfrm>
          <a:off x="2510745" y="1485901"/>
          <a:ext cx="7170510" cy="3886198"/>
        </p:xfrm>
        <a:graphic>
          <a:graphicData uri="http://schemas.openxmlformats.org/drawingml/2006/table">
            <a:tbl>
              <a:tblPr/>
              <a:tblGrid>
                <a:gridCol w="922110"/>
                <a:gridCol w="914400"/>
                <a:gridCol w="674914"/>
                <a:gridCol w="696686"/>
                <a:gridCol w="686480"/>
                <a:gridCol w="913720"/>
                <a:gridCol w="906236"/>
                <a:gridCol w="873579"/>
                <a:gridCol w="582385"/>
              </a:tblGrid>
              <a:tr h="4484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Instruction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Arial" panose="020B060402020209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RegWrite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503050405090304" charset="0"/>
                        <a:cs typeface="Arial" panose="020B060402020209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RegDst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503050405090304" charset="0"/>
                        <a:cs typeface="Arial" panose="020B060402020209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AluSrc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503050405090304" charset="0"/>
                        <a:cs typeface="Arial" panose="020B060402020209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Branch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503050405090304" charset="0"/>
                        <a:cs typeface="Arial" panose="020B060402020209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MemWrite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503050405090304" charset="0"/>
                        <a:cs typeface="Arial" panose="020B060402020209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MemtoReg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503050405090304" charset="0"/>
                        <a:cs typeface="Arial" panose="020B060402020209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ALUOp</a:t>
                      </a:r>
                      <a:r>
                        <a:rPr kumimoji="0" lang="en-US" sz="12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1:0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503050405090304" charset="0"/>
                        <a:cs typeface="Arial" panose="020B060402020209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503050405090304" charset="0"/>
                          <a:cs typeface="Arial" panose="020B0604020202090204" pitchFamily="34" charset="0"/>
                        </a:rPr>
                        <a:t>Jump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503050405090304" charset="0"/>
                        <a:cs typeface="Arial" panose="020B060402020209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</a:tr>
              <a:tr h="6875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R-type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10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75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lw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75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sw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75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beq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75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j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XX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97083" y="3083076"/>
            <a:ext cx="1740193" cy="400110"/>
          </a:xfrm>
          <a:prstGeom prst="rect">
            <a:avLst/>
          </a:prstGeom>
          <a:solidFill>
            <a:srgbClr val="02529F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503050405090304" charset="0"/>
                <a:cs typeface="Times New Roman" panose="02020503050405090304" charset="0"/>
              </a:rPr>
              <a:t>流水线处理器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503050405090304" charset="0"/>
              <a:ea typeface="+mn-ea"/>
              <a:cs typeface="Times New Roman" panose="0202050305040509030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421918" y="2216919"/>
            <a:ext cx="327466" cy="224664"/>
          </a:xfrm>
          <a:prstGeom prst="rect">
            <a:avLst/>
          </a:prstGeom>
          <a:solidFill>
            <a:srgbClr val="025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charset="0"/>
                <a:ea typeface="等线" panose="02010600030101010101" pitchFamily="2" charset="-122"/>
                <a:cs typeface="Times New Roman" panose="02020503050405090304" charset="0"/>
              </a:rPr>
              <a:t>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charset="0"/>
              <a:ea typeface="等线" panose="02010600030101010101" pitchFamily="2" charset="-122"/>
              <a:cs typeface="Times New Roman" panose="02020503050405090304" charset="0"/>
            </a:endParaRPr>
          </a:p>
        </p:txBody>
      </p:sp>
      <p:sp>
        <p:nvSpPr>
          <p:cNvPr id="16" name="左大括号 15"/>
          <p:cNvSpPr/>
          <p:nvPr/>
        </p:nvSpPr>
        <p:spPr>
          <a:xfrm>
            <a:off x="4924392" y="2227830"/>
            <a:ext cx="327466" cy="2176417"/>
          </a:xfrm>
          <a:prstGeom prst="leftBrace">
            <a:avLst>
              <a:gd name="adj1" fmla="val 8333"/>
              <a:gd name="adj2" fmla="val 44334"/>
            </a:avLst>
          </a:prstGeom>
          <a:ln w="19050">
            <a:solidFill>
              <a:srgbClr val="02529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35416" y="2129196"/>
            <a:ext cx="248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81398" y="2129196"/>
            <a:ext cx="3827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503050405090304" charset="0"/>
                <a:cs typeface="Times New Roman" panose="02020503050405090304" charset="0"/>
              </a:rPr>
              <a:t>数据通路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+mn-ea"/>
              <a:cs typeface="Times New Roman" panose="02020503050405090304" charset="0"/>
            </a:endParaRPr>
          </a:p>
        </p:txBody>
      </p:sp>
      <p:sp>
        <p:nvSpPr>
          <p:cNvPr id="9" name="矩形 12"/>
          <p:cNvSpPr/>
          <p:nvPr/>
        </p:nvSpPr>
        <p:spPr>
          <a:xfrm>
            <a:off x="5421918" y="4179583"/>
            <a:ext cx="327466" cy="224664"/>
          </a:xfrm>
          <a:prstGeom prst="rect">
            <a:avLst/>
          </a:prstGeom>
          <a:solidFill>
            <a:srgbClr val="025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charset="0"/>
                <a:ea typeface="等线" panose="02010600030101010101" pitchFamily="2" charset="-122"/>
                <a:cs typeface="Times New Roman" panose="02020503050405090304" charset="0"/>
              </a:rPr>
              <a:t>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charset="0"/>
              <a:ea typeface="等线" panose="02010600030101010101" pitchFamily="2" charset="-122"/>
              <a:cs typeface="Times New Roman" panose="02020503050405090304" charset="0"/>
            </a:endParaRPr>
          </a:p>
        </p:txBody>
      </p:sp>
      <p:sp>
        <p:nvSpPr>
          <p:cNvPr id="10" name="文本框 7"/>
          <p:cNvSpPr txBox="1"/>
          <p:nvPr/>
        </p:nvSpPr>
        <p:spPr>
          <a:xfrm>
            <a:off x="5959809" y="4091860"/>
            <a:ext cx="4599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503050405090304" charset="0"/>
              </a:rPr>
              <a:t>冲突问题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5846" name="Object 6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</p:nvPr>
        </p:nvGraphicFramePr>
        <p:xfrm>
          <a:off x="2343680" y="1219201"/>
          <a:ext cx="8324320" cy="464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VISIO" r:id="rId2" imgW="4966970" imgH="2764790" progId="Visio.Drawing.6">
                  <p:embed/>
                </p:oleObj>
              </mc:Choice>
              <mc:Fallback>
                <p:oleObj name="VISIO" r:id="rId2" imgW="4966970" imgH="2764790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3680" y="1219201"/>
                        <a:ext cx="8324320" cy="4645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5842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solidFill>
                <a:prstClr val="black"/>
              </a:solidFill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solidFill>
                <a:prstClr val="black"/>
              </a:solidFill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solidFill>
                <a:prstClr val="black"/>
              </a:solidFill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1315844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prstClr val="white"/>
                </a:solidFill>
                <a:latin typeface="Calibri"/>
              </a:rPr>
              <a:t>Single-Cycle vs. Pipelined</a:t>
            </a:r>
            <a:endParaRPr lang="en-US" sz="4400" dirty="0">
              <a:solidFill>
                <a:prstClr val="white"/>
              </a:solidFill>
              <a:latin typeface="Calibri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6389" name="Object 5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</p:nvPr>
        </p:nvGraphicFramePr>
        <p:xfrm>
          <a:off x="2590801" y="1066801"/>
          <a:ext cx="6824663" cy="533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" name="VISIO" r:id="rId2" imgW="5577840" imgH="4351020" progId="Visio.Drawing.6">
                  <p:embed/>
                </p:oleObj>
              </mc:Choice>
              <mc:Fallback>
                <p:oleObj name="VISIO" r:id="rId2" imgW="5577840" imgH="435102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1" y="1066801"/>
                        <a:ext cx="6824663" cy="533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6386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solidFill>
                <a:prstClr val="black"/>
              </a:solidFill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solidFill>
                <a:prstClr val="black"/>
              </a:solidFill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solidFill>
                <a:prstClr val="black"/>
              </a:solidFill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1296388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prstClr val="white"/>
                </a:solidFill>
                <a:latin typeface="Calibri"/>
              </a:rPr>
              <a:t>Single-Cycle &amp; Pipelined </a:t>
            </a:r>
            <a:r>
              <a:rPr lang="en-US" sz="4400" dirty="0" err="1">
                <a:solidFill>
                  <a:prstClr val="white"/>
                </a:solidFill>
                <a:latin typeface="Calibri"/>
              </a:rPr>
              <a:t>Datapath</a:t>
            </a:r>
            <a:endParaRPr lang="en-US" sz="4400" dirty="0">
              <a:solidFill>
                <a:prstClr val="white"/>
              </a:solidFill>
              <a:latin typeface="Calibri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7413" name="Object 5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</p:nvPr>
        </p:nvGraphicFramePr>
        <p:xfrm>
          <a:off x="2209800" y="1423988"/>
          <a:ext cx="8458200" cy="360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VISIO" r:id="rId2" imgW="5525770" imgH="2356485" progId="Visio.Drawing.6">
                  <p:embed/>
                </p:oleObj>
              </mc:Choice>
              <mc:Fallback>
                <p:oleObj name="VISIO" r:id="rId2" imgW="5525770" imgH="2356485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423988"/>
                        <a:ext cx="8458200" cy="3605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7410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solidFill>
                <a:prstClr val="black"/>
              </a:solidFill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solidFill>
                <a:prstClr val="black"/>
              </a:solidFill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solidFill>
                <a:prstClr val="black"/>
              </a:solidFill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1297412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97415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590800" y="5372100"/>
            <a:ext cx="80010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3000" b="1" i="1" dirty="0" err="1">
                <a:solidFill>
                  <a:prstClr val="black"/>
                </a:solidFill>
                <a:latin typeface="Times New Roman" panose="02020503050405090304" charset="0"/>
                <a:cs typeface="Arial" panose="020B0604020202090204" pitchFamily="34" charset="0"/>
              </a:rPr>
              <a:t>WriteReg</a:t>
            </a:r>
            <a:r>
              <a:rPr lang="en-US" sz="3000" b="1" dirty="0">
                <a:solidFill>
                  <a:prstClr val="black"/>
                </a:solidFill>
                <a:latin typeface="Times New Roman" panose="02020503050405090304" charset="0"/>
                <a:cs typeface="Arial" panose="020B0604020202090204" pitchFamily="34" charset="0"/>
              </a:rPr>
              <a:t> must arrive at same time as </a:t>
            </a:r>
            <a:r>
              <a:rPr lang="en-US" sz="3000" b="1" i="1" dirty="0">
                <a:solidFill>
                  <a:prstClr val="black"/>
                </a:solidFill>
                <a:latin typeface="Times New Roman" panose="02020503050405090304" charset="0"/>
                <a:cs typeface="Arial" panose="020B0604020202090204" pitchFamily="34" charset="0"/>
              </a:rPr>
              <a:t>Result</a:t>
            </a:r>
            <a:endParaRPr lang="en-US" sz="3000" b="1" i="1" dirty="0">
              <a:solidFill>
                <a:prstClr val="black"/>
              </a:solidFill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prstClr val="white"/>
                </a:solidFill>
                <a:latin typeface="Calibri"/>
              </a:rPr>
              <a:t>Corrected Pipelined </a:t>
            </a:r>
            <a:r>
              <a:rPr lang="en-US" sz="4400" dirty="0" err="1">
                <a:solidFill>
                  <a:prstClr val="white"/>
                </a:solidFill>
                <a:latin typeface="Calibri"/>
              </a:rPr>
              <a:t>Datapath</a:t>
            </a:r>
            <a:endParaRPr lang="en-US" sz="4400" dirty="0">
              <a:solidFill>
                <a:prstClr val="white"/>
              </a:solidFill>
              <a:latin typeface="Calibri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87" name="Rectangle 7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2438400" y="1219201"/>
            <a:ext cx="8229600" cy="4525963"/>
          </a:xfrm>
        </p:spPr>
        <p:txBody>
          <a:bodyPr/>
          <a:lstStyle/>
          <a:p>
            <a:r>
              <a:rPr lang="en-US" dirty="0"/>
              <a:t>When an instruction depends on result from instruction that hasn’t completed</a:t>
            </a:r>
            <a:endParaRPr lang="en-US" dirty="0"/>
          </a:p>
          <a:p>
            <a:r>
              <a:rPr lang="en-US" dirty="0"/>
              <a:t>Types:</a:t>
            </a:r>
            <a:endParaRPr lang="en-US" dirty="0"/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Data hazard:</a:t>
            </a:r>
            <a:r>
              <a:rPr lang="en-US" dirty="0"/>
              <a:t> register value not yet written back to register file (Read after Write)</a:t>
            </a:r>
            <a:endParaRPr lang="en-US" dirty="0"/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Control hazard: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next instruction not decided yet (caused by branches)</a:t>
            </a:r>
            <a:endParaRPr lang="en-US" dirty="0"/>
          </a:p>
        </p:txBody>
      </p:sp>
      <p:sp>
        <p:nvSpPr>
          <p:cNvPr id="1300482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1300484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0485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Pipeline Hazards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6870" name="Object 6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</p:nvPr>
        </p:nvGraphicFramePr>
        <p:xfrm>
          <a:off x="2667000" y="1371600"/>
          <a:ext cx="7772400" cy="263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name="VISIO" r:id="rId2" imgW="4948555" imgH="1751330" progId="Visio.Drawing.6">
                  <p:embed/>
                </p:oleObj>
              </mc:Choice>
              <mc:Fallback>
                <p:oleObj name="VISIO" r:id="rId2" imgW="4948555" imgH="1751330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371600"/>
                        <a:ext cx="7772400" cy="2636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6866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1316868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16869" name="Rectangl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Data Hazard – R Type Write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136739" y="2430684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601655" y="2930325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089721" y="3429000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601655" y="3916100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1510" name="Object 6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</p:nvPr>
        </p:nvGraphicFramePr>
        <p:xfrm>
          <a:off x="2438400" y="1600201"/>
          <a:ext cx="8229600" cy="291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" name="VISIO" r:id="rId2" imgW="4948555" imgH="1751330" progId="Visio.Drawing.6">
                  <p:embed/>
                </p:oleObj>
              </mc:Choice>
              <mc:Fallback>
                <p:oleObj name="VISIO" r:id="rId2" imgW="4948555" imgH="1751330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600201"/>
                        <a:ext cx="8229600" cy="291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1506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1301508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1509" name="Rectangl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Data Forwarding (Bypassing)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974693" y="2720051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485909" y="3265990"/>
            <a:ext cx="3800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962400" y="3869803"/>
            <a:ext cx="3800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352800" y="4415742"/>
            <a:ext cx="3800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2535" name="Object 7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</p:nvPr>
        </p:nvGraphicFramePr>
        <p:xfrm>
          <a:off x="2362200" y="1147764"/>
          <a:ext cx="8153400" cy="486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7" name="VISIO" r:id="rId2" imgW="6909435" imgH="4215130" progId="Visio.Drawing.6">
                  <p:embed/>
                </p:oleObj>
              </mc:Choice>
              <mc:Fallback>
                <p:oleObj name="VISIO" r:id="rId2" imgW="6909435" imgH="4215130" progId="Visio.Drawing.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147764"/>
                        <a:ext cx="8153400" cy="4867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2530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1302532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2533" name="Rectangl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Data Forwarding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789" y="1021660"/>
            <a:ext cx="1823606" cy="22035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895" name="Rectangle 7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2438400" y="1066801"/>
            <a:ext cx="8382000" cy="4525963"/>
          </a:xfrm>
        </p:spPr>
        <p:txBody>
          <a:bodyPr>
            <a:noAutofit/>
          </a:bodyPr>
          <a:lstStyle/>
          <a:p>
            <a:r>
              <a:rPr lang="en-US" dirty="0"/>
              <a:t>Forward to Execute stage from either:</a:t>
            </a:r>
            <a:endParaRPr lang="en-US" dirty="0"/>
          </a:p>
          <a:p>
            <a:pPr lvl="1"/>
            <a:r>
              <a:rPr lang="en-US" sz="2600" dirty="0"/>
              <a:t>Memory stage or</a:t>
            </a:r>
            <a:endParaRPr lang="en-US" sz="2600" dirty="0"/>
          </a:p>
          <a:p>
            <a:pPr lvl="1"/>
            <a:r>
              <a:rPr lang="en-US" sz="2600" dirty="0" err="1"/>
              <a:t>Writeback</a:t>
            </a:r>
            <a:r>
              <a:rPr lang="en-US" sz="2600" dirty="0"/>
              <a:t> stage</a:t>
            </a:r>
            <a:endParaRPr lang="en-US" sz="3200" dirty="0"/>
          </a:p>
          <a:p>
            <a:r>
              <a:rPr lang="en-US" dirty="0"/>
              <a:t>Forwarding logic for </a:t>
            </a:r>
            <a:r>
              <a:rPr lang="en-US" i="1" dirty="0" err="1"/>
              <a:t>ForwardAE</a:t>
            </a:r>
            <a:r>
              <a:rPr lang="en-US" dirty="0"/>
              <a:t>:</a:t>
            </a:r>
            <a:endParaRPr lang="en-US" dirty="0"/>
          </a:p>
          <a:p>
            <a:pPr>
              <a:buFontTx/>
              <a:buNone/>
            </a:pPr>
            <a:r>
              <a:rPr lang="en-US" dirty="0"/>
              <a:t>	</a:t>
            </a:r>
            <a:r>
              <a:rPr lang="en-US" sz="1800" b="1" dirty="0">
                <a:latin typeface="Courier New" panose="02070409020205090404" pitchFamily="49" charset="0"/>
              </a:rPr>
              <a:t>if((</a:t>
            </a:r>
            <a:r>
              <a:rPr lang="en-US" sz="1800" b="1" i="1" dirty="0" err="1">
                <a:latin typeface="Courier New" panose="02070409020205090404" pitchFamily="49" charset="0"/>
              </a:rPr>
              <a:t>rsE</a:t>
            </a:r>
            <a:r>
              <a:rPr lang="en-US" sz="1800" b="1" dirty="0">
                <a:latin typeface="Courier New" panose="02070409020205090404" pitchFamily="49" charset="0"/>
              </a:rPr>
              <a:t> != 0) AND (</a:t>
            </a:r>
            <a:r>
              <a:rPr lang="en-US" sz="1800" b="1" i="1" dirty="0" err="1">
                <a:latin typeface="Courier New" panose="02070409020205090404" pitchFamily="49" charset="0"/>
              </a:rPr>
              <a:t>rsE</a:t>
            </a:r>
            <a:r>
              <a:rPr lang="en-US" sz="1800" b="1" dirty="0">
                <a:latin typeface="Courier New" panose="02070409020205090404" pitchFamily="49" charset="0"/>
              </a:rPr>
              <a:t> == </a:t>
            </a:r>
            <a:r>
              <a:rPr lang="en-US" sz="1800" b="1" i="1" dirty="0" err="1">
                <a:latin typeface="Courier New" panose="02070409020205090404" pitchFamily="49" charset="0"/>
              </a:rPr>
              <a:t>WriteRegM</a:t>
            </a:r>
            <a:r>
              <a:rPr lang="en-US" sz="1800" b="1" dirty="0">
                <a:latin typeface="Courier New" panose="02070409020205090404" pitchFamily="49" charset="0"/>
              </a:rPr>
              <a:t>) AND </a:t>
            </a:r>
            <a:r>
              <a:rPr lang="en-US" sz="1800" b="1" i="1" dirty="0" err="1">
                <a:latin typeface="Courier New" panose="02070409020205090404" pitchFamily="49" charset="0"/>
              </a:rPr>
              <a:t>RegWriteM</a:t>
            </a:r>
            <a:r>
              <a:rPr lang="en-US" sz="1800" b="1" dirty="0">
                <a:latin typeface="Courier New" panose="02070409020205090404" pitchFamily="49" charset="0"/>
              </a:rPr>
              <a:t>)     </a:t>
            </a:r>
            <a:endParaRPr lang="en-US" sz="1800" b="1" dirty="0">
              <a:latin typeface="Courier New" panose="02070409020205090404" pitchFamily="49" charset="0"/>
            </a:endParaRPr>
          </a:p>
          <a:p>
            <a:pPr>
              <a:buFontTx/>
              <a:buNone/>
            </a:pPr>
            <a:r>
              <a:rPr lang="en-US" sz="1800" b="1" dirty="0">
                <a:latin typeface="Courier New" panose="02070409020205090404" pitchFamily="49" charset="0"/>
              </a:rPr>
              <a:t>		then 	</a:t>
            </a:r>
            <a:r>
              <a:rPr lang="en-US" sz="1800" b="1" i="1" dirty="0" err="1">
                <a:solidFill>
                  <a:schemeClr val="accent1"/>
                </a:solidFill>
                <a:latin typeface="Courier New" panose="02070409020205090404" pitchFamily="49" charset="0"/>
              </a:rPr>
              <a:t>ForwardAE</a:t>
            </a:r>
            <a:r>
              <a:rPr lang="en-US" sz="1800" b="1" dirty="0">
                <a:solidFill>
                  <a:schemeClr val="accent1"/>
                </a:solidFill>
                <a:latin typeface="Courier New" panose="02070409020205090404" pitchFamily="49" charset="0"/>
              </a:rPr>
              <a:t> = 10</a:t>
            </a:r>
            <a:endParaRPr lang="en-US" sz="1800" b="1" dirty="0">
              <a:solidFill>
                <a:schemeClr val="accent1"/>
              </a:solidFill>
              <a:latin typeface="Courier New" panose="02070409020205090404" pitchFamily="49" charset="0"/>
            </a:endParaRP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anose="02070409020205090404" pitchFamily="49" charset="0"/>
              </a:rPr>
              <a:t>	</a:t>
            </a:r>
            <a:r>
              <a:rPr lang="en-US" sz="1800" b="1" dirty="0">
                <a:latin typeface="Courier New" panose="02070409020205090404" pitchFamily="49" charset="0"/>
              </a:rPr>
              <a:t>else if ((</a:t>
            </a:r>
            <a:r>
              <a:rPr lang="en-US" sz="1800" b="1" i="1" dirty="0" err="1">
                <a:latin typeface="Courier New" panose="02070409020205090404" pitchFamily="49" charset="0"/>
              </a:rPr>
              <a:t>rsE</a:t>
            </a:r>
            <a:r>
              <a:rPr lang="en-US" sz="1800" b="1" dirty="0">
                <a:latin typeface="Courier New" panose="02070409020205090404" pitchFamily="49" charset="0"/>
              </a:rPr>
              <a:t> != 0) AND (</a:t>
            </a:r>
            <a:r>
              <a:rPr lang="en-US" sz="1800" b="1" i="1" dirty="0" err="1">
                <a:latin typeface="Courier New" panose="02070409020205090404" pitchFamily="49" charset="0"/>
              </a:rPr>
              <a:t>rsE</a:t>
            </a:r>
            <a:r>
              <a:rPr lang="en-US" sz="1800" b="1" dirty="0">
                <a:latin typeface="Courier New" panose="02070409020205090404" pitchFamily="49" charset="0"/>
              </a:rPr>
              <a:t> == </a:t>
            </a:r>
            <a:r>
              <a:rPr lang="en-US" sz="1800" b="1" i="1" dirty="0" err="1">
                <a:latin typeface="Courier New" panose="02070409020205090404" pitchFamily="49" charset="0"/>
              </a:rPr>
              <a:t>WriteRegW</a:t>
            </a:r>
            <a:r>
              <a:rPr lang="en-US" sz="1800" b="1" dirty="0">
                <a:latin typeface="Courier New" panose="02070409020205090404" pitchFamily="49" charset="0"/>
              </a:rPr>
              <a:t>) AND </a:t>
            </a:r>
            <a:r>
              <a:rPr lang="en-US" sz="1800" b="1" i="1" dirty="0" err="1">
                <a:latin typeface="Courier New" panose="02070409020205090404" pitchFamily="49" charset="0"/>
              </a:rPr>
              <a:t>RegWriteW</a:t>
            </a:r>
            <a:r>
              <a:rPr lang="en-US" sz="1800" b="1" dirty="0">
                <a:latin typeface="Courier New" panose="02070409020205090404" pitchFamily="49" charset="0"/>
              </a:rPr>
              <a:t>) </a:t>
            </a:r>
            <a:endParaRPr lang="en-US" sz="1800" b="1" dirty="0">
              <a:latin typeface="Courier New" panose="02070409020205090404" pitchFamily="49" charset="0"/>
            </a:endParaRPr>
          </a:p>
          <a:p>
            <a:pPr>
              <a:buFontTx/>
              <a:buNone/>
            </a:pPr>
            <a:r>
              <a:rPr lang="en-US" sz="1800" b="1" dirty="0">
                <a:latin typeface="Courier New" panose="02070409020205090404" pitchFamily="49" charset="0"/>
              </a:rPr>
              <a:t>		then 	</a:t>
            </a:r>
            <a:r>
              <a:rPr lang="en-US" sz="1800" b="1" i="1" dirty="0" err="1">
                <a:solidFill>
                  <a:schemeClr val="accent1"/>
                </a:solidFill>
                <a:latin typeface="Courier New" panose="02070409020205090404" pitchFamily="49" charset="0"/>
              </a:rPr>
              <a:t>ForwardAE</a:t>
            </a:r>
            <a:r>
              <a:rPr lang="en-US" sz="1800" b="1" dirty="0">
                <a:solidFill>
                  <a:schemeClr val="accent1"/>
                </a:solidFill>
                <a:latin typeface="Courier New" panose="02070409020205090404" pitchFamily="49" charset="0"/>
              </a:rPr>
              <a:t> = 01</a:t>
            </a:r>
            <a:endParaRPr lang="en-US" sz="1800" b="1" dirty="0">
              <a:solidFill>
                <a:schemeClr val="accent1"/>
              </a:solidFill>
              <a:latin typeface="Courier New" panose="02070409020205090404" pitchFamily="49" charset="0"/>
            </a:endParaRP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anose="02070409020205090404" pitchFamily="49" charset="0"/>
              </a:rPr>
              <a:t>	</a:t>
            </a:r>
            <a:r>
              <a:rPr lang="en-US" sz="1800" b="1" dirty="0">
                <a:latin typeface="Courier New" panose="02070409020205090404" pitchFamily="49" charset="0"/>
              </a:rPr>
              <a:t>else	 </a:t>
            </a:r>
            <a:r>
              <a:rPr lang="en-US" sz="1800" b="1" dirty="0">
                <a:solidFill>
                  <a:schemeClr val="accent1"/>
                </a:solidFill>
                <a:latin typeface="Courier New" panose="02070409020205090404" pitchFamily="49" charset="0"/>
              </a:rPr>
              <a:t>   	</a:t>
            </a:r>
            <a:r>
              <a:rPr lang="en-US" sz="1800" b="1" i="1" dirty="0" err="1">
                <a:solidFill>
                  <a:schemeClr val="accent1"/>
                </a:solidFill>
                <a:latin typeface="Courier New" panose="02070409020205090404" pitchFamily="49" charset="0"/>
              </a:rPr>
              <a:t>ForwardAE</a:t>
            </a:r>
            <a:r>
              <a:rPr lang="en-US" sz="1800" b="1" dirty="0">
                <a:solidFill>
                  <a:schemeClr val="accent1"/>
                </a:solidFill>
                <a:latin typeface="Courier New" panose="02070409020205090404" pitchFamily="49" charset="0"/>
              </a:rPr>
              <a:t> = 00</a:t>
            </a:r>
            <a:endParaRPr lang="en-US" sz="1800" b="1" dirty="0">
              <a:solidFill>
                <a:schemeClr val="accent1"/>
              </a:solidFill>
              <a:latin typeface="Courier New" panose="02070409020205090404" pitchFamily="49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400" b="1" dirty="0"/>
              <a:t>Forwarding logic for </a:t>
            </a:r>
            <a:r>
              <a:rPr lang="en-US" sz="2400" b="1" i="1" dirty="0" err="1"/>
              <a:t>ForwardBE</a:t>
            </a:r>
            <a:r>
              <a:rPr lang="en-US" sz="2400" b="1" dirty="0"/>
              <a:t> same, but replace </a:t>
            </a:r>
            <a:r>
              <a:rPr lang="en-US" sz="2400" b="1" i="1" dirty="0" err="1"/>
              <a:t>rsE</a:t>
            </a:r>
            <a:r>
              <a:rPr lang="en-US" sz="2400" b="1" dirty="0"/>
              <a:t> with </a:t>
            </a:r>
            <a:r>
              <a:rPr lang="en-US" sz="2400" b="1" i="1" dirty="0" err="1"/>
              <a:t>rtE</a:t>
            </a:r>
            <a:endParaRPr lang="en-US" sz="2400" b="1" dirty="0"/>
          </a:p>
        </p:txBody>
      </p:sp>
      <p:sp>
        <p:nvSpPr>
          <p:cNvPr id="131789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17893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Data Forwarding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3559" name="Object 7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</p:nvPr>
        </p:nvGraphicFramePr>
        <p:xfrm>
          <a:off x="2438400" y="1600200"/>
          <a:ext cx="8229600" cy="292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" name="VISIO" r:id="rId2" imgW="4948555" imgH="1751330" progId="Visio.Drawing.6">
                  <p:embed/>
                </p:oleObj>
              </mc:Choice>
              <mc:Fallback>
                <p:oleObj name="VISIO" r:id="rId2" imgW="4948555" imgH="1751330" progId="Visio.Drawing.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600200"/>
                        <a:ext cx="8229600" cy="292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3554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1303556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3557" name="Rectangl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3558" name="Rectangle 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anose="0202050305040509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Data Hazard – Load Write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812648" y="2720051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449255" y="3310360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937321" y="3914977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449255" y="4491943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4583" name="Object 7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</p:nvPr>
        </p:nvGraphicFramePr>
        <p:xfrm>
          <a:off x="2438400" y="1676400"/>
          <a:ext cx="8153400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5" name="VISIO" r:id="rId2" imgW="5230495" imgH="1751330" progId="Visio.Drawing.6">
                  <p:embed/>
                </p:oleObj>
              </mc:Choice>
              <mc:Fallback>
                <p:oleObj name="VISIO" r:id="rId2" imgW="5230495" imgH="1751330" progId="Visio.Drawing.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676400"/>
                        <a:ext cx="8153400" cy="273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4578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1304580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4581" name="Rectangl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4582" name="Rectangle 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anose="0202050305040509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Stalling – Load Write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801072" y="2731626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368232" y="3275636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821573" y="3816191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368232" y="4391672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5608" name="Object 8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</p:nvPr>
        </p:nvGraphicFramePr>
        <p:xfrm>
          <a:off x="2438400" y="1295400"/>
          <a:ext cx="8001000" cy="477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8" name="VISIO" r:id="rId2" imgW="6967855" imgH="4148455" progId="Visio.Drawing.6">
                  <p:embed/>
                </p:oleObj>
              </mc:Choice>
              <mc:Fallback>
                <p:oleObj name="VISIO" r:id="rId2" imgW="6967855" imgH="4148455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295400"/>
                        <a:ext cx="8001000" cy="4776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5602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1305604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5605" name="Rectangl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5606" name="Rectangle 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anose="0202050305040509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Stalling Hardware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920" name="Rectangle 8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2667000" y="1219200"/>
            <a:ext cx="8001000" cy="4953000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400" b="1" i="1" dirty="0" err="1">
                <a:latin typeface="Courier New" panose="02070409020205090404" pitchFamily="49" charset="0"/>
              </a:rPr>
              <a:t>lwstall</a:t>
            </a:r>
            <a:r>
              <a:rPr lang="en-US" sz="2400" b="1" i="1" dirty="0">
                <a:latin typeface="Courier New" panose="02070409020205090404" pitchFamily="49" charset="0"/>
              </a:rPr>
              <a:t> </a:t>
            </a:r>
            <a:r>
              <a:rPr lang="en-US" sz="2400" b="1" dirty="0">
                <a:latin typeface="Courier New" panose="02070409020205090404" pitchFamily="49" charset="0"/>
              </a:rPr>
              <a:t>=</a:t>
            </a:r>
            <a:endParaRPr lang="en-US" sz="2400" b="1" dirty="0">
              <a:latin typeface="Courier New" panose="0207040902020509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latin typeface="Courier New" panose="02070409020205090404" pitchFamily="49" charset="0"/>
              </a:rPr>
              <a:t>  ((</a:t>
            </a:r>
            <a:r>
              <a:rPr lang="en-US" sz="2400" b="1" i="1" dirty="0" err="1">
                <a:latin typeface="Courier New" panose="02070409020205090404" pitchFamily="49" charset="0"/>
              </a:rPr>
              <a:t>rsD</a:t>
            </a:r>
            <a:r>
              <a:rPr lang="en-US" sz="2400" b="1" dirty="0">
                <a:latin typeface="Courier New" panose="02070409020205090404" pitchFamily="49" charset="0"/>
              </a:rPr>
              <a:t>==</a:t>
            </a:r>
            <a:r>
              <a:rPr lang="en-US" sz="2400" b="1" i="1" dirty="0" err="1">
                <a:latin typeface="Courier New" panose="02070409020205090404" pitchFamily="49" charset="0"/>
              </a:rPr>
              <a:t>rtE</a:t>
            </a:r>
            <a:r>
              <a:rPr lang="en-US" sz="2400" b="1" dirty="0">
                <a:latin typeface="Courier New" panose="02070409020205090404" pitchFamily="49" charset="0"/>
              </a:rPr>
              <a:t>) OR (</a:t>
            </a:r>
            <a:r>
              <a:rPr lang="en-US" sz="2400" b="1" i="1" dirty="0" err="1">
                <a:latin typeface="Courier New" panose="02070409020205090404" pitchFamily="49" charset="0"/>
              </a:rPr>
              <a:t>rtD</a:t>
            </a:r>
            <a:r>
              <a:rPr lang="en-US" sz="2400" b="1" dirty="0">
                <a:latin typeface="Courier New" panose="02070409020205090404" pitchFamily="49" charset="0"/>
              </a:rPr>
              <a:t>==</a:t>
            </a:r>
            <a:r>
              <a:rPr lang="en-US" sz="2400" b="1" i="1" dirty="0" err="1">
                <a:latin typeface="Courier New" panose="02070409020205090404" pitchFamily="49" charset="0"/>
              </a:rPr>
              <a:t>rtE</a:t>
            </a:r>
            <a:r>
              <a:rPr lang="en-US" sz="2400" b="1" dirty="0">
                <a:latin typeface="Courier New" panose="02070409020205090404" pitchFamily="49" charset="0"/>
              </a:rPr>
              <a:t>)) AND </a:t>
            </a:r>
            <a:r>
              <a:rPr lang="en-US" sz="2400" b="1" i="1" dirty="0" err="1">
                <a:latin typeface="Courier New" panose="02070409020205090404" pitchFamily="49" charset="0"/>
              </a:rPr>
              <a:t>MemtoRegE</a:t>
            </a:r>
            <a:endParaRPr lang="en-US" sz="2400" b="1" i="1" dirty="0">
              <a:latin typeface="Courier New" panose="02070409020205090404" pitchFamily="49" charset="0"/>
            </a:endParaRPr>
          </a:p>
          <a:p>
            <a:pPr>
              <a:buFontTx/>
              <a:buNone/>
            </a:pPr>
            <a:r>
              <a:rPr lang="en-US" sz="2400" b="1" dirty="0">
                <a:latin typeface="Courier New" panose="02070409020205090404" pitchFamily="49" charset="0"/>
              </a:rPr>
              <a:t>	</a:t>
            </a:r>
            <a:endParaRPr lang="en-US" sz="2400" b="1" dirty="0">
              <a:latin typeface="Courier New" panose="02070409020205090404" pitchFamily="49" charset="0"/>
            </a:endParaRPr>
          </a:p>
          <a:p>
            <a:pPr>
              <a:buFontTx/>
              <a:buNone/>
            </a:pPr>
            <a:r>
              <a:rPr lang="en-US" sz="2400" b="1" i="1" dirty="0" err="1">
                <a:latin typeface="Courier New" panose="02070409020205090404" pitchFamily="49" charset="0"/>
              </a:rPr>
              <a:t>StallF</a:t>
            </a:r>
            <a:r>
              <a:rPr lang="en-US" sz="2400" b="1" dirty="0">
                <a:latin typeface="Courier New" panose="02070409020205090404" pitchFamily="49" charset="0"/>
              </a:rPr>
              <a:t> = </a:t>
            </a:r>
            <a:r>
              <a:rPr lang="en-US" sz="2400" b="1" i="1" dirty="0" err="1">
                <a:latin typeface="Courier New" panose="02070409020205090404" pitchFamily="49" charset="0"/>
              </a:rPr>
              <a:t>StallD</a:t>
            </a:r>
            <a:r>
              <a:rPr lang="en-US" sz="2400" b="1" dirty="0">
                <a:latin typeface="Courier New" panose="02070409020205090404" pitchFamily="49" charset="0"/>
              </a:rPr>
              <a:t> = </a:t>
            </a:r>
            <a:r>
              <a:rPr lang="en-US" sz="2400" b="1" i="1" dirty="0" err="1">
                <a:latin typeface="Courier New" panose="02070409020205090404" pitchFamily="49" charset="0"/>
              </a:rPr>
              <a:t>FlushE</a:t>
            </a:r>
            <a:r>
              <a:rPr lang="en-US" sz="2400" b="1" dirty="0">
                <a:latin typeface="Courier New" panose="02070409020205090404" pitchFamily="49" charset="0"/>
              </a:rPr>
              <a:t> = </a:t>
            </a:r>
            <a:r>
              <a:rPr lang="en-US" sz="2400" b="1" i="1" dirty="0" err="1">
                <a:latin typeface="Courier New" panose="02070409020205090404" pitchFamily="49" charset="0"/>
              </a:rPr>
              <a:t>lwstall</a:t>
            </a:r>
            <a:endParaRPr lang="en-US" sz="2400" b="1" i="1" dirty="0">
              <a:latin typeface="Courier New" panose="02070409020205090404" pitchFamily="49" charset="0"/>
            </a:endParaRPr>
          </a:p>
          <a:p>
            <a:endParaRPr lang="en-US" sz="2400" dirty="0"/>
          </a:p>
        </p:txBody>
      </p:sp>
      <p:sp>
        <p:nvSpPr>
          <p:cNvPr id="1318914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131891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18917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18918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anose="0202050305040509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Stalling Logic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632" name="Rectangle 8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2410097" y="1219201"/>
            <a:ext cx="8229600" cy="4525963"/>
          </a:xfrm>
        </p:spPr>
        <p:txBody>
          <a:bodyPr>
            <a:noAutofit/>
          </a:bodyPr>
          <a:lstStyle/>
          <a:p>
            <a:r>
              <a:rPr lang="en-US" b="1" dirty="0" err="1">
                <a:latin typeface="Courier New" panose="02070409020205090404" pitchFamily="49" charset="0"/>
              </a:rPr>
              <a:t>beq</a:t>
            </a:r>
            <a:r>
              <a:rPr lang="en-US" b="1" dirty="0"/>
              <a:t>: </a:t>
            </a:r>
            <a:endParaRPr lang="en-US" b="1" dirty="0"/>
          </a:p>
          <a:p>
            <a:pPr lvl="1"/>
            <a:r>
              <a:rPr lang="en-US" sz="2600" dirty="0"/>
              <a:t>branch not determined until 4</a:t>
            </a:r>
            <a:r>
              <a:rPr lang="en-US" sz="2600" baseline="30000" dirty="0"/>
              <a:t>th</a:t>
            </a:r>
            <a:r>
              <a:rPr lang="en-US" sz="2600" dirty="0"/>
              <a:t> stage of pipeline</a:t>
            </a:r>
            <a:endParaRPr lang="en-US" sz="2600" dirty="0"/>
          </a:p>
          <a:p>
            <a:pPr lvl="1"/>
            <a:r>
              <a:rPr lang="en-US" sz="2600" dirty="0"/>
              <a:t>Instructions after branch fetched before branch occurs</a:t>
            </a:r>
            <a:endParaRPr lang="en-US" sz="2600" dirty="0"/>
          </a:p>
          <a:p>
            <a:pPr lvl="1"/>
            <a:r>
              <a:rPr lang="en-US" sz="2600" dirty="0"/>
              <a:t>These instructions must be flushed if branch happens</a:t>
            </a:r>
            <a:endParaRPr lang="en-US" sz="2600" dirty="0"/>
          </a:p>
          <a:p>
            <a:r>
              <a:rPr lang="en-US" b="1" dirty="0"/>
              <a:t>Branch </a:t>
            </a:r>
            <a:r>
              <a:rPr lang="en-US" b="1" dirty="0" err="1"/>
              <a:t>misprediction</a:t>
            </a:r>
            <a:r>
              <a:rPr lang="en-US" b="1" dirty="0"/>
              <a:t> penalty</a:t>
            </a:r>
            <a:endParaRPr lang="en-US" b="1" dirty="0"/>
          </a:p>
          <a:p>
            <a:pPr lvl="1"/>
            <a:r>
              <a:rPr lang="en-US" sz="2600" dirty="0"/>
              <a:t>number of instruction flushed when branch is taken</a:t>
            </a:r>
            <a:endParaRPr lang="en-US" sz="2600" dirty="0"/>
          </a:p>
          <a:p>
            <a:pPr lvl="1"/>
            <a:r>
              <a:rPr lang="en-US" sz="2600" dirty="0"/>
              <a:t>May be reduced by determining branch earlier</a:t>
            </a:r>
            <a:endParaRPr lang="en-US" sz="2600" dirty="0"/>
          </a:p>
        </p:txBody>
      </p:sp>
      <p:sp>
        <p:nvSpPr>
          <p:cNvPr id="130662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130662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6629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6630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anose="0202050305040509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Control Hazards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7655" name="Object 7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</p:nvPr>
        </p:nvGraphicFramePr>
        <p:xfrm>
          <a:off x="2590800" y="1181100"/>
          <a:ext cx="8001000" cy="346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6" name="VISIO" r:id="rId2" imgW="5634355" imgH="2435225" progId="Visio.Drawing.6">
                  <p:embed/>
                </p:oleObj>
              </mc:Choice>
              <mc:Fallback>
                <p:oleObj name="VISIO" r:id="rId2" imgW="5634355" imgH="2435225" progId="Visio.Drawing.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181100"/>
                        <a:ext cx="8001000" cy="346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7650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1307652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7653" name="Rectangl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7654" name="Rectangle 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anose="0202050305040509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Control Hazards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9703" name="Object 7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</p:nvPr>
        </p:nvGraphicFramePr>
        <p:xfrm>
          <a:off x="2514600" y="1295401"/>
          <a:ext cx="7848600" cy="340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4" name="VISIO" r:id="rId2" imgW="5634355" imgH="2435225" progId="Visio.Drawing.6">
                  <p:embed/>
                </p:oleObj>
              </mc:Choice>
              <mc:Fallback>
                <p:oleObj name="VISIO" r:id="rId2" imgW="5634355" imgH="2435225" progId="Visio.Drawing.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295401"/>
                        <a:ext cx="7848600" cy="340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9698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1309700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9701" name="Rectangl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9702" name="Rectangle 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anose="0202050305040509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Early Branch Resolution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8680" name="Object 8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</p:nvPr>
        </p:nvGraphicFramePr>
        <p:xfrm>
          <a:off x="2514600" y="1219200"/>
          <a:ext cx="7848600" cy="468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0" name="VISIO" r:id="rId2" imgW="6956425" imgH="4154805" progId="Visio.Drawing.6">
                  <p:embed/>
                </p:oleObj>
              </mc:Choice>
              <mc:Fallback>
                <p:oleObj name="VISIO" r:id="rId2" imgW="6956425" imgH="4154805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219200"/>
                        <a:ext cx="7848600" cy="468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8674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1308676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8677" name="Rectangl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8678" name="Rectangle 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anose="02020503050405090304" charset="0"/>
            </a:endParaRPr>
          </a:p>
        </p:txBody>
      </p:sp>
      <p:sp>
        <p:nvSpPr>
          <p:cNvPr id="1308681" name="Text Box 9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276600" y="6019800"/>
            <a:ext cx="622554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2"/>
                </a:solidFill>
              </a:rPr>
              <a:t>Introduced another data hazard in Decode stage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Early Branch Resolution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60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130560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560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5606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anose="0202050305040509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Stalling  – R Type Write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73215" y="1412111"/>
            <a:ext cx="1932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t0, s1, s2</a:t>
            </a:r>
            <a:endParaRPr lang="en-US" dirty="0"/>
          </a:p>
          <a:p>
            <a:r>
              <a:rPr lang="en-US" dirty="0" err="1"/>
              <a:t>beq</a:t>
            </a:r>
            <a:r>
              <a:rPr lang="en-US" dirty="0"/>
              <a:t> t0, t1</a:t>
            </a:r>
            <a:endParaRPr lang="en-US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2514600" y="1219200"/>
          <a:ext cx="7848600" cy="468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7" name="VISIO" r:id="rId6" imgW="6956425" imgH="4154805" progId="Visio.Drawing.6">
                  <p:embed/>
                </p:oleObj>
              </mc:Choice>
              <mc:Fallback>
                <p:oleObj name="VISIO" r:id="rId6" imgW="6956425" imgH="4154805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219200"/>
                        <a:ext cx="7848600" cy="468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0727" name="Object 7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</p:nvPr>
        </p:nvGraphicFramePr>
        <p:xfrm>
          <a:off x="2442096" y="1031876"/>
          <a:ext cx="8225905" cy="491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8" name="VISIO" r:id="rId2" imgW="6960870" imgH="4152265" progId="Visio.Drawing.6">
                  <p:embed/>
                </p:oleObj>
              </mc:Choice>
              <mc:Fallback>
                <p:oleObj name="VISIO" r:id="rId2" imgW="6960870" imgH="4152265" progId="Visio.Drawing.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2096" y="1031876"/>
                        <a:ext cx="8225905" cy="491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722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1310724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10725" name="Rectangl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10726" name="Rectangle 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anose="0202050305040509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Data Hazard – R Type Write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73215" y="1412111"/>
            <a:ext cx="19329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t0, s1, s2</a:t>
            </a:r>
            <a:endParaRPr lang="en-US" dirty="0"/>
          </a:p>
          <a:p>
            <a:r>
              <a:rPr lang="en-US" dirty="0" err="1"/>
              <a:t>nop</a:t>
            </a:r>
            <a:endParaRPr lang="en-US" dirty="0"/>
          </a:p>
          <a:p>
            <a:r>
              <a:rPr lang="en-US" dirty="0" err="1"/>
              <a:t>beq</a:t>
            </a:r>
            <a:r>
              <a:rPr lang="en-US" dirty="0"/>
              <a:t> t0, t1</a:t>
            </a:r>
            <a:endParaRPr lang="en-US" dirty="0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60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130560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560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5606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anose="0202050305040509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Stalling – Load Write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73215" y="1412111"/>
            <a:ext cx="1932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lw</a:t>
            </a:r>
            <a:r>
              <a:rPr lang="en-US" dirty="0"/>
              <a:t> t1, offset(s3)</a:t>
            </a:r>
            <a:endParaRPr lang="en-US" dirty="0"/>
          </a:p>
          <a:p>
            <a:r>
              <a:rPr lang="en-US" dirty="0" err="1"/>
              <a:t>beq</a:t>
            </a:r>
            <a:r>
              <a:rPr lang="en-US" dirty="0"/>
              <a:t> t0, t1</a:t>
            </a:r>
            <a:endParaRPr lang="en-US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2514600" y="1219200"/>
          <a:ext cx="7848600" cy="468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9" name="VISIO" r:id="rId6" imgW="6956425" imgH="4154805" progId="Visio.Drawing.6">
                  <p:embed/>
                </p:oleObj>
              </mc:Choice>
              <mc:Fallback>
                <p:oleObj name="VISIO" r:id="rId6" imgW="6956425" imgH="4154805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219200"/>
                        <a:ext cx="7848600" cy="468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273215" y="5062908"/>
            <a:ext cx="1932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lw</a:t>
            </a:r>
            <a:r>
              <a:rPr lang="en-US" dirty="0"/>
              <a:t> t1, offset(s3)</a:t>
            </a:r>
            <a:endParaRPr lang="en-US" dirty="0"/>
          </a:p>
          <a:p>
            <a:r>
              <a:rPr lang="en-US" dirty="0" err="1"/>
              <a:t>nop</a:t>
            </a:r>
            <a:endParaRPr lang="en-US" dirty="0"/>
          </a:p>
          <a:p>
            <a:r>
              <a:rPr lang="en-US" dirty="0" err="1"/>
              <a:t>nop</a:t>
            </a:r>
            <a:endParaRPr lang="en-US" dirty="0"/>
          </a:p>
          <a:p>
            <a:r>
              <a:rPr lang="en-US" dirty="0" err="1"/>
              <a:t>beq</a:t>
            </a:r>
            <a:r>
              <a:rPr lang="en-US" dirty="0"/>
              <a:t> t0, t1</a:t>
            </a:r>
            <a:endParaRPr lang="en-US" dirty="0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991" name="Rectangle 7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2438400" y="1066800"/>
            <a:ext cx="8001000" cy="4953000"/>
          </a:xfrm>
        </p:spPr>
        <p:txBody>
          <a:bodyPr/>
          <a:lstStyle/>
          <a:p>
            <a:r>
              <a:rPr lang="en-US" b="1" dirty="0"/>
              <a:t>Forwarding logic:</a:t>
            </a:r>
            <a:endParaRPr lang="en-US" b="1" dirty="0"/>
          </a:p>
          <a:p>
            <a:pPr>
              <a:buFontTx/>
              <a:buNone/>
            </a:pPr>
            <a:r>
              <a:rPr lang="en-US" sz="1800" dirty="0">
                <a:solidFill>
                  <a:schemeClr val="accent2"/>
                </a:solidFill>
                <a:latin typeface="Courier New" panose="02070409020205090404" pitchFamily="49" charset="0"/>
              </a:rPr>
              <a:t>	</a:t>
            </a:r>
            <a:r>
              <a:rPr lang="en-US" sz="1600" b="1" i="1" dirty="0" err="1">
                <a:latin typeface="Courier New" panose="02070409020205090404" pitchFamily="49" charset="0"/>
              </a:rPr>
              <a:t>ForwardAD</a:t>
            </a:r>
            <a:r>
              <a:rPr lang="en-US" sz="1600" dirty="0">
                <a:latin typeface="Courier New" panose="02070409020205090404" pitchFamily="49" charset="0"/>
              </a:rPr>
              <a:t> = (</a:t>
            </a:r>
            <a:r>
              <a:rPr lang="en-US" sz="1600" i="1" dirty="0" err="1">
                <a:latin typeface="Courier New" panose="02070409020205090404" pitchFamily="49" charset="0"/>
              </a:rPr>
              <a:t>rsD</a:t>
            </a:r>
            <a:r>
              <a:rPr lang="en-US" sz="1600" dirty="0">
                <a:latin typeface="Courier New" panose="02070409020205090404" pitchFamily="49" charset="0"/>
              </a:rPr>
              <a:t> !=0) AND (</a:t>
            </a:r>
            <a:r>
              <a:rPr lang="en-US" sz="1600" i="1" dirty="0" err="1">
                <a:latin typeface="Courier New" panose="02070409020205090404" pitchFamily="49" charset="0"/>
              </a:rPr>
              <a:t>rsD</a:t>
            </a:r>
            <a:r>
              <a:rPr lang="en-US" sz="1600" dirty="0">
                <a:latin typeface="Courier New" panose="02070409020205090404" pitchFamily="49" charset="0"/>
              </a:rPr>
              <a:t> == </a:t>
            </a:r>
            <a:r>
              <a:rPr lang="en-US" sz="1600" i="1" dirty="0" err="1">
                <a:latin typeface="Courier New" panose="02070409020205090404" pitchFamily="49" charset="0"/>
              </a:rPr>
              <a:t>WriteRegM</a:t>
            </a:r>
            <a:r>
              <a:rPr lang="en-US" sz="1600" dirty="0">
                <a:latin typeface="Courier New" panose="02070409020205090404" pitchFamily="49" charset="0"/>
              </a:rPr>
              <a:t>) AND </a:t>
            </a:r>
            <a:r>
              <a:rPr lang="en-US" sz="1600" i="1" dirty="0" err="1">
                <a:latin typeface="Courier New" panose="02070409020205090404" pitchFamily="49" charset="0"/>
              </a:rPr>
              <a:t>RegWriteM</a:t>
            </a:r>
            <a:endParaRPr lang="en-US" sz="1600" i="1" dirty="0">
              <a:latin typeface="Courier New" panose="02070409020205090404" pitchFamily="49" charset="0"/>
            </a:endParaRPr>
          </a:p>
          <a:p>
            <a:pPr>
              <a:buFontTx/>
              <a:buNone/>
            </a:pPr>
            <a:r>
              <a:rPr lang="en-US" sz="1600" i="1" dirty="0">
                <a:latin typeface="Courier New" panose="02070409020205090404" pitchFamily="49" charset="0"/>
              </a:rPr>
              <a:t>	</a:t>
            </a:r>
            <a:r>
              <a:rPr lang="en-US" sz="1600" b="1" i="1" dirty="0" err="1">
                <a:latin typeface="Courier New" panose="02070409020205090404" pitchFamily="49" charset="0"/>
              </a:rPr>
              <a:t>ForwardBD</a:t>
            </a:r>
            <a:r>
              <a:rPr lang="en-US" sz="1600" dirty="0">
                <a:latin typeface="Courier New" panose="02070409020205090404" pitchFamily="49" charset="0"/>
              </a:rPr>
              <a:t> = (</a:t>
            </a:r>
            <a:r>
              <a:rPr lang="en-US" sz="1600" i="1" dirty="0" err="1">
                <a:latin typeface="Courier New" panose="02070409020205090404" pitchFamily="49" charset="0"/>
              </a:rPr>
              <a:t>rtD</a:t>
            </a:r>
            <a:r>
              <a:rPr lang="en-US" sz="1600" dirty="0">
                <a:latin typeface="Courier New" panose="02070409020205090404" pitchFamily="49" charset="0"/>
              </a:rPr>
              <a:t> !=0) AND (</a:t>
            </a:r>
            <a:r>
              <a:rPr lang="en-US" sz="1600" i="1" dirty="0" err="1">
                <a:latin typeface="Courier New" panose="02070409020205090404" pitchFamily="49" charset="0"/>
              </a:rPr>
              <a:t>rtD</a:t>
            </a:r>
            <a:r>
              <a:rPr lang="en-US" sz="1600" dirty="0">
                <a:latin typeface="Courier New" panose="02070409020205090404" pitchFamily="49" charset="0"/>
              </a:rPr>
              <a:t> == </a:t>
            </a:r>
            <a:r>
              <a:rPr lang="en-US" sz="1600" dirty="0" err="1">
                <a:latin typeface="Courier New" panose="02070409020205090404" pitchFamily="49" charset="0"/>
              </a:rPr>
              <a:t>WriteRegM</a:t>
            </a:r>
            <a:r>
              <a:rPr lang="en-US" sz="1600" dirty="0">
                <a:latin typeface="Courier New" panose="02070409020205090404" pitchFamily="49" charset="0"/>
              </a:rPr>
              <a:t>) AND </a:t>
            </a:r>
            <a:r>
              <a:rPr lang="en-US" sz="1600" i="1" dirty="0" err="1">
                <a:latin typeface="Courier New" panose="02070409020205090404" pitchFamily="49" charset="0"/>
              </a:rPr>
              <a:t>RegWriteM</a:t>
            </a:r>
            <a:endParaRPr lang="en-US" sz="1600" i="1" dirty="0">
              <a:latin typeface="Courier New" panose="02070409020205090404" pitchFamily="49" charset="0"/>
            </a:endParaRPr>
          </a:p>
          <a:p>
            <a:pPr algn="just">
              <a:buFontTx/>
              <a:buNone/>
            </a:pPr>
            <a:endParaRPr lang="en-US" sz="1800" i="1" dirty="0">
              <a:solidFill>
                <a:schemeClr val="accent2"/>
              </a:solidFill>
              <a:latin typeface="Courier New" panose="02070409020205090404" pitchFamily="49" charset="0"/>
            </a:endParaRPr>
          </a:p>
          <a:p>
            <a:r>
              <a:rPr lang="en-US" b="1" dirty="0"/>
              <a:t>Stalling logic:</a:t>
            </a:r>
            <a:endParaRPr lang="en-US" sz="2400" b="1" i="1" dirty="0">
              <a:solidFill>
                <a:schemeClr val="accent2"/>
              </a:solidFill>
            </a:endParaRPr>
          </a:p>
          <a:p>
            <a:pPr>
              <a:buFontTx/>
              <a:buNone/>
            </a:pPr>
            <a:r>
              <a:rPr lang="en-US" sz="2000" i="1" dirty="0">
                <a:solidFill>
                  <a:schemeClr val="accent2"/>
                </a:solidFill>
              </a:rPr>
              <a:t>	</a:t>
            </a:r>
            <a:r>
              <a:rPr lang="en-US" sz="1600" b="1" i="1" dirty="0" err="1">
                <a:latin typeface="Courier New" panose="02070409020205090404" pitchFamily="49" charset="0"/>
              </a:rPr>
              <a:t>branchstall</a:t>
            </a:r>
            <a:r>
              <a:rPr lang="en-US" sz="1600" b="1" dirty="0">
                <a:latin typeface="Courier New" panose="02070409020205090404" pitchFamily="49" charset="0"/>
              </a:rPr>
              <a:t> </a:t>
            </a:r>
            <a:r>
              <a:rPr lang="en-US" sz="1600" dirty="0">
                <a:latin typeface="Courier New" panose="02070409020205090404" pitchFamily="49" charset="0"/>
              </a:rPr>
              <a:t>= </a:t>
            </a:r>
            <a:r>
              <a:rPr lang="en-US" sz="1600" i="1" dirty="0" err="1">
                <a:latin typeface="Courier New" panose="02070409020205090404" pitchFamily="49" charset="0"/>
              </a:rPr>
              <a:t>BranchD</a:t>
            </a:r>
            <a:r>
              <a:rPr lang="en-US" sz="1600" dirty="0">
                <a:latin typeface="Courier New" panose="02070409020205090404" pitchFamily="49" charset="0"/>
              </a:rPr>
              <a:t> AND </a:t>
            </a:r>
            <a:r>
              <a:rPr lang="en-US" sz="1600" i="1" dirty="0" err="1">
                <a:latin typeface="Courier New" panose="02070409020205090404" pitchFamily="49" charset="0"/>
              </a:rPr>
              <a:t>RegWriteE</a:t>
            </a:r>
            <a:r>
              <a:rPr lang="en-US" sz="1600" dirty="0">
                <a:latin typeface="Courier New" panose="02070409020205090404" pitchFamily="49" charset="0"/>
              </a:rPr>
              <a:t> AND </a:t>
            </a:r>
            <a:endParaRPr lang="en-US" sz="1600" dirty="0">
              <a:latin typeface="Courier New" panose="02070409020205090404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anose="02070409020205090404" pitchFamily="49" charset="0"/>
              </a:rPr>
              <a:t>                   (</a:t>
            </a:r>
            <a:r>
              <a:rPr lang="en-US" sz="1600" i="1" dirty="0" err="1">
                <a:latin typeface="Courier New" panose="02070409020205090404" pitchFamily="49" charset="0"/>
              </a:rPr>
              <a:t>WriteRegE</a:t>
            </a:r>
            <a:r>
              <a:rPr lang="en-US" sz="1600" dirty="0">
                <a:latin typeface="Courier New" panose="02070409020205090404" pitchFamily="49" charset="0"/>
              </a:rPr>
              <a:t> == </a:t>
            </a:r>
            <a:r>
              <a:rPr lang="en-US" sz="1600" i="1" dirty="0" err="1">
                <a:latin typeface="Courier New" panose="02070409020205090404" pitchFamily="49" charset="0"/>
              </a:rPr>
              <a:t>rsD</a:t>
            </a:r>
            <a:r>
              <a:rPr lang="en-US" sz="1600" dirty="0">
                <a:latin typeface="Courier New" panose="02070409020205090404" pitchFamily="49" charset="0"/>
              </a:rPr>
              <a:t> OR </a:t>
            </a:r>
            <a:r>
              <a:rPr lang="en-US" sz="1600" i="1" dirty="0" err="1">
                <a:latin typeface="Courier New" panose="02070409020205090404" pitchFamily="49" charset="0"/>
              </a:rPr>
              <a:t>WriteRegE</a:t>
            </a:r>
            <a:r>
              <a:rPr lang="en-US" sz="1600" dirty="0">
                <a:latin typeface="Courier New" panose="02070409020205090404" pitchFamily="49" charset="0"/>
              </a:rPr>
              <a:t> == </a:t>
            </a:r>
            <a:r>
              <a:rPr lang="en-US" sz="1600" i="1" dirty="0" err="1">
                <a:latin typeface="Courier New" panose="02070409020205090404" pitchFamily="49" charset="0"/>
              </a:rPr>
              <a:t>rtD</a:t>
            </a:r>
            <a:r>
              <a:rPr lang="en-US" sz="1600" dirty="0">
                <a:latin typeface="Courier New" panose="02070409020205090404" pitchFamily="49" charset="0"/>
              </a:rPr>
              <a:t>) </a:t>
            </a:r>
            <a:endParaRPr lang="en-US" sz="1600" dirty="0">
              <a:latin typeface="Courier New" panose="02070409020205090404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anose="02070409020205090404" pitchFamily="49" charset="0"/>
              </a:rPr>
              <a:t>                 OR </a:t>
            </a:r>
            <a:endParaRPr lang="en-US" sz="1600" dirty="0">
              <a:latin typeface="Courier New" panose="02070409020205090404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anose="02070409020205090404" pitchFamily="49" charset="0"/>
              </a:rPr>
              <a:t>			  </a:t>
            </a:r>
            <a:r>
              <a:rPr lang="en-US" sz="1600" i="1" dirty="0" err="1">
                <a:latin typeface="Courier New" panose="02070409020205090404" pitchFamily="49" charset="0"/>
              </a:rPr>
              <a:t>BranchD</a:t>
            </a:r>
            <a:r>
              <a:rPr lang="en-US" sz="1600" dirty="0">
                <a:latin typeface="Courier New" panose="02070409020205090404" pitchFamily="49" charset="0"/>
              </a:rPr>
              <a:t> AND </a:t>
            </a:r>
            <a:r>
              <a:rPr lang="en-US" sz="1600" i="1" dirty="0" err="1">
                <a:latin typeface="Courier New" panose="02070409020205090404" pitchFamily="49" charset="0"/>
              </a:rPr>
              <a:t>MemtoRegM</a:t>
            </a:r>
            <a:r>
              <a:rPr lang="en-US" sz="1600" dirty="0">
                <a:latin typeface="Courier New" panose="02070409020205090404" pitchFamily="49" charset="0"/>
              </a:rPr>
              <a:t> AND </a:t>
            </a:r>
            <a:endParaRPr lang="en-US" sz="1600" dirty="0">
              <a:latin typeface="Courier New" panose="02070409020205090404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anose="02070409020205090404" pitchFamily="49" charset="0"/>
              </a:rPr>
              <a:t>                   (</a:t>
            </a:r>
            <a:r>
              <a:rPr lang="en-US" sz="1600" i="1" dirty="0" err="1">
                <a:latin typeface="Courier New" panose="02070409020205090404" pitchFamily="49" charset="0"/>
              </a:rPr>
              <a:t>WriteRegM</a:t>
            </a:r>
            <a:r>
              <a:rPr lang="en-US" sz="1600" dirty="0">
                <a:latin typeface="Courier New" panose="02070409020205090404" pitchFamily="49" charset="0"/>
              </a:rPr>
              <a:t> == </a:t>
            </a:r>
            <a:r>
              <a:rPr lang="en-US" sz="1600" i="1" dirty="0" err="1">
                <a:latin typeface="Courier New" panose="02070409020205090404" pitchFamily="49" charset="0"/>
              </a:rPr>
              <a:t>rsD</a:t>
            </a:r>
            <a:r>
              <a:rPr lang="en-US" sz="1600" dirty="0">
                <a:latin typeface="Courier New" panose="02070409020205090404" pitchFamily="49" charset="0"/>
              </a:rPr>
              <a:t> OR </a:t>
            </a:r>
            <a:r>
              <a:rPr lang="en-US" sz="1600" i="1" dirty="0" err="1">
                <a:latin typeface="Courier New" panose="02070409020205090404" pitchFamily="49" charset="0"/>
              </a:rPr>
              <a:t>WriteRegM</a:t>
            </a:r>
            <a:r>
              <a:rPr lang="en-US" sz="1600" dirty="0">
                <a:latin typeface="Courier New" panose="02070409020205090404" pitchFamily="49" charset="0"/>
              </a:rPr>
              <a:t> == </a:t>
            </a:r>
            <a:r>
              <a:rPr lang="en-US" sz="1600" i="1" dirty="0" err="1">
                <a:latin typeface="Courier New" panose="02070409020205090404" pitchFamily="49" charset="0"/>
              </a:rPr>
              <a:t>rtD</a:t>
            </a:r>
            <a:r>
              <a:rPr lang="en-US" sz="1600" dirty="0">
                <a:latin typeface="Courier New" panose="02070409020205090404" pitchFamily="49" charset="0"/>
              </a:rPr>
              <a:t>)</a:t>
            </a:r>
            <a:endParaRPr lang="en-US" sz="1600" dirty="0">
              <a:latin typeface="Courier New" panose="02070409020205090404" pitchFamily="49" charset="0"/>
            </a:endParaRPr>
          </a:p>
          <a:p>
            <a:endParaRPr lang="en-US" sz="1600" dirty="0">
              <a:latin typeface="Courier New" panose="02070409020205090404" pitchFamily="49" charset="0"/>
            </a:endParaRPr>
          </a:p>
          <a:p>
            <a:pPr>
              <a:buFontTx/>
              <a:buNone/>
            </a:pPr>
            <a:r>
              <a:rPr lang="en-US" sz="1600" i="1" dirty="0">
                <a:latin typeface="Courier New" panose="02070409020205090404" pitchFamily="49" charset="0"/>
              </a:rPr>
              <a:t>	</a:t>
            </a:r>
            <a:r>
              <a:rPr lang="en-US" sz="1600" i="1" dirty="0" err="1">
                <a:latin typeface="Courier New" panose="02070409020205090404" pitchFamily="49" charset="0"/>
              </a:rPr>
              <a:t>StallF</a:t>
            </a:r>
            <a:r>
              <a:rPr lang="en-US" sz="1600" dirty="0">
                <a:latin typeface="Courier New" panose="02070409020205090404" pitchFamily="49" charset="0"/>
              </a:rPr>
              <a:t> = </a:t>
            </a:r>
            <a:r>
              <a:rPr lang="en-US" sz="1600" i="1" dirty="0" err="1">
                <a:latin typeface="Courier New" panose="02070409020205090404" pitchFamily="49" charset="0"/>
              </a:rPr>
              <a:t>StallD</a:t>
            </a:r>
            <a:r>
              <a:rPr lang="en-US" sz="1600" dirty="0">
                <a:latin typeface="Courier New" panose="02070409020205090404" pitchFamily="49" charset="0"/>
              </a:rPr>
              <a:t> = </a:t>
            </a:r>
            <a:r>
              <a:rPr lang="en-US" sz="1600" i="1" dirty="0" err="1">
                <a:latin typeface="Courier New" panose="02070409020205090404" pitchFamily="49" charset="0"/>
              </a:rPr>
              <a:t>FlushE</a:t>
            </a:r>
            <a:r>
              <a:rPr lang="en-US" sz="1600" dirty="0">
                <a:latin typeface="Courier New" panose="02070409020205090404" pitchFamily="49" charset="0"/>
              </a:rPr>
              <a:t> = </a:t>
            </a:r>
            <a:r>
              <a:rPr lang="en-US" sz="1600" i="1" dirty="0" err="1">
                <a:latin typeface="Courier New" panose="02070409020205090404" pitchFamily="49" charset="0"/>
              </a:rPr>
              <a:t>lwstall</a:t>
            </a:r>
            <a:r>
              <a:rPr lang="en-US" sz="1600" dirty="0">
                <a:latin typeface="Courier New" panose="02070409020205090404" pitchFamily="49" charset="0"/>
              </a:rPr>
              <a:t> OR </a:t>
            </a:r>
            <a:r>
              <a:rPr lang="en-US" sz="1600" i="1" dirty="0" err="1">
                <a:latin typeface="Courier New" panose="02070409020205090404" pitchFamily="49" charset="0"/>
              </a:rPr>
              <a:t>branchstall</a:t>
            </a:r>
            <a:endParaRPr lang="en-US" sz="1600" i="1" dirty="0">
              <a:latin typeface="Courier New" panose="02070409020205090404" pitchFamily="49" charset="0"/>
            </a:endParaRPr>
          </a:p>
          <a:p>
            <a:endParaRPr lang="en-US" sz="1600" dirty="0">
              <a:solidFill>
                <a:schemeClr val="accent2"/>
              </a:solidFill>
              <a:latin typeface="Courier New" panose="02070409020205090404" pitchFamily="49" charset="0"/>
            </a:endParaRPr>
          </a:p>
        </p:txBody>
      </p:sp>
      <p:sp>
        <p:nvSpPr>
          <p:cNvPr id="132198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132198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21989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21990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anose="0202050305040509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95500" y="68580"/>
            <a:ext cx="90062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Control Forwarding &amp; Stalling Logic</a:t>
            </a:r>
            <a:endParaRPr lang="en-US" sz="42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970395" cy="484759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_INSTRUCTOR VIEW19C14C36-AC8E-43BC-9DB6-C2AAF774C7DC|PANE__TAG" val="_"/>
</p:tagLst>
</file>

<file path=ppt/tags/tag2.xml><?xml version="1.0" encoding="utf-8"?>
<p:tagLst xmlns:p="http://schemas.openxmlformats.org/presentationml/2006/main">
  <p:tag name="_INSTRUCTOR VIEW19C14C36-AC8E-43BC-9DB6-C2AAF774C7DC|PANE__TAG" val="_"/>
</p:tagLst>
</file>

<file path=ppt/tags/tag3.xml><?xml version="1.0" encoding="utf-8"?>
<p:tagLst xmlns:p="http://schemas.openxmlformats.org/presentationml/2006/main">
  <p:tag name="_INSTRUCTOR VIEW19C14C36-AC8E-43BC-9DB6-C2AAF774C7DC|PANE__TAG" val="_"/>
</p:tagLst>
</file>

<file path=ppt/tags/tag4.xml><?xml version="1.0" encoding="utf-8"?>
<p:tagLst xmlns:p="http://schemas.openxmlformats.org/presentationml/2006/main">
  <p:tag name="_INSTRUCTOR VIEW19C14C36-AC8E-43BC-9DB6-C2AAF774C7DC|PANE__TAG" val="_"/>
</p:tagLst>
</file>

<file path=ppt/tags/tag5.xml><?xml version="1.0" encoding="utf-8"?>
<p:tagLst xmlns:p="http://schemas.openxmlformats.org/presentationml/2006/main">
  <p:tag name="_INSTRUCTOR VIEW19C14C36-AC8E-43BC-9DB6-C2AAF774C7DC|PANE__TAG" val="_"/>
</p:tagLst>
</file>

<file path=ppt/tags/tag6.xml><?xml version="1.0" encoding="utf-8"?>
<p:tagLst xmlns:p="http://schemas.openxmlformats.org/presentationml/2006/main">
  <p:tag name="_INSTRUCTOR VIEW19C14C36-AC8E-43BC-9DB6-C2AAF774C7DC|PANE__TAG" val="_"/>
</p:tagLst>
</file>

<file path=ppt/tags/tag7.xml><?xml version="1.0" encoding="utf-8"?>
<p:tagLst xmlns:p="http://schemas.openxmlformats.org/presentationml/2006/main">
  <p:tag name="_INSTRUCTOR VIEW19C14C36-AC8E-43BC-9DB6-C2AAF774C7DC|PANE__TAG" val="_"/>
</p:tagLst>
</file>

<file path=ppt/tags/tag8.xml><?xml version="1.0" encoding="utf-8"?>
<p:tagLst xmlns:p="http://schemas.openxmlformats.org/presentationml/2006/main">
  <p:tag name="_INSTRUCTOR VIEW19C14C36-AC8E-43BC-9DB6-C2AAF774C7DC|PANE__TAG" val="_"/>
</p:tagLst>
</file>

<file path=ppt/tags/tag9.xml><?xml version="1.0" encoding="utf-8"?>
<p:tagLst xmlns:p="http://schemas.openxmlformats.org/presentationml/2006/main">
  <p:tag name="_INSTRUCTOR VIEW19C14C36-AC8E-43BC-9DB6-C2AAF774C7DC|PANE__TAG" val="_"/>
</p:tagLst>
</file>

<file path=ppt/tags/tag10.xml><?xml version="1.0" encoding="utf-8"?>
<p:tagLst xmlns:p="http://schemas.openxmlformats.org/presentationml/2006/main">
  <p:tag name="_INSTRUCTOR VIEW19C14C36-AC8E-43BC-9DB6-C2AAF774C7DC|PANE__TAG" val="_"/>
</p:tagLst>
</file>

<file path=ppt/tags/tag11.xml><?xml version="1.0" encoding="utf-8"?>
<p:tagLst xmlns:p="http://schemas.openxmlformats.org/presentationml/2006/main">
  <p:tag name="_INSTRUCTOR VIEW19C14C36-AC8E-43BC-9DB6-C2AAF774C7DC|PANE__TAG" val="_"/>
</p:tagLst>
</file>

<file path=ppt/tags/tag12.xml><?xml version="1.0" encoding="utf-8"?>
<p:tagLst xmlns:p="http://schemas.openxmlformats.org/presentationml/2006/main">
  <p:tag name="_INSTRUCTOR VIEW19C14C36-AC8E-43BC-9DB6-C2AAF774C7DC|PANE__TAG" val="_"/>
</p:tagLst>
</file>

<file path=ppt/tags/tag13.xml><?xml version="1.0" encoding="utf-8"?>
<p:tagLst xmlns:p="http://schemas.openxmlformats.org/presentationml/2006/main">
  <p:tag name="_INSTRUCTOR VIEW19C14C36-AC8E-43BC-9DB6-C2AAF774C7DC|PANE__TAG" val="_"/>
</p:tagLst>
</file>

<file path=ppt/tags/tag14.xml><?xml version="1.0" encoding="utf-8"?>
<p:tagLst xmlns:p="http://schemas.openxmlformats.org/presentationml/2006/main">
  <p:tag name="_INSTRUCTOR VIEW19C14C36-AC8E-43BC-9DB6-C2AAF774C7DC|PANE__TAG" val="_"/>
</p:tagLst>
</file>

<file path=ppt/tags/tag15.xml><?xml version="1.0" encoding="utf-8"?>
<p:tagLst xmlns:p="http://schemas.openxmlformats.org/presentationml/2006/main">
  <p:tag name="_INSTRUCTOR VIEW19C14C36-AC8E-43BC-9DB6-C2AAF774C7DC|PANE__TAG" val="_"/>
</p:tagLst>
</file>

<file path=ppt/tags/tag16.xml><?xml version="1.0" encoding="utf-8"?>
<p:tagLst xmlns:p="http://schemas.openxmlformats.org/presentationml/2006/main">
  <p:tag name="_INSTRUCTOR VIEW19C14C36-AC8E-43BC-9DB6-C2AAF774C7DC|PANE__TAG" val="_"/>
</p:tagLst>
</file>

<file path=ppt/tags/tag17.xml><?xml version="1.0" encoding="utf-8"?>
<p:tagLst xmlns:p="http://schemas.openxmlformats.org/presentationml/2006/main">
  <p:tag name="_INSTRUCTOR VIEW19C14C36-AC8E-43BC-9DB6-C2AAF774C7DC|PANE__TAG" val="_"/>
</p:tagLst>
</file>

<file path=ppt/tags/tag18.xml><?xml version="1.0" encoding="utf-8"?>
<p:tagLst xmlns:p="http://schemas.openxmlformats.org/presentationml/2006/main">
  <p:tag name="_INSTRUCTOR VIEW19C14C36-AC8E-43BC-9DB6-C2AAF774C7DC|PANE__TAG" val="_"/>
</p:tagLst>
</file>

<file path=ppt/tags/tag19.xml><?xml version="1.0" encoding="utf-8"?>
<p:tagLst xmlns:p="http://schemas.openxmlformats.org/presentationml/2006/main">
  <p:tag name="_INSTRUCTOR VIEW19C14C36-AC8E-43BC-9DB6-C2AAF774C7DC|PANE__TAG" val="_"/>
</p:tagLst>
</file>

<file path=ppt/tags/tag20.xml><?xml version="1.0" encoding="utf-8"?>
<p:tagLst xmlns:p="http://schemas.openxmlformats.org/presentationml/2006/main">
  <p:tag name="_INSTRUCTOR VIEW19C14C36-AC8E-43BC-9DB6-C2AAF774C7DC|PANE__TAG" val="_"/>
</p:tagLst>
</file>

<file path=ppt/tags/tag21.xml><?xml version="1.0" encoding="utf-8"?>
<p:tagLst xmlns:p="http://schemas.openxmlformats.org/presentationml/2006/main">
  <p:tag name="_INSTRUCTOR VIEW19C14C36-AC8E-43BC-9DB6-C2AAF774C7DC|PANE__TAG" val="_"/>
</p:tagLst>
</file>

<file path=ppt/tags/tag22.xml><?xml version="1.0" encoding="utf-8"?>
<p:tagLst xmlns:p="http://schemas.openxmlformats.org/presentationml/2006/main">
  <p:tag name="_INSTRUCTOR VIEW19C14C36-AC8E-43BC-9DB6-C2AAF774C7DC|PANE__TAG" val="_"/>
</p:tagLst>
</file>

<file path=ppt/tags/tag23.xml><?xml version="1.0" encoding="utf-8"?>
<p:tagLst xmlns:p="http://schemas.openxmlformats.org/presentationml/2006/main">
  <p:tag name="_INSTRUCTOR VIEW19C14C36-AC8E-43BC-9DB6-C2AAF774C7DC|PANE__TAG" val="_"/>
</p:tagLst>
</file>

<file path=ppt/tags/tag24.xml><?xml version="1.0" encoding="utf-8"?>
<p:tagLst xmlns:p="http://schemas.openxmlformats.org/presentationml/2006/main">
  <p:tag name="_INSTRUCTOR VIEW19C14C36-AC8E-43BC-9DB6-C2AAF774C7DC|PANE__TAG" val="_"/>
</p:tagLst>
</file>

<file path=ppt/tags/tag25.xml><?xml version="1.0" encoding="utf-8"?>
<p:tagLst xmlns:p="http://schemas.openxmlformats.org/presentationml/2006/main">
  <p:tag name="_INSTRUCTOR VIEW19C14C36-AC8E-43BC-9DB6-C2AAF774C7DC|PANE__TAG" val="_"/>
</p:tagLst>
</file>

<file path=ppt/tags/tag26.xml><?xml version="1.0" encoding="utf-8"?>
<p:tagLst xmlns:p="http://schemas.openxmlformats.org/presentationml/2006/main">
  <p:tag name="_INSTRUCTOR VIEW19C14C36-AC8E-43BC-9DB6-C2AAF774C7DC|PANE__TAG" val="_"/>
</p:tagLst>
</file>

<file path=ppt/tags/tag27.xml><?xml version="1.0" encoding="utf-8"?>
<p:tagLst xmlns:p="http://schemas.openxmlformats.org/presentationml/2006/main">
  <p:tag name="_INSTRUCTOR VIEW19C14C36-AC8E-43BC-9DB6-C2AAF774C7DC|PANE__TAG" val="_"/>
</p:tagLst>
</file>

<file path=ppt/tags/tag28.xml><?xml version="1.0" encoding="utf-8"?>
<p:tagLst xmlns:p="http://schemas.openxmlformats.org/presentationml/2006/main">
  <p:tag name="_INSTRUCTOR VIEW19C14C36-AC8E-43BC-9DB6-C2AAF774C7DC|PANE__TAG" val="_"/>
</p:tagLst>
</file>

<file path=ppt/tags/tag29.xml><?xml version="1.0" encoding="utf-8"?>
<p:tagLst xmlns:p="http://schemas.openxmlformats.org/presentationml/2006/main">
  <p:tag name="_INSTRUCTOR VIEW19C14C36-AC8E-43BC-9DB6-C2AAF774C7DC|PANE__TAG" val="_"/>
</p:tagLst>
</file>

<file path=ppt/tags/tag30.xml><?xml version="1.0" encoding="utf-8"?>
<p:tagLst xmlns:p="http://schemas.openxmlformats.org/presentationml/2006/main">
  <p:tag name="_INSTRUCTOR VIEW19C14C36-AC8E-43BC-9DB6-C2AAF774C7DC|PANE__TAG" val="_"/>
</p:tagLst>
</file>

<file path=ppt/tags/tag31.xml><?xml version="1.0" encoding="utf-8"?>
<p:tagLst xmlns:p="http://schemas.openxmlformats.org/presentationml/2006/main">
  <p:tag name="_INSTRUCTOR VIEW19C14C36-AC8E-43BC-9DB6-C2AAF774C7DC|PANE__TAG" val="_"/>
</p:tagLst>
</file>

<file path=ppt/tags/tag32.xml><?xml version="1.0" encoding="utf-8"?>
<p:tagLst xmlns:p="http://schemas.openxmlformats.org/presentationml/2006/main">
  <p:tag name="_INSTRUCTOR VIEW19C14C36-AC8E-43BC-9DB6-C2AAF774C7DC|PANE__TAG" val="_"/>
</p:tagLst>
</file>

<file path=ppt/tags/tag33.xml><?xml version="1.0" encoding="utf-8"?>
<p:tagLst xmlns:p="http://schemas.openxmlformats.org/presentationml/2006/main">
  <p:tag name="_INSTRUCTOR VIEW19C14C36-AC8E-43BC-9DB6-C2AAF774C7DC|PANE__TAG" val="_"/>
</p:tagLst>
</file>

<file path=ppt/tags/tag34.xml><?xml version="1.0" encoding="utf-8"?>
<p:tagLst xmlns:p="http://schemas.openxmlformats.org/presentationml/2006/main">
  <p:tag name="_INSTRUCTOR VIEW19C14C36-AC8E-43BC-9DB6-C2AAF774C7DC|PANE__TAG" val="_"/>
</p:tagLst>
</file>

<file path=ppt/tags/tag35.xml><?xml version="1.0" encoding="utf-8"?>
<p:tagLst xmlns:p="http://schemas.openxmlformats.org/presentationml/2006/main">
  <p:tag name="_INSTRUCTOR VIEW19C14C36-AC8E-43BC-9DB6-C2AAF774C7DC|PANE__TAG" val="_"/>
</p:tagLst>
</file>

<file path=ppt/tags/tag36.xml><?xml version="1.0" encoding="utf-8"?>
<p:tagLst xmlns:p="http://schemas.openxmlformats.org/presentationml/2006/main">
  <p:tag name="_INSTRUCTOR VIEW19C14C36-AC8E-43BC-9DB6-C2AAF774C7DC|PANE__TAG" val="_"/>
</p:tagLst>
</file>

<file path=ppt/tags/tag37.xml><?xml version="1.0" encoding="utf-8"?>
<p:tagLst xmlns:p="http://schemas.openxmlformats.org/presentationml/2006/main">
  <p:tag name="_INSTRUCTOR VIEW19C14C36-AC8E-43BC-9DB6-C2AAF774C7DC|PANE__TAG" val="_"/>
</p:tagLst>
</file>

<file path=ppt/tags/tag38.xml><?xml version="1.0" encoding="utf-8"?>
<p:tagLst xmlns:p="http://schemas.openxmlformats.org/presentationml/2006/main">
  <p:tag name="_INSTRUCTOR VIEW19C14C36-AC8E-43BC-9DB6-C2AAF774C7DC|PANE__TAG" val="_"/>
</p:tagLst>
</file>

<file path=ppt/tags/tag39.xml><?xml version="1.0" encoding="utf-8"?>
<p:tagLst xmlns:p="http://schemas.openxmlformats.org/presentationml/2006/main">
  <p:tag name="_INSTRUCTOR VIEW19C14C36-AC8E-43BC-9DB6-C2AAF774C7DC|PANE__TAG" val="_"/>
</p:tagLst>
</file>

<file path=ppt/tags/tag40.xml><?xml version="1.0" encoding="utf-8"?>
<p:tagLst xmlns:p="http://schemas.openxmlformats.org/presentationml/2006/main">
  <p:tag name="_INSTRUCTOR VIEW19C14C36-AC8E-43BC-9DB6-C2AAF774C7DC|PANE__TAG" val="_"/>
</p:tagLst>
</file>

<file path=ppt/tags/tag41.xml><?xml version="1.0" encoding="utf-8"?>
<p:tagLst xmlns:p="http://schemas.openxmlformats.org/presentationml/2006/main">
  <p:tag name="_INSTRUCTOR VIEW19C14C36-AC8E-43BC-9DB6-C2AAF774C7DC|PANE__TAG" val="_"/>
</p:tagLst>
</file>

<file path=ppt/tags/tag42.xml><?xml version="1.0" encoding="utf-8"?>
<p:tagLst xmlns:p="http://schemas.openxmlformats.org/presentationml/2006/main">
  <p:tag name="_INSTRUCTOR VIEW19C14C36-AC8E-43BC-9DB6-C2AAF774C7DC|PANE__TAG" val="_"/>
</p:tagLst>
</file>

<file path=ppt/tags/tag43.xml><?xml version="1.0" encoding="utf-8"?>
<p:tagLst xmlns:p="http://schemas.openxmlformats.org/presentationml/2006/main">
  <p:tag name="_INSTRUCTOR VIEW19C14C36-AC8E-43BC-9DB6-C2AAF774C7DC|PANE__TAG" val="_"/>
</p:tagLst>
</file>

<file path=ppt/tags/tag44.xml><?xml version="1.0" encoding="utf-8"?>
<p:tagLst xmlns:p="http://schemas.openxmlformats.org/presentationml/2006/main">
  <p:tag name="_INSTRUCTOR VIEW19C14C36-AC8E-43BC-9DB6-C2AAF774C7DC|PANE__TAG" val="_"/>
</p:tagLst>
</file>

<file path=ppt/tags/tag45.xml><?xml version="1.0" encoding="utf-8"?>
<p:tagLst xmlns:p="http://schemas.openxmlformats.org/presentationml/2006/main">
  <p:tag name="_INSTRUCTOR VIEW19C14C36-AC8E-43BC-9DB6-C2AAF774C7DC|PANE__TAG" val="_"/>
</p:tagLst>
</file>

<file path=ppt/tags/tag46.xml><?xml version="1.0" encoding="utf-8"?>
<p:tagLst xmlns:p="http://schemas.openxmlformats.org/presentationml/2006/main">
  <p:tag name="_INSTRUCTOR VIEW19C14C36-AC8E-43BC-9DB6-C2AAF774C7DC|PANE__TAG" val="_"/>
</p:tagLst>
</file>

<file path=ppt/tags/tag47.xml><?xml version="1.0" encoding="utf-8"?>
<p:tagLst xmlns:p="http://schemas.openxmlformats.org/presentationml/2006/main">
  <p:tag name="_INSTRUCTOR VIEW19C14C36-AC8E-43BC-9DB6-C2AAF774C7DC|PANE__TAG" val="_"/>
</p:tagLst>
</file>

<file path=ppt/tags/tag48.xml><?xml version="1.0" encoding="utf-8"?>
<p:tagLst xmlns:p="http://schemas.openxmlformats.org/presentationml/2006/main">
  <p:tag name="_INSTRUCTOR VIEW19C14C36-AC8E-43BC-9DB6-C2AAF774C7DC|PANE__TAG" val="_"/>
</p:tagLst>
</file>

<file path=ppt/tags/tag49.xml><?xml version="1.0" encoding="utf-8"?>
<p:tagLst xmlns:p="http://schemas.openxmlformats.org/presentationml/2006/main">
  <p:tag name="_INSTRUCTOR VIEW19C14C36-AC8E-43BC-9DB6-C2AAF774C7DC|PANE__TAG" val="_"/>
</p:tagLst>
</file>

<file path=ppt/tags/tag50.xml><?xml version="1.0" encoding="utf-8"?>
<p:tagLst xmlns:p="http://schemas.openxmlformats.org/presentationml/2006/main">
  <p:tag name="_INSTRUCTOR VIEW19C14C36-AC8E-43BC-9DB6-C2AAF774C7DC|PANE__TAG" val="_"/>
</p:tagLst>
</file>

<file path=ppt/tags/tag51.xml><?xml version="1.0" encoding="utf-8"?>
<p:tagLst xmlns:p="http://schemas.openxmlformats.org/presentationml/2006/main">
  <p:tag name="_INSTRUCTOR VIEW19C14C36-AC8E-43BC-9DB6-C2AAF774C7DC|PANE__TAG" val="_"/>
</p:tagLst>
</file>

<file path=ppt/tags/tag52.xml><?xml version="1.0" encoding="utf-8"?>
<p:tagLst xmlns:p="http://schemas.openxmlformats.org/presentationml/2006/main">
  <p:tag name="_INSTRUCTOR VIEW19C14C36-AC8E-43BC-9DB6-C2AAF774C7DC|PANE__TAG" val="_"/>
</p:tagLst>
</file>

<file path=ppt/tags/tag53.xml><?xml version="1.0" encoding="utf-8"?>
<p:tagLst xmlns:p="http://schemas.openxmlformats.org/presentationml/2006/main">
  <p:tag name="_INSTRUCTOR VIEW19C14C36-AC8E-43BC-9DB6-C2AAF774C7DC|PANE__TAG" val="_"/>
</p:tagLst>
</file>

<file path=ppt/tags/tag54.xml><?xml version="1.0" encoding="utf-8"?>
<p:tagLst xmlns:p="http://schemas.openxmlformats.org/presentationml/2006/main">
  <p:tag name="_INSTRUCTOR VIEW19C14C36-AC8E-43BC-9DB6-C2AAF774C7DC|PANE__TAG" val="_"/>
</p:tagLst>
</file>

<file path=ppt/tags/tag55.xml><?xml version="1.0" encoding="utf-8"?>
<p:tagLst xmlns:p="http://schemas.openxmlformats.org/presentationml/2006/main">
  <p:tag name="_INSTRUCTOR VIEW19C14C36-AC8E-43BC-9DB6-C2AAF774C7DC|PANE__TAG" val="_"/>
</p:tagLst>
</file>

<file path=ppt/tags/tag56.xml><?xml version="1.0" encoding="utf-8"?>
<p:tagLst xmlns:p="http://schemas.openxmlformats.org/presentationml/2006/main">
  <p:tag name="_INSTRUCTOR VIEW19C14C36-AC8E-43BC-9DB6-C2AAF774C7DC|PANE__TAG" val="_"/>
</p:tagLst>
</file>

<file path=ppt/tags/tag57.xml><?xml version="1.0" encoding="utf-8"?>
<p:tagLst xmlns:p="http://schemas.openxmlformats.org/presentationml/2006/main">
  <p:tag name="_INSTRUCTOR VIEW19C14C36-AC8E-43BC-9DB6-C2AAF774C7DC|PANE__TAG" val="_"/>
</p:tagLst>
</file>

<file path=ppt/tags/tag58.xml><?xml version="1.0" encoding="utf-8"?>
<p:tagLst xmlns:p="http://schemas.openxmlformats.org/presentationml/2006/main">
  <p:tag name="_INSTRUCTOR VIEW19C14C36-AC8E-43BC-9DB6-C2AAF774C7DC|PANE__TAG" val="_"/>
</p:tagLst>
</file>

<file path=ppt/tags/tag59.xml><?xml version="1.0" encoding="utf-8"?>
<p:tagLst xmlns:p="http://schemas.openxmlformats.org/presentationml/2006/main">
  <p:tag name="_INSTRUCTOR VIEW19C14C36-AC8E-43BC-9DB6-C2AAF774C7DC|PANE__TAG" val="_"/>
</p:tagLst>
</file>

<file path=ppt/tags/tag60.xml><?xml version="1.0" encoding="utf-8"?>
<p:tagLst xmlns:p="http://schemas.openxmlformats.org/presentationml/2006/main">
  <p:tag name="_INSTRUCTOR VIEW19C14C36-AC8E-43BC-9DB6-C2AAF774C7DC|PANE__TAG" val="_"/>
</p:tagLst>
</file>

<file path=ppt/tags/tag61.xml><?xml version="1.0" encoding="utf-8"?>
<p:tagLst xmlns:p="http://schemas.openxmlformats.org/presentationml/2006/main">
  <p:tag name="_INSTRUCTOR VIEW19C14C36-AC8E-43BC-9DB6-C2AAF774C7DC|PANE__TAG" val="_"/>
</p:tagLst>
</file>

<file path=ppt/tags/tag62.xml><?xml version="1.0" encoding="utf-8"?>
<p:tagLst xmlns:p="http://schemas.openxmlformats.org/presentationml/2006/main">
  <p:tag name="_INSTRUCTOR VIEW19C14C36-AC8E-43BC-9DB6-C2AAF774C7DC|PANE__TAG" val="_"/>
</p:tagLst>
</file>

<file path=ppt/tags/tag63.xml><?xml version="1.0" encoding="utf-8"?>
<p:tagLst xmlns:p="http://schemas.openxmlformats.org/presentationml/2006/main">
  <p:tag name="_INSTRUCTOR VIEW19C14C36-AC8E-43BC-9DB6-C2AAF774C7DC|PANE__TAG" val="_"/>
</p:tagLst>
</file>

<file path=ppt/tags/tag64.xml><?xml version="1.0" encoding="utf-8"?>
<p:tagLst xmlns:p="http://schemas.openxmlformats.org/presentationml/2006/main">
  <p:tag name="_INSTRUCTOR VIEW19C14C36-AC8E-43BC-9DB6-C2AAF774C7DC|PANE__TAG" val="_"/>
</p:tagLst>
</file>

<file path=ppt/tags/tag65.xml><?xml version="1.0" encoding="utf-8"?>
<p:tagLst xmlns:p="http://schemas.openxmlformats.org/presentationml/2006/main">
  <p:tag name="_INSTRUCTOR VIEW19C14C36-AC8E-43BC-9DB6-C2AAF774C7DC|PANE__TAG" val="_"/>
</p:tagLst>
</file>

<file path=ppt/tags/tag66.xml><?xml version="1.0" encoding="utf-8"?>
<p:tagLst xmlns:p="http://schemas.openxmlformats.org/presentationml/2006/main">
  <p:tag name="_INSTRUCTOR VIEW19C14C36-AC8E-43BC-9DB6-C2AAF774C7DC|PANE__TAG" val="_"/>
</p:tagLst>
</file>

<file path=ppt/tags/tag67.xml><?xml version="1.0" encoding="utf-8"?>
<p:tagLst xmlns:p="http://schemas.openxmlformats.org/presentationml/2006/main">
  <p:tag name="_INSTRUCTOR VIEW19C14C36-AC8E-43BC-9DB6-C2AAF774C7DC|PANE__TAG" val="_"/>
</p:tagLst>
</file>

<file path=ppt/tags/tag68.xml><?xml version="1.0" encoding="utf-8"?>
<p:tagLst xmlns:p="http://schemas.openxmlformats.org/presentationml/2006/main">
  <p:tag name="_INSTRUCTOR VIEW19C14C36-AC8E-43BC-9DB6-C2AAF774C7DC|PANE__TAG" val="_"/>
</p:tagLst>
</file>

<file path=ppt/tags/tag69.xml><?xml version="1.0" encoding="utf-8"?>
<p:tagLst xmlns:p="http://schemas.openxmlformats.org/presentationml/2006/main">
  <p:tag name="_INSTRUCTOR VIEW19C14C36-AC8E-43BC-9DB6-C2AAF774C7DC|PANE__TAG" val="_"/>
</p:tagLst>
</file>

<file path=ppt/tags/tag70.xml><?xml version="1.0" encoding="utf-8"?>
<p:tagLst xmlns:p="http://schemas.openxmlformats.org/presentationml/2006/main">
  <p:tag name="_INSTRUCTOR VIEW19C14C36-AC8E-43BC-9DB6-C2AAF774C7DC|PANE__TAG" val="_"/>
</p:tagLst>
</file>

<file path=ppt/tags/tag71.xml><?xml version="1.0" encoding="utf-8"?>
<p:tagLst xmlns:p="http://schemas.openxmlformats.org/presentationml/2006/main">
  <p:tag name="_INSTRUCTOR VIEW19C14C36-AC8E-43BC-9DB6-C2AAF774C7DC|PANE__TAG" val="_"/>
</p:tagLst>
</file>

<file path=ppt/tags/tag72.xml><?xml version="1.0" encoding="utf-8"?>
<p:tagLst xmlns:p="http://schemas.openxmlformats.org/presentationml/2006/main">
  <p:tag name="_INSTRUCTOR VIEW19C14C36-AC8E-43BC-9DB6-C2AAF774C7DC|PANE__TAG" val="_"/>
</p:tagLst>
</file>

<file path=ppt/tags/tag73.xml><?xml version="1.0" encoding="utf-8"?>
<p:tagLst xmlns:p="http://schemas.openxmlformats.org/presentationml/2006/main">
  <p:tag name="_INSTRUCTOR VIEW19C14C36-AC8E-43BC-9DB6-C2AAF774C7DC|PANE__TAG" val="_"/>
</p:tagLst>
</file>

<file path=ppt/tags/tag74.xml><?xml version="1.0" encoding="utf-8"?>
<p:tagLst xmlns:p="http://schemas.openxmlformats.org/presentationml/2006/main">
  <p:tag name="_INSTRUCTOR VIEW19C14C36-AC8E-43BC-9DB6-C2AAF774C7DC|PANE__TAG" val="_"/>
</p:tagLst>
</file>

<file path=ppt/tags/tag75.xml><?xml version="1.0" encoding="utf-8"?>
<p:tagLst xmlns:p="http://schemas.openxmlformats.org/presentationml/2006/main">
  <p:tag name="_INSTRUCTOR VIEW19C14C36-AC8E-43BC-9DB6-C2AAF774C7DC|PANE__TAG" val="_"/>
</p:tagLst>
</file>

<file path=ppt/tags/tag76.xml><?xml version="1.0" encoding="utf-8"?>
<p:tagLst xmlns:p="http://schemas.openxmlformats.org/presentationml/2006/main">
  <p:tag name="_INSTRUCTOR VIEW19C14C36-AC8E-43BC-9DB6-C2AAF774C7DC|PANE__TAG" val="_"/>
</p:tagLst>
</file>

<file path=ppt/tags/tag77.xml><?xml version="1.0" encoding="utf-8"?>
<p:tagLst xmlns:p="http://schemas.openxmlformats.org/presentationml/2006/main">
  <p:tag name="_INSTRUCTOR VIEW19C14C36-AC8E-43BC-9DB6-C2AAF774C7DC|PANE__TAG" val="_"/>
</p:tagLst>
</file>

<file path=ppt/tags/tag78.xml><?xml version="1.0" encoding="utf-8"?>
<p:tagLst xmlns:p="http://schemas.openxmlformats.org/presentationml/2006/main">
  <p:tag name="_INSTRUCTOR VIEW19C14C36-AC8E-43BC-9DB6-C2AAF774C7DC|PANE__TAG" val="_"/>
</p:tagLst>
</file>

<file path=ppt/tags/tag79.xml><?xml version="1.0" encoding="utf-8"?>
<p:tagLst xmlns:p="http://schemas.openxmlformats.org/presentationml/2006/main">
  <p:tag name="_INSTRUCTOR VIEW19C14C36-AC8E-43BC-9DB6-C2AAF774C7DC|PANE__TAG" val="_"/>
</p:tagLst>
</file>

<file path=ppt/tags/tag80.xml><?xml version="1.0" encoding="utf-8"?>
<p:tagLst xmlns:p="http://schemas.openxmlformats.org/presentationml/2006/main">
  <p:tag name="_INSTRUCTOR VIEW19C14C36-AC8E-43BC-9DB6-C2AAF774C7DC|PANE__TAG" val="_"/>
</p:tagLst>
</file>

<file path=ppt/tags/tag81.xml><?xml version="1.0" encoding="utf-8"?>
<p:tagLst xmlns:p="http://schemas.openxmlformats.org/presentationml/2006/main">
  <p:tag name="_INSTRUCTOR VIEW19C14C36-AC8E-43BC-9DB6-C2AAF774C7DC|PANE__TAG" val="_"/>
</p:tagLst>
</file>

<file path=ppt/tags/tag82.xml><?xml version="1.0" encoding="utf-8"?>
<p:tagLst xmlns:p="http://schemas.openxmlformats.org/presentationml/2006/main">
  <p:tag name="_INSTRUCTOR VIEW19C14C36-AC8E-43BC-9DB6-C2AAF774C7DC|PANE__TAG" val="_"/>
</p:tagLst>
</file>

<file path=ppt/tags/tag83.xml><?xml version="1.0" encoding="utf-8"?>
<p:tagLst xmlns:p="http://schemas.openxmlformats.org/presentationml/2006/main">
  <p:tag name="_INSTRUCTOR VIEW19C14C36-AC8E-43BC-9DB6-C2AAF774C7DC|PANE__TAG" val="_"/>
</p:tagLst>
</file>

<file path=ppt/tags/tag84.xml><?xml version="1.0" encoding="utf-8"?>
<p:tagLst xmlns:p="http://schemas.openxmlformats.org/presentationml/2006/main">
  <p:tag name="_INSTRUCTOR VIEW19C14C36-AC8E-43BC-9DB6-C2AAF774C7DC|PANE__TAG" val="_"/>
</p:tagLst>
</file>

<file path=ppt/tags/tag85.xml><?xml version="1.0" encoding="utf-8"?>
<p:tagLst xmlns:p="http://schemas.openxmlformats.org/presentationml/2006/main">
  <p:tag name="_INSTRUCTOR VIEW19C14C36-AC8E-43BC-9DB6-C2AAF774C7DC|PANE__TAG" val="_"/>
</p:tagLst>
</file>

<file path=ppt/tags/tag86.xml><?xml version="1.0" encoding="utf-8"?>
<p:tagLst xmlns:p="http://schemas.openxmlformats.org/presentationml/2006/main">
  <p:tag name="_INSTRUCTOR VIEW19C14C36-AC8E-43BC-9DB6-C2AAF774C7DC|PANE__TAG" val="_"/>
</p:tagLst>
</file>

<file path=ppt/tags/tag87.xml><?xml version="1.0" encoding="utf-8"?>
<p:tagLst xmlns:p="http://schemas.openxmlformats.org/presentationml/2006/main">
  <p:tag name="_INSTRUCTOR VIEW19C14C36-AC8E-43BC-9DB6-C2AAF774C7DC|PANE__TAG" val="_"/>
</p:tagLst>
</file>

<file path=ppt/tags/tag88.xml><?xml version="1.0" encoding="utf-8"?>
<p:tagLst xmlns:p="http://schemas.openxmlformats.org/presentationml/2006/main">
  <p:tag name="_INSTRUCTOR VIEW19C14C36-AC8E-43BC-9DB6-C2AAF774C7DC|PANE__TAG" val="_"/>
</p:tagLst>
</file>

<file path=ppt/tags/tag89.xml><?xml version="1.0" encoding="utf-8"?>
<p:tagLst xmlns:p="http://schemas.openxmlformats.org/presentationml/2006/main">
  <p:tag name="_INSTRUCTOR VIEW19C14C36-AC8E-43BC-9DB6-C2AAF774C7DC|PANE__TAG" val="_"/>
</p:tagLst>
</file>

<file path=ppt/tags/tag90.xml><?xml version="1.0" encoding="utf-8"?>
<p:tagLst xmlns:p="http://schemas.openxmlformats.org/presentationml/2006/main">
  <p:tag name="_INSTRUCTOR VIEW19C14C36-AC8E-43BC-9DB6-C2AAF774C7DC|PANE__TAG" val="_"/>
</p:tagLst>
</file>

<file path=ppt/tags/tag91.xml><?xml version="1.0" encoding="utf-8"?>
<p:tagLst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cod4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AU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AU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</a:defRPr>
        </a:defPPr>
      </a:lstStyle>
    </a:lnDef>
  </a:objectDefaults>
  <a:extraClrSchemeLst>
    <a:extraClrScheme>
      <a:clrScheme name="cod4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7">
        <a:dk1>
          <a:srgbClr val="000000"/>
        </a:dk1>
        <a:lt1>
          <a:srgbClr val="FFFFFF"/>
        </a:lt1>
        <a:dk2>
          <a:srgbClr val="0039A6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4268</Words>
  <Application>WPS 演示</Application>
  <PresentationFormat>Widescreen</PresentationFormat>
  <Paragraphs>495</Paragraphs>
  <Slides>42</Slides>
  <Notes>32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15</vt:i4>
      </vt:variant>
      <vt:variant>
        <vt:lpstr>幻灯片标题</vt:lpstr>
      </vt:variant>
      <vt:variant>
        <vt:i4>42</vt:i4>
      </vt:variant>
    </vt:vector>
  </HeadingPairs>
  <TitlesOfParts>
    <vt:vector size="84" baseType="lpstr">
      <vt:lpstr>Arial</vt:lpstr>
      <vt:lpstr>宋体</vt:lpstr>
      <vt:lpstr>Wingdings</vt:lpstr>
      <vt:lpstr>汉仪书宋二KW</vt:lpstr>
      <vt:lpstr>Arial Black</vt:lpstr>
      <vt:lpstr>Times New Roman</vt:lpstr>
      <vt:lpstr>微软雅黑</vt:lpstr>
      <vt:lpstr>汉仪旗黑</vt:lpstr>
      <vt:lpstr>Wingdings</vt:lpstr>
      <vt:lpstr>等线</vt:lpstr>
      <vt:lpstr>等线</vt:lpstr>
      <vt:lpstr>汉仪中等线KW</vt:lpstr>
      <vt:lpstr>Arial Bold</vt:lpstr>
      <vt:lpstr>宋体</vt:lpstr>
      <vt:lpstr>Arial Unicode MS</vt:lpstr>
      <vt:lpstr>等线 Light</vt:lpstr>
      <vt:lpstr>Calibri</vt:lpstr>
      <vt:lpstr>Helvetica Neue</vt:lpstr>
      <vt:lpstr>Arial</vt:lpstr>
      <vt:lpstr>Calibri</vt:lpstr>
      <vt:lpstr>Courier New</vt:lpstr>
      <vt:lpstr>Calibri Light</vt:lpstr>
      <vt:lpstr>等线</vt:lpstr>
      <vt:lpstr>Office Theme</vt:lpstr>
      <vt:lpstr>cod4e</vt:lpstr>
      <vt:lpstr>1_Office Theme</vt:lpstr>
      <vt:lpstr>Office 主题​​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计组分享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Instructions</vt:lpstr>
      <vt:lpstr>R-Format Instructions</vt:lpstr>
      <vt:lpstr>R-Type Instruction</vt:lpstr>
      <vt:lpstr>Load/Store Instructions</vt:lpstr>
      <vt:lpstr>Load Instruction</vt:lpstr>
      <vt:lpstr>Branch Instructions</vt:lpstr>
      <vt:lpstr>Branch-on-Equal Instruction</vt:lpstr>
      <vt:lpstr>Implementing Jumps</vt:lpstr>
      <vt:lpstr>Datapath With Jumps Added</vt:lpstr>
      <vt:lpstr>Critical Path-Load</vt:lpstr>
      <vt:lpstr>Control Signals-Load</vt:lpstr>
      <vt:lpstr>Critical Path-Branch</vt:lpstr>
      <vt:lpstr>Control Signals-Branch</vt:lpstr>
      <vt:lpstr>Control Signals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Jinpeng Ma</dc:creator>
  <cp:lastModifiedBy>信智竞</cp:lastModifiedBy>
  <cp:revision>64</cp:revision>
  <dcterms:created xsi:type="dcterms:W3CDTF">2025-06-13T03:34:16Z</dcterms:created>
  <dcterms:modified xsi:type="dcterms:W3CDTF">2025-06-13T03:34:16Z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81619396B87329A010C34A68A0A0DE17_42</vt:lpwstr>
  </property>
  <property fmtid="{D5CDD505-2E9C-101B-9397-08002B2CF9AE}" pid="3" name="KSOProductBuildVer">
    <vt:lpwstr>2052-7.4.1.8983</vt:lpwstr>
  </property>
</Properties>
</file>