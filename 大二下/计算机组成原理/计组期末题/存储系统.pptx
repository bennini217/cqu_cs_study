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60" r:id="rId4"/>
    <p:sldId id="265" r:id="rId5"/>
    <p:sldId id="267" r:id="rId6"/>
    <p:sldId id="279" r:id="rId7"/>
    <p:sldId id="278" r:id="rId8"/>
    <p:sldId id="280" r:id="rId9"/>
    <p:sldId id="281" r:id="rId10"/>
    <p:sldId id="272" r:id="rId11"/>
    <p:sldId id="282" r:id="rId12"/>
    <p:sldId id="283" r:id="rId13"/>
    <p:sldId id="284" r:id="rId14"/>
    <p:sldId id="285" r:id="rId15"/>
    <p:sldId id="286" r:id="rId16"/>
    <p:sldId id="289" r:id="rId17"/>
    <p:sldId id="287" r:id="rId18"/>
    <p:sldId id="288" r:id="rId19"/>
    <p:sldId id="277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一均 邵" initials="一邵" lastIdx="2" clrIdx="0">
    <p:extLst>
      <p:ext uri="{19B8F6BF-5375-455C-9EA6-DF929625EA0E}">
        <p15:presenceInfo xmlns:p15="http://schemas.microsoft.com/office/powerpoint/2012/main" userId="7cd5dcfec9b8a90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2" autoAdjust="0"/>
  </p:normalViewPr>
  <p:slideViewPr>
    <p:cSldViewPr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2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2B47D-E51A-4C41-80FF-D9626BE9601E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CFDAD-997A-495A-82FA-180A190DF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命中和缺失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CFDAD-997A-495A-82FA-180A190DF1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64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仅保存主存中最活跃的一部分数据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CFDAD-997A-495A-82FA-180A190DF1D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336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会有题目出</a:t>
            </a:r>
            <a:r>
              <a:rPr lang="en-US" altLang="zh-CN" dirty="0"/>
              <a:t>cache</a:t>
            </a:r>
            <a:r>
              <a:rPr lang="zh-CN" altLang="en-US" dirty="0"/>
              <a:t>的访问命中率是，访问</a:t>
            </a:r>
            <a:r>
              <a:rPr lang="en-US" altLang="zh-CN" dirty="0"/>
              <a:t>cache</a:t>
            </a:r>
            <a:r>
              <a:rPr lang="zh-CN" altLang="en-US" dirty="0"/>
              <a:t>的时间，访问主存的时间，平均访问时间，多级</a:t>
            </a:r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CFDAD-997A-495A-82FA-180A190DF1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753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以页为数据单位，虚拟地址转换为物理地址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CFDAD-997A-495A-82FA-180A190DF1D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861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页表：虚拟页号找物理页号，</a:t>
            </a:r>
            <a:r>
              <a:rPr lang="en-US" altLang="zh-CN" dirty="0"/>
              <a:t>LRU</a:t>
            </a:r>
            <a:r>
              <a:rPr lang="zh-CN" altLang="en-US" dirty="0"/>
              <a:t>代价太高，引入</a:t>
            </a:r>
            <a:r>
              <a:rPr lang="en-US" altLang="zh-CN" dirty="0"/>
              <a:t>ref</a:t>
            </a:r>
            <a:r>
              <a:rPr lang="zh-CN" altLang="en-US"/>
              <a:t>位，哪些页被访问过，定期清零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CFDAD-997A-495A-82FA-180A190DF1D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54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09159" y="2359155"/>
            <a:ext cx="11038043" cy="106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4800" b="1" i="0" dirty="0" err="1">
                <a:solidFill>
                  <a:srgbClr val="000000"/>
                </a:solidFill>
                <a:latin typeface="微软雅黑"/>
              </a:rPr>
              <a:t>存储系统</a:t>
            </a:r>
            <a:endParaRPr sz="4800" b="1" i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3" name="New shape"/>
          <p:cNvSpPr/>
          <p:nvPr/>
        </p:nvSpPr>
        <p:spPr>
          <a:xfrm>
            <a:off x="622800" y="3101012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endParaRPr/>
          </a:p>
        </p:txBody>
      </p:sp>
      <p:sp>
        <p:nvSpPr>
          <p:cNvPr id="5" name="New shape"/>
          <p:cNvSpPr/>
          <p:nvPr/>
        </p:nvSpPr>
        <p:spPr>
          <a:xfrm>
            <a:off x="622800" y="4138369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endParaRPr/>
          </a:p>
        </p:txBody>
      </p:sp>
      <p:sp>
        <p:nvSpPr>
          <p:cNvPr id="6" name="New shape"/>
          <p:cNvSpPr/>
          <p:nvPr/>
        </p:nvSpPr>
        <p:spPr>
          <a:xfrm>
            <a:off x="622800" y="4138369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endParaRPr/>
          </a:p>
        </p:txBody>
      </p:sp>
      <p:sp>
        <p:nvSpPr>
          <p:cNvPr id="7" name="New shape"/>
          <p:cNvSpPr/>
          <p:nvPr/>
        </p:nvSpPr>
        <p:spPr>
          <a:xfrm>
            <a:off x="622800" y="4138369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8800" y="979200"/>
            <a:ext cx="3672000" cy="511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1054800" y="1037646"/>
            <a:ext cx="2482880" cy="1189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sz="4800" b="1" i="0" dirty="0" err="1">
                <a:solidFill>
                  <a:srgbClr val="5197FC"/>
                </a:solidFill>
                <a:latin typeface="微软雅黑"/>
              </a:rPr>
              <a:t>目录</a:t>
            </a:r>
            <a:endParaRPr sz="4800" b="1" i="0" dirty="0">
              <a:solidFill>
                <a:srgbClr val="5197FC"/>
              </a:solidFill>
              <a:latin typeface="微软雅黑"/>
            </a:endParaRPr>
          </a:p>
        </p:txBody>
      </p:sp>
      <p:sp>
        <p:nvSpPr>
          <p:cNvPr id="8" name="New shape">
            <a:extLst>
              <a:ext uri="{FF2B5EF4-FFF2-40B4-BE49-F238E27FC236}">
                <a16:creationId xmlns:a16="http://schemas.microsoft.com/office/drawing/2014/main" id="{45C0EC05-8E05-F982-E101-C753F3C50AD0}"/>
              </a:ext>
            </a:extLst>
          </p:cNvPr>
          <p:cNvSpPr/>
          <p:nvPr/>
        </p:nvSpPr>
        <p:spPr>
          <a:xfrm>
            <a:off x="1919536" y="2507821"/>
            <a:ext cx="8016003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F3552"/>
                </a:solidFill>
                <a:latin typeface="微软雅黑"/>
              </a:rPr>
              <a:t>存储器层次结构</a:t>
            </a:r>
            <a:br>
              <a:rPr sz="1800" dirty="0">
                <a:latin typeface="微软雅黑"/>
              </a:rPr>
            </a:br>
            <a:endParaRPr sz="1800" dirty="0">
              <a:latin typeface="微软雅黑"/>
            </a:endParaRPr>
          </a:p>
        </p:txBody>
      </p:sp>
      <p:sp>
        <p:nvSpPr>
          <p:cNvPr id="9" name="New shape">
            <a:extLst>
              <a:ext uri="{FF2B5EF4-FFF2-40B4-BE49-F238E27FC236}">
                <a16:creationId xmlns:a16="http://schemas.microsoft.com/office/drawing/2014/main" id="{58BC4EC9-D2F4-E586-D4C0-B2772100A6C0}"/>
              </a:ext>
            </a:extLst>
          </p:cNvPr>
          <p:cNvSpPr/>
          <p:nvPr/>
        </p:nvSpPr>
        <p:spPr>
          <a:xfrm>
            <a:off x="1919536" y="3322795"/>
            <a:ext cx="8016003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0F3552"/>
                </a:solidFill>
                <a:latin typeface="微软雅黑"/>
              </a:rPr>
              <a:t>半导体存储器</a:t>
            </a:r>
            <a:br>
              <a:rPr sz="1800" dirty="0">
                <a:latin typeface="微软雅黑"/>
              </a:rPr>
            </a:br>
            <a:endParaRPr sz="1800" dirty="0">
              <a:latin typeface="微软雅黑"/>
            </a:endParaRPr>
          </a:p>
        </p:txBody>
      </p:sp>
      <p:sp>
        <p:nvSpPr>
          <p:cNvPr id="10" name="New shape">
            <a:extLst>
              <a:ext uri="{FF2B5EF4-FFF2-40B4-BE49-F238E27FC236}">
                <a16:creationId xmlns:a16="http://schemas.microsoft.com/office/drawing/2014/main" id="{08162A16-9BC7-0250-5BD1-6B32F8879C09}"/>
              </a:ext>
            </a:extLst>
          </p:cNvPr>
          <p:cNvSpPr/>
          <p:nvPr/>
        </p:nvSpPr>
        <p:spPr>
          <a:xfrm>
            <a:off x="1919535" y="4175122"/>
            <a:ext cx="801600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r>
              <a:rPr lang="en-US" altLang="zh-CN" sz="2400" b="1" i="0" dirty="0">
                <a:solidFill>
                  <a:srgbClr val="0F3552"/>
                </a:solidFill>
                <a:latin typeface="微软雅黑"/>
              </a:rPr>
              <a:t>Cache</a:t>
            </a:r>
            <a:endParaRPr sz="1800" dirty="0">
              <a:latin typeface="微软雅黑"/>
            </a:endParaRPr>
          </a:p>
        </p:txBody>
      </p:sp>
      <p:sp>
        <p:nvSpPr>
          <p:cNvPr id="11" name="New shape">
            <a:extLst>
              <a:ext uri="{FF2B5EF4-FFF2-40B4-BE49-F238E27FC236}">
                <a16:creationId xmlns:a16="http://schemas.microsoft.com/office/drawing/2014/main" id="{7081322F-96C6-4089-CAB0-C08DDF549DFF}"/>
              </a:ext>
            </a:extLst>
          </p:cNvPr>
          <p:cNvSpPr/>
          <p:nvPr/>
        </p:nvSpPr>
        <p:spPr>
          <a:xfrm>
            <a:off x="1234792" y="2530904"/>
            <a:ext cx="360000" cy="370800"/>
          </a:xfrm>
          <a:prstGeom prst="roundRect">
            <a:avLst>
              <a:gd name="adj" fmla="val 8819"/>
            </a:avLst>
          </a:prstGeom>
          <a:solidFill>
            <a:srgbClr val="519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New shape">
            <a:extLst>
              <a:ext uri="{FF2B5EF4-FFF2-40B4-BE49-F238E27FC236}">
                <a16:creationId xmlns:a16="http://schemas.microsoft.com/office/drawing/2014/main" id="{CB491D91-2A39-9988-B7D4-36E12B99823F}"/>
              </a:ext>
            </a:extLst>
          </p:cNvPr>
          <p:cNvSpPr/>
          <p:nvPr/>
        </p:nvSpPr>
        <p:spPr>
          <a:xfrm>
            <a:off x="1234792" y="3389961"/>
            <a:ext cx="360000" cy="370800"/>
          </a:xfrm>
          <a:prstGeom prst="roundRect">
            <a:avLst>
              <a:gd name="adj" fmla="val 8819"/>
            </a:avLst>
          </a:prstGeom>
          <a:solidFill>
            <a:srgbClr val="519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New shape">
            <a:extLst>
              <a:ext uri="{FF2B5EF4-FFF2-40B4-BE49-F238E27FC236}">
                <a16:creationId xmlns:a16="http://schemas.microsoft.com/office/drawing/2014/main" id="{08AFDC92-8E4B-A1FD-A81C-FFAF142D1926}"/>
              </a:ext>
            </a:extLst>
          </p:cNvPr>
          <p:cNvSpPr/>
          <p:nvPr/>
        </p:nvSpPr>
        <p:spPr>
          <a:xfrm>
            <a:off x="1234792" y="4239950"/>
            <a:ext cx="360000" cy="370800"/>
          </a:xfrm>
          <a:prstGeom prst="roundRect">
            <a:avLst>
              <a:gd name="adj" fmla="val 8819"/>
            </a:avLst>
          </a:prstGeom>
          <a:solidFill>
            <a:srgbClr val="519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New shape">
            <a:extLst>
              <a:ext uri="{FF2B5EF4-FFF2-40B4-BE49-F238E27FC236}">
                <a16:creationId xmlns:a16="http://schemas.microsoft.com/office/drawing/2014/main" id="{E53922BA-8390-98A3-2CE2-81360BA590F8}"/>
              </a:ext>
            </a:extLst>
          </p:cNvPr>
          <p:cNvSpPr/>
          <p:nvPr/>
        </p:nvSpPr>
        <p:spPr>
          <a:xfrm>
            <a:off x="1234792" y="5066178"/>
            <a:ext cx="360000" cy="370800"/>
          </a:xfrm>
          <a:prstGeom prst="roundRect">
            <a:avLst>
              <a:gd name="adj" fmla="val 8819"/>
            </a:avLst>
          </a:prstGeom>
          <a:solidFill>
            <a:srgbClr val="519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New shape">
            <a:extLst>
              <a:ext uri="{FF2B5EF4-FFF2-40B4-BE49-F238E27FC236}">
                <a16:creationId xmlns:a16="http://schemas.microsoft.com/office/drawing/2014/main" id="{6C54C9FD-02B7-72F5-326A-CF8BE7E3B7B1}"/>
              </a:ext>
            </a:extLst>
          </p:cNvPr>
          <p:cNvSpPr/>
          <p:nvPr/>
        </p:nvSpPr>
        <p:spPr>
          <a:xfrm>
            <a:off x="1919535" y="5043773"/>
            <a:ext cx="801600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F3552"/>
                </a:solidFill>
                <a:latin typeface="微软雅黑"/>
              </a:rPr>
              <a:t>虚拟存储器</a:t>
            </a:r>
            <a:endParaRPr sz="1800" dirty="0"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存储系统结构</a:t>
            </a:r>
            <a:r>
              <a:rPr lang="en-US" altLang="zh-CN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局部性原理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1194CF6-00AC-3D3B-4881-333304061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2132856"/>
            <a:ext cx="3839111" cy="236253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2EBD53C-5BEF-11E4-2FA5-31CA59071E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99"/>
          <a:stretch/>
        </p:blipFill>
        <p:spPr>
          <a:xfrm>
            <a:off x="5879976" y="1556792"/>
            <a:ext cx="5472608" cy="388829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半导体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DC6B225-8333-FF09-F706-E0378B524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45" y="1557076"/>
            <a:ext cx="10459910" cy="374384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微软雅黑"/>
              </a:rPr>
              <a:t>Cache</a:t>
            </a:r>
            <a:endParaRPr sz="3000" b="1" i="0" dirty="0">
              <a:solidFill>
                <a:srgbClr val="000000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4EC963D-74B1-295F-2097-1754D2750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00" y="1628800"/>
            <a:ext cx="10440857" cy="369621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6833B31-2263-13AB-D0A1-C7C87CB0AEE5}"/>
              </a:ext>
            </a:extLst>
          </p:cNvPr>
          <p:cNvSpPr txBox="1"/>
          <p:nvPr/>
        </p:nvSpPr>
        <p:spPr>
          <a:xfrm>
            <a:off x="9912424" y="458112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写缓冲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2B65E7-4D7D-9A8B-72B7-E86F0B78DBA2}"/>
              </a:ext>
            </a:extLst>
          </p:cNvPr>
          <p:cNvSpPr txBox="1"/>
          <p:nvPr/>
        </p:nvSpPr>
        <p:spPr>
          <a:xfrm>
            <a:off x="2279576" y="5378886"/>
            <a:ext cx="8568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写分配：更新主存单元，然后把这个主存块调入</a:t>
            </a:r>
            <a:r>
              <a:rPr lang="en-US" altLang="zh-CN" dirty="0"/>
              <a:t>Cache</a:t>
            </a:r>
            <a:r>
              <a:rPr lang="zh-CN" altLang="en-US" dirty="0"/>
              <a:t>。它试图利用程序的空间局部性。缺点是每次写不命中都要从主存读一个块到</a:t>
            </a:r>
            <a:r>
              <a:rPr lang="en-US" altLang="zh-CN" dirty="0"/>
              <a:t>Cache</a:t>
            </a:r>
            <a:r>
              <a:rPr lang="zh-CN" altLang="en-US" dirty="0"/>
              <a:t>中。与写回搭配。</a:t>
            </a:r>
            <a:endParaRPr lang="en-US" altLang="zh-CN" dirty="0"/>
          </a:p>
          <a:p>
            <a:r>
              <a:rPr lang="zh-CN" altLang="en-US" dirty="0"/>
              <a:t>非写分配：只更新主存单元，而不把主存块调入</a:t>
            </a:r>
            <a:r>
              <a:rPr lang="en-US" altLang="zh-CN" dirty="0"/>
              <a:t>Cache</a:t>
            </a:r>
            <a:r>
              <a:rPr lang="zh-CN" altLang="en-US" dirty="0"/>
              <a:t>。与全写搭配。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>
            <a:extLst>
              <a:ext uri="{FF2B5EF4-FFF2-40B4-BE49-F238E27FC236}">
                <a16:creationId xmlns:a16="http://schemas.microsoft.com/office/drawing/2014/main" id="{154F3CD1-3E86-E608-19D3-EBAE6BF100B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>
            <a:extLst>
              <a:ext uri="{FF2B5EF4-FFF2-40B4-BE49-F238E27FC236}">
                <a16:creationId xmlns:a16="http://schemas.microsoft.com/office/drawing/2014/main" id="{A61F0915-5659-2810-9CB1-CE9F16C875D6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微软雅黑"/>
              </a:rPr>
              <a:t>Cache</a:t>
            </a:r>
            <a:r>
              <a:rPr lang="zh-CN" altLang="en-US" sz="3000" b="1" dirty="0">
                <a:solidFill>
                  <a:srgbClr val="000000"/>
                </a:solidFill>
                <a:latin typeface="微软雅黑"/>
              </a:rPr>
              <a:t>工作原理</a:t>
            </a:r>
            <a:endParaRPr sz="3000" b="1" i="0" dirty="0">
              <a:solidFill>
                <a:srgbClr val="000000"/>
              </a:solidFill>
              <a:latin typeface="微软雅黑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5CF0A7-FC9E-A10A-1C71-77A54483C4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556792"/>
            <a:ext cx="7506266" cy="41764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C8EE172-4FBA-D746-220B-5A0D53730698}"/>
              </a:ext>
            </a:extLst>
          </p:cNvPr>
          <p:cNvSpPr txBox="1"/>
          <p:nvPr/>
        </p:nvSpPr>
        <p:spPr>
          <a:xfrm>
            <a:off x="8617994" y="1957806"/>
            <a:ext cx="29523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Cache</a:t>
            </a:r>
            <a:r>
              <a:rPr lang="zh-CN" altLang="en-US" dirty="0"/>
              <a:t>的访问命中率是，访问</a:t>
            </a:r>
            <a:r>
              <a:rPr lang="en-US" altLang="zh-CN" dirty="0"/>
              <a:t>Cache</a:t>
            </a:r>
            <a:r>
              <a:rPr lang="zh-CN" altLang="en-US" dirty="0"/>
              <a:t>的时间，访问主存的时间，平均访问时间？（多级</a:t>
            </a:r>
            <a:r>
              <a:rPr lang="en-US" altLang="zh-CN" dirty="0"/>
              <a:t>cache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Cache</a:t>
            </a:r>
            <a:r>
              <a:rPr lang="zh-CN" altLang="en-US" dirty="0"/>
              <a:t>的时间，访问主存的时间，为了达到某一访问时间，</a:t>
            </a:r>
            <a:r>
              <a:rPr lang="en-US" altLang="zh-CN" dirty="0"/>
              <a:t>Cache</a:t>
            </a:r>
            <a:r>
              <a:rPr lang="zh-CN" altLang="en-US" dirty="0"/>
              <a:t>的命中率至少是多少？</a:t>
            </a:r>
          </a:p>
        </p:txBody>
      </p:sp>
    </p:spTree>
    <p:extLst>
      <p:ext uri="{BB962C8B-B14F-4D97-AF65-F5344CB8AC3E}">
        <p14:creationId xmlns:p14="http://schemas.microsoft.com/office/powerpoint/2010/main" val="33149326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67C907-C0E1-620D-AC6E-00EDD5830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875575"/>
            <a:ext cx="4003556" cy="3549544"/>
          </a:xfrm>
          <a:prstGeom prst="rect">
            <a:avLst/>
          </a:prstGeom>
        </p:spPr>
      </p:pic>
      <p:pic>
        <p:nvPicPr>
          <p:cNvPr id="6" name="New picture">
            <a:extLst>
              <a:ext uri="{FF2B5EF4-FFF2-40B4-BE49-F238E27FC236}">
                <a16:creationId xmlns:a16="http://schemas.microsoft.com/office/drawing/2014/main" id="{EA356E9B-01BE-E4E4-F0B9-68E04AD6322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7" name="New shape">
            <a:extLst>
              <a:ext uri="{FF2B5EF4-FFF2-40B4-BE49-F238E27FC236}">
                <a16:creationId xmlns:a16="http://schemas.microsoft.com/office/drawing/2014/main" id="{EEC24BB4-C9B1-BE04-BDA6-2D5E95753B27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微软雅黑"/>
              </a:rPr>
              <a:t>Cache</a:t>
            </a:r>
            <a:r>
              <a:rPr lang="zh-CN" altLang="en-US" sz="3000" b="1" dirty="0">
                <a:solidFill>
                  <a:srgbClr val="000000"/>
                </a:solidFill>
                <a:latin typeface="微软雅黑"/>
              </a:rPr>
              <a:t>地址映射方式</a:t>
            </a:r>
            <a:endParaRPr sz="3000" b="1" i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9987E-2B40-D177-9A3C-CCE5077C0D18}"/>
              </a:ext>
            </a:extLst>
          </p:cNvPr>
          <p:cNvSpPr txBox="1"/>
          <p:nvPr/>
        </p:nvSpPr>
        <p:spPr>
          <a:xfrm>
            <a:off x="6456040" y="4703246"/>
            <a:ext cx="43924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1.Valid-1bit</a:t>
            </a:r>
            <a:r>
              <a:rPr lang="zh-CN" altLang="en-US" sz="2000" dirty="0"/>
              <a:t>：数据有效位</a:t>
            </a:r>
            <a:endParaRPr lang="en-US" altLang="zh-CN" sz="2000" dirty="0"/>
          </a:p>
          <a:p>
            <a:r>
              <a:rPr lang="en-US" altLang="zh-CN" sz="2000" dirty="0"/>
              <a:t>2.Tag</a:t>
            </a:r>
            <a:r>
              <a:rPr lang="zh-CN" altLang="en-US" sz="2000" dirty="0"/>
              <a:t>：标记位，记录主存</a:t>
            </a:r>
            <a:endParaRPr lang="en-US" altLang="zh-CN" sz="2000" dirty="0"/>
          </a:p>
          <a:p>
            <a:r>
              <a:rPr lang="en-US" altLang="zh-CN" sz="2000" dirty="0"/>
              <a:t>3.Data</a:t>
            </a:r>
            <a:r>
              <a:rPr lang="zh-CN" altLang="en-US" sz="2000" dirty="0"/>
              <a:t>：存放的数据</a:t>
            </a:r>
            <a:endParaRPr lang="en-US" altLang="zh-CN" sz="2000" dirty="0"/>
          </a:p>
          <a:p>
            <a:r>
              <a:rPr lang="en-US" altLang="zh-CN" sz="2000" dirty="0"/>
              <a:t>4.Dirty-1bit</a:t>
            </a:r>
            <a:r>
              <a:rPr lang="zh-CN" altLang="en-US" sz="2000" dirty="0"/>
              <a:t>：写回法使用</a:t>
            </a:r>
            <a:endParaRPr lang="en-US" altLang="zh-CN" sz="2000" dirty="0"/>
          </a:p>
          <a:p>
            <a:r>
              <a:rPr lang="en-US" altLang="zh-CN" sz="2000" dirty="0"/>
              <a:t>5.LRU</a:t>
            </a:r>
            <a:r>
              <a:rPr lang="zh-CN" altLang="en-US" sz="2000" dirty="0"/>
              <a:t>位：</a:t>
            </a:r>
            <a:r>
              <a:rPr lang="en-US" altLang="zh-CN" sz="2000" dirty="0"/>
              <a:t>LRU</a:t>
            </a:r>
            <a:r>
              <a:rPr lang="zh-CN" altLang="en-US" sz="2000" dirty="0"/>
              <a:t>替换策略使用，位数为</a:t>
            </a:r>
            <a:r>
              <a:rPr lang="en-US" altLang="zh-CN" sz="2000" dirty="0"/>
              <a:t>log2(cache</a:t>
            </a:r>
            <a:r>
              <a:rPr lang="zh-CN" altLang="en-US" sz="2000" dirty="0"/>
              <a:t>块数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795C697-6009-0E29-BFCF-93AF3ED7E2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t="3711" r="1642"/>
          <a:stretch/>
        </p:blipFill>
        <p:spPr>
          <a:xfrm>
            <a:off x="479377" y="4537963"/>
            <a:ext cx="5256584" cy="21272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9DC837-6ED1-ECAE-3EA7-1FA269B91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256" y="917510"/>
            <a:ext cx="4885328" cy="363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429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>
            <a:extLst>
              <a:ext uri="{FF2B5EF4-FFF2-40B4-BE49-F238E27FC236}">
                <a16:creationId xmlns:a16="http://schemas.microsoft.com/office/drawing/2014/main" id="{154F3CD1-3E86-E608-19D3-EBAE6BF100B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>
            <a:extLst>
              <a:ext uri="{FF2B5EF4-FFF2-40B4-BE49-F238E27FC236}">
                <a16:creationId xmlns:a16="http://schemas.microsoft.com/office/drawing/2014/main" id="{A61F0915-5659-2810-9CB1-CE9F16C875D6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微软雅黑"/>
              </a:rPr>
              <a:t>Cache</a:t>
            </a:r>
            <a:endParaRPr sz="3000" b="1" i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6AFDCE-E513-3B7A-A354-7A9541A65A1C}"/>
              </a:ext>
            </a:extLst>
          </p:cNvPr>
          <p:cNvSpPr txBox="1"/>
          <p:nvPr/>
        </p:nvSpPr>
        <p:spPr>
          <a:xfrm>
            <a:off x="734400" y="1148788"/>
            <a:ext cx="10585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假设某个计算机的主存地址空间大小为</a:t>
            </a:r>
            <a:r>
              <a:rPr lang="en-US" altLang="zh-CN" sz="2000" dirty="0"/>
              <a:t>256MB</a:t>
            </a:r>
            <a:r>
              <a:rPr lang="zh-CN" altLang="en-US" sz="2000" dirty="0"/>
              <a:t>，按字节编址，其数据</a:t>
            </a:r>
            <a:r>
              <a:rPr lang="en-US" altLang="zh-CN" sz="2000" dirty="0"/>
              <a:t>Cache</a:t>
            </a:r>
            <a:r>
              <a:rPr lang="zh-CN" altLang="en-US" sz="2000" dirty="0"/>
              <a:t>有</a:t>
            </a:r>
            <a:r>
              <a:rPr lang="en-US" altLang="zh-CN" sz="2000" dirty="0"/>
              <a:t>8</a:t>
            </a:r>
            <a:r>
              <a:rPr lang="zh-CN" altLang="en-US" sz="2000" dirty="0"/>
              <a:t>个</a:t>
            </a:r>
            <a:r>
              <a:rPr lang="en-US" altLang="zh-CN" sz="2000" dirty="0"/>
              <a:t>Cache</a:t>
            </a:r>
            <a:r>
              <a:rPr lang="zh-CN" altLang="en-US" sz="2000" dirty="0"/>
              <a:t>行，行长为</a:t>
            </a:r>
            <a:r>
              <a:rPr lang="en-US" altLang="zh-CN" sz="2000" dirty="0"/>
              <a:t>64B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）若不考虑用于</a:t>
            </a:r>
            <a:r>
              <a:rPr lang="en-US" altLang="zh-CN" sz="2000" dirty="0"/>
              <a:t>Cache</a:t>
            </a:r>
            <a:r>
              <a:rPr lang="zh-CN" altLang="en-US" sz="2000" dirty="0"/>
              <a:t>的一致性维护性位（脏位）和替换算法控制位，并且采用直接映射方式，则该数据</a:t>
            </a:r>
            <a:r>
              <a:rPr lang="en-US" altLang="zh-CN" sz="2000" dirty="0"/>
              <a:t>Cache</a:t>
            </a:r>
            <a:r>
              <a:rPr lang="zh-CN" altLang="en-US" sz="2000" dirty="0"/>
              <a:t>的总容量是多少？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）若该</a:t>
            </a:r>
            <a:r>
              <a:rPr lang="en-US" altLang="zh-CN" sz="2000" dirty="0"/>
              <a:t>Cache</a:t>
            </a:r>
            <a:r>
              <a:rPr lang="zh-CN" altLang="en-US" sz="2000" dirty="0"/>
              <a:t>采用直接映射，则主存地址为</a:t>
            </a:r>
            <a:r>
              <a:rPr lang="en-US" altLang="zh-CN" sz="2000" dirty="0"/>
              <a:t>3200</a:t>
            </a:r>
            <a:r>
              <a:rPr lang="zh-CN" altLang="en-US" sz="2000" dirty="0"/>
              <a:t>（十进制）的主存块对应的</a:t>
            </a:r>
            <a:r>
              <a:rPr lang="en-US" altLang="zh-CN" sz="2000" dirty="0"/>
              <a:t>Cache</a:t>
            </a:r>
            <a:r>
              <a:rPr lang="zh-CN" altLang="en-US" sz="2000" dirty="0"/>
              <a:t>行号是多少？</a:t>
            </a:r>
            <a:endParaRPr lang="en-US" altLang="zh-CN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）二路组相联？全相联？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AF282B-A472-C43F-DBAC-564EF7D80C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t="3711" r="1642"/>
          <a:stretch/>
        </p:blipFill>
        <p:spPr>
          <a:xfrm>
            <a:off x="623392" y="3389967"/>
            <a:ext cx="5256584" cy="21272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B18024-8C16-909A-46D1-5377998C84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2842295"/>
            <a:ext cx="3816424" cy="380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21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>
            <a:extLst>
              <a:ext uri="{FF2B5EF4-FFF2-40B4-BE49-F238E27FC236}">
                <a16:creationId xmlns:a16="http://schemas.microsoft.com/office/drawing/2014/main" id="{154F3CD1-3E86-E608-19D3-EBAE6BF100B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>
            <a:extLst>
              <a:ext uri="{FF2B5EF4-FFF2-40B4-BE49-F238E27FC236}">
                <a16:creationId xmlns:a16="http://schemas.microsoft.com/office/drawing/2014/main" id="{A61F0915-5659-2810-9CB1-CE9F16C875D6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微软雅黑"/>
              </a:rPr>
              <a:t>Cache</a:t>
            </a:r>
            <a:endParaRPr sz="3000" b="1" i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C0749F-220A-27D4-1AFA-DDC002F4EEFA}"/>
              </a:ext>
            </a:extLst>
          </p:cNvPr>
          <p:cNvSpPr txBox="1"/>
          <p:nvPr/>
        </p:nvSpPr>
        <p:spPr>
          <a:xfrm>
            <a:off x="1127448" y="1196752"/>
            <a:ext cx="101531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假设某计算机按字编址，</a:t>
            </a:r>
            <a:r>
              <a:rPr lang="en-US" altLang="zh-CN" sz="2000" dirty="0"/>
              <a:t>Cache</a:t>
            </a:r>
            <a:r>
              <a:rPr lang="zh-CN" altLang="en-US" sz="2000" dirty="0"/>
              <a:t>有</a:t>
            </a:r>
            <a:r>
              <a:rPr lang="en-US" altLang="zh-CN" sz="2000" dirty="0"/>
              <a:t>4</a:t>
            </a:r>
            <a:r>
              <a:rPr lang="zh-CN" altLang="en-US" sz="2000" dirty="0"/>
              <a:t>行、</a:t>
            </a:r>
            <a:r>
              <a:rPr lang="en-US" altLang="zh-CN" sz="2000" dirty="0"/>
              <a:t>Cache</a:t>
            </a:r>
            <a:r>
              <a:rPr lang="zh-CN" altLang="en-US" sz="2000" dirty="0"/>
              <a:t>和主存之间交换的块的大小为</a:t>
            </a:r>
            <a:r>
              <a:rPr lang="en-US" altLang="zh-CN" sz="2000" dirty="0"/>
              <a:t>1</a:t>
            </a:r>
            <a:r>
              <a:rPr lang="zh-CN" altLang="en-US" sz="2000" dirty="0"/>
              <a:t>个字。若</a:t>
            </a:r>
            <a:r>
              <a:rPr lang="en-US" altLang="zh-CN" sz="2000" dirty="0"/>
              <a:t>Cache</a:t>
            </a:r>
            <a:r>
              <a:rPr lang="zh-CN" altLang="en-US" sz="2000" dirty="0"/>
              <a:t>的内容初始为空，采用二路组相联映射方式和</a:t>
            </a:r>
            <a:r>
              <a:rPr lang="en-US" altLang="zh-CN" sz="2000" dirty="0"/>
              <a:t>LRU</a:t>
            </a:r>
            <a:r>
              <a:rPr lang="zh-CN" altLang="en-US" sz="2000" dirty="0"/>
              <a:t>替换策略，则访问的主存地址依次为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，</a:t>
            </a:r>
            <a:r>
              <a:rPr lang="en-US" altLang="zh-CN" sz="2000" dirty="0"/>
              <a:t>8</a:t>
            </a:r>
            <a:r>
              <a:rPr lang="zh-CN" altLang="en-US" sz="2000" dirty="0"/>
              <a:t>，</a:t>
            </a:r>
            <a:r>
              <a:rPr lang="en-US" altLang="zh-CN" sz="2000" dirty="0"/>
              <a:t>2</a:t>
            </a:r>
            <a:r>
              <a:rPr lang="zh-CN" altLang="en-US" sz="2000" dirty="0"/>
              <a:t>，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6</a:t>
            </a:r>
            <a:r>
              <a:rPr lang="zh-CN" altLang="en-US" sz="2000" dirty="0"/>
              <a:t>，</a:t>
            </a:r>
            <a:r>
              <a:rPr lang="en-US" altLang="zh-CN" sz="2000" dirty="0"/>
              <a:t>8</a:t>
            </a:r>
            <a:r>
              <a:rPr lang="zh-CN" altLang="en-US" sz="2000" dirty="0"/>
              <a:t>，</a:t>
            </a:r>
            <a:r>
              <a:rPr lang="en-US" altLang="zh-CN" sz="2000" dirty="0"/>
              <a:t>6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，</a:t>
            </a:r>
            <a:r>
              <a:rPr lang="en-US" altLang="zh-CN" sz="2000" dirty="0"/>
              <a:t>8</a:t>
            </a:r>
            <a:r>
              <a:rPr lang="zh-CN" altLang="en-US" sz="2000" dirty="0"/>
              <a:t>时，命中</a:t>
            </a:r>
            <a:r>
              <a:rPr lang="en-US" altLang="zh-CN" sz="2000" dirty="0"/>
              <a:t>Cache</a:t>
            </a:r>
            <a:r>
              <a:rPr lang="zh-CN" altLang="en-US" sz="2000" dirty="0"/>
              <a:t>的次数为？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BBC342-8A81-4189-0A35-2A4E2082FC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6" y="2562565"/>
            <a:ext cx="5550327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210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虚拟存储器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6D96AF1-FB1B-5B29-703E-63B8E069A0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290"/>
          <a:stretch/>
        </p:blipFill>
        <p:spPr>
          <a:xfrm>
            <a:off x="1044000" y="1133895"/>
            <a:ext cx="9430817" cy="53431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A3FF2F7-63AD-6158-52AD-0EC1A5DA0A9F}"/>
              </a:ext>
            </a:extLst>
          </p:cNvPr>
          <p:cNvSpPr/>
          <p:nvPr/>
        </p:nvSpPr>
        <p:spPr>
          <a:xfrm>
            <a:off x="3383400" y="4481815"/>
            <a:ext cx="3888432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A58A3D-A112-3252-3A47-42F5C5A54638}"/>
              </a:ext>
            </a:extLst>
          </p:cNvPr>
          <p:cNvSpPr/>
          <p:nvPr/>
        </p:nvSpPr>
        <p:spPr>
          <a:xfrm>
            <a:off x="3503712" y="5949279"/>
            <a:ext cx="5544616" cy="288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页表和</a:t>
            </a:r>
            <a:r>
              <a:rPr lang="en-US" altLang="zh-CN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C38594-CFE9-027D-3F27-31F65BBBC3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03" t="267" r="4370" b="-267"/>
          <a:stretch/>
        </p:blipFill>
        <p:spPr>
          <a:xfrm>
            <a:off x="191344" y="1069216"/>
            <a:ext cx="5776059" cy="50782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07E0473-DEA3-157A-F919-D2D9137F86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33" r="3050" b="2496"/>
          <a:stretch/>
        </p:blipFill>
        <p:spPr>
          <a:xfrm>
            <a:off x="6064829" y="1277543"/>
            <a:ext cx="6048672" cy="43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80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虚拟存储器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06FD7A-805D-79D9-20B3-50F4E22FA0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1" t="549" r="591" b="2366"/>
          <a:stretch/>
        </p:blipFill>
        <p:spPr>
          <a:xfrm>
            <a:off x="2608868" y="846602"/>
            <a:ext cx="6117224" cy="36625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7C98EE-09E8-CE7D-7ACD-799B70D53F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" t="6004" r="9994"/>
          <a:stretch/>
        </p:blipFill>
        <p:spPr>
          <a:xfrm>
            <a:off x="1775520" y="4581128"/>
            <a:ext cx="8208912" cy="22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0673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虚拟存储器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8D8C9D-13AF-EFC0-D08A-8691135F1304}"/>
              </a:ext>
            </a:extLst>
          </p:cNvPr>
          <p:cNvSpPr txBox="1"/>
          <p:nvPr/>
        </p:nvSpPr>
        <p:spPr>
          <a:xfrm>
            <a:off x="1271464" y="1196752"/>
            <a:ext cx="9410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某计算机主存地址空间大小为</a:t>
            </a:r>
            <a:r>
              <a:rPr lang="en-US" altLang="zh-CN" sz="2000" dirty="0"/>
              <a:t>256MB</a:t>
            </a:r>
            <a:r>
              <a:rPr lang="zh-CN" altLang="en-US" sz="2000" dirty="0"/>
              <a:t>，按字节编址。虚拟地址空间大小为</a:t>
            </a:r>
            <a:r>
              <a:rPr lang="en-US" altLang="zh-CN" sz="2000" dirty="0"/>
              <a:t>4GB</a:t>
            </a:r>
            <a:r>
              <a:rPr lang="zh-CN" altLang="en-US" sz="2000" dirty="0"/>
              <a:t>，采用页式存储管理，页面大小为</a:t>
            </a:r>
            <a:r>
              <a:rPr lang="en-US" altLang="zh-CN" sz="2000" dirty="0"/>
              <a:t>4KB</a:t>
            </a:r>
            <a:r>
              <a:rPr lang="zh-CN" altLang="en-US" sz="2000" dirty="0"/>
              <a:t>，</a:t>
            </a:r>
            <a:r>
              <a:rPr lang="en-US" altLang="zh-CN" sz="2000" dirty="0"/>
              <a:t>TLB</a:t>
            </a:r>
            <a:r>
              <a:rPr lang="zh-CN" altLang="en-US" sz="2000" dirty="0"/>
              <a:t>（快表）采用全相联映射，有</a:t>
            </a:r>
            <a:r>
              <a:rPr lang="en-US" altLang="zh-CN" sz="2000" dirty="0"/>
              <a:t>4</a:t>
            </a:r>
            <a:r>
              <a:rPr lang="zh-CN" altLang="en-US" sz="2000" dirty="0"/>
              <a:t>个页表项，内容如下表所示，则对虚拟地址</a:t>
            </a:r>
            <a:r>
              <a:rPr lang="en-US" altLang="zh-CN" sz="2000" dirty="0"/>
              <a:t>03FFF180H</a:t>
            </a:r>
            <a:r>
              <a:rPr lang="zh-CN" altLang="en-US" sz="2000" dirty="0"/>
              <a:t>进行虚拟地址变换的结果是？</a:t>
            </a:r>
            <a:endParaRPr lang="en-US" altLang="zh-CN" sz="2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D97B56-801C-3EBD-B1E0-4B915AD99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32562"/>
              </p:ext>
            </p:extLst>
          </p:nvPr>
        </p:nvGraphicFramePr>
        <p:xfrm>
          <a:off x="551384" y="2708920"/>
          <a:ext cx="4682112" cy="3053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528">
                  <a:extLst>
                    <a:ext uri="{9D8B030D-6E8A-4147-A177-3AD203B41FA5}">
                      <a16:colId xmlns:a16="http://schemas.microsoft.com/office/drawing/2014/main" val="4270116806"/>
                    </a:ext>
                  </a:extLst>
                </a:gridCol>
                <a:gridCol w="1170528">
                  <a:extLst>
                    <a:ext uri="{9D8B030D-6E8A-4147-A177-3AD203B41FA5}">
                      <a16:colId xmlns:a16="http://schemas.microsoft.com/office/drawing/2014/main" val="3296260278"/>
                    </a:ext>
                  </a:extLst>
                </a:gridCol>
                <a:gridCol w="1170528">
                  <a:extLst>
                    <a:ext uri="{9D8B030D-6E8A-4147-A177-3AD203B41FA5}">
                      <a16:colId xmlns:a16="http://schemas.microsoft.com/office/drawing/2014/main" val="113493573"/>
                    </a:ext>
                  </a:extLst>
                </a:gridCol>
                <a:gridCol w="1170528">
                  <a:extLst>
                    <a:ext uri="{9D8B030D-6E8A-4147-A177-3AD203B41FA5}">
                      <a16:colId xmlns:a16="http://schemas.microsoft.com/office/drawing/2014/main" val="3324385913"/>
                    </a:ext>
                  </a:extLst>
                </a:gridCol>
              </a:tblGrid>
              <a:tr h="610718">
                <a:tc>
                  <a:txBody>
                    <a:bodyPr/>
                    <a:lstStyle/>
                    <a:p>
                      <a:r>
                        <a:rPr lang="zh-CN" altLang="en-US" dirty="0"/>
                        <a:t>有效位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标记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页框号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328162"/>
                  </a:ext>
                </a:extLst>
              </a:tr>
              <a:tr h="610718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FF180H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0002H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71114"/>
                  </a:ext>
                </a:extLst>
              </a:tr>
              <a:tr h="610718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3FFF1H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0035H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56234"/>
                  </a:ext>
                </a:extLst>
              </a:tr>
              <a:tr h="610718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02FF3H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0351H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17288"/>
                  </a:ext>
                </a:extLst>
              </a:tr>
              <a:tr h="610718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03FFFH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0153H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700560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2BC8C997-3B57-EE84-882D-D395CB26AF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2708921"/>
            <a:ext cx="5752850" cy="305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11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3" name="New shape"/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虚拟存储器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F552E5-9DC5-88F5-9191-E3D9F60E6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041606"/>
            <a:ext cx="6093695" cy="562820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955CFE3-40D5-F1EE-4880-CC39C061F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495" y="1349120"/>
            <a:ext cx="5534681" cy="50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241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B518C60-BB30-00AF-81A5-20399D3F2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" t="5951" r="2382"/>
          <a:stretch/>
        </p:blipFill>
        <p:spPr bwMode="auto">
          <a:xfrm>
            <a:off x="1199456" y="980728"/>
            <a:ext cx="9577064" cy="574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015B365-0FE9-3E94-A423-70A957521523}"/>
              </a:ext>
            </a:extLst>
          </p:cNvPr>
          <p:cNvSpPr/>
          <p:nvPr/>
        </p:nvSpPr>
        <p:spPr>
          <a:xfrm>
            <a:off x="3431704" y="4365104"/>
            <a:ext cx="7344816" cy="2232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1341A2-9AA0-3DA9-5978-A5B49BC86ABC}"/>
              </a:ext>
            </a:extLst>
          </p:cNvPr>
          <p:cNvSpPr/>
          <p:nvPr/>
        </p:nvSpPr>
        <p:spPr>
          <a:xfrm>
            <a:off x="3359696" y="2204864"/>
            <a:ext cx="5904656" cy="13681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New picture">
            <a:extLst>
              <a:ext uri="{FF2B5EF4-FFF2-40B4-BE49-F238E27FC236}">
                <a16:creationId xmlns:a16="http://schemas.microsoft.com/office/drawing/2014/main" id="{E3AEFCEA-3975-0ABF-B4EE-CDC23DBAA98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>
            <a:extLst>
              <a:ext uri="{FF2B5EF4-FFF2-40B4-BE49-F238E27FC236}">
                <a16:creationId xmlns:a16="http://schemas.microsoft.com/office/drawing/2014/main" id="{98B191B8-143A-1A46-DFAB-405EF20D2BB8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635522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>
            <a:extLst>
              <a:ext uri="{FF2B5EF4-FFF2-40B4-BE49-F238E27FC236}">
                <a16:creationId xmlns:a16="http://schemas.microsoft.com/office/drawing/2014/main" id="{E3AEFCEA-3975-0ABF-B4EE-CDC23DBAA98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>
            <a:extLst>
              <a:ext uri="{FF2B5EF4-FFF2-40B4-BE49-F238E27FC236}">
                <a16:creationId xmlns:a16="http://schemas.microsoft.com/office/drawing/2014/main" id="{98B191B8-143A-1A46-DFAB-405EF20D2BB8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1ADA89-6BBE-A97B-5719-D48EA91D66AF}"/>
              </a:ext>
            </a:extLst>
          </p:cNvPr>
          <p:cNvSpPr txBox="1"/>
          <p:nvPr/>
        </p:nvSpPr>
        <p:spPr>
          <a:xfrm>
            <a:off x="734400" y="1011046"/>
            <a:ext cx="33462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1.mips</a:t>
            </a:r>
            <a:r>
              <a:rPr lang="zh-CN" altLang="en-US" dirty="0"/>
              <a:t>汇编指令，格式，寄存器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寻址方式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嵌套，</a:t>
            </a:r>
            <a:r>
              <a:rPr lang="en-US" altLang="zh-CN" dirty="0" err="1"/>
              <a:t>jal</a:t>
            </a:r>
            <a:r>
              <a:rPr lang="zh-CN" altLang="en-US" dirty="0"/>
              <a:t>的使用</a:t>
            </a:r>
          </a:p>
        </p:txBody>
      </p:sp>
      <p:pic>
        <p:nvPicPr>
          <p:cNvPr id="3074" name="Picture 2" descr="在这里插入图片描述">
            <a:extLst>
              <a:ext uri="{FF2B5EF4-FFF2-40B4-BE49-F238E27FC236}">
                <a16:creationId xmlns:a16="http://schemas.microsoft.com/office/drawing/2014/main" id="{15DB2F2B-7DE2-D05D-46F7-BFC63D2A7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409" y="1011046"/>
            <a:ext cx="5669896" cy="501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672C6B4-6791-F375-469F-6A2557670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2098820"/>
            <a:ext cx="4918968" cy="466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1242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在这里插入图片描述">
            <a:extLst>
              <a:ext uri="{FF2B5EF4-FFF2-40B4-BE49-F238E27FC236}">
                <a16:creationId xmlns:a16="http://schemas.microsoft.com/office/drawing/2014/main" id="{1C4892B7-2EF1-54AC-2204-FF0633195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32" y="980728"/>
            <a:ext cx="9876536" cy="557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39B9F9C-73BA-C250-CDCC-64134669763E}"/>
              </a:ext>
            </a:extLst>
          </p:cNvPr>
          <p:cNvSpPr/>
          <p:nvPr/>
        </p:nvSpPr>
        <p:spPr>
          <a:xfrm>
            <a:off x="2783632" y="3212977"/>
            <a:ext cx="5544616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2565C6-D20D-BDA3-FEDA-19E5E98A4453}"/>
              </a:ext>
            </a:extLst>
          </p:cNvPr>
          <p:cNvSpPr/>
          <p:nvPr/>
        </p:nvSpPr>
        <p:spPr>
          <a:xfrm>
            <a:off x="1775520" y="4437112"/>
            <a:ext cx="7200800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New picture">
            <a:extLst>
              <a:ext uri="{FF2B5EF4-FFF2-40B4-BE49-F238E27FC236}">
                <a16:creationId xmlns:a16="http://schemas.microsoft.com/office/drawing/2014/main" id="{2E64BF63-E60E-F12A-FED0-99338D2BA50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>
            <a:extLst>
              <a:ext uri="{FF2B5EF4-FFF2-40B4-BE49-F238E27FC236}">
                <a16:creationId xmlns:a16="http://schemas.microsoft.com/office/drawing/2014/main" id="{2B2E0966-F3F2-DD34-4AD0-2652B0EDB328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232371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1A143F-68E5-CDB6-4B8B-E2AE641892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7" t="5783" r="3557"/>
          <a:stretch/>
        </p:blipFill>
        <p:spPr>
          <a:xfrm>
            <a:off x="6458439" y="1340768"/>
            <a:ext cx="5733561" cy="46919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CC1A31-87DC-55E5-8601-DBC77AA5F5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" t="3417" r="5457"/>
          <a:stretch/>
        </p:blipFill>
        <p:spPr>
          <a:xfrm>
            <a:off x="191344" y="1916832"/>
            <a:ext cx="6077743" cy="3462122"/>
          </a:xfrm>
          <a:prstGeom prst="rect">
            <a:avLst/>
          </a:prstGeom>
        </p:spPr>
      </p:pic>
      <p:pic>
        <p:nvPicPr>
          <p:cNvPr id="7" name="New picture">
            <a:extLst>
              <a:ext uri="{FF2B5EF4-FFF2-40B4-BE49-F238E27FC236}">
                <a16:creationId xmlns:a16="http://schemas.microsoft.com/office/drawing/2014/main" id="{7C127272-2CBE-9A75-A627-A1760E08E7A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>
            <a:extLst>
              <a:ext uri="{FF2B5EF4-FFF2-40B4-BE49-F238E27FC236}">
                <a16:creationId xmlns:a16="http://schemas.microsoft.com/office/drawing/2014/main" id="{4854036B-2AF3-5D6B-2038-DDD43A176F4A}"/>
              </a:ext>
            </a:extLst>
          </p:cNvPr>
          <p:cNvSpPr/>
          <p:nvPr/>
        </p:nvSpPr>
        <p:spPr>
          <a:xfrm>
            <a:off x="982800" y="143396"/>
            <a:ext cx="9369360" cy="703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</a:t>
            </a:r>
            <a:endParaRPr sz="3000" b="1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733516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611778" y="2635727"/>
            <a:ext cx="11038043" cy="1189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4800" b="1" i="0">
                <a:solidFill>
                  <a:srgbClr val="000000"/>
                </a:solidFill>
                <a:latin typeface="微软雅黑"/>
              </a:rPr>
              <a:t>谢 谢 大 家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Unix 5.4 unknown"/>
  <p:tag name="AS_OS" val="Unix 5.4 unknown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577</Words>
  <Application>Microsoft Office PowerPoint</Application>
  <PresentationFormat>宽屏</PresentationFormat>
  <Paragraphs>76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一均 邵</cp:lastModifiedBy>
  <cp:revision>17</cp:revision>
  <dcterms:created xsi:type="dcterms:W3CDTF">2024-05-12T02:38:36Z</dcterms:created>
  <dcterms:modified xsi:type="dcterms:W3CDTF">2024-05-14T07:23:29Z</dcterms:modified>
</cp:coreProperties>
</file>