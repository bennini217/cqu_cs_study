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8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0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1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2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3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4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5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6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7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8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9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30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31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1" r:id="rId4"/>
  </p:sldMasterIdLst>
  <p:notesMasterIdLst>
    <p:notesMasterId r:id="rId43"/>
  </p:notesMasterIdLst>
  <p:sldIdLst>
    <p:sldId id="413" r:id="rId5"/>
    <p:sldId id="546" r:id="rId6"/>
    <p:sldId id="292" r:id="rId7"/>
    <p:sldId id="293" r:id="rId8"/>
    <p:sldId id="304" r:id="rId9"/>
    <p:sldId id="305" r:id="rId10"/>
    <p:sldId id="306" r:id="rId11"/>
    <p:sldId id="294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547" r:id="rId20"/>
    <p:sldId id="548" r:id="rId21"/>
    <p:sldId id="476" r:id="rId22"/>
    <p:sldId id="478" r:id="rId23"/>
    <p:sldId id="479" r:id="rId24"/>
    <p:sldId id="481" r:id="rId25"/>
    <p:sldId id="482" r:id="rId26"/>
    <p:sldId id="485" r:id="rId27"/>
    <p:sldId id="486" r:id="rId28"/>
    <p:sldId id="487" r:id="rId29"/>
    <p:sldId id="488" r:id="rId30"/>
    <p:sldId id="489" r:id="rId31"/>
    <p:sldId id="490" r:id="rId32"/>
    <p:sldId id="491" r:id="rId33"/>
    <p:sldId id="492" r:id="rId34"/>
    <p:sldId id="494" r:id="rId35"/>
    <p:sldId id="496" r:id="rId36"/>
    <p:sldId id="495" r:id="rId37"/>
    <p:sldId id="499" r:id="rId38"/>
    <p:sldId id="497" r:id="rId39"/>
    <p:sldId id="500" r:id="rId40"/>
    <p:sldId id="498" r:id="rId41"/>
    <p:sldId id="50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0" autoAdjust="0"/>
    <p:restoredTop sz="92560" autoAdjust="0"/>
  </p:normalViewPr>
  <p:slideViewPr>
    <p:cSldViewPr snapToGrid="0">
      <p:cViewPr varScale="1">
        <p:scale>
          <a:sx n="83" d="100"/>
          <a:sy n="83" d="100"/>
        </p:scale>
        <p:origin x="10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2571-2EAA-4EE4-80AE-E3FF00818B6E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A0913-3FA0-4218-9730-BC1394C0B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14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12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7491DE-8B05-427A-BBFC-B9DEEFC39EF4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556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BEAE9-8925-4E7F-8387-238523709907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R-</a:t>
            </a:r>
            <a:r>
              <a:rPr lang="zh-CN" altLang="en-US" dirty="0"/>
              <a:t>格式的指令执行涉及的数据通路</a:t>
            </a:r>
            <a:endParaRPr lang="en-US" altLang="zh-CN" dirty="0"/>
          </a:p>
          <a:p>
            <a:r>
              <a:rPr lang="en-US" baseline="0" dirty="0"/>
              <a:t> </a:t>
            </a:r>
            <a:r>
              <a:rPr lang="zh-CN" altLang="en-US" baseline="0" dirty="0"/>
              <a:t>需要从寄存器堆中读取两个值，运算后写入到指定的寄存器中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254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7491DE-8B05-427A-BBFC-B9DEEFC39EF4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556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BEAE9-8925-4E7F-8387-238523709907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R-</a:t>
            </a:r>
            <a:r>
              <a:rPr lang="zh-CN" altLang="en-US" dirty="0"/>
              <a:t>格式的指令执行涉及的数据通路</a:t>
            </a:r>
            <a:endParaRPr lang="en-US" altLang="zh-CN" dirty="0"/>
          </a:p>
          <a:p>
            <a:r>
              <a:rPr lang="en-US" baseline="0" dirty="0"/>
              <a:t> </a:t>
            </a:r>
            <a:r>
              <a:rPr lang="zh-CN" altLang="en-US" baseline="0" dirty="0"/>
              <a:t>需要从寄存器堆中读取两个值，运算后写入到指定的寄存器中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918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C47EE1-381E-40A0-8570-BA9A18283D3A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69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669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6A2F1A-ABC5-46E6-9ECE-E939837A5AA7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69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有了基本的数据通路之后，需要测试这些数据通路是否正确。我们将分别测试</a:t>
            </a:r>
            <a:r>
              <a:rPr lang="en-US" altLang="zh-CN" dirty="0"/>
              <a:t>3</a:t>
            </a:r>
            <a:r>
              <a:rPr lang="zh-CN" altLang="en-US" dirty="0"/>
              <a:t>类指令是否能够在该数据通路上正确地被执行。</a:t>
            </a:r>
            <a:endParaRPr lang="en-US" altLang="zh-CN" dirty="0"/>
          </a:p>
          <a:p>
            <a:r>
              <a:rPr lang="zh-CN" altLang="en-US" dirty="0"/>
              <a:t>下面我们浅色部分的部件为不使用的部件。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43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AU" altLang="zh-CN" sz="1300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63DD3524-363C-4079-8FDA-DE3DB9AD86C7}" type="datetime3">
              <a:rPr lang="en-AU" altLang="zh-CN" sz="1300">
                <a:latin typeface="Times New Roman" pitchFamily="18" charset="0"/>
              </a:rPr>
              <a:pPr/>
              <a:t>16 May, 2024</a:t>
            </a:fld>
            <a:endParaRPr lang="en-AU" altLang="zh-CN" sz="1300">
              <a:latin typeface="Times New Roman" pitchFamily="18" charset="0"/>
            </a:endParaRPr>
          </a:p>
        </p:txBody>
      </p:sp>
      <p:sp>
        <p:nvSpPr>
          <p:cNvPr id="1566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AU" altLang="zh-CN" sz="1300">
                <a:latin typeface="Times New Roman" pitchFamily="18" charset="0"/>
              </a:rPr>
              <a:t>Chapter 4 — The Processor</a:t>
            </a:r>
          </a:p>
        </p:txBody>
      </p:sp>
      <p:sp>
        <p:nvSpPr>
          <p:cNvPr id="1566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0DA40A51-7EBB-46E3-9CB3-867FC6246F93}" type="slidenum">
              <a:rPr lang="en-AU" altLang="zh-CN" sz="1300">
                <a:latin typeface="Times New Roman" pitchFamily="18" charset="0"/>
              </a:rPr>
              <a:pPr/>
              <a:t>6</a:t>
            </a:fld>
            <a:endParaRPr lang="en-AU" altLang="zh-CN" sz="1300">
              <a:latin typeface="Times New Roman" pitchFamily="18" charset="0"/>
            </a:endParaRPr>
          </a:p>
        </p:txBody>
      </p:sp>
      <p:sp>
        <p:nvSpPr>
          <p:cNvPr id="1566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读取数据指令，执行时涉及的数据通路</a:t>
            </a:r>
            <a:endParaRPr lang="en-US" altLang="zh-CN" dirty="0"/>
          </a:p>
          <a:p>
            <a:r>
              <a:rPr lang="en-US" dirty="0"/>
              <a:t>  </a:t>
            </a:r>
            <a:r>
              <a:rPr lang="zh-CN" altLang="en-US" dirty="0"/>
              <a:t>读取寄存器操作数</a:t>
            </a:r>
            <a:endParaRPr lang="en-US" altLang="zh-CN" dirty="0"/>
          </a:p>
          <a:p>
            <a:r>
              <a:rPr lang="en-US" baseline="0" dirty="0"/>
              <a:t> </a:t>
            </a:r>
            <a:r>
              <a:rPr lang="zh-CN" altLang="en-US" baseline="0" dirty="0"/>
              <a:t>与 </a:t>
            </a:r>
            <a:r>
              <a:rPr lang="en-US" altLang="zh-CN" baseline="0" dirty="0"/>
              <a:t>16</a:t>
            </a:r>
            <a:r>
              <a:rPr lang="zh-CN" altLang="en-US" baseline="0" dirty="0"/>
              <a:t>位的立即数运算的偏移地址运算读写的内存的地址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48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81AB71-94A2-43F0-9520-95B65BDC6B29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79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679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353793-A66E-48AE-AACB-EF1B45C00203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79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对于</a:t>
            </a:r>
            <a:r>
              <a:rPr lang="en-US" altLang="zh-CN" dirty="0"/>
              <a:t>Load</a:t>
            </a:r>
            <a:r>
              <a:rPr lang="zh-CN" altLang="en-US" dirty="0"/>
              <a:t>指令或者</a:t>
            </a:r>
            <a:r>
              <a:rPr lang="en-US" altLang="zh-CN" dirty="0"/>
              <a:t>Store</a:t>
            </a:r>
            <a:r>
              <a:rPr lang="zh-CN" altLang="en-US" dirty="0"/>
              <a:t>指令</a:t>
            </a: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浅色部分的部件为不使用的部件。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98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74B148-82CB-44D4-A868-73C53F448892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77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577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7E0DFC-B350-46C6-8757-5107E62231AF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77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分支指令：</a:t>
            </a:r>
            <a:endParaRPr lang="en-US" altLang="zh-CN" dirty="0"/>
          </a:p>
          <a:p>
            <a:r>
              <a:rPr lang="en-US" dirty="0"/>
              <a:t>   </a:t>
            </a:r>
            <a:r>
              <a:rPr lang="zh-CN" altLang="en-US" dirty="0"/>
              <a:t>读取寄存器操作数</a:t>
            </a:r>
            <a:endParaRPr lang="en-US" altLang="zh-CN" dirty="0"/>
          </a:p>
          <a:p>
            <a:r>
              <a:rPr lang="en-US" dirty="0"/>
              <a:t> </a:t>
            </a:r>
            <a:r>
              <a:rPr lang="zh-CN" altLang="en-US" dirty="0"/>
              <a:t>比较运算</a:t>
            </a:r>
            <a:endParaRPr lang="en-US" altLang="zh-CN" dirty="0"/>
          </a:p>
          <a:p>
            <a:r>
              <a:rPr lang="en-US" dirty="0"/>
              <a:t> </a:t>
            </a:r>
            <a:r>
              <a:rPr lang="zh-CN" altLang="en-US" dirty="0"/>
              <a:t>计算目标地址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289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BA9E05-EA94-457F-99B1-559F30CD000A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9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689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D55CD-F970-442A-B91D-75891A9B337F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Branch</a:t>
            </a:r>
            <a:r>
              <a:rPr lang="zh-CN" altLang="en-US" dirty="0"/>
              <a:t>指令</a:t>
            </a:r>
            <a:endParaRPr lang="en-US" altLang="zh-CN" dirty="0"/>
          </a:p>
          <a:p>
            <a:r>
              <a:rPr lang="zh-CN" altLang="en-US" dirty="0"/>
              <a:t>浅色部分的部件为不使用的部件。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5893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E76BAA-54AA-4252-9286-E175AD6F0EB1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99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699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64C352-401F-450C-8CCA-457645E4F3AE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99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94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73275A-D663-42AC-8260-4F5989FAD642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10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710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C995C1-71C3-4B20-941A-401C60AB12E7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10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浅色部分的部件为不使用的部件。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574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BA9E05-EA94-457F-99B1-559F30CD000A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9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689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D55CD-F970-442A-B91D-75891A9B337F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Branch</a:t>
            </a:r>
            <a:r>
              <a:rPr lang="zh-CN" altLang="en-US" dirty="0"/>
              <a:t>指令</a:t>
            </a:r>
            <a:endParaRPr lang="en-US" altLang="zh-CN" dirty="0"/>
          </a:p>
          <a:p>
            <a:r>
              <a:rPr lang="zh-CN" altLang="en-US" dirty="0"/>
              <a:t>浅色部分的部件为不使用的部件。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6756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Morgan Kaufmann Publishers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BA9E05-EA94-457F-99B1-559F30CD000A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 May, 2024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9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Chapter 4 — The Processor</a:t>
            </a:r>
          </a:p>
        </p:txBody>
      </p:sp>
      <p:sp>
        <p:nvSpPr>
          <p:cNvPr id="1689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D55CD-F970-442A-B91D-75891A9B337F}" type="slidenum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/>
              <a:t>Branch</a:t>
            </a:r>
            <a:r>
              <a:rPr lang="zh-CN" altLang="en-US" dirty="0"/>
              <a:t>指令</a:t>
            </a:r>
            <a:endParaRPr lang="en-US" altLang="zh-CN" dirty="0"/>
          </a:p>
          <a:p>
            <a:r>
              <a:rPr lang="zh-CN" altLang="en-US" dirty="0"/>
              <a:t>浅色部分的部件为不使用的部件。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09646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1C497D-BAAF-4663-94BD-869D41A91B6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E2FF9-E030-419D-B53F-CD75372687C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3ACA88-61E7-4A1A-9B15-4E2D8827653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566E8A-C797-4C9B-9D3A-7827445D777A}" type="slidenum">
              <a:rPr lang="en-US"/>
              <a:pPr/>
              <a:t>21</a:t>
            </a:fld>
            <a:endParaRPr lang="en-US"/>
          </a:p>
        </p:txBody>
      </p:sp>
      <p:sp>
        <p:nvSpPr>
          <p:cNvPr id="143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F4D43F-D11A-439E-A2E3-AE659895A2EF}" type="slidenum">
              <a:rPr lang="en-US"/>
              <a:pPr/>
              <a:t>22</a:t>
            </a:fld>
            <a:endParaRPr lang="en-US"/>
          </a:p>
        </p:txBody>
      </p:sp>
      <p:sp>
        <p:nvSpPr>
          <p:cNvPr id="143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AA0542-134F-4852-BDAD-DE7B33690EED}" type="slidenum">
              <a:rPr lang="en-US"/>
              <a:pPr/>
              <a:t>23</a:t>
            </a:fld>
            <a:endParaRPr lang="en-US"/>
          </a:p>
        </p:txBody>
      </p:sp>
      <p:sp>
        <p:nvSpPr>
          <p:cNvPr id="143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BD2598-CECF-4725-8E73-E6498698778A}" type="slidenum">
              <a:rPr lang="en-US"/>
              <a:pPr/>
              <a:t>24</a:t>
            </a:fld>
            <a:endParaRPr lang="en-US"/>
          </a:p>
        </p:txBody>
      </p:sp>
      <p:sp>
        <p:nvSpPr>
          <p:cNvPr id="144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785B7C-AE28-4ABF-BE59-E2307A14CF19}" type="slidenum">
              <a:rPr lang="en-US"/>
              <a:pPr/>
              <a:t>25</a:t>
            </a:fld>
            <a:endParaRPr lang="en-US"/>
          </a:p>
        </p:txBody>
      </p:sp>
      <p:sp>
        <p:nvSpPr>
          <p:cNvPr id="144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44F83D-A788-465D-8F6C-62F60A745528}" type="slidenum">
              <a:rPr lang="en-US"/>
              <a:pPr/>
              <a:t>26</a:t>
            </a:fld>
            <a:endParaRPr lang="en-US"/>
          </a:p>
        </p:txBody>
      </p:sp>
      <p:sp>
        <p:nvSpPr>
          <p:cNvPr id="144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D32D8E-8CD6-4B81-97F7-5F8D03F2A0A0}" type="slidenum">
              <a:rPr lang="en-US"/>
              <a:pPr/>
              <a:t>27</a:t>
            </a:fld>
            <a:endParaRPr lang="en-US"/>
          </a:p>
        </p:txBody>
      </p:sp>
      <p:sp>
        <p:nvSpPr>
          <p:cNvPr id="144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58592-DAED-4876-A72F-034A0267A593}" type="slidenum">
              <a:rPr lang="en-US"/>
              <a:pPr/>
              <a:t>28</a:t>
            </a:fld>
            <a:endParaRPr lang="en-US"/>
          </a:p>
        </p:txBody>
      </p:sp>
      <p:sp>
        <p:nvSpPr>
          <p:cNvPr id="144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AC8A15-5C55-4C19-A80A-2C645E237EC7}" type="slidenum">
              <a:rPr lang="en-US"/>
              <a:pPr/>
              <a:t>29</a:t>
            </a:fld>
            <a:endParaRPr lang="en-US"/>
          </a:p>
        </p:txBody>
      </p:sp>
      <p:sp>
        <p:nvSpPr>
          <p:cNvPr id="144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BB637E-3FF7-41F8-95B0-D3B7E8B88F14}" type="slidenum">
              <a:rPr lang="en-US"/>
              <a:pPr/>
              <a:t>30</a:t>
            </a:fld>
            <a:endParaRPr lang="en-US"/>
          </a:p>
        </p:txBody>
      </p:sp>
      <p:sp>
        <p:nvSpPr>
          <p:cNvPr id="144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43F203-F709-4960-A969-872A2BAAFE69}" type="slidenum">
              <a:rPr lang="en-US"/>
              <a:pPr/>
              <a:t>31</a:t>
            </a:fld>
            <a:endParaRPr lang="en-US"/>
          </a:p>
        </p:txBody>
      </p:sp>
      <p:sp>
        <p:nvSpPr>
          <p:cNvPr id="144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39A9FA-A004-47EE-B412-8DE89CB4D3B3}" type="slidenum">
              <a:rPr lang="en-US"/>
              <a:pPr/>
              <a:t>32</a:t>
            </a:fld>
            <a:endParaRPr lang="en-US"/>
          </a:p>
        </p:txBody>
      </p:sp>
      <p:sp>
        <p:nvSpPr>
          <p:cNvPr id="145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4698CA-D6BC-41F2-A1B8-7182405279B1}" type="slidenum">
              <a:rPr lang="en-US"/>
              <a:pPr/>
              <a:t>33</a:t>
            </a:fld>
            <a:endParaRPr lang="en-US"/>
          </a:p>
        </p:txBody>
      </p:sp>
      <p:sp>
        <p:nvSpPr>
          <p:cNvPr id="144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58592-DAED-4876-A72F-034A0267A593}" type="slidenum">
              <a:rPr lang="en-US"/>
              <a:pPr/>
              <a:t>34</a:t>
            </a:fld>
            <a:endParaRPr lang="en-US"/>
          </a:p>
        </p:txBody>
      </p:sp>
      <p:sp>
        <p:nvSpPr>
          <p:cNvPr id="144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440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5B29BC-53BE-4854-9FA4-43C191B99F90}" type="slidenum">
              <a:rPr lang="en-US"/>
              <a:pPr/>
              <a:t>35</a:t>
            </a:fld>
            <a:endParaRPr lang="en-US"/>
          </a:p>
        </p:txBody>
      </p:sp>
      <p:sp>
        <p:nvSpPr>
          <p:cNvPr id="145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F58592-DAED-4876-A72F-034A0267A593}" type="slidenum">
              <a:rPr lang="en-US"/>
              <a:pPr/>
              <a:t>36</a:t>
            </a:fld>
            <a:endParaRPr lang="en-US"/>
          </a:p>
        </p:txBody>
      </p:sp>
      <p:sp>
        <p:nvSpPr>
          <p:cNvPr id="144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184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65A5EB-E028-4EAE-92E1-035091BEBA5E}" type="slidenum">
              <a:rPr lang="en-US"/>
              <a:pPr/>
              <a:t>37</a:t>
            </a:fld>
            <a:endParaRPr lang="en-US"/>
          </a:p>
        </p:txBody>
      </p:sp>
      <p:sp>
        <p:nvSpPr>
          <p:cNvPr id="145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8DAD-8860-4545-BA1F-F51617923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35E1D-A445-4FA4-B990-EFFDE441F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21465-3472-4287-AA7D-928AD3C81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62290-F6AF-4E4D-8EFC-6E33D015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BE27E-4BD2-4076-BA60-DA14A92F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8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764C-7C76-42B6-AD3B-78172BB3E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431E-B736-40BB-BFFA-C9DF41FEC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89A4C-F223-43C3-866C-CE03710AF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2795-3EE5-4162-9895-D2424054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5C7E6-094C-4D23-9C74-3AE48F0A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0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84C2-34BD-4A9A-8424-A6107076C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09607-0D1C-4CD8-8BB6-60A131AC4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A9548-8619-42B2-8076-8C6B1A413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F68CB-5937-448B-9292-035DB18AD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0CAF1-4F39-4BED-9621-68B309EB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9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FC3A-16D0-47FC-A221-2395C98A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8FD1-54FD-4F19-8EA5-C166064B0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3C9C3-DE85-464D-975F-AE8C27312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F018C-4F39-4846-9752-F0C77BCC9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AC3E6-9565-41F0-B4FB-3E62D922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AFCD5-15E8-4C74-8ECA-D9362047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7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4B4D5-1225-4FA6-9FB4-3D9D99AF1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2A7E3-4954-4264-9E67-1E87CB555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9FA1A-A0C1-4583-AED5-B7B945826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1211A-B7C6-4CFD-AAE4-2F65C5430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9AC88-E13B-493C-B1BF-EC2D9381E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D49DE2-17C3-4A88-9363-0A3A045FB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07334-BA28-41B8-ADAD-EBE92F750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2D6B2F-A433-43BB-987D-203F2BD1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4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0CDD-6C80-4D59-90BD-A7E5A3B0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CC1CF-B8DC-46BE-8A71-B33E8017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594C8-C774-4AE3-B37D-6D40301B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96F40-6E45-47E7-BB1D-C6DF8E8B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6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CA644-FE2C-4F80-992C-DAA8819A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8DCC9-BF1B-4578-9B22-43778C21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523EE-7C96-4CC2-A4E1-B2D2C730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9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DBC6-6EA0-4FCE-82A8-284E64FF9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6C343-3B7B-4B64-B7F8-C75BBDE0C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56470-BAE9-41E4-86F0-71FDB8DAA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24B54-9013-4E7C-8002-B06EDBE3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7200-6A17-4A45-BC19-BE48A3F4A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B3673-B4F9-4F05-A5B9-B3A913DB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8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211A-EB82-4944-921B-1E6BF6C6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51AAE-9F85-4DDE-9F8F-43B303DCF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AAFD8-4291-443C-9B4C-646BEB422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DEC72-5867-4C36-95BF-889EC76D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120B4-BDA1-4DE2-8DB6-FEE7908F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5572A-F3D3-4571-9840-3CD126FD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0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9B72-32F5-4E06-B627-9AA98FC8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6919F-500A-4121-84C8-6F4550D12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6753D-AC79-4902-9136-95916777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E928D-F4F1-4B8B-8641-6A7B5F55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E74B6-0BC5-484A-9B2A-1C35C06B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29D9C-C46C-4D1E-9766-CA74FB9F9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2C33F-8AD2-4483-A04B-F34B003FA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6BFA7-DD25-430A-BDF8-4EBE4387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348C8-EFB1-4EBC-9AFB-40344FF77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D6251-D461-4668-BD83-A97121D9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8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/>
          <p:cNvSpPr>
            <a:spLocks noChangeArrowheads="1"/>
          </p:cNvSpPr>
          <p:nvPr/>
        </p:nvSpPr>
        <p:spPr bwMode="auto">
          <a:xfrm>
            <a:off x="2159001" y="1125538"/>
            <a:ext cx="38100" cy="5732462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2641601" y="1987550"/>
            <a:ext cx="48684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" name="Rectangle 37"/>
          <p:cNvSpPr>
            <a:spLocks noChangeArrowheads="1"/>
          </p:cNvSpPr>
          <p:nvPr/>
        </p:nvSpPr>
        <p:spPr bwMode="auto">
          <a:xfrm>
            <a:off x="2351618" y="2708276"/>
            <a:ext cx="9840383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0" y="0"/>
            <a:ext cx="12192000" cy="1125538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0" y="1125538"/>
            <a:ext cx="12192000" cy="174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" name="Rectangle 48"/>
          <p:cNvSpPr>
            <a:spLocks noChangeArrowheads="1"/>
          </p:cNvSpPr>
          <p:nvPr/>
        </p:nvSpPr>
        <p:spPr bwMode="auto">
          <a:xfrm>
            <a:off x="2159001" y="549276"/>
            <a:ext cx="38100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3213101" y="1844675"/>
            <a:ext cx="7776633" cy="762000"/>
          </a:xfrm>
        </p:spPr>
        <p:txBody>
          <a:bodyPr anchor="t"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AU"/>
              <a:t>Chapter …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3213101" y="2924175"/>
            <a:ext cx="7776633" cy="579438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AU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22423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674585AB-5163-4015-AE4C-19433B4FC2F4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3963441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E8B27435-2358-4100-9EF7-3AA432086275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4092726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285" y="1125538"/>
            <a:ext cx="5412316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7800" y="1125538"/>
            <a:ext cx="541231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44C85B02-8D65-4872-89A0-0AB2A6F20AD7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3274302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48197"/>
            <a:ext cx="10972800" cy="76944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36CDAF71-A2DC-467F-A98B-BD5B6D74BFAF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339883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89F828F6-F379-4D27-9F3D-C213A43CF13B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2695826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23B99BC3-250D-4C6D-AFC3-96C6B6967280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6763898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A92123BA-64DB-47F4-AA49-6623C82F1590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630713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DAD8E523-C497-4E62-AE68-4E83D248B380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095544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32E03B9E-6E4C-4479-B610-2AAA00E12403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3718706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4218" y="146050"/>
            <a:ext cx="1538883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2284" y="146050"/>
            <a:ext cx="8068733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zh-CN"/>
              <a:t>Chapter 4 — The Processor — </a:t>
            </a:r>
            <a:fld id="{D5DADBA6-D081-4B74-A8AF-DC4DCD3A82F2}" type="slidenum">
              <a:rPr lang="en-AU" altLang="zh-CN"/>
              <a:pPr/>
              <a:t>‹#›</a:t>
            </a:fld>
            <a:endParaRPr lang="en-AU" altLang="zh-CN"/>
          </a:p>
        </p:txBody>
      </p:sp>
    </p:spTree>
    <p:extLst>
      <p:ext uri="{BB962C8B-B14F-4D97-AF65-F5344CB8AC3E}">
        <p14:creationId xmlns:p14="http://schemas.microsoft.com/office/powerpoint/2010/main" val="18325603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219200" y="1"/>
            <a:ext cx="10972800" cy="919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Box 8"/>
          <p:cNvSpPr txBox="1"/>
          <p:nvPr userDrawn="1"/>
        </p:nvSpPr>
        <p:spPr>
          <a:xfrm>
            <a:off x="7518400" y="6477001"/>
            <a:ext cx="2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>
                    <a:lumMod val="50000"/>
                  </a:schemeClr>
                </a:solidFill>
              </a:rPr>
              <a:t>Chapter 7 &lt;</a:t>
            </a:r>
            <a:fld id="{D1B2EFE9-D440-4A3B-858C-5FEDF5DD0E10}" type="slidenum">
              <a:rPr lang="en-US" sz="14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&gt; </a:t>
            </a:r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-2743273" y="2870780"/>
            <a:ext cx="65124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i="1" cap="all" spc="0" dirty="0" err="1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MICROArchitecture</a:t>
            </a:r>
            <a:endParaRPr lang="en-US" sz="5400" b="1" i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80980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219200" y="1"/>
            <a:ext cx="10972800" cy="919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/>
          <p:cNvSpPr txBox="1"/>
          <p:nvPr userDrawn="1"/>
        </p:nvSpPr>
        <p:spPr>
          <a:xfrm>
            <a:off x="7518400" y="6474024"/>
            <a:ext cx="264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>
                    <a:lumMod val="50000"/>
                  </a:schemeClr>
                </a:solidFill>
              </a:rPr>
              <a:t>Chapter 7 &lt;</a:t>
            </a:r>
            <a:fld id="{D1B2EFE9-D440-4A3B-858C-5FEDF5DD0E10}" type="slidenum">
              <a:rPr lang="en-US" sz="14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&gt; </a:t>
            </a:r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-2742289" y="2870780"/>
            <a:ext cx="65124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i="1" cap="all" spc="0" dirty="0" err="1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MICROArchitecture</a:t>
            </a:r>
            <a:endParaRPr lang="en-US" sz="5400" b="1" i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3790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12C447-90FA-420C-B74C-1A635C444937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5969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101600"/>
            <a:ext cx="103632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192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7719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E7ED6BBA-2425-4A43-B586-383F2BB07C4C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107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101600"/>
            <a:ext cx="103632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219200"/>
            <a:ext cx="103632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68946159-E475-47D9-8550-A9F0B445C79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33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35467" y="101600"/>
            <a:ext cx="103632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192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192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37719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771900"/>
            <a:ext cx="508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DCC2DC-EBCD-44EE-92DB-9C06DDE632FD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5890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B4FEF99E-A19F-4A0B-A62E-3729EECDD90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1698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101600"/>
            <a:ext cx="103632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219200"/>
            <a:ext cx="508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9F7ADD3E-E1D6-46D5-BCAD-B4AEBA813F75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8907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ECA25-7CA7-4040-06A4-51EBD76FF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DC4923-61B2-22F5-FEA1-9A501B25A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2C11A3-7E1D-2EDE-DA45-612AB98A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C986A8-159D-205A-C6EA-BBA9E6802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2E03D9-2438-78FE-48A7-62318164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3619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A2AE5-4761-6BDC-DC1C-F545BC5C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61B95-6CCC-1F4B-8512-9C97B951F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3C29B-49BD-484D-5BC8-37DF8E71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5787F0-C65B-3F62-30F3-1E1DEB78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D41A0F-2E69-9392-79F0-A7FF3C62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4082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7FBE1-E03B-6A05-CC6A-775D1F9A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07CA03-C2A9-87DB-0160-C2258A27E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66D10B-052E-3C87-0FD4-B7F9DF53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F9AD96-EC0D-85EB-0FE8-5E9FAB6A5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25B7B-71AF-0383-4494-F5BCAF697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1149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96619-0DFE-67ED-0987-97769D347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955913-73EE-0A0D-C2F5-554B77E60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035C81-C33E-7268-5B5B-2D034B566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77B260-F45F-9273-E728-100AC51E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7A0BFA-8F69-A94B-7CAC-03E2B227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FBF931-E528-2106-F2C5-CA24B85F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3265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B3563C-19D7-0CA7-9FE9-89161BA2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7D5DAA-2FB7-FCE3-79CF-43558408F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6F911-C50D-B28D-1D6C-17F87340C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227CB88-AB76-ADE8-969C-B90258EA5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D0B3B6-CFB9-1E19-4451-624FD4923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99A280-7D51-9284-FFAF-91F3D606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1C8D0E-2D69-4A34-58E0-0D31252C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D18196-3453-1CDB-94B1-FF1787EA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1275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D3232-5D4D-51A0-4CA5-EECACFFD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1CB9A4-195F-A334-D2EB-82CDC8FF8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58955C-5762-25BB-4AFA-BB0C6FD5E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7B6149-0F9D-F0E9-5ECE-EE36A1DF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70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16BD9C-06C7-1AB7-2670-1F5BF643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7A449-7E7E-04B5-E6D8-EA0FD560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BBD6CF-5827-7760-A072-0841C939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1397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EDCFE-8068-E29F-1E2A-CB5C80E52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A19CA0-0B16-3EC5-96D9-D7889AE0B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CDBC79-FF09-C109-E599-48D322FA1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3D1C9B-9D95-6A42-18BE-C3B09426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E62F7E-A3C9-E7C7-B172-75C4CE8D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FFAE53-9EAD-D600-7233-48FA3355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8047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0E333-8C64-531C-4E54-D0B326AA4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6FB5AB-DFDB-1F7C-4F6D-77AE6D758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365047-15E9-4D3D-33F7-0F09E6DE5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25796C-0935-184A-5705-FFAFABAC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A52516-7038-5993-AB2C-2EF51F03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D692BC-D424-616F-0108-3380FF7E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6108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B7CA4-F36C-AFF0-8D38-6B9957ACB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0C1003-8C7C-121B-3ABA-F7ECABC35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A2BD15-42BB-F3C5-67B5-6B53826D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D5BF13-747F-8D53-BC09-C6C350D09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7F98D0-0373-467D-62DF-0A5B96D1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4865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50355C-1433-E7CA-3E11-3718183195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678DCF-BCCC-5E85-B92D-479AC10CC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4ED7D8-6CC8-6DD7-C241-C6B40255F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9C2F5-A739-1DF1-260D-AD9507BAA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557DB9-B547-0061-8308-38CD4B7E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9761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标注 4"/>
          <p:cNvSpPr/>
          <p:nvPr userDrawn="1"/>
        </p:nvSpPr>
        <p:spPr>
          <a:xfrm>
            <a:off x="-1" y="1658619"/>
            <a:ext cx="12192001" cy="3462021"/>
          </a:xfrm>
          <a:prstGeom prst="wedgeRectCallout">
            <a:avLst>
              <a:gd name="adj1" fmla="val 21381"/>
              <a:gd name="adj2" fmla="val 49353"/>
            </a:avLst>
          </a:prstGeom>
          <a:solidFill>
            <a:srgbClr val="0256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25052" y="1658619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3993515" y="3639820"/>
            <a:ext cx="4378960" cy="3835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zh-CN" altLang="en-US" sz="1800" b="0" i="0" u="none" strike="noStrike" kern="1200" cap="none" spc="0" normalizeH="0" baseline="0" noProof="1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指导老师：</a:t>
            </a:r>
          </a:p>
        </p:txBody>
      </p:sp>
      <p:sp>
        <p:nvSpPr>
          <p:cNvPr id="22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93515" y="4278630"/>
            <a:ext cx="4378960" cy="3835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zh-CN" altLang="en-US" sz="1800" b="0" i="0" u="none" strike="noStrike" kern="1200" cap="none" spc="0" normalizeH="0" baseline="0" noProof="1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答辩人：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3861F01-23AE-4D61-8119-2CB82AAB06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30" y="323966"/>
            <a:ext cx="2396490" cy="75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9191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bg>
      <p:bgPr>
        <a:solidFill>
          <a:srgbClr val="025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03b333637393534383bb2a9cabfc3b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3830" y="1413510"/>
            <a:ext cx="1704340" cy="1090295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4046855" y="4134485"/>
            <a:ext cx="4098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chemeClr val="bg1"/>
                </a:solidFill>
              </a:rPr>
              <a:t>Chongqing University</a:t>
            </a: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4094480" y="4269105"/>
            <a:ext cx="1120775" cy="5715"/>
          </a:xfrm>
          <a:prstGeom prst="line">
            <a:avLst/>
          </a:prstGeom>
          <a:ln w="1270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6966585" y="4274820"/>
            <a:ext cx="1120775" cy="5715"/>
          </a:xfrm>
          <a:prstGeom prst="line">
            <a:avLst/>
          </a:prstGeom>
          <a:ln w="1270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4558506" y="2613660"/>
            <a:ext cx="3074988" cy="14109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lang="zh-CN" altLang="en-US" sz="3200" kern="1200" dirty="0" smtClean="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defRPr>
            </a:lvl1pPr>
          </a:lstStyle>
          <a:p>
            <a:pPr lvl="0"/>
            <a:r>
              <a:rPr lang="en-US" altLang="zh-CN"/>
              <a:t>Part 1</a:t>
            </a:r>
          </a:p>
          <a:p>
            <a:pPr lvl="0"/>
            <a:r>
              <a:rPr lang="zh-CN" altLang="en-US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264994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1CC65-E74C-4B26-B916-693FC159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7E849-466B-4B80-8A31-F4D45F7D7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E138-EFB1-4356-912E-C9D502CAE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7EC7A-312B-4585-9946-EC953D934B9B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0591D-2B51-4156-A201-44BD572D5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7CD5A-C1FC-4A6E-B138-848627779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B8C87-D28A-4504-A188-F264C2394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3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/>
          <p:cNvSpPr>
            <a:spLocks noChangeArrowheads="1"/>
          </p:cNvSpPr>
          <p:nvPr/>
        </p:nvSpPr>
        <p:spPr bwMode="auto">
          <a:xfrm>
            <a:off x="624417" y="260350"/>
            <a:ext cx="4868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12284" y="146050"/>
            <a:ext cx="1101301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 altLang="zh-CN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285" y="1125538"/>
            <a:ext cx="11027833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zh-CN"/>
              <a:t>Click to edit Master text styles</a:t>
            </a:r>
          </a:p>
          <a:p>
            <a:pPr lvl="1"/>
            <a:r>
              <a:rPr lang="en-AU" altLang="zh-CN"/>
              <a:t>Second level</a:t>
            </a:r>
          </a:p>
          <a:p>
            <a:pPr lvl="2"/>
            <a:r>
              <a:rPr lang="en-AU" altLang="zh-CN"/>
              <a:t>Third level</a:t>
            </a:r>
          </a:p>
          <a:p>
            <a:pPr lvl="3"/>
            <a:r>
              <a:rPr lang="en-AU" altLang="zh-CN"/>
              <a:t>Fourth level</a:t>
            </a:r>
          </a:p>
          <a:p>
            <a:pPr lvl="4"/>
            <a:r>
              <a:rPr lang="en-AU" altLang="zh-CN"/>
              <a:t>Fifth level</a:t>
            </a:r>
          </a:p>
        </p:txBody>
      </p:sp>
      <p:sp>
        <p:nvSpPr>
          <p:cNvPr id="40979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6367" y="6381751"/>
            <a:ext cx="9696451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ea typeface="宋体" pitchFamily="2" charset="-122"/>
              </a:defRPr>
            </a:lvl1pPr>
          </a:lstStyle>
          <a:p>
            <a:r>
              <a:rPr lang="en-AU" altLang="zh-CN"/>
              <a:t>Chapter 4 — The Processor — </a:t>
            </a:r>
            <a:fld id="{1FDC520C-8204-41D1-B6DB-665CA07BC069}" type="slidenum">
              <a:rPr lang="en-AU" altLang="zh-CN"/>
              <a:pPr/>
              <a:t>‹#›</a:t>
            </a:fld>
            <a:endParaRPr lang="en-AU" altLang="zh-CN"/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334434" y="981075"/>
            <a:ext cx="11425767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8560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6080-453C-4BEF-9A1F-F094B996EB79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2EFE9-D440-4A3B-858C-5FEDF5DD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2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30F5BDC-4E5D-AC8A-7B84-D41AA7AF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EA215A-A505-2170-0E42-8A955D11D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B61507-B310-5E29-462D-43914C412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7D5C8-5278-47E1-8F28-66A8811C9E7F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4709EC-8ACC-AFD9-C580-16069474F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13B9E0-1204-5092-0EB5-696DB1C13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08893-B833-4CD4-B69F-0A0F18285C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27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tags" Target="../tags/tag3.xml"/><Relationship Id="rId7" Type="http://schemas.openxmlformats.org/officeDocument/2006/relationships/oleObject" Target="../embeddings/oleObject1.bin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tags" Target="../tags/tag6.xml"/><Relationship Id="rId7" Type="http://schemas.openxmlformats.org/officeDocument/2006/relationships/oleObject" Target="../embeddings/oleObject2.bin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9.xml"/><Relationship Id="rId7" Type="http://schemas.openxmlformats.org/officeDocument/2006/relationships/notesSlide" Target="../notesSlides/notesSlide15.xml"/><Relationship Id="rId2" Type="http://schemas.openxmlformats.org/officeDocument/2006/relationships/tags" Target="../tags/tag8.xml"/><Relationship Id="rId1" Type="http://schemas.openxmlformats.org/officeDocument/2006/relationships/vmlDrawing" Target="../drawings/vmlDrawing3.v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17.xml"/><Relationship Id="rId7" Type="http://schemas.openxmlformats.org/officeDocument/2006/relationships/notesSlide" Target="../notesSlides/notesSlide17.xml"/><Relationship Id="rId2" Type="http://schemas.openxmlformats.org/officeDocument/2006/relationships/tags" Target="../tags/tag16.xml"/><Relationship Id="rId1" Type="http://schemas.openxmlformats.org/officeDocument/2006/relationships/vmlDrawing" Target="../drawings/vmlDrawing4.v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image" Target="../media/image1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21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20.xml"/><Relationship Id="rId1" Type="http://schemas.openxmlformats.org/officeDocument/2006/relationships/vmlDrawing" Target="../drawings/vmlDrawing5.v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25.xml"/><Relationship Id="rId7" Type="http://schemas.openxmlformats.org/officeDocument/2006/relationships/notesSlide" Target="../notesSlides/notesSlide19.xml"/><Relationship Id="rId2" Type="http://schemas.openxmlformats.org/officeDocument/2006/relationships/tags" Target="../tags/tag24.xml"/><Relationship Id="rId1" Type="http://schemas.openxmlformats.org/officeDocument/2006/relationships/vmlDrawing" Target="../drawings/vmlDrawing6.v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27.xml"/><Relationship Id="rId10" Type="http://schemas.openxmlformats.org/officeDocument/2006/relationships/image" Target="../media/image22.png"/><Relationship Id="rId4" Type="http://schemas.openxmlformats.org/officeDocument/2006/relationships/tags" Target="../tags/tag26.xml"/><Relationship Id="rId9" Type="http://schemas.openxmlformats.org/officeDocument/2006/relationships/image" Target="../media/image2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3" Type="http://schemas.openxmlformats.org/officeDocument/2006/relationships/tags" Target="../tags/tag32.xml"/><Relationship Id="rId7" Type="http://schemas.openxmlformats.org/officeDocument/2006/relationships/slideLayout" Target="../slideLayouts/slideLayout24.xml"/><Relationship Id="rId2" Type="http://schemas.openxmlformats.org/officeDocument/2006/relationships/tags" Target="../tags/tag31.xml"/><Relationship Id="rId1" Type="http://schemas.openxmlformats.org/officeDocument/2006/relationships/vmlDrawing" Target="../drawings/vmlDrawing7.v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10" Type="http://schemas.openxmlformats.org/officeDocument/2006/relationships/image" Target="../media/image23.wmf"/><Relationship Id="rId4" Type="http://schemas.openxmlformats.org/officeDocument/2006/relationships/tags" Target="../tags/tag33.xml"/><Relationship Id="rId9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3" Type="http://schemas.openxmlformats.org/officeDocument/2006/relationships/tags" Target="../tags/tag37.xml"/><Relationship Id="rId7" Type="http://schemas.openxmlformats.org/officeDocument/2006/relationships/slideLayout" Target="../slideLayouts/slideLayout24.xml"/><Relationship Id="rId2" Type="http://schemas.openxmlformats.org/officeDocument/2006/relationships/tags" Target="../tags/tag36.xml"/><Relationship Id="rId1" Type="http://schemas.openxmlformats.org/officeDocument/2006/relationships/vmlDrawing" Target="../drawings/vmlDrawing8.v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image" Target="../media/image24.wmf"/><Relationship Id="rId4" Type="http://schemas.openxmlformats.org/officeDocument/2006/relationships/tags" Target="../tags/tag38.xml"/><Relationship Id="rId9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24.xml"/><Relationship Id="rId2" Type="http://schemas.openxmlformats.org/officeDocument/2006/relationships/tags" Target="../tags/tag41.xml"/><Relationship Id="rId1" Type="http://schemas.openxmlformats.org/officeDocument/2006/relationships/vmlDrawing" Target="../drawings/vmlDrawing9.v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10" Type="http://schemas.openxmlformats.org/officeDocument/2006/relationships/image" Target="../media/image25.wmf"/><Relationship Id="rId4" Type="http://schemas.openxmlformats.org/officeDocument/2006/relationships/tags" Target="../tags/tag43.xml"/><Relationship Id="rId9" Type="http://schemas.openxmlformats.org/officeDocument/2006/relationships/oleObject" Target="../embeddings/oleObject9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notesSlide" Target="../notesSlides/notesSlide24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7" Type="http://schemas.openxmlformats.org/officeDocument/2006/relationships/notesSlide" Target="../notesSlides/notesSlide25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3" Type="http://schemas.openxmlformats.org/officeDocument/2006/relationships/tags" Target="../tags/tag57.xml"/><Relationship Id="rId7" Type="http://schemas.openxmlformats.org/officeDocument/2006/relationships/slideLayout" Target="../slideLayouts/slideLayout24.xml"/><Relationship Id="rId2" Type="http://schemas.openxmlformats.org/officeDocument/2006/relationships/tags" Target="../tags/tag56.xml"/><Relationship Id="rId1" Type="http://schemas.openxmlformats.org/officeDocument/2006/relationships/vmlDrawing" Target="../drawings/vmlDrawing10.v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26.wmf"/><Relationship Id="rId4" Type="http://schemas.openxmlformats.org/officeDocument/2006/relationships/tags" Target="../tags/tag58.xml"/><Relationship Id="rId9" Type="http://schemas.openxmlformats.org/officeDocument/2006/relationships/oleObject" Target="../embeddings/oleObject1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3" Type="http://schemas.openxmlformats.org/officeDocument/2006/relationships/tags" Target="../tags/tag62.xml"/><Relationship Id="rId7" Type="http://schemas.openxmlformats.org/officeDocument/2006/relationships/slideLayout" Target="../slideLayouts/slideLayout24.xml"/><Relationship Id="rId2" Type="http://schemas.openxmlformats.org/officeDocument/2006/relationships/tags" Target="../tags/tag61.xml"/><Relationship Id="rId1" Type="http://schemas.openxmlformats.org/officeDocument/2006/relationships/vmlDrawing" Target="../drawings/vmlDrawing11.v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10" Type="http://schemas.openxmlformats.org/officeDocument/2006/relationships/image" Target="../media/image27.wmf"/><Relationship Id="rId4" Type="http://schemas.openxmlformats.org/officeDocument/2006/relationships/tags" Target="../tags/tag63.xml"/><Relationship Id="rId9" Type="http://schemas.openxmlformats.org/officeDocument/2006/relationships/oleObject" Target="../embeddings/oleObject1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vmlDrawing" Target="../drawings/vmlDrawing12.vml"/><Relationship Id="rId6" Type="http://schemas.openxmlformats.org/officeDocument/2006/relationships/tags" Target="../tags/tag70.xml"/><Relationship Id="rId11" Type="http://schemas.openxmlformats.org/officeDocument/2006/relationships/image" Target="../media/image28.wmf"/><Relationship Id="rId5" Type="http://schemas.openxmlformats.org/officeDocument/2006/relationships/tags" Target="../tags/tag69.xml"/><Relationship Id="rId10" Type="http://schemas.openxmlformats.org/officeDocument/2006/relationships/oleObject" Target="../embeddings/oleObject12.bin"/><Relationship Id="rId4" Type="http://schemas.openxmlformats.org/officeDocument/2006/relationships/tags" Target="../tags/tag68.xml"/><Relationship Id="rId9" Type="http://schemas.openxmlformats.org/officeDocument/2006/relationships/notesSlide" Target="../notesSlides/notesSlide2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3" Type="http://schemas.openxmlformats.org/officeDocument/2006/relationships/tags" Target="../tags/tag73.xml"/><Relationship Id="rId7" Type="http://schemas.openxmlformats.org/officeDocument/2006/relationships/slideLayout" Target="../slideLayouts/slideLayout24.xml"/><Relationship Id="rId2" Type="http://schemas.openxmlformats.org/officeDocument/2006/relationships/tags" Target="../tags/tag72.xml"/><Relationship Id="rId1" Type="http://schemas.openxmlformats.org/officeDocument/2006/relationships/vmlDrawing" Target="../drawings/vmlDrawing13.v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28.wmf"/><Relationship Id="rId4" Type="http://schemas.openxmlformats.org/officeDocument/2006/relationships/tags" Target="../tags/tag74.xml"/><Relationship Id="rId9" Type="http://schemas.openxmlformats.org/officeDocument/2006/relationships/oleObject" Target="../embeddings/oleObject1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3" Type="http://schemas.openxmlformats.org/officeDocument/2006/relationships/tags" Target="../tags/tag78.xml"/><Relationship Id="rId7" Type="http://schemas.openxmlformats.org/officeDocument/2006/relationships/slideLayout" Target="../slideLayouts/slideLayout24.xml"/><Relationship Id="rId2" Type="http://schemas.openxmlformats.org/officeDocument/2006/relationships/tags" Target="../tags/tag77.xml"/><Relationship Id="rId1" Type="http://schemas.openxmlformats.org/officeDocument/2006/relationships/vmlDrawing" Target="../drawings/vmlDrawing14.v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10" Type="http://schemas.openxmlformats.org/officeDocument/2006/relationships/image" Target="../media/image29.wmf"/><Relationship Id="rId4" Type="http://schemas.openxmlformats.org/officeDocument/2006/relationships/tags" Target="../tags/tag79.xml"/><Relationship Id="rId9" Type="http://schemas.openxmlformats.org/officeDocument/2006/relationships/oleObject" Target="../embeddings/oleObject1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3" Type="http://schemas.openxmlformats.org/officeDocument/2006/relationships/tags" Target="../tags/tag83.xml"/><Relationship Id="rId7" Type="http://schemas.openxmlformats.org/officeDocument/2006/relationships/slideLayout" Target="../slideLayouts/slideLayout24.xml"/><Relationship Id="rId2" Type="http://schemas.openxmlformats.org/officeDocument/2006/relationships/tags" Target="../tags/tag82.xml"/><Relationship Id="rId1" Type="http://schemas.openxmlformats.org/officeDocument/2006/relationships/vmlDrawing" Target="../drawings/vmlDrawing15.v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10" Type="http://schemas.openxmlformats.org/officeDocument/2006/relationships/image" Target="../media/image28.wmf"/><Relationship Id="rId4" Type="http://schemas.openxmlformats.org/officeDocument/2006/relationships/tags" Target="../tags/tag84.xml"/><Relationship Id="rId9" Type="http://schemas.openxmlformats.org/officeDocument/2006/relationships/oleObject" Target="../embeddings/oleObject12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notesSlide" Target="../notesSlides/notesSlide32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0160" y="2735401"/>
            <a:ext cx="12192000" cy="81434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计组分享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A268C2-971C-4930-9086-A8036A39C761}"/>
              </a:ext>
            </a:extLst>
          </p:cNvPr>
          <p:cNvSpPr txBox="1"/>
          <p:nvPr/>
        </p:nvSpPr>
        <p:spPr>
          <a:xfrm>
            <a:off x="0" y="5969976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2024.5.16</a:t>
            </a:r>
            <a:endParaRPr kumimoji="0" lang="zh-CN" altLang="en-US" sz="1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占位符 8">
            <a:extLst>
              <a:ext uri="{FF2B5EF4-FFF2-40B4-BE49-F238E27FC236}">
                <a16:creationId xmlns:a16="http://schemas.microsoft.com/office/drawing/2014/main" id="{898ECA1F-0FF9-4D97-8311-163B33ECE344}"/>
              </a:ext>
            </a:extLst>
          </p:cNvPr>
          <p:cNvSpPr txBox="1">
            <a:spLocks/>
          </p:cNvSpPr>
          <p:nvPr/>
        </p:nvSpPr>
        <p:spPr>
          <a:xfrm>
            <a:off x="-50514" y="4041753"/>
            <a:ext cx="12181840" cy="635291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800" b="0" i="0" u="none" strike="noStrike" kern="1200" cap="none" spc="0" normalizeH="0" baseline="0" noProof="1" dirty="0" smtClean="0">
                <a:solidFill>
                  <a:schemeClr val="bg1"/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讲解人：马锦鹏 </a:t>
            </a: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邵一均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E2A19B9-397A-671B-D07A-D4A1A2C3FDFF}"/>
              </a:ext>
            </a:extLst>
          </p:cNvPr>
          <p:cNvSpPr txBox="1"/>
          <p:nvPr/>
        </p:nvSpPr>
        <p:spPr>
          <a:xfrm>
            <a:off x="3011685" y="3094651"/>
            <a:ext cx="1740193" cy="400110"/>
          </a:xfrm>
          <a:prstGeom prst="rect">
            <a:avLst/>
          </a:prstGeom>
          <a:solidFill>
            <a:srgbClr val="02529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单周期处理器</a:t>
            </a:r>
            <a:endParaRPr kumimoji="0" lang="en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AEEBFD-3800-9269-DCEC-23C74A166680}"/>
              </a:ext>
            </a:extLst>
          </p:cNvPr>
          <p:cNvSpPr txBox="1"/>
          <p:nvPr/>
        </p:nvSpPr>
        <p:spPr>
          <a:xfrm>
            <a:off x="6096000" y="3064802"/>
            <a:ext cx="4599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关键路径问题</a:t>
            </a:r>
            <a:endParaRPr kumimoji="0" lang="en-CN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463EBA-4E5C-E127-3FAD-0A9E82A6221D}"/>
              </a:ext>
            </a:extLst>
          </p:cNvPr>
          <p:cNvSpPr/>
          <p:nvPr/>
        </p:nvSpPr>
        <p:spPr>
          <a:xfrm>
            <a:off x="5636520" y="2228494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EDEC8D-AAA1-887A-48F6-BAF1B75CE431}"/>
              </a:ext>
            </a:extLst>
          </p:cNvPr>
          <p:cNvSpPr/>
          <p:nvPr/>
        </p:nvSpPr>
        <p:spPr>
          <a:xfrm>
            <a:off x="5636520" y="3182374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33ADCA45-B6F5-4D2C-EE83-8B1C836750B8}"/>
              </a:ext>
            </a:extLst>
          </p:cNvPr>
          <p:cNvSpPr/>
          <p:nvPr/>
        </p:nvSpPr>
        <p:spPr>
          <a:xfrm>
            <a:off x="5138994" y="2239405"/>
            <a:ext cx="327466" cy="2176417"/>
          </a:xfrm>
          <a:prstGeom prst="leftBrace">
            <a:avLst>
              <a:gd name="adj1" fmla="val 8333"/>
              <a:gd name="adj2" fmla="val 44334"/>
            </a:avLst>
          </a:prstGeom>
          <a:ln w="19050">
            <a:solidFill>
              <a:srgbClr val="0252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25AF3-2A9E-3757-FC60-7A97284AEB3C}"/>
              </a:ext>
            </a:extLst>
          </p:cNvPr>
          <p:cNvSpPr txBox="1"/>
          <p:nvPr/>
        </p:nvSpPr>
        <p:spPr>
          <a:xfrm>
            <a:off x="6050018" y="2140771"/>
            <a:ext cx="248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51D67-396F-18E9-654F-9A1B9CDF8F74}"/>
              </a:ext>
            </a:extLst>
          </p:cNvPr>
          <p:cNvSpPr txBox="1"/>
          <p:nvPr/>
        </p:nvSpPr>
        <p:spPr>
          <a:xfrm>
            <a:off x="6096000" y="2140771"/>
            <a:ext cx="3827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数据通路</a:t>
            </a:r>
            <a:endParaRPr kumimoji="0" lang="en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矩形 12">
            <a:extLst>
              <a:ext uri="{FF2B5EF4-FFF2-40B4-BE49-F238E27FC236}">
                <a16:creationId xmlns:a16="http://schemas.microsoft.com/office/drawing/2014/main" id="{8EB0F8D9-45DD-4291-9979-C34A45C8A079}"/>
              </a:ext>
            </a:extLst>
          </p:cNvPr>
          <p:cNvSpPr/>
          <p:nvPr/>
        </p:nvSpPr>
        <p:spPr>
          <a:xfrm>
            <a:off x="5636520" y="4191158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9316E3E3-5EA2-4029-B665-17C9D9F02C62}"/>
              </a:ext>
            </a:extLst>
          </p:cNvPr>
          <p:cNvSpPr txBox="1"/>
          <p:nvPr/>
        </p:nvSpPr>
        <p:spPr>
          <a:xfrm>
            <a:off x="6096000" y="4103435"/>
            <a:ext cx="4599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控制信号问题</a:t>
            </a:r>
            <a:endParaRPr kumimoji="0" lang="en-CN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449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Instructions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1400139" y="1508125"/>
            <a:ext cx="8270875" cy="1920875"/>
          </a:xfrm>
        </p:spPr>
        <p:txBody>
          <a:bodyPr/>
          <a:lstStyle/>
          <a:p>
            <a:pPr eaLnBrk="1" hangingPunct="1"/>
            <a:r>
              <a:rPr lang="en-US" dirty="0"/>
              <a:t>R-Type: add, sub, and, or, </a:t>
            </a:r>
            <a:r>
              <a:rPr lang="en-US" dirty="0" err="1"/>
              <a:t>slt</a:t>
            </a:r>
            <a:endParaRPr lang="en-US" dirty="0"/>
          </a:p>
          <a:p>
            <a:pPr eaLnBrk="1" hangingPunct="1"/>
            <a:r>
              <a:rPr lang="en-US" dirty="0"/>
              <a:t>Memory: </a:t>
            </a:r>
            <a:r>
              <a:rPr lang="en-US" dirty="0" err="1"/>
              <a:t>lw</a:t>
            </a:r>
            <a:r>
              <a:rPr lang="en-US" dirty="0"/>
              <a:t>, </a:t>
            </a:r>
            <a:r>
              <a:rPr lang="en-US" dirty="0" err="1"/>
              <a:t>sw</a:t>
            </a:r>
            <a:endParaRPr lang="en-US" dirty="0"/>
          </a:p>
          <a:p>
            <a:pPr eaLnBrk="1" hangingPunct="1"/>
            <a:r>
              <a:rPr lang="en-US" altLang="zh-CN" dirty="0"/>
              <a:t>Branch: </a:t>
            </a:r>
            <a:r>
              <a:rPr lang="en-US" altLang="zh-CN" dirty="0" err="1"/>
              <a:t>beq</a:t>
            </a:r>
            <a:r>
              <a:rPr lang="en-US" altLang="zh-CN" dirty="0"/>
              <a:t>, j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5CEDF069-9D15-4E09-9FBF-75331E6D850E}" type="slidenum">
              <a:rPr lang="en-AU" altLang="zh-CN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954732" y="3656370"/>
            <a:ext cx="5785770" cy="2071065"/>
          </a:xfrm>
          <a:prstGeom prst="rect">
            <a:avLst/>
          </a:prstGeom>
        </p:spPr>
      </p:pic>
      <p:grpSp>
        <p:nvGrpSpPr>
          <p:cNvPr id="7" name="Group 14">
            <a:extLst>
              <a:ext uri="{FF2B5EF4-FFF2-40B4-BE49-F238E27FC236}">
                <a16:creationId xmlns:a16="http://schemas.microsoft.com/office/drawing/2014/main" id="{F37BB60E-54DE-44A2-9FB1-ED2E3BBFE5E3}"/>
              </a:ext>
            </a:extLst>
          </p:cNvPr>
          <p:cNvGrpSpPr>
            <a:grpSpLocks/>
          </p:cNvGrpSpPr>
          <p:nvPr/>
        </p:nvGrpSpPr>
        <p:grpSpPr bwMode="auto">
          <a:xfrm>
            <a:off x="2757682" y="5777278"/>
            <a:ext cx="4982820" cy="579259"/>
            <a:chOff x="1127" y="890"/>
            <a:chExt cx="3050" cy="635"/>
          </a:xfrm>
        </p:grpSpPr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8962E39F-BE3D-4E3D-B232-65C3AF163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7" y="890"/>
              <a:ext cx="554" cy="33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400" dirty="0"/>
                <a:t>2</a:t>
              </a:r>
              <a:endParaRPr lang="en-AU" altLang="zh-CN" sz="1400" dirty="0">
                <a:ea typeface="宋体" pitchFamily="2" charset="-122"/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A4585881-9398-414A-9F6F-DF544440C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1" y="890"/>
              <a:ext cx="2496" cy="33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400" dirty="0"/>
                <a:t>address</a:t>
              </a:r>
              <a:endParaRPr lang="en-AU" altLang="zh-CN" sz="1200" dirty="0">
                <a:ea typeface="宋体" pitchFamily="2" charset="-122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EDE74112-4976-4248-9DF3-19E2DF276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7" y="1194"/>
              <a:ext cx="34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200" dirty="0"/>
                <a:t>31:26</a:t>
              </a:r>
              <a:endParaRPr lang="en-AU" altLang="zh-CN" sz="1200" dirty="0">
                <a:ea typeface="宋体" pitchFamily="2" charset="-122"/>
              </a:endParaRP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EC2BCA42-510F-446C-9E94-5DA1C5D51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2" y="1221"/>
              <a:ext cx="4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n-US" sz="1200" dirty="0"/>
                <a:t>25:0</a:t>
              </a:r>
              <a:endParaRPr lang="en-AU" altLang="zh-CN" sz="1100" dirty="0">
                <a:ea typeface="宋体" pitchFamily="2" charset="-122"/>
              </a:endParaRPr>
            </a:p>
          </p:txBody>
        </p:sp>
      </p:grpSp>
      <p:sp>
        <p:nvSpPr>
          <p:cNvPr id="12" name="Text Box 13">
            <a:extLst>
              <a:ext uri="{FF2B5EF4-FFF2-40B4-BE49-F238E27FC236}">
                <a16:creationId xmlns:a16="http://schemas.microsoft.com/office/drawing/2014/main" id="{B9180227-8427-4512-8424-80A26736C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6482" y="5800209"/>
            <a:ext cx="6222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/>
            <a:r>
              <a:rPr lang="en-US" sz="1400" dirty="0"/>
              <a:t>Jump</a:t>
            </a:r>
            <a:endParaRPr lang="en-AU" altLang="zh-CN" sz="1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R-Format Instructions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2208214" y="1125539"/>
            <a:ext cx="8270875" cy="1920875"/>
          </a:xfrm>
        </p:spPr>
        <p:txBody>
          <a:bodyPr/>
          <a:lstStyle/>
          <a:p>
            <a:pPr eaLnBrk="1" hangingPunct="1"/>
            <a:r>
              <a:rPr lang="en-US" dirty="0"/>
              <a:t>Read two register operands</a:t>
            </a:r>
          </a:p>
          <a:p>
            <a:pPr eaLnBrk="1" hangingPunct="1"/>
            <a:r>
              <a:rPr lang="en-US" dirty="0"/>
              <a:t>Perform arithmetic/logical operation</a:t>
            </a:r>
          </a:p>
          <a:p>
            <a:pPr eaLnBrk="1" hangingPunct="1"/>
            <a:r>
              <a:rPr lang="en-US" dirty="0"/>
              <a:t>Write register result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5CEDF069-9D15-4E09-9FBF-75331E6D850E}" type="slidenum">
              <a:rPr lang="en-AU" altLang="zh-CN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16387" name="Picture 6" descr="f04-0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051" y="2956719"/>
            <a:ext cx="6316662" cy="257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/>
          <a:srcRect b="71275"/>
          <a:stretch/>
        </p:blipFill>
        <p:spPr>
          <a:xfrm>
            <a:off x="3719737" y="5491522"/>
            <a:ext cx="3489243" cy="35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0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R-Type Instruction</a:t>
            </a:r>
          </a:p>
        </p:txBody>
      </p:sp>
      <p:sp>
        <p:nvSpPr>
          <p:cNvPr id="27650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64C4F42B-CC1D-4A51-AAA2-5FE69DBD8497}" type="slidenum">
              <a:rPr lang="en-AU" altLang="zh-CN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27651" name="Picture 6" descr="f04-19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19697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4E1558-692B-4BCE-999C-9802516A214C}"/>
              </a:ext>
            </a:extLst>
          </p:cNvPr>
          <p:cNvSpPr txBox="1"/>
          <p:nvPr/>
        </p:nvSpPr>
        <p:spPr>
          <a:xfrm>
            <a:off x="723014" y="6209414"/>
            <a:ext cx="162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</a:t>
            </a:r>
            <a:r>
              <a:rPr lang="en-US" dirty="0" err="1"/>
              <a:t>rd</a:t>
            </a:r>
            <a:r>
              <a:rPr lang="en-US" dirty="0"/>
              <a:t>, </a:t>
            </a:r>
            <a:r>
              <a:rPr lang="en-US" dirty="0" err="1"/>
              <a:t>rs</a:t>
            </a:r>
            <a:r>
              <a:rPr lang="en-US" dirty="0"/>
              <a:t>, 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Load/Store Instructions</a:t>
            </a:r>
            <a:endParaRPr lang="en-AU" altLang="zh-CN">
              <a:ea typeface="宋体" pitchFamily="2" charset="-122"/>
            </a:endParaRP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125539"/>
            <a:ext cx="8204200" cy="26114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Read register operands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Calculate address using 16-bit offset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Use ALU, but sign-extend offset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chemeClr val="tx2"/>
                </a:solidFill>
              </a:rPr>
              <a:t>Load</a:t>
            </a:r>
            <a:r>
              <a:rPr lang="en-US" sz="2800"/>
              <a:t>: Read memory and update register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chemeClr val="tx2"/>
                </a:solidFill>
              </a:rPr>
              <a:t>Store</a:t>
            </a:r>
            <a:r>
              <a:rPr lang="en-US" sz="2800"/>
              <a:t>: Write register value to memory</a:t>
            </a:r>
            <a:endParaRPr lang="en-AU" altLang="zh-CN" sz="2800">
              <a:ea typeface="宋体" pitchFamily="2" charset="-122"/>
            </a:endParaRPr>
          </a:p>
        </p:txBody>
      </p:sp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AU" altLang="zh-CN" sz="1400"/>
              <a:t>Chapter 4 — The Processor — </a:t>
            </a:r>
            <a:fld id="{5E19344F-4ECE-4823-B801-9ED55A760023}" type="slidenum">
              <a:rPr lang="en-AU" altLang="zh-CN" sz="1400"/>
              <a:pPr/>
              <a:t>6</a:t>
            </a:fld>
            <a:endParaRPr lang="en-AU" altLang="zh-CN" sz="1400"/>
          </a:p>
        </p:txBody>
      </p:sp>
      <p:pic>
        <p:nvPicPr>
          <p:cNvPr id="17411" name="Picture 6" descr="f04-08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3" y="3644901"/>
            <a:ext cx="4437062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Load Instruction</a:t>
            </a:r>
          </a:p>
        </p:txBody>
      </p:sp>
      <p:sp>
        <p:nvSpPr>
          <p:cNvPr id="2867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574633D4-F564-479D-8CDE-F6C49D0A14BD}" type="slidenum">
              <a:rPr lang="en-AU" altLang="zh-CN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28675" name="Picture 6" descr="f04-20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19697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7EAC66-72F4-4E59-8634-FA1C0FB571D8}"/>
              </a:ext>
            </a:extLst>
          </p:cNvPr>
          <p:cNvSpPr txBox="1"/>
          <p:nvPr/>
        </p:nvSpPr>
        <p:spPr>
          <a:xfrm>
            <a:off x="510363" y="6028660"/>
            <a:ext cx="22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lw</a:t>
            </a:r>
            <a:r>
              <a:rPr lang="en-US" dirty="0"/>
              <a:t> rt, offset(</a:t>
            </a:r>
            <a:r>
              <a:rPr lang="en-US" dirty="0" err="1"/>
              <a:t>rs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Branch Instructions</a:t>
            </a:r>
            <a:endParaRPr lang="en-AU" altLang="zh-CN">
              <a:ea typeface="宋体" pitchFamily="2" charset="-122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Read register operands</a:t>
            </a:r>
          </a:p>
          <a:p>
            <a:pPr eaLnBrk="1" hangingPunct="1"/>
            <a:r>
              <a:rPr lang="en-US" sz="2400" dirty="0"/>
              <a:t>Compare operands</a:t>
            </a:r>
          </a:p>
          <a:p>
            <a:pPr lvl="1" eaLnBrk="1" hangingPunct="1"/>
            <a:r>
              <a:rPr lang="en-US" sz="2000" dirty="0"/>
              <a:t>Use ALU, subtract and check Zero output</a:t>
            </a:r>
          </a:p>
          <a:p>
            <a:pPr eaLnBrk="1" hangingPunct="1"/>
            <a:r>
              <a:rPr lang="en-US" sz="2400" dirty="0"/>
              <a:t>Calculate target address</a:t>
            </a:r>
          </a:p>
          <a:p>
            <a:pPr lvl="1" eaLnBrk="1" hangingPunct="1"/>
            <a:r>
              <a:rPr lang="en-US" sz="2000" dirty="0"/>
              <a:t>Sign-extend displacement</a:t>
            </a:r>
          </a:p>
          <a:p>
            <a:pPr lvl="1" eaLnBrk="1" hangingPunct="1"/>
            <a:r>
              <a:rPr lang="en-US" sz="2000" dirty="0"/>
              <a:t>Shift left 2 places (word displacement)</a:t>
            </a:r>
          </a:p>
          <a:p>
            <a:pPr lvl="1" eaLnBrk="1" hangingPunct="1"/>
            <a:r>
              <a:rPr lang="en-US" sz="2000" dirty="0"/>
              <a:t>Add to PC + 4</a:t>
            </a:r>
          </a:p>
          <a:p>
            <a:pPr lvl="2" eaLnBrk="1" hangingPunct="1"/>
            <a:r>
              <a:rPr lang="en-US" sz="1800" dirty="0"/>
              <a:t>Already calculated by instruction fetch</a:t>
            </a:r>
            <a:endParaRPr lang="en-AU" altLang="zh-CN" sz="1800" dirty="0">
              <a:ea typeface="宋体" pitchFamily="2" charset="-122"/>
            </a:endParaRPr>
          </a:p>
        </p:txBody>
      </p:sp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40568CF9-01CE-4E61-B5C2-3B3EB95E1DD6}" type="slidenum">
              <a:rPr lang="en-AU" altLang="zh-CN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7" name="Picture 7" descr="f04-09-P374493">
            <a:extLst>
              <a:ext uri="{FF2B5EF4-FFF2-40B4-BE49-F238E27FC236}">
                <a16:creationId xmlns:a16="http://schemas.microsoft.com/office/drawing/2014/main" id="{3FF4F3B8-7D04-43AA-8579-D1FA2A6EA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555" y="1196977"/>
            <a:ext cx="6231388" cy="453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Branch-on-Equal Instruction</a:t>
            </a:r>
          </a:p>
        </p:txBody>
      </p:sp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636CAE3E-5668-4E24-B1D5-8551F7340226}" type="slidenum">
              <a:rPr lang="en-AU" altLang="zh-CN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29699" name="Picture 6" descr="f04-21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19697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91A23A-6C90-45FC-ADC5-D03D234C0FB1}"/>
              </a:ext>
            </a:extLst>
          </p:cNvPr>
          <p:cNvSpPr txBox="1"/>
          <p:nvPr/>
        </p:nvSpPr>
        <p:spPr>
          <a:xfrm>
            <a:off x="912284" y="6191806"/>
            <a:ext cx="127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beq</a:t>
            </a:r>
            <a:r>
              <a:rPr lang="en-US" dirty="0"/>
              <a:t> </a:t>
            </a:r>
            <a:r>
              <a:rPr lang="en-US" dirty="0" err="1"/>
              <a:t>rs</a:t>
            </a:r>
            <a:r>
              <a:rPr lang="en-US" dirty="0"/>
              <a:t>, 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Implementing Jumps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>
          <a:xfrm>
            <a:off x="2208214" y="2349500"/>
            <a:ext cx="8270875" cy="3887788"/>
          </a:xfrm>
        </p:spPr>
        <p:txBody>
          <a:bodyPr/>
          <a:lstStyle/>
          <a:p>
            <a:pPr eaLnBrk="1" hangingPunct="1"/>
            <a:r>
              <a:rPr lang="en-AU" altLang="zh-CN" dirty="0">
                <a:ea typeface="宋体" pitchFamily="2" charset="-122"/>
              </a:rPr>
              <a:t>Jump uses word address</a:t>
            </a:r>
          </a:p>
          <a:p>
            <a:pPr eaLnBrk="1" hangingPunct="1"/>
            <a:r>
              <a:rPr lang="en-AU" altLang="zh-CN" dirty="0">
                <a:ea typeface="宋体" pitchFamily="2" charset="-122"/>
              </a:rPr>
              <a:t>Update PC with concatenation of</a:t>
            </a:r>
          </a:p>
          <a:p>
            <a:pPr lvl="1" eaLnBrk="1" hangingPunct="1"/>
            <a:r>
              <a:rPr lang="en-AU" altLang="zh-CN" dirty="0">
                <a:ea typeface="宋体" pitchFamily="2" charset="-122"/>
              </a:rPr>
              <a:t>Top 4 bits of old PC</a:t>
            </a:r>
          </a:p>
          <a:p>
            <a:pPr lvl="1" eaLnBrk="1" hangingPunct="1"/>
            <a:r>
              <a:rPr lang="en-AU" altLang="zh-CN" dirty="0">
                <a:ea typeface="宋体" pitchFamily="2" charset="-122"/>
              </a:rPr>
              <a:t>26-bit jump address</a:t>
            </a:r>
          </a:p>
          <a:p>
            <a:pPr lvl="1" eaLnBrk="1" hangingPunct="1"/>
            <a:r>
              <a:rPr lang="en-AU" altLang="zh-CN" dirty="0">
                <a:ea typeface="宋体" pitchFamily="2" charset="-122"/>
              </a:rPr>
              <a:t>00</a:t>
            </a:r>
          </a:p>
          <a:p>
            <a:pPr eaLnBrk="1" hangingPunct="1"/>
            <a:r>
              <a:rPr lang="en-AU" altLang="zh-CN" dirty="0">
                <a:ea typeface="宋体" pitchFamily="2" charset="-122"/>
              </a:rPr>
              <a:t>Need an extra control signal decoded from </a:t>
            </a:r>
            <a:r>
              <a:rPr lang="en-AU" altLang="zh-CN" dirty="0" err="1">
                <a:ea typeface="宋体" pitchFamily="2" charset="-122"/>
              </a:rPr>
              <a:t>opcode</a:t>
            </a:r>
            <a:endParaRPr lang="en-AU" altLang="zh-CN" dirty="0">
              <a:ea typeface="宋体" pitchFamily="2" charset="-122"/>
            </a:endParaRPr>
          </a:p>
        </p:txBody>
      </p:sp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8D3B1E9C-2225-48CF-9439-E0E3DB5F1425}" type="slidenum">
              <a:rPr lang="en-AU" altLang="zh-CN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AU" altLang="zh-CN" sz="1400">
              <a:solidFill>
                <a:srgbClr val="000000"/>
              </a:solidFill>
            </a:endParaRPr>
          </a:p>
        </p:txBody>
      </p:sp>
      <p:grpSp>
        <p:nvGrpSpPr>
          <p:cNvPr id="30725" name="Group 14"/>
          <p:cNvGrpSpPr>
            <a:grpSpLocks/>
          </p:cNvGrpSpPr>
          <p:nvPr/>
        </p:nvGrpSpPr>
        <p:grpSpPr bwMode="auto">
          <a:xfrm>
            <a:off x="3359151" y="1412876"/>
            <a:ext cx="6913563" cy="773113"/>
            <a:chOff x="1156" y="890"/>
            <a:chExt cx="4355" cy="487"/>
          </a:xfrm>
        </p:grpSpPr>
        <p:sp>
          <p:nvSpPr>
            <p:cNvPr id="30727" name="Text Box 5"/>
            <p:cNvSpPr txBox="1">
              <a:spLocks noChangeArrowheads="1"/>
            </p:cNvSpPr>
            <p:nvPr/>
          </p:nvSpPr>
          <p:spPr bwMode="auto">
            <a:xfrm>
              <a:off x="1156" y="890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2</a:t>
              </a:r>
              <a:endParaRPr lang="en-AU" altLang="zh-CN" sz="200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0728" name="Text Box 8"/>
            <p:cNvSpPr txBox="1">
              <a:spLocks noChangeArrowheads="1"/>
            </p:cNvSpPr>
            <p:nvPr/>
          </p:nvSpPr>
          <p:spPr bwMode="auto">
            <a:xfrm>
              <a:off x="1973" y="890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address</a:t>
              </a:r>
              <a:endParaRPr lang="en-AU" altLang="zh-CN" sz="200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0729" name="Text Box 9"/>
            <p:cNvSpPr txBox="1">
              <a:spLocks noChangeArrowheads="1"/>
            </p:cNvSpPr>
            <p:nvPr/>
          </p:nvSpPr>
          <p:spPr bwMode="auto">
            <a:xfrm>
              <a:off x="1332" y="1165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31:26</a:t>
              </a:r>
              <a:endParaRPr lang="en-AU" altLang="zh-CN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30730" name="Text Box 12"/>
            <p:cNvSpPr txBox="1">
              <a:spLocks noChangeArrowheads="1"/>
            </p:cNvSpPr>
            <p:nvPr/>
          </p:nvSpPr>
          <p:spPr bwMode="auto">
            <a:xfrm>
              <a:off x="3560" y="1165"/>
              <a:ext cx="4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25:0</a:t>
              </a:r>
              <a:endParaRPr lang="en-AU" altLang="zh-CN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30726" name="Text Box 13"/>
          <p:cNvSpPr txBox="1">
            <a:spLocks noChangeArrowheads="1"/>
          </p:cNvSpPr>
          <p:nvPr/>
        </p:nvSpPr>
        <p:spPr bwMode="auto">
          <a:xfrm>
            <a:off x="2335213" y="1489076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000000"/>
                </a:solidFill>
              </a:rPr>
              <a:t>Jump</a:t>
            </a:r>
            <a:endParaRPr lang="en-AU" altLang="zh-CN" sz="180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>
                <a:ea typeface="宋体" pitchFamily="2" charset="-122"/>
              </a:rPr>
              <a:t>Datapath With Jumps Added</a:t>
            </a:r>
          </a:p>
        </p:txBody>
      </p:sp>
      <p:sp>
        <p:nvSpPr>
          <p:cNvPr id="31746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1400">
                <a:solidFill>
                  <a:srgbClr val="000000"/>
                </a:solidFill>
              </a:rPr>
              <a:t>Chapter 4 — The Processor — </a:t>
            </a:r>
            <a:fld id="{3AE33FE5-54F3-45C7-8776-DBA67E341B24}" type="slidenum">
              <a:rPr lang="en-AU" altLang="zh-CN" sz="14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AU" altLang="zh-CN" sz="1400">
              <a:solidFill>
                <a:srgbClr val="000000"/>
              </a:solidFill>
            </a:endParaRPr>
          </a:p>
        </p:txBody>
      </p:sp>
      <p:pic>
        <p:nvPicPr>
          <p:cNvPr id="31747" name="Picture 6" descr="f04-24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1196976"/>
            <a:ext cx="6680200" cy="524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/>
          <a:srcRect t="72596"/>
          <a:stretch/>
        </p:blipFill>
        <p:spPr>
          <a:xfrm>
            <a:off x="1524001" y="6453337"/>
            <a:ext cx="3672407" cy="2760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2729-DA3C-4A8C-914C-6FD9CC36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Path-Load</a:t>
            </a:r>
          </a:p>
        </p:txBody>
      </p:sp>
      <p:pic>
        <p:nvPicPr>
          <p:cNvPr id="6" name="Picture 6" descr="f04-20-P374493">
            <a:extLst>
              <a:ext uri="{FF2B5EF4-FFF2-40B4-BE49-F238E27FC236}">
                <a16:creationId xmlns:a16="http://schemas.microsoft.com/office/drawing/2014/main" id="{F6301457-293C-426E-B81B-248F0D379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54" y="1190627"/>
            <a:ext cx="6335284" cy="492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DA120-C106-4C63-ADFC-01EBDF75DE01}"/>
              </a:ext>
            </a:extLst>
          </p:cNvPr>
          <p:cNvSpPr txBox="1"/>
          <p:nvPr/>
        </p:nvSpPr>
        <p:spPr>
          <a:xfrm>
            <a:off x="7354076" y="1345340"/>
            <a:ext cx="22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</a:t>
            </a:r>
            <a:r>
              <a:rPr lang="en-US" altLang="zh-CN" dirty="0" err="1"/>
              <a:t>w</a:t>
            </a:r>
            <a:r>
              <a:rPr lang="en-US" dirty="0"/>
              <a:t> rt, offset(</a:t>
            </a:r>
            <a:r>
              <a:rPr lang="en-US" dirty="0" err="1"/>
              <a:t>rs</a:t>
            </a:r>
            <a:r>
              <a:rPr lang="en-US" dirty="0"/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AE24A3-FE95-4080-80B5-A75F3F16F1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6623641" y="1982702"/>
            <a:ext cx="5695950" cy="600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F34105-EBFA-46F0-9FC1-D8C0D3FC4B5D}"/>
              </a:ext>
            </a:extLst>
          </p:cNvPr>
          <p:cNvSpPr txBox="1"/>
          <p:nvPr/>
        </p:nvSpPr>
        <p:spPr>
          <a:xfrm>
            <a:off x="7354076" y="3634451"/>
            <a:ext cx="459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I-MEM + Regs + MUX + ALU + D-MEM + MUX + Regs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38570-2F8B-4AA2-983D-B13B468DBA86}"/>
              </a:ext>
            </a:extLst>
          </p:cNvPr>
          <p:cNvSpPr txBox="1"/>
          <p:nvPr/>
        </p:nvSpPr>
        <p:spPr>
          <a:xfrm>
            <a:off x="547516" y="5755423"/>
            <a:ext cx="2268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T(ADD) &lt; T(I-MEM)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18E38E-0A59-4FEA-B341-56505C65B94B}"/>
              </a:ext>
            </a:extLst>
          </p:cNvPr>
          <p:cNvSpPr txBox="1"/>
          <p:nvPr/>
        </p:nvSpPr>
        <p:spPr>
          <a:xfrm>
            <a:off x="2436119" y="6393057"/>
            <a:ext cx="257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T(SIG-Extend) &lt; T(Regs)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0EBE01D4-2146-40E7-8066-9F1831AC9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56367" y="6381751"/>
            <a:ext cx="9696451" cy="358775"/>
          </a:xfrm>
        </p:spPr>
        <p:txBody>
          <a:bodyPr/>
          <a:lstStyle/>
          <a:p>
            <a:r>
              <a:rPr lang="en-AU" altLang="zh-CN" dirty="0"/>
              <a:t>Chapter 4 — The Processor — </a:t>
            </a:r>
            <a:fld id="{89F828F6-F379-4D27-9F3D-C213A43CF13B}" type="slidenum">
              <a:rPr lang="en-AU" altLang="zh-CN" smtClean="0"/>
              <a:pPr/>
              <a:t>12</a:t>
            </a:fld>
            <a:endParaRPr lang="en-AU" altLang="zh-CN" dirty="0"/>
          </a:p>
        </p:txBody>
      </p:sp>
    </p:spTree>
    <p:extLst>
      <p:ext uri="{BB962C8B-B14F-4D97-AF65-F5344CB8AC3E}">
        <p14:creationId xmlns:p14="http://schemas.microsoft.com/office/powerpoint/2010/main" val="1078254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2729-DA3C-4A8C-914C-6FD9CC36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Signals-Load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419DE5-ACE5-42AC-854C-02908BB512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altLang="zh-CN" dirty="0"/>
              <a:t>Chapter 4 — The Processor — </a:t>
            </a:r>
            <a:fld id="{89F828F6-F379-4D27-9F3D-C213A43CF13B}" type="slidenum">
              <a:rPr lang="en-AU" altLang="zh-CN" smtClean="0"/>
              <a:pPr/>
              <a:t>13</a:t>
            </a:fld>
            <a:endParaRPr lang="en-AU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235EC-CE25-4C3D-BA1E-1BF45AB24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271" y="3047792"/>
            <a:ext cx="3076575" cy="2752725"/>
          </a:xfrm>
          <a:prstGeom prst="rect">
            <a:avLst/>
          </a:prstGeom>
        </p:spPr>
      </p:pic>
      <p:pic>
        <p:nvPicPr>
          <p:cNvPr id="6" name="Picture 6" descr="f04-20-P374493">
            <a:extLst>
              <a:ext uri="{FF2B5EF4-FFF2-40B4-BE49-F238E27FC236}">
                <a16:creationId xmlns:a16="http://schemas.microsoft.com/office/drawing/2014/main" id="{F6301457-293C-426E-B81B-248F0D379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54" y="119062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DA120-C106-4C63-ADFC-01EBDF75DE01}"/>
              </a:ext>
            </a:extLst>
          </p:cNvPr>
          <p:cNvSpPr txBox="1"/>
          <p:nvPr/>
        </p:nvSpPr>
        <p:spPr>
          <a:xfrm>
            <a:off x="8449229" y="1701010"/>
            <a:ext cx="22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lw</a:t>
            </a:r>
            <a:r>
              <a:rPr lang="en-US" dirty="0"/>
              <a:t> rt, offset(</a:t>
            </a:r>
            <a:r>
              <a:rPr lang="en-US" dirty="0" err="1"/>
              <a:t>rs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AD76D-7FE4-40F6-9AAA-8714E93A3735}"/>
              </a:ext>
            </a:extLst>
          </p:cNvPr>
          <p:cNvSpPr txBox="1"/>
          <p:nvPr/>
        </p:nvSpPr>
        <p:spPr>
          <a:xfrm>
            <a:off x="8449228" y="2097402"/>
            <a:ext cx="2481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zh-CN" altLang="en-US" dirty="0"/>
              <a:t>型指令  </a:t>
            </a:r>
            <a:r>
              <a:rPr lang="en-US" dirty="0" err="1"/>
              <a:t>aluop</a:t>
            </a:r>
            <a:r>
              <a:rPr lang="en-US" dirty="0"/>
              <a:t> = 00</a:t>
            </a:r>
          </a:p>
          <a:p>
            <a:r>
              <a:rPr lang="en-US" altLang="zh-CN" dirty="0" err="1"/>
              <a:t>Lw,sw</a:t>
            </a:r>
            <a:r>
              <a:rPr lang="en-US" altLang="zh-CN" dirty="0"/>
              <a:t>      </a:t>
            </a:r>
            <a:r>
              <a:rPr lang="en-US" altLang="zh-CN" dirty="0" err="1"/>
              <a:t>aluop</a:t>
            </a:r>
            <a:r>
              <a:rPr lang="en-US" altLang="zh-CN" dirty="0"/>
              <a:t> = 01</a:t>
            </a:r>
          </a:p>
          <a:p>
            <a:r>
              <a:rPr lang="en-US" dirty="0" err="1"/>
              <a:t>Beq</a:t>
            </a:r>
            <a:r>
              <a:rPr lang="en-US" dirty="0"/>
              <a:t>         </a:t>
            </a:r>
            <a:r>
              <a:rPr lang="en-US" dirty="0" err="1"/>
              <a:t>aluop</a:t>
            </a:r>
            <a:r>
              <a:rPr lang="en-US" dirty="0"/>
              <a:t> =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24D2E-66F7-4F61-8DB7-091F696BACE2}"/>
              </a:ext>
            </a:extLst>
          </p:cNvPr>
          <p:cNvSpPr txBox="1"/>
          <p:nvPr/>
        </p:nvSpPr>
        <p:spPr>
          <a:xfrm>
            <a:off x="11308466" y="3429000"/>
            <a:ext cx="61683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  <a:p>
            <a:r>
              <a:rPr lang="en-US" sz="1600" dirty="0"/>
              <a:t>1</a:t>
            </a:r>
          </a:p>
          <a:p>
            <a:r>
              <a:rPr lang="en-US" sz="1600" dirty="0"/>
              <a:t>1</a:t>
            </a:r>
          </a:p>
          <a:p>
            <a:r>
              <a:rPr lang="en-US" sz="1600" dirty="0"/>
              <a:t>1</a:t>
            </a:r>
          </a:p>
          <a:p>
            <a:r>
              <a:rPr lang="en-US" sz="1600" dirty="0"/>
              <a:t>1</a:t>
            </a:r>
          </a:p>
          <a:p>
            <a:r>
              <a:rPr lang="en-US" sz="1600" dirty="0"/>
              <a:t>0</a:t>
            </a:r>
          </a:p>
          <a:p>
            <a:r>
              <a:rPr lang="en-US" sz="1600" dirty="0"/>
              <a:t>0</a:t>
            </a:r>
          </a:p>
          <a:p>
            <a:r>
              <a:rPr lang="en-US" sz="1600" dirty="0"/>
              <a:t>1</a:t>
            </a:r>
          </a:p>
          <a:p>
            <a:r>
              <a:rPr lang="en-US" sz="1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4819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dirty="0">
                <a:ea typeface="宋体" pitchFamily="2" charset="-122"/>
              </a:rPr>
              <a:t>Critical Path-Branch</a:t>
            </a:r>
          </a:p>
        </p:txBody>
      </p:sp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Chapter 4 — The Processor — </a:t>
            </a:r>
            <a:fld id="{636CAE3E-5668-4E24-B1D5-8551F7340226}" type="slidenum">
              <a:rPr kumimoji="0" lang="en-AU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29699" name="Picture 6" descr="f04-21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27" y="1144311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91A23A-6C90-45FC-ADC5-D03D234C0FB1}"/>
              </a:ext>
            </a:extLst>
          </p:cNvPr>
          <p:cNvSpPr txBox="1"/>
          <p:nvPr/>
        </p:nvSpPr>
        <p:spPr>
          <a:xfrm>
            <a:off x="8142423" y="1545378"/>
            <a:ext cx="127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EC211-2299-4FB8-9995-1ECDC753C0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6623641" y="1982702"/>
            <a:ext cx="5695950" cy="600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0B4E75-790A-4639-AF49-F6DB83F76518}"/>
              </a:ext>
            </a:extLst>
          </p:cNvPr>
          <p:cNvSpPr txBox="1"/>
          <p:nvPr/>
        </p:nvSpPr>
        <p:spPr>
          <a:xfrm>
            <a:off x="7572738" y="2989362"/>
            <a:ext cx="459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I-MEM + Regs + MUX + ALU + MUX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C8E6C-6F29-41C7-92BF-13DDE01F67C4}"/>
              </a:ext>
            </a:extLst>
          </p:cNvPr>
          <p:cNvSpPr txBox="1"/>
          <p:nvPr/>
        </p:nvSpPr>
        <p:spPr>
          <a:xfrm>
            <a:off x="3514842" y="6404173"/>
            <a:ext cx="4057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T(Shift-Left2) + T(ADD) &lt; T(MUX) + T(ALU)</a:t>
            </a:r>
          </a:p>
        </p:txBody>
      </p:sp>
    </p:spTree>
    <p:extLst>
      <p:ext uri="{BB962C8B-B14F-4D97-AF65-F5344CB8AC3E}">
        <p14:creationId xmlns:p14="http://schemas.microsoft.com/office/powerpoint/2010/main" val="1491711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Control Signals</a:t>
            </a:r>
            <a:r>
              <a:rPr lang="en-AU" altLang="zh-CN" dirty="0">
                <a:ea typeface="宋体" pitchFamily="2" charset="-122"/>
              </a:rPr>
              <a:t>-Branch</a:t>
            </a:r>
          </a:p>
        </p:txBody>
      </p:sp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Chapter 4 — The Processor — </a:t>
            </a:r>
            <a:fld id="{636CAE3E-5668-4E24-B1D5-8551F7340226}" type="slidenum">
              <a:rPr kumimoji="0" lang="en-AU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altLang="zh-CN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29699" name="Picture 6" descr="f04-21-P37449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25" y="1190626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91A23A-6C90-45FC-ADC5-D03D234C0FB1}"/>
              </a:ext>
            </a:extLst>
          </p:cNvPr>
          <p:cNvSpPr txBox="1"/>
          <p:nvPr/>
        </p:nvSpPr>
        <p:spPr>
          <a:xfrm>
            <a:off x="8428764" y="1634492"/>
            <a:ext cx="127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974048-2D3F-493F-A0F0-A0C5A7E49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100" y="3005058"/>
            <a:ext cx="3076575" cy="2752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67C718-ACDE-4557-A565-60FA1D56BA43}"/>
              </a:ext>
            </a:extLst>
          </p:cNvPr>
          <p:cNvSpPr txBox="1"/>
          <p:nvPr/>
        </p:nvSpPr>
        <p:spPr>
          <a:xfrm>
            <a:off x="8428764" y="2081728"/>
            <a:ext cx="2481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zh-CN" altLang="en-US" dirty="0"/>
              <a:t>型指令  </a:t>
            </a:r>
            <a:r>
              <a:rPr lang="en-US" dirty="0" err="1"/>
              <a:t>aluop</a:t>
            </a:r>
            <a:r>
              <a:rPr lang="en-US" dirty="0"/>
              <a:t> = 00</a:t>
            </a:r>
          </a:p>
          <a:p>
            <a:r>
              <a:rPr lang="en-US" altLang="zh-CN" dirty="0" err="1"/>
              <a:t>Lw,sw</a:t>
            </a:r>
            <a:r>
              <a:rPr lang="en-US" altLang="zh-CN" dirty="0"/>
              <a:t>      </a:t>
            </a:r>
            <a:r>
              <a:rPr lang="en-US" altLang="zh-CN" dirty="0" err="1"/>
              <a:t>aluop</a:t>
            </a:r>
            <a:r>
              <a:rPr lang="en-US" altLang="zh-CN" dirty="0"/>
              <a:t> = 01</a:t>
            </a:r>
          </a:p>
          <a:p>
            <a:r>
              <a:rPr lang="en-US" dirty="0" err="1"/>
              <a:t>Beq</a:t>
            </a:r>
            <a:r>
              <a:rPr lang="en-US" dirty="0"/>
              <a:t>         </a:t>
            </a:r>
            <a:r>
              <a:rPr lang="en-US" dirty="0" err="1"/>
              <a:t>aluop</a:t>
            </a:r>
            <a:r>
              <a:rPr lang="en-US" dirty="0"/>
              <a:t> =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7B7DB-125D-4B94-ABCC-EE0DFD0518A1}"/>
              </a:ext>
            </a:extLst>
          </p:cNvPr>
          <p:cNvSpPr txBox="1"/>
          <p:nvPr/>
        </p:nvSpPr>
        <p:spPr>
          <a:xfrm>
            <a:off x="11308466" y="3429000"/>
            <a:ext cx="61683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x</a:t>
            </a:r>
            <a:endParaRPr lang="en-US" sz="1600" dirty="0"/>
          </a:p>
          <a:p>
            <a:r>
              <a:rPr lang="en-US" sz="1600" dirty="0"/>
              <a:t>0</a:t>
            </a:r>
          </a:p>
          <a:p>
            <a:r>
              <a:rPr lang="en-US" sz="1600" dirty="0"/>
              <a:t>0</a:t>
            </a:r>
          </a:p>
          <a:p>
            <a:r>
              <a:rPr lang="en-US" sz="1600" dirty="0"/>
              <a:t>0</a:t>
            </a:r>
          </a:p>
          <a:p>
            <a:r>
              <a:rPr lang="en-US" sz="1600" dirty="0"/>
              <a:t>0</a:t>
            </a:r>
          </a:p>
          <a:p>
            <a:r>
              <a:rPr lang="en-US" sz="1600" dirty="0"/>
              <a:t>0</a:t>
            </a:r>
          </a:p>
          <a:p>
            <a:r>
              <a:rPr lang="en-US" sz="1600" dirty="0"/>
              <a:t>1</a:t>
            </a:r>
          </a:p>
          <a:p>
            <a:r>
              <a:rPr lang="en-US" sz="1600" dirty="0"/>
              <a:t>0</a:t>
            </a:r>
          </a:p>
          <a:p>
            <a:r>
              <a:rPr lang="en-US" sz="1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3398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FD15-9E0F-4129-B7B2-B83D0DB4B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Signals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0F614-6CD2-4F18-B12B-4FA23519F4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altLang="zh-CN"/>
              <a:t>Chapter 4 — The Processor — </a:t>
            </a:r>
            <a:fld id="{89F828F6-F379-4D27-9F3D-C213A43CF13B}" type="slidenum">
              <a:rPr lang="en-AU" altLang="zh-CN" smtClean="0"/>
              <a:pPr/>
              <a:t>16</a:t>
            </a:fld>
            <a:endParaRPr lang="en-AU" altLang="zh-CN"/>
          </a:p>
        </p:txBody>
      </p:sp>
      <p:graphicFrame>
        <p:nvGraphicFramePr>
          <p:cNvPr id="7" name="Group 96">
            <a:extLst>
              <a:ext uri="{FF2B5EF4-FFF2-40B4-BE49-F238E27FC236}">
                <a16:creationId xmlns:a16="http://schemas.microsoft.com/office/drawing/2014/main" id="{2D6ACC64-6197-4CF8-ADC8-425DC580ACA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5128580"/>
              </p:ext>
            </p:extLst>
          </p:nvPr>
        </p:nvGraphicFramePr>
        <p:xfrm>
          <a:off x="2510745" y="1485901"/>
          <a:ext cx="7170510" cy="3886198"/>
        </p:xfrm>
        <a:graphic>
          <a:graphicData uri="http://schemas.openxmlformats.org/drawingml/2006/table">
            <a:tbl>
              <a:tblPr/>
              <a:tblGrid>
                <a:gridCol w="922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6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3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62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35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3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484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Instruction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RegWrite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RegDst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AluSrc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Branch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MemWrite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MemtoReg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ALUOp</a:t>
                      </a:r>
                      <a:r>
                        <a:rPr kumimoji="0" lang="en-US" sz="12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1:0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Jump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R-type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beq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332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E2A19B9-397A-671B-D07A-D4A1A2C3FDFF}"/>
              </a:ext>
            </a:extLst>
          </p:cNvPr>
          <p:cNvSpPr txBox="1"/>
          <p:nvPr/>
        </p:nvSpPr>
        <p:spPr>
          <a:xfrm>
            <a:off x="2797083" y="3083076"/>
            <a:ext cx="1740193" cy="400110"/>
          </a:xfrm>
          <a:prstGeom prst="rect">
            <a:avLst/>
          </a:prstGeom>
          <a:solidFill>
            <a:srgbClr val="02529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流水线处理器</a:t>
            </a:r>
            <a:endParaRPr kumimoji="0" lang="en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463EBA-4E5C-E127-3FAD-0A9E82A6221D}"/>
              </a:ext>
            </a:extLst>
          </p:cNvPr>
          <p:cNvSpPr/>
          <p:nvPr/>
        </p:nvSpPr>
        <p:spPr>
          <a:xfrm>
            <a:off x="5421918" y="2216919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33ADCA45-B6F5-4D2C-EE83-8B1C836750B8}"/>
              </a:ext>
            </a:extLst>
          </p:cNvPr>
          <p:cNvSpPr/>
          <p:nvPr/>
        </p:nvSpPr>
        <p:spPr>
          <a:xfrm>
            <a:off x="4924392" y="2227830"/>
            <a:ext cx="327466" cy="2176417"/>
          </a:xfrm>
          <a:prstGeom prst="leftBrace">
            <a:avLst>
              <a:gd name="adj1" fmla="val 8333"/>
              <a:gd name="adj2" fmla="val 44334"/>
            </a:avLst>
          </a:prstGeom>
          <a:ln w="19050">
            <a:solidFill>
              <a:srgbClr val="0252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25AF3-2A9E-3757-FC60-7A97284AEB3C}"/>
              </a:ext>
            </a:extLst>
          </p:cNvPr>
          <p:cNvSpPr txBox="1"/>
          <p:nvPr/>
        </p:nvSpPr>
        <p:spPr>
          <a:xfrm>
            <a:off x="5835416" y="2129196"/>
            <a:ext cx="248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51D67-396F-18E9-654F-9A1B9CDF8F74}"/>
              </a:ext>
            </a:extLst>
          </p:cNvPr>
          <p:cNvSpPr txBox="1"/>
          <p:nvPr/>
        </p:nvSpPr>
        <p:spPr>
          <a:xfrm>
            <a:off x="5881398" y="2129196"/>
            <a:ext cx="3827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数据通路</a:t>
            </a:r>
            <a:endParaRPr kumimoji="0" lang="en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矩形 12">
            <a:extLst>
              <a:ext uri="{FF2B5EF4-FFF2-40B4-BE49-F238E27FC236}">
                <a16:creationId xmlns:a16="http://schemas.microsoft.com/office/drawing/2014/main" id="{8EB0F8D9-45DD-4291-9979-C34A45C8A079}"/>
              </a:ext>
            </a:extLst>
          </p:cNvPr>
          <p:cNvSpPr/>
          <p:nvPr/>
        </p:nvSpPr>
        <p:spPr>
          <a:xfrm>
            <a:off x="5421918" y="4179583"/>
            <a:ext cx="327466" cy="22466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9316E3E3-5EA2-4029-B665-17C9D9F02C62}"/>
              </a:ext>
            </a:extLst>
          </p:cNvPr>
          <p:cNvSpPr txBox="1"/>
          <p:nvPr/>
        </p:nvSpPr>
        <p:spPr>
          <a:xfrm>
            <a:off x="5959809" y="4091860"/>
            <a:ext cx="4599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冲突问题</a:t>
            </a:r>
            <a:endParaRPr kumimoji="0" lang="en-CN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234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5846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343680" y="1219201"/>
          <a:ext cx="8324320" cy="464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VISIO" r:id="rId7" imgW="4961520" imgH="2768400" progId="Visio.Drawing.6">
                  <p:embed/>
                </p:oleObj>
              </mc:Choice>
              <mc:Fallback>
                <p:oleObj name="VISIO" r:id="rId7" imgW="4961520" imgH="2768400" progId="Visio.Drawing.6">
                  <p:embed/>
                  <p:pic>
                    <p:nvPicPr>
                      <p:cNvPr id="13158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680" y="1219201"/>
                        <a:ext cx="8324320" cy="464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584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1315844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prstClr val="white"/>
                </a:solidFill>
                <a:latin typeface="Calibri"/>
              </a:rPr>
              <a:t>Single-Cycle vs. Pipelined</a:t>
            </a:r>
          </a:p>
        </p:txBody>
      </p:sp>
    </p:spTree>
    <p:extLst>
      <p:ext uri="{BB962C8B-B14F-4D97-AF65-F5344CB8AC3E}">
        <p14:creationId xmlns:p14="http://schemas.microsoft.com/office/powerpoint/2010/main" val="28654428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6389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590801" y="1066801"/>
          <a:ext cx="6824663" cy="533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VISIO" r:id="rId7" imgW="5572080" imgH="4357800" progId="Visio.Drawing.6">
                  <p:embed/>
                </p:oleObj>
              </mc:Choice>
              <mc:Fallback>
                <p:oleObj name="VISIO" r:id="rId7" imgW="5572080" imgH="4357800" progId="Visio.Drawing.6">
                  <p:embed/>
                  <p:pic>
                    <p:nvPicPr>
                      <p:cNvPr id="12963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1066801"/>
                        <a:ext cx="6824663" cy="533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638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129638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prstClr val="white"/>
                </a:solidFill>
                <a:latin typeface="Calibri"/>
              </a:rPr>
              <a:t>Single-Cycle &amp; Pipelined </a:t>
            </a:r>
            <a:r>
              <a:rPr lang="en-US" sz="4400" dirty="0" err="1">
                <a:solidFill>
                  <a:prstClr val="white"/>
                </a:solidFill>
                <a:latin typeface="Calibri"/>
              </a:rPr>
              <a:t>Datapath</a:t>
            </a:r>
            <a:endParaRPr lang="en-US" sz="4400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480174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7413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209800" y="1423988"/>
          <a:ext cx="8458200" cy="360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VISIO" r:id="rId8" imgW="5530320" imgH="2357280" progId="Visio.Drawing.6">
                  <p:embed/>
                </p:oleObj>
              </mc:Choice>
              <mc:Fallback>
                <p:oleObj name="VISIO" r:id="rId8" imgW="5530320" imgH="2357280" progId="Visio.Drawing.6">
                  <p:embed/>
                  <p:pic>
                    <p:nvPicPr>
                      <p:cNvPr id="1297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423988"/>
                        <a:ext cx="8458200" cy="3605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741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solidFill>
                <a:prstClr val="black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129741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7415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590800" y="5372100"/>
            <a:ext cx="80010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000" b="1" i="1" dirty="0" err="1">
                <a:solidFill>
                  <a:prstClr val="black"/>
                </a:solidFill>
                <a:latin typeface="Times New Roman" pitchFamily="18" charset="0"/>
                <a:cs typeface="Arial" charset="0"/>
              </a:rPr>
              <a:t>WriteReg</a:t>
            </a:r>
            <a:r>
              <a:rPr lang="en-US" sz="3000" b="1" dirty="0">
                <a:solidFill>
                  <a:prstClr val="black"/>
                </a:solidFill>
                <a:latin typeface="Times New Roman" pitchFamily="18" charset="0"/>
                <a:cs typeface="Arial" charset="0"/>
              </a:rPr>
              <a:t> must arrive at same time as </a:t>
            </a:r>
            <a:r>
              <a:rPr lang="en-US" sz="3000" b="1" i="1" dirty="0">
                <a:solidFill>
                  <a:prstClr val="black"/>
                </a:solidFill>
                <a:latin typeface="Times New Roman" pitchFamily="18" charset="0"/>
                <a:cs typeface="Arial" charset="0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prstClr val="white"/>
                </a:solidFill>
                <a:latin typeface="Calibri"/>
              </a:rPr>
              <a:t>Corrected Pipelined </a:t>
            </a:r>
            <a:r>
              <a:rPr lang="en-US" sz="4400" dirty="0" err="1">
                <a:solidFill>
                  <a:prstClr val="white"/>
                </a:solidFill>
                <a:latin typeface="Calibri"/>
              </a:rPr>
              <a:t>Datapath</a:t>
            </a:r>
            <a:endParaRPr lang="en-US" sz="4400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210338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87" name="Rectangle 7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438400" y="1219201"/>
            <a:ext cx="8229600" cy="4525963"/>
          </a:xfrm>
        </p:spPr>
        <p:txBody>
          <a:bodyPr/>
          <a:lstStyle/>
          <a:p>
            <a:r>
              <a:rPr lang="en-US" dirty="0"/>
              <a:t>When an instruction depends on result from instruction that hasn’t completed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Data hazard:</a:t>
            </a:r>
            <a:r>
              <a:rPr lang="en-US" dirty="0"/>
              <a:t> register value not yet written back to register file (Read after Write)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Control hazard: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next instruction not decided yet (caused by branches)</a:t>
            </a:r>
          </a:p>
        </p:txBody>
      </p:sp>
      <p:sp>
        <p:nvSpPr>
          <p:cNvPr id="130048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048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48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Pipeline Hazards</a:t>
            </a:r>
          </a:p>
        </p:txBody>
      </p:sp>
    </p:spTree>
    <p:extLst>
      <p:ext uri="{BB962C8B-B14F-4D97-AF65-F5344CB8AC3E}">
        <p14:creationId xmlns:p14="http://schemas.microsoft.com/office/powerpoint/2010/main" val="265110608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6870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667000" y="1371600"/>
          <a:ext cx="7772400" cy="263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VISIO" r:id="rId8" imgW="4943520" imgH="1753920" progId="Visio.Drawing.6">
                  <p:embed/>
                </p:oleObj>
              </mc:Choice>
              <mc:Fallback>
                <p:oleObj name="VISIO" r:id="rId8" imgW="4943520" imgH="1753920" progId="Visio.Drawing.6">
                  <p:embed/>
                  <p:pic>
                    <p:nvPicPr>
                      <p:cNvPr id="13168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371600"/>
                        <a:ext cx="7772400" cy="2636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686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686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686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Hazard – R Type Write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0A8CC-2B97-42C7-AC40-98B7F58A3770}"/>
              </a:ext>
            </a:extLst>
          </p:cNvPr>
          <p:cNvCxnSpPr>
            <a:cxnSpLocks/>
          </p:cNvCxnSpPr>
          <p:nvPr/>
        </p:nvCxnSpPr>
        <p:spPr>
          <a:xfrm>
            <a:off x="3136739" y="2430684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0F69C4-0451-460F-881D-7769CB98E442}"/>
              </a:ext>
            </a:extLst>
          </p:cNvPr>
          <p:cNvCxnSpPr>
            <a:cxnSpLocks/>
          </p:cNvCxnSpPr>
          <p:nvPr/>
        </p:nvCxnSpPr>
        <p:spPr>
          <a:xfrm>
            <a:off x="3601655" y="2930325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306350-C6EC-478D-A89B-63D8EF612C06}"/>
              </a:ext>
            </a:extLst>
          </p:cNvPr>
          <p:cNvCxnSpPr>
            <a:cxnSpLocks/>
          </p:cNvCxnSpPr>
          <p:nvPr/>
        </p:nvCxnSpPr>
        <p:spPr>
          <a:xfrm>
            <a:off x="4089721" y="3429000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126D49-29B6-4884-A384-2E08BC97614B}"/>
              </a:ext>
            </a:extLst>
          </p:cNvPr>
          <p:cNvCxnSpPr>
            <a:cxnSpLocks/>
          </p:cNvCxnSpPr>
          <p:nvPr/>
        </p:nvCxnSpPr>
        <p:spPr>
          <a:xfrm>
            <a:off x="3601655" y="3916100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14303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1510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438400" y="1600201"/>
          <a:ext cx="8229600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VISIO" r:id="rId8" imgW="4943520" imgH="1753920" progId="Visio.Drawing.6">
                  <p:embed/>
                </p:oleObj>
              </mc:Choice>
              <mc:Fallback>
                <p:oleObj name="VISIO" r:id="rId8" imgW="4943520" imgH="1753920" progId="Visio.Drawing.6">
                  <p:embed/>
                  <p:pic>
                    <p:nvPicPr>
                      <p:cNvPr id="1301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00201"/>
                        <a:ext cx="8229600" cy="291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150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150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150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Forwarding (Bypassing)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55AC6E-1E75-4073-9879-5D4C91DF0E40}"/>
              </a:ext>
            </a:extLst>
          </p:cNvPr>
          <p:cNvCxnSpPr>
            <a:cxnSpLocks/>
          </p:cNvCxnSpPr>
          <p:nvPr/>
        </p:nvCxnSpPr>
        <p:spPr>
          <a:xfrm>
            <a:off x="2974693" y="2720051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5AF3A7-516C-4CD4-A6D5-CED99341222A}"/>
              </a:ext>
            </a:extLst>
          </p:cNvPr>
          <p:cNvCxnSpPr>
            <a:cxnSpLocks/>
          </p:cNvCxnSpPr>
          <p:nvPr/>
        </p:nvCxnSpPr>
        <p:spPr>
          <a:xfrm>
            <a:off x="3485909" y="3265990"/>
            <a:ext cx="380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E41FFA-A89F-4773-A381-57B8D0417554}"/>
              </a:ext>
            </a:extLst>
          </p:cNvPr>
          <p:cNvCxnSpPr>
            <a:cxnSpLocks/>
          </p:cNvCxnSpPr>
          <p:nvPr/>
        </p:nvCxnSpPr>
        <p:spPr>
          <a:xfrm>
            <a:off x="3962400" y="3869803"/>
            <a:ext cx="380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25F809-4676-4D82-A443-55BC9BE5ED13}"/>
              </a:ext>
            </a:extLst>
          </p:cNvPr>
          <p:cNvCxnSpPr>
            <a:cxnSpLocks/>
          </p:cNvCxnSpPr>
          <p:nvPr/>
        </p:nvCxnSpPr>
        <p:spPr>
          <a:xfrm>
            <a:off x="3352800" y="4415742"/>
            <a:ext cx="3800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39205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2535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362200" y="1147764"/>
          <a:ext cx="8153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7" name="VISIO" r:id="rId8" imgW="6961320" imgH="4155480" progId="Visio.Drawing.6">
                  <p:embed/>
                </p:oleObj>
              </mc:Choice>
              <mc:Fallback>
                <p:oleObj name="VISIO" r:id="rId8" imgW="6961320" imgH="4155480" progId="Visio.Drawing.6">
                  <p:embed/>
                  <p:pic>
                    <p:nvPicPr>
                      <p:cNvPr id="13025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147764"/>
                        <a:ext cx="8153400" cy="4867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253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253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2533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Forwarding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16D2C-6D62-478B-AA3C-CD82EE19CB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789" y="1021660"/>
            <a:ext cx="1823606" cy="220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1022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5" name="Rectangle 7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438400" y="1066801"/>
            <a:ext cx="8382000" cy="4525963"/>
          </a:xfrm>
        </p:spPr>
        <p:txBody>
          <a:bodyPr>
            <a:noAutofit/>
          </a:bodyPr>
          <a:lstStyle/>
          <a:p>
            <a:r>
              <a:rPr lang="en-US" dirty="0"/>
              <a:t>Forward to Execute stage from either:</a:t>
            </a:r>
          </a:p>
          <a:p>
            <a:pPr lvl="1"/>
            <a:r>
              <a:rPr lang="en-US" sz="2600" dirty="0"/>
              <a:t>Memory stage or</a:t>
            </a:r>
          </a:p>
          <a:p>
            <a:pPr lvl="1"/>
            <a:r>
              <a:rPr lang="en-US" sz="2600" dirty="0" err="1"/>
              <a:t>Writeback</a:t>
            </a:r>
            <a:r>
              <a:rPr lang="en-US" sz="2600" dirty="0"/>
              <a:t> stage</a:t>
            </a:r>
            <a:endParaRPr lang="en-US" sz="3200" dirty="0"/>
          </a:p>
          <a:p>
            <a:r>
              <a:rPr lang="en-US" dirty="0"/>
              <a:t>Forwarding logic for </a:t>
            </a:r>
            <a:r>
              <a:rPr lang="en-US" i="1" dirty="0" err="1"/>
              <a:t>ForwardAE</a:t>
            </a:r>
            <a:r>
              <a:rPr lang="en-US" dirty="0"/>
              <a:t>:</a:t>
            </a:r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sz="1800" b="1" dirty="0">
                <a:latin typeface="Courier New" pitchFamily="49" charset="0"/>
              </a:rPr>
              <a:t>if      ((</a:t>
            </a:r>
            <a:r>
              <a:rPr lang="en-US" sz="1800" b="1" i="1" dirty="0" err="1">
                <a:latin typeface="Courier New" pitchFamily="49" charset="0"/>
              </a:rPr>
              <a:t>rsE</a:t>
            </a:r>
            <a:r>
              <a:rPr lang="en-US" sz="1800" b="1" dirty="0">
                <a:latin typeface="Courier New" pitchFamily="49" charset="0"/>
              </a:rPr>
              <a:t> != 0) AND (</a:t>
            </a:r>
            <a:r>
              <a:rPr lang="en-US" sz="1800" b="1" i="1" dirty="0" err="1">
                <a:latin typeface="Courier New" pitchFamily="49" charset="0"/>
              </a:rPr>
              <a:t>rsE</a:t>
            </a:r>
            <a:r>
              <a:rPr lang="en-US" sz="1800" b="1" dirty="0">
                <a:latin typeface="Courier New" pitchFamily="49" charset="0"/>
              </a:rPr>
              <a:t> == </a:t>
            </a:r>
            <a:r>
              <a:rPr lang="en-US" sz="1800" b="1" i="1" dirty="0" err="1">
                <a:latin typeface="Courier New" pitchFamily="49" charset="0"/>
              </a:rPr>
              <a:t>WriteRegM</a:t>
            </a:r>
            <a:r>
              <a:rPr lang="en-US" sz="1800" b="1" dirty="0">
                <a:latin typeface="Courier New" pitchFamily="49" charset="0"/>
              </a:rPr>
              <a:t>) AND </a:t>
            </a:r>
            <a:r>
              <a:rPr lang="en-US" sz="1800" b="1" i="1" dirty="0" err="1">
                <a:latin typeface="Courier New" pitchFamily="49" charset="0"/>
              </a:rPr>
              <a:t>RegWriteM</a:t>
            </a:r>
            <a:r>
              <a:rPr lang="en-US" sz="1800" b="1" dirty="0">
                <a:latin typeface="Courier New" pitchFamily="49" charset="0"/>
              </a:rPr>
              <a:t>)     </a:t>
            </a:r>
          </a:p>
          <a:p>
            <a:pPr>
              <a:buFontTx/>
              <a:buNone/>
            </a:pPr>
            <a:r>
              <a:rPr lang="en-US" sz="1800" b="1" dirty="0">
                <a:latin typeface="Courier New" pitchFamily="49" charset="0"/>
              </a:rPr>
              <a:t>		then 	</a:t>
            </a:r>
            <a:r>
              <a:rPr lang="en-US" sz="1800" b="1" i="1" dirty="0" err="1">
                <a:solidFill>
                  <a:schemeClr val="accent1"/>
                </a:solidFill>
                <a:latin typeface="Courier New" pitchFamily="49" charset="0"/>
              </a:rPr>
              <a:t>ForwardAE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= 10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	</a:t>
            </a:r>
            <a:r>
              <a:rPr lang="en-US" sz="1800" b="1" dirty="0">
                <a:latin typeface="Courier New" pitchFamily="49" charset="0"/>
              </a:rPr>
              <a:t>else if ((</a:t>
            </a:r>
            <a:r>
              <a:rPr lang="en-US" sz="1800" b="1" i="1" dirty="0" err="1">
                <a:latin typeface="Courier New" pitchFamily="49" charset="0"/>
              </a:rPr>
              <a:t>rsE</a:t>
            </a:r>
            <a:r>
              <a:rPr lang="en-US" sz="1800" b="1" dirty="0">
                <a:latin typeface="Courier New" pitchFamily="49" charset="0"/>
              </a:rPr>
              <a:t> != 0) AND (</a:t>
            </a:r>
            <a:r>
              <a:rPr lang="en-US" sz="1800" b="1" i="1" dirty="0" err="1">
                <a:latin typeface="Courier New" pitchFamily="49" charset="0"/>
              </a:rPr>
              <a:t>rsE</a:t>
            </a:r>
            <a:r>
              <a:rPr lang="en-US" sz="1800" b="1" dirty="0">
                <a:latin typeface="Courier New" pitchFamily="49" charset="0"/>
              </a:rPr>
              <a:t> == </a:t>
            </a:r>
            <a:r>
              <a:rPr lang="en-US" sz="1800" b="1" i="1" dirty="0" err="1">
                <a:latin typeface="Courier New" pitchFamily="49" charset="0"/>
              </a:rPr>
              <a:t>WriteRegW</a:t>
            </a:r>
            <a:r>
              <a:rPr lang="en-US" sz="1800" b="1" dirty="0">
                <a:latin typeface="Courier New" pitchFamily="49" charset="0"/>
              </a:rPr>
              <a:t>) AND </a:t>
            </a:r>
            <a:r>
              <a:rPr lang="en-US" sz="1800" b="1" i="1" dirty="0" err="1">
                <a:latin typeface="Courier New" pitchFamily="49" charset="0"/>
              </a:rPr>
              <a:t>RegWriteW</a:t>
            </a:r>
            <a:r>
              <a:rPr lang="en-US" sz="1800" b="1" dirty="0">
                <a:latin typeface="Courier New" pitchFamily="49" charset="0"/>
              </a:rPr>
              <a:t>) </a:t>
            </a:r>
          </a:p>
          <a:p>
            <a:pPr>
              <a:buFontTx/>
              <a:buNone/>
            </a:pPr>
            <a:r>
              <a:rPr lang="en-US" sz="1800" b="1" dirty="0">
                <a:latin typeface="Courier New" pitchFamily="49" charset="0"/>
              </a:rPr>
              <a:t>		then 	</a:t>
            </a:r>
            <a:r>
              <a:rPr lang="en-US" sz="1800" b="1" i="1" dirty="0" err="1">
                <a:solidFill>
                  <a:schemeClr val="accent1"/>
                </a:solidFill>
                <a:latin typeface="Courier New" pitchFamily="49" charset="0"/>
              </a:rPr>
              <a:t>ForwardAE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= 01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	</a:t>
            </a:r>
            <a:r>
              <a:rPr lang="en-US" sz="1800" b="1" dirty="0">
                <a:latin typeface="Courier New" pitchFamily="49" charset="0"/>
              </a:rPr>
              <a:t>else	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	</a:t>
            </a:r>
            <a:r>
              <a:rPr lang="en-US" sz="1800" b="1" i="1" dirty="0" err="1">
                <a:solidFill>
                  <a:schemeClr val="accent1"/>
                </a:solidFill>
                <a:latin typeface="Courier New" pitchFamily="49" charset="0"/>
              </a:rPr>
              <a:t>ForwardAE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= 00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b="1" dirty="0"/>
              <a:t>Forwarding logic for </a:t>
            </a:r>
            <a:r>
              <a:rPr lang="en-US" sz="2400" b="1" i="1" dirty="0" err="1"/>
              <a:t>ForwardBE</a:t>
            </a:r>
            <a:r>
              <a:rPr lang="en-US" sz="2400" b="1" dirty="0"/>
              <a:t> same, but replace </a:t>
            </a:r>
            <a:r>
              <a:rPr lang="en-US" sz="2400" b="1" i="1" dirty="0" err="1"/>
              <a:t>rsE</a:t>
            </a:r>
            <a:r>
              <a:rPr lang="en-US" sz="2400" b="1" dirty="0"/>
              <a:t> with </a:t>
            </a:r>
            <a:r>
              <a:rPr lang="en-US" sz="2400" b="1" i="1" dirty="0" err="1"/>
              <a:t>rtE</a:t>
            </a:r>
            <a:endParaRPr lang="en-US" sz="2400" b="1" dirty="0"/>
          </a:p>
        </p:txBody>
      </p:sp>
      <p:sp>
        <p:nvSpPr>
          <p:cNvPr id="131789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789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Forwarding</a:t>
            </a:r>
          </a:p>
        </p:txBody>
      </p:sp>
    </p:spTree>
    <p:extLst>
      <p:ext uri="{BB962C8B-B14F-4D97-AF65-F5344CB8AC3E}">
        <p14:creationId xmlns:p14="http://schemas.microsoft.com/office/powerpoint/2010/main" val="344414392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3559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438400" y="1600200"/>
          <a:ext cx="8229600" cy="292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VISIO" r:id="rId9" imgW="4943520" imgH="1753920" progId="Visio.Drawing.6">
                  <p:embed/>
                </p:oleObj>
              </mc:Choice>
              <mc:Fallback>
                <p:oleObj name="VISIO" r:id="rId9" imgW="4943520" imgH="1753920" progId="Visio.Drawing.6">
                  <p:embed/>
                  <p:pic>
                    <p:nvPicPr>
                      <p:cNvPr id="13035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00200"/>
                        <a:ext cx="8229600" cy="292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355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355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3557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3558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Hazard – Load Write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84EBF4-AC3C-4518-B363-AE903567EB02}"/>
              </a:ext>
            </a:extLst>
          </p:cNvPr>
          <p:cNvCxnSpPr>
            <a:cxnSpLocks/>
          </p:cNvCxnSpPr>
          <p:nvPr/>
        </p:nvCxnSpPr>
        <p:spPr>
          <a:xfrm>
            <a:off x="2812648" y="2720051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90987E-D860-4D28-A095-E9DDC57E2AA1}"/>
              </a:ext>
            </a:extLst>
          </p:cNvPr>
          <p:cNvCxnSpPr>
            <a:cxnSpLocks/>
          </p:cNvCxnSpPr>
          <p:nvPr/>
        </p:nvCxnSpPr>
        <p:spPr>
          <a:xfrm>
            <a:off x="3449255" y="3310360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EFBDDA-AF4D-4283-A6FA-19B2B1439EBE}"/>
              </a:ext>
            </a:extLst>
          </p:cNvPr>
          <p:cNvCxnSpPr>
            <a:cxnSpLocks/>
          </p:cNvCxnSpPr>
          <p:nvPr/>
        </p:nvCxnSpPr>
        <p:spPr>
          <a:xfrm>
            <a:off x="3937321" y="3914977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80E9BA-A034-40D7-9DE3-E30070941833}"/>
              </a:ext>
            </a:extLst>
          </p:cNvPr>
          <p:cNvCxnSpPr>
            <a:cxnSpLocks/>
          </p:cNvCxnSpPr>
          <p:nvPr/>
        </p:nvCxnSpPr>
        <p:spPr>
          <a:xfrm>
            <a:off x="3449255" y="4491943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25061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4583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438400" y="1676400"/>
          <a:ext cx="81534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VISIO" r:id="rId9" imgW="5225760" imgH="1753920" progId="Visio.Drawing.6">
                  <p:embed/>
                </p:oleObj>
              </mc:Choice>
              <mc:Fallback>
                <p:oleObj name="VISIO" r:id="rId9" imgW="5225760" imgH="1753920" progId="Visio.Drawing.6">
                  <p:embed/>
                  <p:pic>
                    <p:nvPicPr>
                      <p:cNvPr id="130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76400"/>
                        <a:ext cx="8153400" cy="273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4578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458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4581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4582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– Load Write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F60C0F-49E4-4356-86A4-66C3E48EB003}"/>
              </a:ext>
            </a:extLst>
          </p:cNvPr>
          <p:cNvCxnSpPr>
            <a:cxnSpLocks/>
          </p:cNvCxnSpPr>
          <p:nvPr/>
        </p:nvCxnSpPr>
        <p:spPr>
          <a:xfrm>
            <a:off x="2801072" y="2731626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A1703F-E105-403F-B47A-83E596145246}"/>
              </a:ext>
            </a:extLst>
          </p:cNvPr>
          <p:cNvCxnSpPr>
            <a:cxnSpLocks/>
          </p:cNvCxnSpPr>
          <p:nvPr/>
        </p:nvCxnSpPr>
        <p:spPr>
          <a:xfrm>
            <a:off x="3368232" y="3275636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689A1D-B7E6-4A75-A2A6-8CE79CE83DCE}"/>
              </a:ext>
            </a:extLst>
          </p:cNvPr>
          <p:cNvCxnSpPr>
            <a:cxnSpLocks/>
          </p:cNvCxnSpPr>
          <p:nvPr/>
        </p:nvCxnSpPr>
        <p:spPr>
          <a:xfrm>
            <a:off x="3821573" y="3816191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4EFDB8-A164-4CD4-B1B8-F3EF1300E0B4}"/>
              </a:ext>
            </a:extLst>
          </p:cNvPr>
          <p:cNvCxnSpPr>
            <a:cxnSpLocks/>
          </p:cNvCxnSpPr>
          <p:nvPr/>
        </p:nvCxnSpPr>
        <p:spPr>
          <a:xfrm>
            <a:off x="3368232" y="4391672"/>
            <a:ext cx="3472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16713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5608" name="Object 8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438400" y="1295400"/>
          <a:ext cx="8001000" cy="477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8" name="VISIO" r:id="rId9" imgW="6961320" imgH="4155480" progId="Visio.Drawing.6">
                  <p:embed/>
                </p:oleObj>
              </mc:Choice>
              <mc:Fallback>
                <p:oleObj name="VISIO" r:id="rId9" imgW="6961320" imgH="4155480" progId="Visio.Drawing.6">
                  <p:embed/>
                  <p:pic>
                    <p:nvPicPr>
                      <p:cNvPr id="130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95400"/>
                        <a:ext cx="8001000" cy="4776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560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5604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5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6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Hardware</a:t>
            </a:r>
          </a:p>
        </p:txBody>
      </p:sp>
    </p:spTree>
    <p:extLst>
      <p:ext uri="{BB962C8B-B14F-4D97-AF65-F5344CB8AC3E}">
        <p14:creationId xmlns:p14="http://schemas.microsoft.com/office/powerpoint/2010/main" val="389866293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920" name="Rectangle 8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667000" y="1219200"/>
            <a:ext cx="8001000" cy="49530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 i="1" dirty="0" err="1">
                <a:latin typeface="Courier New" pitchFamily="49" charset="0"/>
              </a:rPr>
              <a:t>lwstall</a:t>
            </a:r>
            <a:r>
              <a:rPr lang="en-US" sz="2400" b="1" i="1" dirty="0">
                <a:latin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Courier New" pitchFamily="49" charset="0"/>
              </a:rPr>
              <a:t>  ((</a:t>
            </a:r>
            <a:r>
              <a:rPr lang="en-US" sz="2400" b="1" i="1" dirty="0" err="1">
                <a:latin typeface="Courier New" pitchFamily="49" charset="0"/>
              </a:rPr>
              <a:t>rsD</a:t>
            </a:r>
            <a:r>
              <a:rPr lang="en-US" sz="2400" b="1" dirty="0">
                <a:latin typeface="Courier New" pitchFamily="49" charset="0"/>
              </a:rPr>
              <a:t>==</a:t>
            </a:r>
            <a:r>
              <a:rPr lang="en-US" sz="2400" b="1" i="1" dirty="0" err="1">
                <a:latin typeface="Courier New" pitchFamily="49" charset="0"/>
              </a:rPr>
              <a:t>rtE</a:t>
            </a:r>
            <a:r>
              <a:rPr lang="en-US" sz="2400" b="1" dirty="0">
                <a:latin typeface="Courier New" pitchFamily="49" charset="0"/>
              </a:rPr>
              <a:t>) OR (</a:t>
            </a:r>
            <a:r>
              <a:rPr lang="en-US" sz="2400" b="1" i="1" dirty="0" err="1">
                <a:latin typeface="Courier New" pitchFamily="49" charset="0"/>
              </a:rPr>
              <a:t>rtD</a:t>
            </a:r>
            <a:r>
              <a:rPr lang="en-US" sz="2400" b="1" dirty="0">
                <a:latin typeface="Courier New" pitchFamily="49" charset="0"/>
              </a:rPr>
              <a:t>==</a:t>
            </a:r>
            <a:r>
              <a:rPr lang="en-US" sz="2400" b="1" i="1" dirty="0" err="1">
                <a:latin typeface="Courier New" pitchFamily="49" charset="0"/>
              </a:rPr>
              <a:t>rtE</a:t>
            </a:r>
            <a:r>
              <a:rPr lang="en-US" sz="2400" b="1" dirty="0">
                <a:latin typeface="Courier New" pitchFamily="49" charset="0"/>
              </a:rPr>
              <a:t>)) AND </a:t>
            </a:r>
            <a:r>
              <a:rPr lang="en-US" sz="2400" b="1" i="1" dirty="0" err="1">
                <a:latin typeface="Courier New" pitchFamily="49" charset="0"/>
              </a:rPr>
              <a:t>MemtoRegE</a:t>
            </a:r>
            <a:endParaRPr lang="en-US" sz="2400" b="1" i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	</a:t>
            </a:r>
          </a:p>
          <a:p>
            <a:pPr>
              <a:buFontTx/>
              <a:buNone/>
            </a:pPr>
            <a:r>
              <a:rPr lang="en-US" sz="2400" b="1" i="1" dirty="0" err="1">
                <a:latin typeface="Courier New" pitchFamily="49" charset="0"/>
              </a:rPr>
              <a:t>StallF</a:t>
            </a:r>
            <a:r>
              <a:rPr lang="en-US" sz="2400" b="1" dirty="0">
                <a:latin typeface="Courier New" pitchFamily="49" charset="0"/>
              </a:rPr>
              <a:t> = </a:t>
            </a:r>
            <a:r>
              <a:rPr lang="en-US" sz="2400" b="1" i="1" dirty="0" err="1">
                <a:latin typeface="Courier New" pitchFamily="49" charset="0"/>
              </a:rPr>
              <a:t>StallD</a:t>
            </a:r>
            <a:r>
              <a:rPr lang="en-US" sz="2400" b="1" dirty="0">
                <a:latin typeface="Courier New" pitchFamily="49" charset="0"/>
              </a:rPr>
              <a:t> = </a:t>
            </a:r>
            <a:r>
              <a:rPr lang="en-US" sz="2400" b="1" i="1" dirty="0" err="1">
                <a:latin typeface="Courier New" pitchFamily="49" charset="0"/>
              </a:rPr>
              <a:t>FlushE</a:t>
            </a:r>
            <a:r>
              <a:rPr lang="en-US" sz="2400" b="1" dirty="0">
                <a:latin typeface="Courier New" pitchFamily="49" charset="0"/>
              </a:rPr>
              <a:t> = </a:t>
            </a:r>
            <a:r>
              <a:rPr lang="en-US" sz="2400" b="1" i="1" dirty="0" err="1">
                <a:latin typeface="Courier New" pitchFamily="49" charset="0"/>
              </a:rPr>
              <a:t>lwstall</a:t>
            </a:r>
            <a:endParaRPr lang="en-US" sz="2400" b="1" i="1" dirty="0">
              <a:latin typeface="Courier New" pitchFamily="49" charset="0"/>
            </a:endParaRPr>
          </a:p>
          <a:p>
            <a:endParaRPr lang="en-US" sz="2400" dirty="0"/>
          </a:p>
        </p:txBody>
      </p:sp>
      <p:sp>
        <p:nvSpPr>
          <p:cNvPr id="131891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891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891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8918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Logic</a:t>
            </a:r>
          </a:p>
        </p:txBody>
      </p:sp>
    </p:spTree>
    <p:extLst>
      <p:ext uri="{BB962C8B-B14F-4D97-AF65-F5344CB8AC3E}">
        <p14:creationId xmlns:p14="http://schemas.microsoft.com/office/powerpoint/2010/main" val="227715969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632" name="Rectangle 8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410097" y="1219201"/>
            <a:ext cx="8229600" cy="4525963"/>
          </a:xfrm>
        </p:spPr>
        <p:txBody>
          <a:bodyPr>
            <a:noAutofit/>
          </a:bodyPr>
          <a:lstStyle/>
          <a:p>
            <a:r>
              <a:rPr lang="en-US" b="1" dirty="0" err="1">
                <a:latin typeface="Courier New" pitchFamily="49" charset="0"/>
              </a:rPr>
              <a:t>beq</a:t>
            </a:r>
            <a:r>
              <a:rPr lang="en-US" b="1" dirty="0"/>
              <a:t>: </a:t>
            </a:r>
          </a:p>
          <a:p>
            <a:pPr lvl="1"/>
            <a:r>
              <a:rPr lang="en-US" sz="2600" dirty="0"/>
              <a:t>branch not determined until 4</a:t>
            </a:r>
            <a:r>
              <a:rPr lang="en-US" sz="2600" baseline="30000" dirty="0"/>
              <a:t>th</a:t>
            </a:r>
            <a:r>
              <a:rPr lang="en-US" sz="2600" dirty="0"/>
              <a:t> stage of pipeline</a:t>
            </a:r>
          </a:p>
          <a:p>
            <a:pPr lvl="1"/>
            <a:r>
              <a:rPr lang="en-US" sz="2600" dirty="0"/>
              <a:t>Instructions after branch fetched before branch occurs</a:t>
            </a:r>
          </a:p>
          <a:p>
            <a:pPr lvl="1"/>
            <a:r>
              <a:rPr lang="en-US" sz="2600" dirty="0"/>
              <a:t>These instructions must be flushed if branch happens</a:t>
            </a:r>
          </a:p>
          <a:p>
            <a:r>
              <a:rPr lang="en-US" b="1" dirty="0"/>
              <a:t>Branch </a:t>
            </a:r>
            <a:r>
              <a:rPr lang="en-US" b="1" dirty="0" err="1"/>
              <a:t>misprediction</a:t>
            </a:r>
            <a:r>
              <a:rPr lang="en-US" b="1" dirty="0"/>
              <a:t> penalty</a:t>
            </a:r>
          </a:p>
          <a:p>
            <a:pPr lvl="1"/>
            <a:r>
              <a:rPr lang="en-US" sz="2600" dirty="0"/>
              <a:t>number of instruction flushed when branch is taken</a:t>
            </a:r>
          </a:p>
          <a:p>
            <a:pPr lvl="1"/>
            <a:r>
              <a:rPr lang="en-US" sz="2600" dirty="0"/>
              <a:t>May be reduced by determining branch earlier</a:t>
            </a:r>
          </a:p>
        </p:txBody>
      </p:sp>
      <p:sp>
        <p:nvSpPr>
          <p:cNvPr id="130662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662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6629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6630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Control Hazards</a:t>
            </a:r>
          </a:p>
        </p:txBody>
      </p:sp>
    </p:spTree>
    <p:extLst>
      <p:ext uri="{BB962C8B-B14F-4D97-AF65-F5344CB8AC3E}">
        <p14:creationId xmlns:p14="http://schemas.microsoft.com/office/powerpoint/2010/main" val="368104294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7655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590800" y="1181100"/>
          <a:ext cx="80010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VISIO" r:id="rId9" imgW="5629320" imgH="2439720" progId="Visio.Drawing.6">
                  <p:embed/>
                </p:oleObj>
              </mc:Choice>
              <mc:Fallback>
                <p:oleObj name="VISIO" r:id="rId9" imgW="5629320" imgH="2439720" progId="Visio.Drawing.6">
                  <p:embed/>
                  <p:pic>
                    <p:nvPicPr>
                      <p:cNvPr id="13076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181100"/>
                        <a:ext cx="8001000" cy="346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765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765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7653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7654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Control Hazards</a:t>
            </a:r>
          </a:p>
        </p:txBody>
      </p:sp>
    </p:spTree>
    <p:extLst>
      <p:ext uri="{BB962C8B-B14F-4D97-AF65-F5344CB8AC3E}">
        <p14:creationId xmlns:p14="http://schemas.microsoft.com/office/powerpoint/2010/main" val="243961847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9703" name="Object 7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2514600" y="1295401"/>
          <a:ext cx="7848600" cy="340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" name="VISIO" r:id="rId9" imgW="5629320" imgH="2439720" progId="Visio.Drawing.6">
                  <p:embed/>
                </p:oleObj>
              </mc:Choice>
              <mc:Fallback>
                <p:oleObj name="VISIO" r:id="rId9" imgW="5629320" imgH="2439720" progId="Visio.Drawing.6">
                  <p:embed/>
                  <p:pic>
                    <p:nvPicPr>
                      <p:cNvPr id="13097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95401"/>
                        <a:ext cx="7848600" cy="340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9698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970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9701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9702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Early Branch Resolution</a:t>
            </a:r>
          </a:p>
        </p:txBody>
      </p:sp>
    </p:spTree>
    <p:extLst>
      <p:ext uri="{BB962C8B-B14F-4D97-AF65-F5344CB8AC3E}">
        <p14:creationId xmlns:p14="http://schemas.microsoft.com/office/powerpoint/2010/main" val="279504674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8680" name="Object 8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2514600" y="1219200"/>
          <a:ext cx="7848600" cy="46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VISIO" r:id="rId10" imgW="6961320" imgH="4155480" progId="Visio.Drawing.6">
                  <p:embed/>
                </p:oleObj>
              </mc:Choice>
              <mc:Fallback>
                <p:oleObj name="VISIO" r:id="rId10" imgW="6961320" imgH="4155480" progId="Visio.Drawing.6">
                  <p:embed/>
                  <p:pic>
                    <p:nvPicPr>
                      <p:cNvPr id="13086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19200"/>
                        <a:ext cx="7848600" cy="468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867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867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8677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8678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308681" name="Text Box 9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76600" y="6019801"/>
            <a:ext cx="579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2"/>
                </a:solidFill>
              </a:rPr>
              <a:t>Introduced another data hazard in Decode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Early Branch Resolution</a:t>
            </a:r>
          </a:p>
        </p:txBody>
      </p:sp>
    </p:spTree>
    <p:extLst>
      <p:ext uri="{BB962C8B-B14F-4D97-AF65-F5344CB8AC3E}">
        <p14:creationId xmlns:p14="http://schemas.microsoft.com/office/powerpoint/2010/main" val="267542398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560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6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 – R Type Write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FDD2F-6841-40BB-8FF1-42431EFBB445}"/>
              </a:ext>
            </a:extLst>
          </p:cNvPr>
          <p:cNvSpPr txBox="1"/>
          <p:nvPr/>
        </p:nvSpPr>
        <p:spPr>
          <a:xfrm>
            <a:off x="1273215" y="1412111"/>
            <a:ext cx="1932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t0, s1, s2</a:t>
            </a:r>
          </a:p>
          <a:p>
            <a:r>
              <a:rPr lang="en-US" dirty="0" err="1"/>
              <a:t>beq</a:t>
            </a:r>
            <a:r>
              <a:rPr lang="en-US" dirty="0"/>
              <a:t> t0, t1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E5BF725-30EE-421F-84E8-B443121E2E39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2514600" y="1219200"/>
          <a:ext cx="7848600" cy="46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VISIO" r:id="rId9" imgW="6961320" imgH="4155480" progId="Visio.Drawing.6">
                  <p:embed/>
                </p:oleObj>
              </mc:Choice>
              <mc:Fallback>
                <p:oleObj name="VISIO" r:id="rId9" imgW="6961320" imgH="4155480" progId="Visio.Drawing.6">
                  <p:embed/>
                  <p:pic>
                    <p:nvPicPr>
                      <p:cNvPr id="13086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19200"/>
                        <a:ext cx="7848600" cy="468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35155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27" name="Object 7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2442096" y="1031876"/>
          <a:ext cx="8225905" cy="491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VISIO" r:id="rId9" imgW="6961320" imgH="4155480" progId="Visio.Drawing.6">
                  <p:embed/>
                </p:oleObj>
              </mc:Choice>
              <mc:Fallback>
                <p:oleObj name="VISIO" r:id="rId9" imgW="6961320" imgH="4155480" progId="Visio.Drawing.6">
                  <p:embed/>
                  <p:pic>
                    <p:nvPicPr>
                      <p:cNvPr id="1310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096" y="1031876"/>
                        <a:ext cx="8225905" cy="491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2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0724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0725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10726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Hazard – R Type Write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931F0-1EBB-4544-A7B4-9D28A8EA8705}"/>
              </a:ext>
            </a:extLst>
          </p:cNvPr>
          <p:cNvSpPr txBox="1"/>
          <p:nvPr/>
        </p:nvSpPr>
        <p:spPr>
          <a:xfrm>
            <a:off x="1273215" y="1412111"/>
            <a:ext cx="1932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t0, s1, s2</a:t>
            </a:r>
          </a:p>
          <a:p>
            <a:r>
              <a:rPr lang="en-US" dirty="0" err="1"/>
              <a:t>nop</a:t>
            </a:r>
            <a:endParaRPr lang="en-US" dirty="0"/>
          </a:p>
          <a:p>
            <a:r>
              <a:rPr lang="en-US" dirty="0" err="1"/>
              <a:t>beq</a:t>
            </a:r>
            <a:r>
              <a:rPr lang="en-US" dirty="0"/>
              <a:t> t0, t1</a:t>
            </a:r>
          </a:p>
        </p:txBody>
      </p:sp>
    </p:spTree>
    <p:extLst>
      <p:ext uri="{BB962C8B-B14F-4D97-AF65-F5344CB8AC3E}">
        <p14:creationId xmlns:p14="http://schemas.microsoft.com/office/powerpoint/2010/main" val="101250783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560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5606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Stalling – Load Write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FDD2F-6841-40BB-8FF1-42431EFBB445}"/>
              </a:ext>
            </a:extLst>
          </p:cNvPr>
          <p:cNvSpPr txBox="1"/>
          <p:nvPr/>
        </p:nvSpPr>
        <p:spPr>
          <a:xfrm>
            <a:off x="1273215" y="1412111"/>
            <a:ext cx="1932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lw</a:t>
            </a:r>
            <a:r>
              <a:rPr lang="en-US" dirty="0"/>
              <a:t> t1, offset(s3)</a:t>
            </a:r>
          </a:p>
          <a:p>
            <a:r>
              <a:rPr lang="en-US" dirty="0" err="1"/>
              <a:t>beq</a:t>
            </a:r>
            <a:r>
              <a:rPr lang="en-US" dirty="0"/>
              <a:t> t0, t1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E5BF725-30EE-421F-84E8-B443121E2E39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2514600" y="1219200"/>
          <a:ext cx="7848600" cy="46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VISIO" r:id="rId9" imgW="6961320" imgH="4155480" progId="Visio.Drawing.6">
                  <p:embed/>
                </p:oleObj>
              </mc:Choice>
              <mc:Fallback>
                <p:oleObj name="VISIO" r:id="rId9" imgW="6961320" imgH="4155480" progId="Visio.Drawing.6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E5BF725-30EE-421F-84E8-B443121E2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19200"/>
                        <a:ext cx="7848600" cy="468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B56B9C9-DD92-4752-B50B-EBA9E50F970C}"/>
              </a:ext>
            </a:extLst>
          </p:cNvPr>
          <p:cNvSpPr txBox="1"/>
          <p:nvPr/>
        </p:nvSpPr>
        <p:spPr>
          <a:xfrm>
            <a:off x="1273215" y="5062908"/>
            <a:ext cx="1932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lw</a:t>
            </a:r>
            <a:r>
              <a:rPr lang="en-US" dirty="0"/>
              <a:t> t1, offset(s3)</a:t>
            </a:r>
          </a:p>
          <a:p>
            <a:r>
              <a:rPr lang="en-US" dirty="0" err="1"/>
              <a:t>nop</a:t>
            </a:r>
            <a:endParaRPr lang="en-US" dirty="0"/>
          </a:p>
          <a:p>
            <a:r>
              <a:rPr lang="en-US" dirty="0" err="1"/>
              <a:t>nop</a:t>
            </a:r>
            <a:endParaRPr lang="en-US" dirty="0"/>
          </a:p>
          <a:p>
            <a:r>
              <a:rPr lang="en-US" dirty="0" err="1"/>
              <a:t>beq</a:t>
            </a:r>
            <a:r>
              <a:rPr lang="en-US" dirty="0"/>
              <a:t> t0, t1</a:t>
            </a:r>
          </a:p>
        </p:txBody>
      </p:sp>
    </p:spTree>
    <p:extLst>
      <p:ext uri="{BB962C8B-B14F-4D97-AF65-F5344CB8AC3E}">
        <p14:creationId xmlns:p14="http://schemas.microsoft.com/office/powerpoint/2010/main" val="174047915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91" name="Rectangle 7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2438400" y="1066800"/>
            <a:ext cx="8001000" cy="4953000"/>
          </a:xfrm>
        </p:spPr>
        <p:txBody>
          <a:bodyPr/>
          <a:lstStyle/>
          <a:p>
            <a:r>
              <a:rPr lang="en-US" b="1" dirty="0"/>
              <a:t>Forwarding logic: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en-US" sz="1600" b="1" i="1" dirty="0" err="1">
                <a:latin typeface="Courier New" pitchFamily="49" charset="0"/>
              </a:rPr>
              <a:t>ForwardAD</a:t>
            </a:r>
            <a:r>
              <a:rPr lang="en-US" sz="1600" dirty="0">
                <a:latin typeface="Courier New" pitchFamily="49" charset="0"/>
              </a:rPr>
              <a:t> = (</a:t>
            </a:r>
            <a:r>
              <a:rPr lang="en-US" sz="1600" i="1" dirty="0" err="1">
                <a:latin typeface="Courier New" pitchFamily="49" charset="0"/>
              </a:rPr>
              <a:t>rsD</a:t>
            </a:r>
            <a:r>
              <a:rPr lang="en-US" sz="1600" dirty="0">
                <a:latin typeface="Courier New" pitchFamily="49" charset="0"/>
              </a:rPr>
              <a:t> !=0) AND (</a:t>
            </a:r>
            <a:r>
              <a:rPr lang="en-US" sz="1600" i="1" dirty="0" err="1">
                <a:latin typeface="Courier New" pitchFamily="49" charset="0"/>
              </a:rPr>
              <a:t>rsD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i="1" dirty="0" err="1">
                <a:latin typeface="Courier New" pitchFamily="49" charset="0"/>
              </a:rPr>
              <a:t>WriteRegM</a:t>
            </a:r>
            <a:r>
              <a:rPr lang="en-US" sz="1600" dirty="0">
                <a:latin typeface="Courier New" pitchFamily="49" charset="0"/>
              </a:rPr>
              <a:t>) AND </a:t>
            </a:r>
            <a:r>
              <a:rPr lang="en-US" sz="1600" i="1" dirty="0" err="1">
                <a:latin typeface="Courier New" pitchFamily="49" charset="0"/>
              </a:rPr>
              <a:t>RegWriteM</a:t>
            </a:r>
            <a:endParaRPr lang="en-US" sz="1600" i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i="1" dirty="0">
                <a:latin typeface="Courier New" pitchFamily="49" charset="0"/>
              </a:rPr>
              <a:t>	</a:t>
            </a:r>
            <a:r>
              <a:rPr lang="en-US" sz="1600" b="1" i="1" dirty="0" err="1">
                <a:latin typeface="Courier New" pitchFamily="49" charset="0"/>
              </a:rPr>
              <a:t>ForwardBD</a:t>
            </a:r>
            <a:r>
              <a:rPr lang="en-US" sz="1600" dirty="0">
                <a:latin typeface="Courier New" pitchFamily="49" charset="0"/>
              </a:rPr>
              <a:t> = (</a:t>
            </a:r>
            <a:r>
              <a:rPr lang="en-US" sz="1600" i="1" dirty="0" err="1">
                <a:latin typeface="Courier New" pitchFamily="49" charset="0"/>
              </a:rPr>
              <a:t>rtD</a:t>
            </a:r>
            <a:r>
              <a:rPr lang="en-US" sz="1600" dirty="0">
                <a:latin typeface="Courier New" pitchFamily="49" charset="0"/>
              </a:rPr>
              <a:t> !=0) AND (</a:t>
            </a:r>
            <a:r>
              <a:rPr lang="en-US" sz="1600" i="1" dirty="0" err="1">
                <a:latin typeface="Courier New" pitchFamily="49" charset="0"/>
              </a:rPr>
              <a:t>rtD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dirty="0" err="1">
                <a:latin typeface="Courier New" pitchFamily="49" charset="0"/>
              </a:rPr>
              <a:t>WriteRegM</a:t>
            </a:r>
            <a:r>
              <a:rPr lang="en-US" sz="1600" dirty="0">
                <a:latin typeface="Courier New" pitchFamily="49" charset="0"/>
              </a:rPr>
              <a:t>) AND </a:t>
            </a:r>
            <a:r>
              <a:rPr lang="en-US" sz="1600" i="1" dirty="0" err="1">
                <a:latin typeface="Courier New" pitchFamily="49" charset="0"/>
              </a:rPr>
              <a:t>RegWriteM</a:t>
            </a:r>
            <a:endParaRPr lang="en-US" sz="1600" i="1" dirty="0">
              <a:latin typeface="Courier New" pitchFamily="49" charset="0"/>
            </a:endParaRPr>
          </a:p>
          <a:p>
            <a:pPr algn="just">
              <a:buFontTx/>
              <a:buNone/>
            </a:pPr>
            <a:endParaRPr lang="en-US" sz="1800" i="1" dirty="0">
              <a:solidFill>
                <a:schemeClr val="accent2"/>
              </a:solidFill>
              <a:latin typeface="Courier New" pitchFamily="49" charset="0"/>
            </a:endParaRPr>
          </a:p>
          <a:p>
            <a:r>
              <a:rPr lang="en-US" b="1" dirty="0"/>
              <a:t>Stalling logic:</a:t>
            </a:r>
            <a:endParaRPr lang="en-US" sz="2400" b="1" i="1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sz="2000" i="1" dirty="0">
                <a:solidFill>
                  <a:schemeClr val="accent2"/>
                </a:solidFill>
              </a:rPr>
              <a:t>	</a:t>
            </a:r>
            <a:r>
              <a:rPr lang="en-US" sz="1600" b="1" i="1" dirty="0" err="1">
                <a:latin typeface="Courier New" pitchFamily="49" charset="0"/>
              </a:rPr>
              <a:t>branchstall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dirty="0">
                <a:latin typeface="Courier New" pitchFamily="49" charset="0"/>
              </a:rPr>
              <a:t>= </a:t>
            </a:r>
            <a:r>
              <a:rPr lang="en-US" sz="1600" i="1" dirty="0" err="1">
                <a:latin typeface="Courier New" pitchFamily="49" charset="0"/>
              </a:rPr>
              <a:t>BranchD</a:t>
            </a:r>
            <a:r>
              <a:rPr lang="en-US" sz="1600" dirty="0">
                <a:latin typeface="Courier New" pitchFamily="49" charset="0"/>
              </a:rPr>
              <a:t> AND </a:t>
            </a:r>
            <a:r>
              <a:rPr lang="en-US" sz="1600" i="1" dirty="0" err="1">
                <a:latin typeface="Courier New" pitchFamily="49" charset="0"/>
              </a:rPr>
              <a:t>RegWriteE</a:t>
            </a:r>
            <a:r>
              <a:rPr lang="en-US" sz="1600" dirty="0">
                <a:latin typeface="Courier New" pitchFamily="49" charset="0"/>
              </a:rPr>
              <a:t> AND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     (</a:t>
            </a:r>
            <a:r>
              <a:rPr lang="en-US" sz="1600" i="1" dirty="0" err="1">
                <a:latin typeface="Courier New" pitchFamily="49" charset="0"/>
              </a:rPr>
              <a:t>WriteRegE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i="1" dirty="0" err="1">
                <a:latin typeface="Courier New" pitchFamily="49" charset="0"/>
              </a:rPr>
              <a:t>rsD</a:t>
            </a:r>
            <a:r>
              <a:rPr lang="en-US" sz="1600" dirty="0">
                <a:latin typeface="Courier New" pitchFamily="49" charset="0"/>
              </a:rPr>
              <a:t> OR </a:t>
            </a:r>
            <a:r>
              <a:rPr lang="en-US" sz="1600" i="1" dirty="0" err="1">
                <a:latin typeface="Courier New" pitchFamily="49" charset="0"/>
              </a:rPr>
              <a:t>WriteRegE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i="1" dirty="0" err="1">
                <a:latin typeface="Courier New" pitchFamily="49" charset="0"/>
              </a:rPr>
              <a:t>rtD</a:t>
            </a:r>
            <a:r>
              <a:rPr lang="en-US" sz="1600" dirty="0">
                <a:latin typeface="Courier New" pitchFamily="49" charset="0"/>
              </a:rPr>
              <a:t>)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   OR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			  </a:t>
            </a:r>
            <a:r>
              <a:rPr lang="en-US" sz="1600" i="1" dirty="0" err="1">
                <a:latin typeface="Courier New" pitchFamily="49" charset="0"/>
              </a:rPr>
              <a:t>BranchD</a:t>
            </a:r>
            <a:r>
              <a:rPr lang="en-US" sz="1600" dirty="0">
                <a:latin typeface="Courier New" pitchFamily="49" charset="0"/>
              </a:rPr>
              <a:t> AND </a:t>
            </a:r>
            <a:r>
              <a:rPr lang="en-US" sz="1600" i="1" dirty="0" err="1">
                <a:latin typeface="Courier New" pitchFamily="49" charset="0"/>
              </a:rPr>
              <a:t>MemtoRegM</a:t>
            </a:r>
            <a:r>
              <a:rPr lang="en-US" sz="1600" dirty="0">
                <a:latin typeface="Courier New" pitchFamily="49" charset="0"/>
              </a:rPr>
              <a:t> AND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               (</a:t>
            </a:r>
            <a:r>
              <a:rPr lang="en-US" sz="1600" i="1" dirty="0" err="1">
                <a:latin typeface="Courier New" pitchFamily="49" charset="0"/>
              </a:rPr>
              <a:t>WriteRegM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i="1" dirty="0" err="1">
                <a:latin typeface="Courier New" pitchFamily="49" charset="0"/>
              </a:rPr>
              <a:t>rsD</a:t>
            </a:r>
            <a:r>
              <a:rPr lang="en-US" sz="1600" dirty="0">
                <a:latin typeface="Courier New" pitchFamily="49" charset="0"/>
              </a:rPr>
              <a:t> OR </a:t>
            </a:r>
            <a:r>
              <a:rPr lang="en-US" sz="1600" i="1" dirty="0" err="1">
                <a:latin typeface="Courier New" pitchFamily="49" charset="0"/>
              </a:rPr>
              <a:t>WriteRegM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i="1" dirty="0" err="1">
                <a:latin typeface="Courier New" pitchFamily="49" charset="0"/>
              </a:rPr>
              <a:t>rtD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i="1" dirty="0">
                <a:latin typeface="Courier New" pitchFamily="49" charset="0"/>
              </a:rPr>
              <a:t>	</a:t>
            </a:r>
            <a:r>
              <a:rPr lang="en-US" sz="1600" i="1" dirty="0" err="1">
                <a:latin typeface="Courier New" pitchFamily="49" charset="0"/>
              </a:rPr>
              <a:t>StallF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i="1" dirty="0" err="1">
                <a:latin typeface="Courier New" pitchFamily="49" charset="0"/>
              </a:rPr>
              <a:t>StallD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i="1" dirty="0" err="1">
                <a:latin typeface="Courier New" pitchFamily="49" charset="0"/>
              </a:rPr>
              <a:t>FlushE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i="1" dirty="0" err="1">
                <a:latin typeface="Courier New" pitchFamily="49" charset="0"/>
              </a:rPr>
              <a:t>lwstall</a:t>
            </a:r>
            <a:r>
              <a:rPr lang="en-US" sz="1600" dirty="0">
                <a:latin typeface="Courier New" pitchFamily="49" charset="0"/>
              </a:rPr>
              <a:t> OR </a:t>
            </a:r>
            <a:r>
              <a:rPr lang="en-US" sz="1600" i="1" dirty="0" err="1">
                <a:latin typeface="Courier New" pitchFamily="49" charset="0"/>
              </a:rPr>
              <a:t>branchstall</a:t>
            </a:r>
            <a:endParaRPr lang="en-US" sz="1600" i="1" dirty="0">
              <a:latin typeface="Courier New" pitchFamily="49" charset="0"/>
            </a:endParaRPr>
          </a:p>
          <a:p>
            <a:endParaRPr lang="en-US" sz="1600" dirty="0">
              <a:solidFill>
                <a:schemeClr val="accent2"/>
              </a:solidFill>
              <a:latin typeface="Courier New" pitchFamily="49" charset="0"/>
            </a:endParaRPr>
          </a:p>
        </p:txBody>
      </p:sp>
      <p:sp>
        <p:nvSpPr>
          <p:cNvPr id="132198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2198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1" y="1229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21989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21990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1" y="393000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Control Forwarding &amp; Stalling Logic</a:t>
            </a:r>
          </a:p>
        </p:txBody>
      </p:sp>
    </p:spTree>
    <p:extLst>
      <p:ext uri="{BB962C8B-B14F-4D97-AF65-F5344CB8AC3E}">
        <p14:creationId xmlns:p14="http://schemas.microsoft.com/office/powerpoint/2010/main" val="378003286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55828-4FA9-4865-946F-EE9D5E770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86" y="0"/>
            <a:ext cx="10820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748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1248</Words>
  <Application>Microsoft Office PowerPoint</Application>
  <PresentationFormat>Widescreen</PresentationFormat>
  <Paragraphs>347</Paragraphs>
  <Slides>38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等线</vt:lpstr>
      <vt:lpstr>等线 Light</vt:lpstr>
      <vt:lpstr>宋体</vt:lpstr>
      <vt:lpstr>Arial</vt:lpstr>
      <vt:lpstr>Arial Black</vt:lpstr>
      <vt:lpstr>Calibri</vt:lpstr>
      <vt:lpstr>Calibri Light</vt:lpstr>
      <vt:lpstr>Courier New</vt:lpstr>
      <vt:lpstr>Times New Roman</vt:lpstr>
      <vt:lpstr>Wingdings</vt:lpstr>
      <vt:lpstr>Office Theme</vt:lpstr>
      <vt:lpstr>cod4e</vt:lpstr>
      <vt:lpstr>1_Office Theme</vt:lpstr>
      <vt:lpstr>Office 主题​​</vt:lpstr>
      <vt:lpstr>VISIO</vt:lpstr>
      <vt:lpstr>计组分享</vt:lpstr>
      <vt:lpstr>PowerPoint Presentation</vt:lpstr>
      <vt:lpstr>Instructions</vt:lpstr>
      <vt:lpstr>R-Format Instructions</vt:lpstr>
      <vt:lpstr>R-Type Instruction</vt:lpstr>
      <vt:lpstr>Load/Store Instructions</vt:lpstr>
      <vt:lpstr>Load Instruction</vt:lpstr>
      <vt:lpstr>Branch Instructions</vt:lpstr>
      <vt:lpstr>Branch-on-Equal Instruction</vt:lpstr>
      <vt:lpstr>Implementing Jumps</vt:lpstr>
      <vt:lpstr>Datapath With Jumps Added</vt:lpstr>
      <vt:lpstr>Critical Path-Load</vt:lpstr>
      <vt:lpstr>Control Signals-Load</vt:lpstr>
      <vt:lpstr>Critical Path-Branch</vt:lpstr>
      <vt:lpstr>Control Signals-Branch</vt:lpstr>
      <vt:lpstr>Control Signals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Jinpeng Ma</dc:creator>
  <cp:lastModifiedBy>Jinpeng Ma</cp:lastModifiedBy>
  <cp:revision>56</cp:revision>
  <dcterms:created xsi:type="dcterms:W3CDTF">2024-05-14T09:38:41Z</dcterms:created>
  <dcterms:modified xsi:type="dcterms:W3CDTF">2024-05-16T02:14:29Z</dcterms:modified>
</cp:coreProperties>
</file>